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300" d="100"/>
          <a:sy n="300" d="100"/>
        </p:scale>
        <p:origin x="-5482" y="-50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6037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Perkenalkan tim dan tujuan presentasi: memaparkan rencana pembangunan toko online TokoKita berdasarkan PRD, dari masalah yang diselesaikan sampai target MVP.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Gambaran urutan presentasi agar penilai tahu alurnya.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Jelaskan kenapa UMKM butuh toko online sendiri: komisi, kepemilikan data, persaingan harga, dan risiko suspend. Lalu tunjukkan jawaban TokoKita.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Pembeli fokus pada kecepatan dan kepercayaan. Admin toko bukan orang IT, jadi panel admin harus sederhana.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Tekankan bahwa MVP adalah prioritas. Fitur lanjutan dikerjakan setelah MVP stabil. Yang di luar cakupan sengaja ditunda.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Semua teknologi dipilih agar tim pemula bisa cepat produktif: satu proyek, satu bahasa (TypeScript), komponen siap pakai.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Alur request: pengguna membuka halaman, Next.js memproses di server, Prisma menerjemahkan ke query MySQL. Layanan pendukung: email, penyimpanan gambar, dan job terjadwal.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pengelompokan tabel. Tekankan tiga aturan data: harga dalam rupiah (INT), data pesanan disalin saat checkout, dan stok per varian.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Jelaskan siapa yang mengubah tiap status. Pesanan yang tidak dibayar 24 jam dibatalkan otomatis oleh sistem, stok dan kuota promo dikembalikan.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Beranda dirancang mobile-first karena 90% pembeli memakai HP.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 produk menjawab kekhawatiran pembeli: harga jelas, stok jelas, ulasan asli.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Checkout dipandu 4 langkah agar selesai di bawah 3 menit.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Panel admin dibuat sederhana untuk pengguna yang bukan orang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Isi nama tiap anggota. Pembagian mengikuti modul PRD agar tiap orang punya area yang jelas dan jarang bentrok.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Jelaskan alur Git berbasis branch per fitur dan Pull Request, papan tugas Trello, serta kebiasaan tim.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Empat target dari PRD beserta cara kami mengujinya sebelum rilis.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Kepatuhan UU PDP, keamanan akun, dan aturan transaksi yang adil.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Risiko terbesar ada di sisi tim (belajar teknologi baru dan scope creep), bukan di teknis. Mitigasinya sudah direncanakan sejak 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dilakukan dengan data awal yang sudah disiapkan agar toko tidak kosong. Jelaskan alasan belum memakai payment gateway.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Rangkum empat komitmen tim, lalu buka sesi tanya jawab.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7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3.png"/><Relationship Id="rId4" Type="http://schemas.openxmlformats.org/officeDocument/2006/relationships/image" Target="../media/image18.png"/><Relationship Id="rId9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1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3.png"/><Relationship Id="rId10" Type="http://schemas.openxmlformats.org/officeDocument/2006/relationships/image" Target="../media/image34.png"/><Relationship Id="rId4" Type="http://schemas.openxmlformats.org/officeDocument/2006/relationships/image" Target="../media/image29.png"/><Relationship Id="rId9" Type="http://schemas.openxmlformats.org/officeDocument/2006/relationships/image" Target="../media/image3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2.png"/><Relationship Id="rId4" Type="http://schemas.openxmlformats.org/officeDocument/2006/relationships/image" Target="../media/image5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8308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PROYEK MAGANG KELOMPOK  ·  FULL STACK DEVELOPER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4884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0040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Rencana Pembangunan Toko Online Mandiri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16052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Ruang lingkup, arsitektur, desain antarmuka, pembagian tim, dan target MVP berdasarkan PRD.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166360"/>
            <a:ext cx="1600200" cy="40233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Anggota Tim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468880" y="5166360"/>
            <a:ext cx="1508760" cy="40233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 1 Minggu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5166360"/>
            <a:ext cx="2377440" cy="40233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· Prisma · MySQL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720840" y="1874520"/>
            <a:ext cx="4983480" cy="292608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pic>
        <p:nvPicPr>
          <p:cNvPr id="10" name="Image 0" descr="C:/xampp/htdocs/e-commerce/docs/mockups/01_beranda_mock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965960"/>
            <a:ext cx="4800600" cy="267919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720840" y="49377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Mockup beranda TokoKita</a:t>
            </a:r>
            <a:endParaRPr lang="en-US" sz="11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F81735-DB2C-EC55-5BB2-7640F2248223}"/>
              </a:ext>
            </a:extLst>
          </p:cNvPr>
          <p:cNvSpPr/>
          <p:nvPr/>
        </p:nvSpPr>
        <p:spPr>
          <a:xfrm>
            <a:off x="9847995" y="3123941"/>
            <a:ext cx="190085" cy="3050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Akan Kami Paparkan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68680" y="19659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6517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Latar Belakang &amp; Pengguna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063240"/>
            <a:ext cx="28751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 yang diselesaikan dan siapa penggunanya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38218" y="169164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658258" y="19659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4658258" y="26517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Ruang Lingkup Fitur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658258" y="3063240"/>
            <a:ext cx="28751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MVP, fitur lanjutan, dan batasan proyek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127797" y="169164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447837" y="19659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8447837" y="26517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Teknologi &amp; Arsitektur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447837" y="3063240"/>
            <a:ext cx="28751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stack, arsitektur sistem, dan rancangan database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41148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68680" y="4389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" y="507492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Desain Antarmuka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5486400"/>
            <a:ext cx="28751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Beranda, detail produk, checkout, dan panel admin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338218" y="41148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4658258" y="4389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3600" dirty="0"/>
          </a:p>
        </p:txBody>
      </p:sp>
      <p:sp>
        <p:nvSpPr>
          <p:cNvPr id="25" name="Text 22"/>
          <p:cNvSpPr txBox="1"/>
          <p:nvPr/>
        </p:nvSpPr>
        <p:spPr>
          <a:xfrm>
            <a:off x="4658258" y="507492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&amp; Jadwal Kerja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658258" y="5486400"/>
            <a:ext cx="28751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Pembagian peran, alur kolaborasi, dan roadmap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8127797" y="41148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447837" y="4389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3600" dirty="0"/>
          </a:p>
        </p:txBody>
      </p:sp>
      <p:sp>
        <p:nvSpPr>
          <p:cNvPr id="29" name="Text 26"/>
          <p:cNvSpPr txBox="1"/>
          <p:nvPr/>
        </p:nvSpPr>
        <p:spPr>
          <a:xfrm>
            <a:off x="8447837" y="507492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Kualitas, Risiko &amp; Demo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447837" y="5486400"/>
            <a:ext cx="28751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 keberhasilan, keamanan, risiko, dan rencana demo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LATAR BELAKANG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 yang Ingin Kami Selesaikan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396332" cy="4480560"/>
          </a:xfrm>
          <a:prstGeom prst="roundRect">
            <a:avLst>
              <a:gd name="adj" fmla="val 2857"/>
            </a:avLst>
          </a:prstGeom>
          <a:solidFill>
            <a:srgbClr val="FEF2F2"/>
          </a:solidFill>
          <a:ln w="9525">
            <a:solidFill>
              <a:srgbClr val="FECAC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011680"/>
            <a:ext cx="640080" cy="640080"/>
          </a:xfrm>
          <a:prstGeom prst="ellipse">
            <a:avLst/>
          </a:prstGeom>
          <a:solidFill>
            <a:srgbClr val="FEE2E2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299" y="2165299"/>
            <a:ext cx="332842" cy="33284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2011680"/>
            <a:ext cx="40247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Tantangan Berjualan di Marketplace</a:t>
            </a:r>
            <a:endParaRPr lang="en-US" sz="20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953512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2608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Komisi terus naik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371600" y="325526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Potongan per transaksi menggerus margin UMKM.</a:t>
            </a:r>
            <a:endParaRPr lang="en-US" sz="13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730752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371600" y="370332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pembeli bukan milik penjual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1371600" y="403250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Sulit membangun pelanggan setia.</a:t>
            </a:r>
            <a:endParaRPr lang="en-US" sz="13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50799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448056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Perang harga</a:t>
            </a:r>
            <a:endParaRPr lang="en-US" sz="1500" dirty="0"/>
          </a:p>
        </p:txBody>
      </p:sp>
      <p:sp>
        <p:nvSpPr>
          <p:cNvPr id="19" name="Text 12"/>
          <p:cNvSpPr txBox="1"/>
          <p:nvPr/>
        </p:nvSpPr>
        <p:spPr>
          <a:xfrm>
            <a:off x="1371600" y="480974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disandingkan langsung dengan kompetitor.</a:t>
            </a:r>
            <a:endParaRPr lang="en-US" sz="130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285232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371600" y="525780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Ketergantungan platform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1371600" y="558698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Akun di-suspend, penjualan langsung berhenti.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6246724" y="1691640"/>
            <a:ext cx="5396332" cy="4480560"/>
          </a:xfrm>
          <a:prstGeom prst="roundRect">
            <a:avLst>
              <a:gd name="adj" fmla="val 2857"/>
            </a:avLst>
          </a:prstGeom>
          <a:solidFill>
            <a:srgbClr val="F0FDF4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6566764" y="2011680"/>
            <a:ext cx="640080" cy="64008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383" y="2165299"/>
            <a:ext cx="332842" cy="33284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7389724" y="2011680"/>
            <a:ext cx="40247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 TokoKita</a:t>
            </a:r>
            <a:endParaRPr lang="en-US" sz="2000" dirty="0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484" y="2953512"/>
            <a:ext cx="274320" cy="27432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7069684" y="292608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Bebas komisi</a:t>
            </a:r>
            <a:endParaRPr lang="en-US" sz="1500" dirty="0"/>
          </a:p>
        </p:txBody>
      </p:sp>
      <p:sp>
        <p:nvSpPr>
          <p:cNvPr id="29" name="Text 19"/>
          <p:cNvSpPr txBox="1"/>
          <p:nvPr/>
        </p:nvSpPr>
        <p:spPr>
          <a:xfrm>
            <a:off x="7069684" y="325526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Seluruh hasil penjualan masuk ke pemilik toko.</a:t>
            </a:r>
            <a:endParaRPr lang="en-US" sz="1300" dirty="0"/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484" y="3730752"/>
            <a:ext cx="274320" cy="274320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7069684" y="370332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pelanggan sendiri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7069684" y="403250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Bisa kirim promo dan voucher ke pelanggan setia.</a:t>
            </a:r>
            <a:endParaRPr lang="en-US" sz="1300" dirty="0"/>
          </a:p>
        </p:txBody>
      </p:sp>
      <p:pic>
        <p:nvPicPr>
          <p:cNvPr id="33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484" y="4507992"/>
            <a:ext cx="274320" cy="274320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7069684" y="448056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Etalase eksklusif</a:t>
            </a:r>
            <a:endParaRPr lang="en-US" sz="1500" dirty="0"/>
          </a:p>
        </p:txBody>
      </p:sp>
      <p:sp>
        <p:nvSpPr>
          <p:cNvPr id="35" name="Text 23"/>
          <p:cNvSpPr txBox="1"/>
          <p:nvPr/>
        </p:nvSpPr>
        <p:spPr>
          <a:xfrm>
            <a:off x="7069684" y="480974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 produk brand sendiri, tanpa iklan kompetitor.</a:t>
            </a:r>
            <a:endParaRPr lang="en-US" sz="1300" dirty="0"/>
          </a:p>
        </p:txBody>
      </p:sp>
      <p:pic>
        <p:nvPicPr>
          <p:cNvPr id="36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484" y="5285232"/>
            <a:ext cx="274320" cy="274320"/>
          </a:xfrm>
          <a:prstGeom prst="rect">
            <a:avLst/>
          </a:prstGeom>
        </p:spPr>
      </p:pic>
      <p:sp>
        <p:nvSpPr>
          <p:cNvPr id="37" name="Text 24"/>
          <p:cNvSpPr txBox="1"/>
          <p:nvPr/>
        </p:nvSpPr>
        <p:spPr>
          <a:xfrm>
            <a:off x="7069684" y="525780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Pembelajaran nyata</a:t>
            </a:r>
            <a:endParaRPr lang="en-US" sz="1500" dirty="0"/>
          </a:p>
        </p:txBody>
      </p:sp>
      <p:sp>
        <p:nvSpPr>
          <p:cNvPr id="38" name="Text 25"/>
          <p:cNvSpPr txBox="1"/>
          <p:nvPr/>
        </p:nvSpPr>
        <p:spPr>
          <a:xfrm>
            <a:off x="7069684" y="558698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membangun sistem transaksi dari hulu ke hilir.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KEBUTUHAN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 Pengguna Utama TokoKita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396332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14400" y="2057400"/>
            <a:ext cx="777240" cy="7772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938" y="2243938"/>
            <a:ext cx="404165" cy="40416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874520" y="2057400"/>
            <a:ext cx="37504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Pembeli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1874520" y="2496312"/>
            <a:ext cx="37504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Usia 18–40 tahun  ·  90% belanja lewat HP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914400" y="3090672"/>
            <a:ext cx="46648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14400" y="32004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KEBUTUHAN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914400" y="3474720"/>
            <a:ext cx="46648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 barang cepat, foto jelas, checkout di bawah 3 menit.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914400" y="4023360"/>
            <a:ext cx="46648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14400" y="41330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KEKHAWATIRAN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914400" y="4407408"/>
            <a:ext cx="46648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Barang palsu, ongkir tidak jelas, stok ternyata habis.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914400" y="4956048"/>
            <a:ext cx="46648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914400" y="506577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ANDALAN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914400" y="5340096"/>
            <a:ext cx="46648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ukuran, ulasan pembeli asli, kode promo.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6246724" y="1691640"/>
            <a:ext cx="5396332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612484" y="2057400"/>
            <a:ext cx="777240" cy="7772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9021" y="2243938"/>
            <a:ext cx="404165" cy="40416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572604" y="2057400"/>
            <a:ext cx="37504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Toko</a:t>
            </a:r>
            <a:endParaRPr lang="en-US" sz="2200" dirty="0"/>
          </a:p>
        </p:txBody>
      </p:sp>
      <p:sp>
        <p:nvSpPr>
          <p:cNvPr id="25" name="Text 20"/>
          <p:cNvSpPr txBox="1"/>
          <p:nvPr/>
        </p:nvSpPr>
        <p:spPr>
          <a:xfrm>
            <a:off x="7572604" y="2496312"/>
            <a:ext cx="37504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Pemilik atau staf operasional  ·  bukan orang IT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6612484" y="3090672"/>
            <a:ext cx="46648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612484" y="32004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KEBUTUHAN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6612484" y="3474720"/>
            <a:ext cx="46648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Pantau omzet, stok menipis, dan input resi dengan mudah.</a:t>
            </a:r>
            <a:endParaRPr lang="en-US" sz="1400" dirty="0"/>
          </a:p>
        </p:txBody>
      </p:sp>
      <p:sp>
        <p:nvSpPr>
          <p:cNvPr id="29" name="Shape 24"/>
          <p:cNvSpPr/>
          <p:nvPr/>
        </p:nvSpPr>
        <p:spPr>
          <a:xfrm>
            <a:off x="6612484" y="4023360"/>
            <a:ext cx="46648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612484" y="41330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KEKHAWATIRAN</a:t>
            </a:r>
            <a:endParaRPr lang="en-US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6612484" y="4407408"/>
            <a:ext cx="46648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Cek mutasi bank manual dan salah kirim varian.</a:t>
            </a:r>
            <a:endParaRPr lang="en-US" sz="1400" dirty="0"/>
          </a:p>
        </p:txBody>
      </p:sp>
      <p:sp>
        <p:nvSpPr>
          <p:cNvPr id="32" name="Shape 27"/>
          <p:cNvSpPr/>
          <p:nvPr/>
        </p:nvSpPr>
        <p:spPr>
          <a:xfrm>
            <a:off x="6612484" y="4956048"/>
            <a:ext cx="46648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612484" y="506577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ANDALAN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6612484" y="5340096"/>
            <a:ext cx="46648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Peringatan stok ≤ 5 dan ubah status pesanan sekali klik.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RUANG LINGKUP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yang Dibangun dan Batasannya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48640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68680" y="2011680"/>
            <a:ext cx="4846320" cy="420624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 ·  Wajib Selesai</a:t>
            </a:r>
            <a:endParaRPr lang="en-US" sz="14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25496"/>
            <a:ext cx="237744" cy="2377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16152" y="2788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Katalog, cari &amp; filter</a:t>
            </a:r>
            <a:endParaRPr lang="en-US" sz="13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465576"/>
            <a:ext cx="237744" cy="23774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16152" y="34290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produk &amp; varian</a:t>
            </a:r>
            <a:endParaRPr lang="en-US" sz="13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105656"/>
            <a:ext cx="237744" cy="23774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16152" y="40690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Keranjang &amp; kode promo</a:t>
            </a:r>
            <a:endParaRPr lang="en-US" sz="13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745736"/>
            <a:ext cx="237744" cy="23774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216152" y="47091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4 langkah</a:t>
            </a:r>
            <a:endParaRPr lang="en-US" sz="13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385816"/>
            <a:ext cx="237744" cy="237744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1216152" y="5349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Ongkir sesuai berat</a:t>
            </a:r>
            <a:endParaRPr lang="en-US" sz="130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825496"/>
            <a:ext cx="237744" cy="237744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3639312" y="2788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Akun &amp; lupa password</a:t>
            </a:r>
            <a:endParaRPr lang="en-US" sz="1300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3465576"/>
            <a:ext cx="237744" cy="237744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3639312" y="34290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Riwayat &amp; status pesanan</a:t>
            </a:r>
            <a:endParaRPr lang="en-US" sz="1300" dirty="0"/>
          </a:p>
        </p:txBody>
      </p:sp>
      <p:pic>
        <p:nvPicPr>
          <p:cNvPr id="23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4105656"/>
            <a:ext cx="237744" cy="237744"/>
          </a:xfrm>
          <a:prstGeom prst="rect">
            <a:avLst/>
          </a:prstGeom>
        </p:spPr>
      </p:pic>
      <p:sp>
        <p:nvSpPr>
          <p:cNvPr id="24" name="Text 13"/>
          <p:cNvSpPr txBox="1"/>
          <p:nvPr/>
        </p:nvSpPr>
        <p:spPr>
          <a:xfrm>
            <a:off x="3639312" y="40690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pesanan &amp; produk</a:t>
            </a:r>
            <a:endParaRPr lang="en-US" sz="1300" dirty="0"/>
          </a:p>
        </p:txBody>
      </p:sp>
      <p:pic>
        <p:nvPicPr>
          <p:cNvPr id="25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4745736"/>
            <a:ext cx="237744" cy="237744"/>
          </a:xfrm>
          <a:prstGeom prst="rect">
            <a:avLst/>
          </a:prstGeom>
        </p:spPr>
      </p:pic>
      <p:sp>
        <p:nvSpPr>
          <p:cNvPr id="26" name="Text 14"/>
          <p:cNvSpPr txBox="1"/>
          <p:nvPr/>
        </p:nvSpPr>
        <p:spPr>
          <a:xfrm>
            <a:off x="3639312" y="47091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notifikasi</a:t>
            </a:r>
            <a:endParaRPr lang="en-US" sz="1300" dirty="0"/>
          </a:p>
        </p:txBody>
      </p:sp>
      <p:pic>
        <p:nvPicPr>
          <p:cNvPr id="27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5385816"/>
            <a:ext cx="237744" cy="237744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3639312" y="5349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Batal otomatis 24 jam</a:t>
            </a:r>
            <a:endParaRPr lang="en-US" sz="1300" dirty="0"/>
          </a:p>
        </p:txBody>
      </p:sp>
      <p:sp>
        <p:nvSpPr>
          <p:cNvPr id="29" name="Shape 16"/>
          <p:cNvSpPr/>
          <p:nvPr/>
        </p:nvSpPr>
        <p:spPr>
          <a:xfrm>
            <a:off x="6309360" y="1691640"/>
            <a:ext cx="2528316" cy="448056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0" name="Text 17"/>
          <p:cNvSpPr txBox="1"/>
          <p:nvPr/>
        </p:nvSpPr>
        <p:spPr>
          <a:xfrm>
            <a:off x="6629400" y="2011680"/>
            <a:ext cx="1888236" cy="420624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Lanjutan</a:t>
            </a:r>
            <a:endParaRPr lang="en-US" sz="1400" dirty="0"/>
          </a:p>
        </p:txBody>
      </p:sp>
      <p:pic>
        <p:nvPicPr>
          <p:cNvPr id="31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2825496"/>
            <a:ext cx="237744" cy="237744"/>
          </a:xfrm>
          <a:prstGeom prst="rect">
            <a:avLst/>
          </a:prstGeom>
        </p:spPr>
      </p:pic>
      <p:sp>
        <p:nvSpPr>
          <p:cNvPr id="32" name="Text 18"/>
          <p:cNvSpPr txBox="1"/>
          <p:nvPr/>
        </p:nvSpPr>
        <p:spPr>
          <a:xfrm>
            <a:off x="6976872" y="278892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</a:t>
            </a:r>
            <a:endParaRPr lang="en-US" sz="1300" dirty="0"/>
          </a:p>
        </p:txBody>
      </p:sp>
      <p:pic>
        <p:nvPicPr>
          <p:cNvPr id="33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3465576"/>
            <a:ext cx="237744" cy="237744"/>
          </a:xfrm>
          <a:prstGeom prst="rect">
            <a:avLst/>
          </a:prstGeom>
        </p:spPr>
      </p:pic>
      <p:sp>
        <p:nvSpPr>
          <p:cNvPr id="34" name="Text 19"/>
          <p:cNvSpPr txBox="1"/>
          <p:nvPr/>
        </p:nvSpPr>
        <p:spPr>
          <a:xfrm>
            <a:off x="6976872" y="342900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Ulasan terverifikasi</a:t>
            </a:r>
            <a:endParaRPr lang="en-US" sz="1300" dirty="0"/>
          </a:p>
        </p:txBody>
      </p:sp>
      <p:pic>
        <p:nvPicPr>
          <p:cNvPr id="35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105656"/>
            <a:ext cx="237744" cy="237744"/>
          </a:xfrm>
          <a:prstGeom prst="rect">
            <a:avLst/>
          </a:prstGeom>
        </p:spPr>
      </p:pic>
      <p:sp>
        <p:nvSpPr>
          <p:cNvPr id="36" name="Text 20"/>
          <p:cNvSpPr txBox="1"/>
          <p:nvPr/>
        </p:nvSpPr>
        <p:spPr>
          <a:xfrm>
            <a:off x="6976872" y="406908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promo &amp; banner</a:t>
            </a:r>
            <a:endParaRPr lang="en-US" sz="1300" dirty="0"/>
          </a:p>
        </p:txBody>
      </p:sp>
      <p:pic>
        <p:nvPicPr>
          <p:cNvPr id="37" name="Image 1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745736"/>
            <a:ext cx="237744" cy="237744"/>
          </a:xfrm>
          <a:prstGeom prst="rect">
            <a:avLst/>
          </a:prstGeom>
        </p:spPr>
      </p:pic>
      <p:sp>
        <p:nvSpPr>
          <p:cNvPr id="38" name="Text 21"/>
          <p:cNvSpPr txBox="1"/>
          <p:nvPr/>
        </p:nvSpPr>
        <p:spPr>
          <a:xfrm>
            <a:off x="6976872" y="470916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omzet</a:t>
            </a:r>
            <a:endParaRPr lang="en-US" sz="1300" dirty="0"/>
          </a:p>
        </p:txBody>
      </p:sp>
      <p:sp>
        <p:nvSpPr>
          <p:cNvPr id="39" name="Shape 22"/>
          <p:cNvSpPr/>
          <p:nvPr/>
        </p:nvSpPr>
        <p:spPr>
          <a:xfrm>
            <a:off x="9111996" y="1691640"/>
            <a:ext cx="2528316" cy="448056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40" name="Text 23"/>
          <p:cNvSpPr txBox="1"/>
          <p:nvPr/>
        </p:nvSpPr>
        <p:spPr>
          <a:xfrm>
            <a:off x="9432036" y="2011680"/>
            <a:ext cx="1888236" cy="42062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Luar Cakupan</a:t>
            </a:r>
            <a:endParaRPr lang="en-US" sz="1400" dirty="0"/>
          </a:p>
        </p:txBody>
      </p:sp>
      <p:pic>
        <p:nvPicPr>
          <p:cNvPr id="41" name="Image 1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36" y="2825496"/>
            <a:ext cx="237744" cy="237744"/>
          </a:xfrm>
          <a:prstGeom prst="rect">
            <a:avLst/>
          </a:prstGeom>
        </p:spPr>
      </p:pic>
      <p:sp>
        <p:nvSpPr>
          <p:cNvPr id="42" name="Text 24"/>
          <p:cNvSpPr txBox="1"/>
          <p:nvPr/>
        </p:nvSpPr>
        <p:spPr>
          <a:xfrm>
            <a:off x="9779508" y="278892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gateway otomatis</a:t>
            </a:r>
            <a:endParaRPr lang="en-US" sz="1300" dirty="0"/>
          </a:p>
        </p:txBody>
      </p:sp>
      <p:pic>
        <p:nvPicPr>
          <p:cNvPr id="43" name="Image 1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36" y="3465576"/>
            <a:ext cx="237744" cy="237744"/>
          </a:xfrm>
          <a:prstGeom prst="rect">
            <a:avLst/>
          </a:prstGeom>
        </p:spPr>
      </p:pic>
      <p:sp>
        <p:nvSpPr>
          <p:cNvPr id="44" name="Text 25"/>
          <p:cNvSpPr txBox="1"/>
          <p:nvPr/>
        </p:nvSpPr>
        <p:spPr>
          <a:xfrm>
            <a:off x="9779508" y="342900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Ongkir per kota tujuan</a:t>
            </a:r>
            <a:endParaRPr lang="en-US" sz="1300" dirty="0"/>
          </a:p>
        </p:txBody>
      </p:sp>
      <p:pic>
        <p:nvPicPr>
          <p:cNvPr id="45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36" y="4105656"/>
            <a:ext cx="237744" cy="237744"/>
          </a:xfrm>
          <a:prstGeom prst="rect">
            <a:avLst/>
          </a:prstGeom>
        </p:spPr>
      </p:pic>
      <p:sp>
        <p:nvSpPr>
          <p:cNvPr id="46" name="Text 26"/>
          <p:cNvSpPr txBox="1"/>
          <p:nvPr/>
        </p:nvSpPr>
        <p:spPr>
          <a:xfrm>
            <a:off x="9779508" y="406908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Lacak resi otomatis</a:t>
            </a:r>
            <a:endParaRPr lang="en-US" sz="1300" dirty="0"/>
          </a:p>
        </p:txBody>
      </p:sp>
      <p:pic>
        <p:nvPicPr>
          <p:cNvPr id="47" name="Image 1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36" y="4745736"/>
            <a:ext cx="237744" cy="237744"/>
          </a:xfrm>
          <a:prstGeom prst="rect">
            <a:avLst/>
          </a:prstGeom>
        </p:spPr>
      </p:pic>
      <p:sp>
        <p:nvSpPr>
          <p:cNvPr id="48" name="Text 27"/>
          <p:cNvSpPr txBox="1"/>
          <p:nvPr/>
        </p:nvSpPr>
        <p:spPr>
          <a:xfrm>
            <a:off x="9779508" y="470916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Google</a:t>
            </a:r>
            <a:endParaRPr lang="en-US" sz="1300" dirty="0"/>
          </a:p>
        </p:txBody>
      </p:sp>
      <p:pic>
        <p:nvPicPr>
          <p:cNvPr id="49" name="Image 1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36" y="5385816"/>
            <a:ext cx="237744" cy="237744"/>
          </a:xfrm>
          <a:prstGeom prst="rect">
            <a:avLst/>
          </a:prstGeom>
        </p:spPr>
      </p:pic>
      <p:sp>
        <p:nvSpPr>
          <p:cNvPr id="50" name="Text 28"/>
          <p:cNvSpPr txBox="1"/>
          <p:nvPr/>
        </p:nvSpPr>
        <p:spPr>
          <a:xfrm>
            <a:off x="9779508" y="534924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Aplikasi mobile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RENCANA TEKNOLOGI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 dan Alasan Pemilihannya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1965960"/>
            <a:ext cx="640080" cy="640080"/>
          </a:xfrm>
          <a:prstGeom prst="ellipse">
            <a:avLst/>
          </a:prstGeom>
          <a:solidFill>
            <a:srgbClr val="E2E8F0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119579"/>
            <a:ext cx="332842" cy="33284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00200" y="196596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(App Router)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1600200" y="2331720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+ Backend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83464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Tampilan dan logika server dalam satu proyek, tidak perlu mengelola dua server.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338218" y="169164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612538" y="1965960"/>
            <a:ext cx="640080" cy="64008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6158" y="211957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389778" y="196596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5389778" y="2331720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utama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283464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Stabil, gratis, sudah dipelajari di kampus, dan berjalan lokal lewat XAMPP.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8127797" y="169164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402117" y="1965960"/>
            <a:ext cx="640080" cy="64008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5736" y="211957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179357" y="196596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ORM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9179357" y="2331720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Penghubung database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8402117" y="283464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ditulis sebagai kode TypeScript, lengkap dengan migrasi dan data awal.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48640" y="41148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22960" y="4389120"/>
            <a:ext cx="640080" cy="640080"/>
          </a:xfrm>
          <a:prstGeom prst="ellipse">
            <a:avLst/>
          </a:prstGeom>
          <a:solidFill>
            <a:srgbClr val="CFFAFE"/>
          </a:solidFill>
          <a:ln/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6579" y="4542739"/>
            <a:ext cx="332842" cy="33284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00200" y="438912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+ shadcn/ui</a:t>
            </a:r>
            <a:endParaRPr lang="en-US" sz="1700" dirty="0"/>
          </a:p>
        </p:txBody>
      </p:sp>
      <p:sp>
        <p:nvSpPr>
          <p:cNvPr id="29" name="Text 22"/>
          <p:cNvSpPr txBox="1"/>
          <p:nvPr/>
        </p:nvSpPr>
        <p:spPr>
          <a:xfrm>
            <a:off x="1600200" y="4754880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Tampilan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822960" y="525780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 siap pakai, tampilan seragam dan responsif tanpa CSS dari nol.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4338218" y="41148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4612538" y="4389120"/>
            <a:ext cx="640080" cy="64008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66158" y="4542739"/>
            <a:ext cx="332842" cy="332842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5389778" y="438912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</a:t>
            </a:r>
            <a:endParaRPr lang="en-US" sz="1700" dirty="0"/>
          </a:p>
        </p:txBody>
      </p:sp>
      <p:sp>
        <p:nvSpPr>
          <p:cNvPr id="35" name="Text 27"/>
          <p:cNvSpPr txBox="1"/>
          <p:nvPr/>
        </p:nvSpPr>
        <p:spPr>
          <a:xfrm>
            <a:off x="5389778" y="4754880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Keranjang belanja</a:t>
            </a:r>
            <a:endParaRPr lang="en-US" sz="1200" dirty="0"/>
          </a:p>
        </p:txBody>
      </p:sp>
      <p:sp>
        <p:nvSpPr>
          <p:cNvPr id="36" name="Text 28"/>
          <p:cNvSpPr txBox="1"/>
          <p:nvPr/>
        </p:nvSpPr>
        <p:spPr>
          <a:xfrm>
            <a:off x="4612538" y="525780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Keranjang disimpan di browser dan tetap ada walau halaman dimuat ulang.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8127797" y="41148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8" name="Shape 30"/>
          <p:cNvSpPr/>
          <p:nvPr/>
        </p:nvSpPr>
        <p:spPr>
          <a:xfrm>
            <a:off x="8402117" y="4389120"/>
            <a:ext cx="640080" cy="64008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55736" y="4542739"/>
            <a:ext cx="332842" cy="332842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9179357" y="438912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Hook Form + Zod</a:t>
            </a:r>
            <a:endParaRPr lang="en-US" sz="1700" dirty="0"/>
          </a:p>
        </p:txBody>
      </p:sp>
      <p:sp>
        <p:nvSpPr>
          <p:cNvPr id="41" name="Text 32"/>
          <p:cNvSpPr txBox="1"/>
          <p:nvPr/>
        </p:nvSpPr>
        <p:spPr>
          <a:xfrm>
            <a:off x="9179357" y="4754880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&amp; validasi</a:t>
            </a:r>
            <a:endParaRPr lang="en-US" sz="1200" dirty="0"/>
          </a:p>
        </p:txBody>
      </p:sp>
      <p:sp>
        <p:nvSpPr>
          <p:cNvPr id="42" name="Text 33"/>
          <p:cNvSpPr txBox="1"/>
          <p:nvPr/>
        </p:nvSpPr>
        <p:spPr>
          <a:xfrm>
            <a:off x="8402117" y="525780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Aturan validasi yang sama dipakai di form dan server, data salah ketik ditolak.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SISTEM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Semua Bagian Terhubung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2103120" cy="283464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548640" y="2194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PENGGUNA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325880" y="2606040"/>
            <a:ext cx="548640" cy="5486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7554" y="27377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200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Pembeli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1325880" y="3657600"/>
            <a:ext cx="548640" cy="54864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554" y="3789274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" y="4251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Toko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2697480" y="3429000"/>
            <a:ext cx="548640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3291840" y="1691640"/>
            <a:ext cx="4480560" cy="3474720"/>
          </a:xfrm>
          <a:prstGeom prst="roundRect">
            <a:avLst>
              <a:gd name="adj" fmla="val 3684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566160" y="1828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Aplikasi Next.js</a:t>
            </a:r>
            <a:endParaRPr lang="en-US" sz="1700" dirty="0"/>
          </a:p>
        </p:txBody>
      </p:sp>
      <p:sp>
        <p:nvSpPr>
          <p:cNvPr id="18" name="Shape 13"/>
          <p:cNvSpPr/>
          <p:nvPr/>
        </p:nvSpPr>
        <p:spPr>
          <a:xfrm>
            <a:off x="3566160" y="2331720"/>
            <a:ext cx="393192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749040" y="2423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3749040" y="27157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Components: beranda, katalog, akun, admin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3566160" y="3200400"/>
            <a:ext cx="393192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749040" y="3291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Actions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3749040" y="35844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Proses data: login, checkout, promo, status pesanan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3566160" y="4069080"/>
            <a:ext cx="393192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3749040" y="4160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Handler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3749040" y="44531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/api/search (saran cari)  ·  /api/cron (job terjadwal)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7818120" y="3429000"/>
            <a:ext cx="502920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8321040" y="2651760"/>
            <a:ext cx="1508760" cy="155448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8796528" y="2834640"/>
            <a:ext cx="548640" cy="54864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8202" y="2966314"/>
            <a:ext cx="285293" cy="285293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8321040" y="34747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ORM</a:t>
            </a:r>
            <a:endParaRPr lang="en-US" sz="1400" dirty="0"/>
          </a:p>
        </p:txBody>
      </p:sp>
      <p:sp>
        <p:nvSpPr>
          <p:cNvPr id="32" name="Text 26"/>
          <p:cNvSpPr txBox="1"/>
          <p:nvPr/>
        </p:nvSpPr>
        <p:spPr>
          <a:xfrm>
            <a:off x="8321040" y="37490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&amp; migrasi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9875520" y="3429000"/>
            <a:ext cx="411480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4" name="Shape 28"/>
          <p:cNvSpPr/>
          <p:nvPr/>
        </p:nvSpPr>
        <p:spPr>
          <a:xfrm>
            <a:off x="10332720" y="2651760"/>
            <a:ext cx="1307592" cy="1554480"/>
          </a:xfrm>
          <a:prstGeom prst="roundRect">
            <a:avLst>
              <a:gd name="adj" fmla="val 97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10707624" y="2834640"/>
            <a:ext cx="548640" cy="54864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3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39298" y="2966314"/>
            <a:ext cx="285293" cy="285293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0332720" y="3474720"/>
            <a:ext cx="1307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10332720" y="3749040"/>
            <a:ext cx="1307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tabel</a:t>
            </a:r>
            <a:endParaRPr lang="en-US" sz="1100" dirty="0"/>
          </a:p>
        </p:txBody>
      </p:sp>
      <p:sp>
        <p:nvSpPr>
          <p:cNvPr id="39" name="Text 32"/>
          <p:cNvSpPr txBox="1"/>
          <p:nvPr/>
        </p:nvSpPr>
        <p:spPr>
          <a:xfrm>
            <a:off x="54864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LAYANAN PENDUKUNG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3474720" y="5303520"/>
            <a:ext cx="2600858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0" y="5468112"/>
            <a:ext cx="274320" cy="274320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4023360" y="5413248"/>
            <a:ext cx="1915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SMTP</a:t>
            </a:r>
            <a:endParaRPr lang="en-US" sz="1300" dirty="0"/>
          </a:p>
        </p:txBody>
      </p:sp>
      <p:sp>
        <p:nvSpPr>
          <p:cNvPr id="43" name="Text 35"/>
          <p:cNvSpPr txBox="1"/>
          <p:nvPr/>
        </p:nvSpPr>
        <p:spPr>
          <a:xfrm>
            <a:off x="4023360" y="5687568"/>
            <a:ext cx="1915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Notifikasi pesanan &amp; reset password</a:t>
            </a:r>
            <a:endParaRPr lang="en-US" sz="1100" dirty="0"/>
          </a:p>
        </p:txBody>
      </p:sp>
      <p:sp>
        <p:nvSpPr>
          <p:cNvPr id="44" name="Shape 36"/>
          <p:cNvSpPr/>
          <p:nvPr/>
        </p:nvSpPr>
        <p:spPr>
          <a:xfrm>
            <a:off x="6258458" y="5303520"/>
            <a:ext cx="2600858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1338" y="5468112"/>
            <a:ext cx="274320" cy="274320"/>
          </a:xfrm>
          <a:prstGeom prst="rect">
            <a:avLst/>
          </a:prstGeom>
        </p:spPr>
      </p:pic>
      <p:sp>
        <p:nvSpPr>
          <p:cNvPr id="46" name="Text 37"/>
          <p:cNvSpPr txBox="1"/>
          <p:nvPr/>
        </p:nvSpPr>
        <p:spPr>
          <a:xfrm>
            <a:off x="6807098" y="5413248"/>
            <a:ext cx="1915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Penyimpanan Gambar</a:t>
            </a:r>
            <a:endParaRPr lang="en-US" sz="1300" dirty="0"/>
          </a:p>
        </p:txBody>
      </p:sp>
      <p:sp>
        <p:nvSpPr>
          <p:cNvPr id="47" name="Text 38"/>
          <p:cNvSpPr txBox="1"/>
          <p:nvPr/>
        </p:nvSpPr>
        <p:spPr>
          <a:xfrm>
            <a:off x="6807098" y="5687568"/>
            <a:ext cx="1915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 saat dev, Cloudflare R2 saat rilis</a:t>
            </a:r>
            <a:endParaRPr lang="en-US" sz="1100" dirty="0"/>
          </a:p>
        </p:txBody>
      </p:sp>
      <p:sp>
        <p:nvSpPr>
          <p:cNvPr id="48" name="Shape 39"/>
          <p:cNvSpPr/>
          <p:nvPr/>
        </p:nvSpPr>
        <p:spPr>
          <a:xfrm>
            <a:off x="9042197" y="5303520"/>
            <a:ext cx="2600858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25077" y="5468112"/>
            <a:ext cx="274320" cy="274320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9590837" y="5413248"/>
            <a:ext cx="1915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Terjadwal</a:t>
            </a:r>
            <a:endParaRPr lang="en-US" sz="1300" dirty="0"/>
          </a:p>
        </p:txBody>
      </p:sp>
      <p:sp>
        <p:nvSpPr>
          <p:cNvPr id="51" name="Text 41"/>
          <p:cNvSpPr txBox="1"/>
          <p:nvPr/>
        </p:nvSpPr>
        <p:spPr>
          <a:xfrm>
            <a:off x="9590837" y="5687568"/>
            <a:ext cx="1915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Tiap 15 menit: batal otomatis &amp; selesai otomatis</a:t>
            </a:r>
            <a:endParaRPr lang="en-US" sz="1100" dirty="0"/>
          </a:p>
        </p:txBody>
      </p:sp>
      <p:sp>
        <p:nvSpPr>
          <p:cNvPr id="52" name="Shape 42"/>
          <p:cNvSpPr/>
          <p:nvPr/>
        </p:nvSpPr>
        <p:spPr>
          <a:xfrm>
            <a:off x="5532120" y="5193792"/>
            <a:ext cx="0" cy="9144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RANCANGAN DATABASE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Tabel MySQL dalam 4 Kelompok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2606040" cy="361188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204094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19202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Pengguna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371600" y="219456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tabel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2651760"/>
            <a:ext cx="214884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3081528"/>
            <a:ext cx="214884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addresses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511296"/>
            <a:ext cx="214884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password_reset_tokens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3337560" y="1691640"/>
            <a:ext cx="2926080" cy="36118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566160" y="1920240"/>
            <a:ext cx="502920" cy="50292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6861" y="2040941"/>
            <a:ext cx="261518" cy="26151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160520" y="1920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Katalog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4160520" y="21945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tabel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3566160" y="2651760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categories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3566160" y="3081528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products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3566160" y="3511296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product_images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3566160" y="3941064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product_variants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3566160" y="4370832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reviews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3566160" y="4800600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wishlist_items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446520" y="1691640"/>
            <a:ext cx="2926080" cy="36118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675120" y="1920240"/>
            <a:ext cx="502920" cy="50292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5821" y="2040941"/>
            <a:ext cx="261518" cy="26151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269480" y="1920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</a:t>
            </a: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7269480" y="21945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tabel</a:t>
            </a:r>
            <a:endParaRPr lang="en-US" sz="1100" dirty="0"/>
          </a:p>
        </p:txBody>
      </p:sp>
      <p:sp>
        <p:nvSpPr>
          <p:cNvPr id="31" name="Text 25"/>
          <p:cNvSpPr txBox="1"/>
          <p:nvPr/>
        </p:nvSpPr>
        <p:spPr>
          <a:xfrm>
            <a:off x="6675120" y="2651760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endParaRPr lang="en-US" sz="1200" dirty="0"/>
          </a:p>
        </p:txBody>
      </p:sp>
      <p:sp>
        <p:nvSpPr>
          <p:cNvPr id="32" name="Text 26"/>
          <p:cNvSpPr txBox="1"/>
          <p:nvPr/>
        </p:nvSpPr>
        <p:spPr>
          <a:xfrm>
            <a:off x="6675120" y="3081528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order_items</a:t>
            </a:r>
            <a:endParaRPr lang="en-US" sz="1200" dirty="0"/>
          </a:p>
        </p:txBody>
      </p:sp>
      <p:sp>
        <p:nvSpPr>
          <p:cNvPr id="33" name="Text 27"/>
          <p:cNvSpPr txBox="1"/>
          <p:nvPr/>
        </p:nvSpPr>
        <p:spPr>
          <a:xfrm>
            <a:off x="6675120" y="3511296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order_status_logs</a:t>
            </a:r>
            <a:endParaRPr lang="en-US" sz="1200" dirty="0"/>
          </a:p>
        </p:txBody>
      </p:sp>
      <p:sp>
        <p:nvSpPr>
          <p:cNvPr id="34" name="Text 28"/>
          <p:cNvSpPr txBox="1"/>
          <p:nvPr/>
        </p:nvSpPr>
        <p:spPr>
          <a:xfrm>
            <a:off x="6675120" y="3941064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promo_codes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6675120" y="4370832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promo_usages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9555480" y="1691640"/>
            <a:ext cx="2084832" cy="3611880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9784080" y="1920240"/>
            <a:ext cx="502920" cy="50292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4781" y="2040941"/>
            <a:ext cx="261518" cy="261518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10378440" y="19202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Konten</a:t>
            </a:r>
            <a:endParaRPr lang="en-US" sz="1600" dirty="0"/>
          </a:p>
        </p:txBody>
      </p:sp>
      <p:sp>
        <p:nvSpPr>
          <p:cNvPr id="40" name="Text 33"/>
          <p:cNvSpPr txBox="1"/>
          <p:nvPr/>
        </p:nvSpPr>
        <p:spPr>
          <a:xfrm>
            <a:off x="10378440" y="2194560"/>
            <a:ext cx="1170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tabel</a:t>
            </a:r>
            <a:endParaRPr lang="en-US" sz="1100" dirty="0"/>
          </a:p>
        </p:txBody>
      </p:sp>
      <p:sp>
        <p:nvSpPr>
          <p:cNvPr id="41" name="Text 34"/>
          <p:cNvSpPr txBox="1"/>
          <p:nvPr/>
        </p:nvSpPr>
        <p:spPr>
          <a:xfrm>
            <a:off x="9784080" y="2651760"/>
            <a:ext cx="1627632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banners</a:t>
            </a:r>
            <a:endParaRPr lang="en-US" sz="1200" dirty="0"/>
          </a:p>
        </p:txBody>
      </p:sp>
      <p:sp>
        <p:nvSpPr>
          <p:cNvPr id="42" name="Shape 35"/>
          <p:cNvSpPr/>
          <p:nvPr/>
        </p:nvSpPr>
        <p:spPr>
          <a:xfrm>
            <a:off x="548640" y="5486400"/>
            <a:ext cx="357621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44" name="Text 36"/>
          <p:cNvSpPr txBox="1"/>
          <p:nvPr/>
        </p:nvSpPr>
        <p:spPr>
          <a:xfrm>
            <a:off x="1234440" y="5559552"/>
            <a:ext cx="2753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disimpan INT</a:t>
            </a:r>
            <a:endParaRPr lang="en-US" sz="1300" dirty="0"/>
          </a:p>
        </p:txBody>
      </p:sp>
      <p:sp>
        <p:nvSpPr>
          <p:cNvPr id="45" name="Text 37"/>
          <p:cNvSpPr txBox="1"/>
          <p:nvPr/>
        </p:nvSpPr>
        <p:spPr>
          <a:xfrm>
            <a:off x="1234440" y="5833872"/>
            <a:ext cx="2753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dalam rupiah, tanpa desimal</a:t>
            </a:r>
            <a:endParaRPr lang="en-US" sz="1100" dirty="0"/>
          </a:p>
        </p:txBody>
      </p:sp>
      <p:sp>
        <p:nvSpPr>
          <p:cNvPr id="46" name="Shape 38"/>
          <p:cNvSpPr/>
          <p:nvPr/>
        </p:nvSpPr>
        <p:spPr>
          <a:xfrm>
            <a:off x="4307738" y="5486400"/>
            <a:ext cx="357621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08906" y="5687568"/>
            <a:ext cx="329184" cy="329184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4993538" y="5559552"/>
            <a:ext cx="2753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pesanan</a:t>
            </a:r>
            <a:endParaRPr lang="en-US" sz="1300" dirty="0"/>
          </a:p>
        </p:txBody>
      </p:sp>
      <p:sp>
        <p:nvSpPr>
          <p:cNvPr id="49" name="Text 40"/>
          <p:cNvSpPr txBox="1"/>
          <p:nvPr/>
        </p:nvSpPr>
        <p:spPr>
          <a:xfrm>
            <a:off x="4993538" y="5833872"/>
            <a:ext cx="2753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nama, harga &amp; alamat disalin saat checkout</a:t>
            </a:r>
            <a:endParaRPr lang="en-US" sz="1100" dirty="0"/>
          </a:p>
        </p:txBody>
      </p:sp>
      <p:sp>
        <p:nvSpPr>
          <p:cNvPr id="50" name="Shape 41"/>
          <p:cNvSpPr/>
          <p:nvPr/>
        </p:nvSpPr>
        <p:spPr>
          <a:xfrm>
            <a:off x="8066837" y="5486400"/>
            <a:ext cx="357621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8005" y="5687568"/>
            <a:ext cx="329184" cy="329184"/>
          </a:xfrm>
          <a:prstGeom prst="rect">
            <a:avLst/>
          </a:prstGeom>
        </p:spPr>
      </p:pic>
      <p:sp>
        <p:nvSpPr>
          <p:cNvPr id="52" name="Text 42"/>
          <p:cNvSpPr txBox="1"/>
          <p:nvPr/>
        </p:nvSpPr>
        <p:spPr>
          <a:xfrm>
            <a:off x="8752637" y="5559552"/>
            <a:ext cx="2753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 per varian</a:t>
            </a:r>
            <a:endParaRPr lang="en-US" sz="1300" dirty="0"/>
          </a:p>
        </p:txBody>
      </p:sp>
      <p:sp>
        <p:nvSpPr>
          <p:cNvPr id="53" name="Text 43"/>
          <p:cNvSpPr txBox="1"/>
          <p:nvPr/>
        </p:nvSpPr>
        <p:spPr>
          <a:xfrm>
            <a:off x="8752637" y="5833872"/>
            <a:ext cx="2753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ukuran/warna punya stok sendiri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ATURAN BISNIS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Status Pesanan dari Dibuat sampai Selesai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246602" y="1737360"/>
            <a:ext cx="822960" cy="82296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4112" y="1934870"/>
            <a:ext cx="427939" cy="42793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40080" y="2697480"/>
            <a:ext cx="20360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Menunggu Pembayaran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3017520"/>
            <a:ext cx="194456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dibuat, batas bayar 24 jam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2161002" y="2148840"/>
            <a:ext cx="1213043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3465485" y="1737360"/>
            <a:ext cx="822960" cy="82296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2995" y="1934870"/>
            <a:ext cx="427939" cy="4279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858963" y="2697480"/>
            <a:ext cx="20360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Dikonfirmasi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2904683" y="3017520"/>
            <a:ext cx="194456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Pembayaran diterima atau COD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379885" y="2148840"/>
            <a:ext cx="1213043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5684368" y="1737360"/>
            <a:ext cx="822960" cy="82296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1878" y="1934870"/>
            <a:ext cx="427939" cy="427939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077846" y="2697480"/>
            <a:ext cx="20360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Dikemas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5123566" y="3017520"/>
            <a:ext cx="194456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menyiapkan barang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6598768" y="2148840"/>
            <a:ext cx="1213043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7903251" y="1737360"/>
            <a:ext cx="822960" cy="82296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0761" y="1934870"/>
            <a:ext cx="427939" cy="427939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296729" y="2697480"/>
            <a:ext cx="20360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Dikirim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7342449" y="3017520"/>
            <a:ext cx="194456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wajib input resi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8817651" y="2148840"/>
            <a:ext cx="1213043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7" name="Shape 20"/>
          <p:cNvSpPr/>
          <p:nvPr/>
        </p:nvSpPr>
        <p:spPr>
          <a:xfrm>
            <a:off x="10122134" y="1737360"/>
            <a:ext cx="822960" cy="82296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9644" y="1934870"/>
            <a:ext cx="427939" cy="427939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515612" y="2697480"/>
            <a:ext cx="20360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Selesai</a:t>
            </a:r>
            <a:endParaRPr lang="en-US" sz="1500" dirty="0"/>
          </a:p>
        </p:txBody>
      </p:sp>
      <p:sp>
        <p:nvSpPr>
          <p:cNvPr id="30" name="Text 22"/>
          <p:cNvSpPr txBox="1"/>
          <p:nvPr/>
        </p:nvSpPr>
        <p:spPr>
          <a:xfrm>
            <a:off x="9561332" y="3017520"/>
            <a:ext cx="194456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Dikonfirmasi pembeli / otomatis 7 hari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1658082" y="3566160"/>
            <a:ext cx="0" cy="411480"/>
          </a:xfrm>
          <a:prstGeom prst="line">
            <a:avLst/>
          </a:prstGeom>
          <a:noFill/>
          <a:ln w="22225">
            <a:solidFill>
              <a:srgbClr val="DC2626"/>
            </a:solidFill>
            <a:prstDash val="dash"/>
            <a:tailEnd type="triangle"/>
          </a:ln>
        </p:spPr>
      </p:sp>
      <p:sp>
        <p:nvSpPr>
          <p:cNvPr id="32" name="Shape 24"/>
          <p:cNvSpPr/>
          <p:nvPr/>
        </p:nvSpPr>
        <p:spPr>
          <a:xfrm>
            <a:off x="3876965" y="3566160"/>
            <a:ext cx="0" cy="411480"/>
          </a:xfrm>
          <a:prstGeom prst="line">
            <a:avLst/>
          </a:prstGeom>
          <a:noFill/>
          <a:ln w="22225">
            <a:solidFill>
              <a:srgbClr val="DC2626"/>
            </a:solidFill>
            <a:prstDash val="dash"/>
            <a:tailEnd type="triangle"/>
          </a:ln>
        </p:spPr>
      </p:sp>
      <p:sp>
        <p:nvSpPr>
          <p:cNvPr id="33" name="Shape 25"/>
          <p:cNvSpPr/>
          <p:nvPr/>
        </p:nvSpPr>
        <p:spPr>
          <a:xfrm>
            <a:off x="548640" y="4005072"/>
            <a:ext cx="4437766" cy="822960"/>
          </a:xfrm>
          <a:prstGeom prst="roundRect">
            <a:avLst>
              <a:gd name="adj" fmla="val 15556"/>
            </a:avLst>
          </a:prstGeom>
          <a:solidFill>
            <a:srgbClr val="FEF2F2"/>
          </a:solidFill>
          <a:ln w="9525">
            <a:solidFill>
              <a:srgbClr val="FECACA"/>
            </a:solidFill>
            <a:prstDash val="solid"/>
          </a:ln>
        </p:spPr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365760" cy="36576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1280160" y="4078224"/>
            <a:ext cx="35233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Dibatalkan</a:t>
            </a:r>
            <a:endParaRPr lang="en-US" sz="1400" dirty="0"/>
          </a:p>
        </p:txBody>
      </p:sp>
      <p:sp>
        <p:nvSpPr>
          <p:cNvPr id="36" name="Text 27"/>
          <p:cNvSpPr txBox="1"/>
          <p:nvPr/>
        </p:nvSpPr>
        <p:spPr>
          <a:xfrm>
            <a:off x="1280160" y="4352544"/>
            <a:ext cx="352336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Lewat batas bayar, oleh pembeli, atau oleh admin (wajib alasan). Stok &amp; kuota promo kembali.</a:t>
            </a:r>
            <a:endParaRPr lang="en-US" sz="1100" dirty="0"/>
          </a:p>
        </p:txBody>
      </p:sp>
      <p:sp>
        <p:nvSpPr>
          <p:cNvPr id="37" name="Shape 28"/>
          <p:cNvSpPr/>
          <p:nvPr/>
        </p:nvSpPr>
        <p:spPr>
          <a:xfrm>
            <a:off x="548640" y="5074920"/>
            <a:ext cx="3515258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8" name="Shape 29"/>
          <p:cNvSpPr/>
          <p:nvPr/>
        </p:nvSpPr>
        <p:spPr>
          <a:xfrm>
            <a:off x="777240" y="5257800"/>
            <a:ext cx="457200" cy="45720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3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6968" y="5367528"/>
            <a:ext cx="237744" cy="237744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1371600" y="5230368"/>
            <a:ext cx="2509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Anti-overselling</a:t>
            </a:r>
            <a:endParaRPr lang="en-US" sz="1400" dirty="0"/>
          </a:p>
        </p:txBody>
      </p:sp>
      <p:sp>
        <p:nvSpPr>
          <p:cNvPr id="41" name="Text 31"/>
          <p:cNvSpPr txBox="1"/>
          <p:nvPr/>
        </p:nvSpPr>
        <p:spPr>
          <a:xfrm>
            <a:off x="1371600" y="5513832"/>
            <a:ext cx="25094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 dikurangi dalam satu transaksi database, hanya jika stok cukup.</a:t>
            </a:r>
            <a:endParaRPr lang="en-US" sz="1200" dirty="0"/>
          </a:p>
        </p:txBody>
      </p:sp>
      <p:sp>
        <p:nvSpPr>
          <p:cNvPr id="42" name="Shape 32"/>
          <p:cNvSpPr/>
          <p:nvPr/>
        </p:nvSpPr>
        <p:spPr>
          <a:xfrm>
            <a:off x="4338218" y="5074920"/>
            <a:ext cx="3515258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43" name="Shape 33"/>
          <p:cNvSpPr/>
          <p:nvPr/>
        </p:nvSpPr>
        <p:spPr>
          <a:xfrm>
            <a:off x="4566818" y="5257800"/>
            <a:ext cx="457200" cy="45720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44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76546" y="5367528"/>
            <a:ext cx="237744" cy="237744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5161178" y="5230368"/>
            <a:ext cx="2509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dari server</a:t>
            </a:r>
            <a:endParaRPr lang="en-US" sz="1400" dirty="0"/>
          </a:p>
        </p:txBody>
      </p:sp>
      <p:sp>
        <p:nvSpPr>
          <p:cNvPr id="46" name="Text 35"/>
          <p:cNvSpPr txBox="1"/>
          <p:nvPr/>
        </p:nvSpPr>
        <p:spPr>
          <a:xfrm>
            <a:off x="5161178" y="5513832"/>
            <a:ext cx="25094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Harga, ongkir, dan diskon selalu dihitung ulang dari database.</a:t>
            </a:r>
            <a:endParaRPr lang="en-US" sz="1200" dirty="0"/>
          </a:p>
        </p:txBody>
      </p:sp>
      <p:sp>
        <p:nvSpPr>
          <p:cNvPr id="47" name="Shape 36"/>
          <p:cNvSpPr/>
          <p:nvPr/>
        </p:nvSpPr>
        <p:spPr>
          <a:xfrm>
            <a:off x="8127797" y="5074920"/>
            <a:ext cx="3515258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48" name="Shape 37"/>
          <p:cNvSpPr/>
          <p:nvPr/>
        </p:nvSpPr>
        <p:spPr>
          <a:xfrm>
            <a:off x="8356397" y="5257800"/>
            <a:ext cx="457200" cy="45720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49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66125" y="5367528"/>
            <a:ext cx="237744" cy="237744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8950757" y="5230368"/>
            <a:ext cx="2509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Jejak status</a:t>
            </a:r>
            <a:endParaRPr lang="en-US" sz="1400" dirty="0"/>
          </a:p>
        </p:txBody>
      </p:sp>
      <p:sp>
        <p:nvSpPr>
          <p:cNvPr id="51" name="Text 39"/>
          <p:cNvSpPr txBox="1"/>
          <p:nvPr/>
        </p:nvSpPr>
        <p:spPr>
          <a:xfrm>
            <a:off x="8950757" y="5513832"/>
            <a:ext cx="25094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perubahan status dicatat untuk timeline pesanan.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DESAIN ANTARMUKA  ·  1 DARI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Beranda yang Nyaman Dipakai di HP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75488" y="1709928"/>
            <a:ext cx="6958584" cy="3948507"/>
          </a:xfrm>
          <a:prstGeom prst="roundRect">
            <a:avLst>
              <a:gd name="adj" fmla="val 185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pic>
        <p:nvPicPr>
          <p:cNvPr id="8" name="Image 0" descr="C:/xampp/htdocs/e-commerce/docs/mockups/01_beranda_mock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6812280" cy="380220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0" y="1783080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366760" y="1801368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Pencarian cerdas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8366760" y="2148840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Saran produk muncul setelah mengetik 2 huruf.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772400" y="2770632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366760" y="2788920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Banner promo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8366760" y="3136392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Carousel promosi yang dikelola admin.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7772400" y="3758184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8366760" y="3776472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 ramah jempol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8366760" y="4123944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Ikon kategori besar dan mudah disentuh.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7772400" y="4745736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366760" y="4764024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terlaris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8366760" y="5111496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Terlaris 30 hari terakhir, dengan harga coret dan rating.</a:t>
            </a:r>
            <a:endParaRPr lang="en-US" sz="13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AAC9066-B8B3-FD73-CE84-3E2EE0555E6C}"/>
              </a:ext>
            </a:extLst>
          </p:cNvPr>
          <p:cNvSpPr/>
          <p:nvPr/>
        </p:nvSpPr>
        <p:spPr>
          <a:xfrm>
            <a:off x="4858927" y="3453125"/>
            <a:ext cx="261713" cy="40513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DESAIN ANTARMUKA  ·  2 DARI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Produk yang Transparan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757623" y="1709928"/>
            <a:ext cx="6958584" cy="3948507"/>
          </a:xfrm>
          <a:prstGeom prst="roundRect">
            <a:avLst>
              <a:gd name="adj" fmla="val 185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pic>
        <p:nvPicPr>
          <p:cNvPr id="8" name="Image 0" descr="C:/xampp/htdocs/e-commerce/docs/mockups/02_detail_produk_mock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0775" y="1783080"/>
            <a:ext cx="6812280" cy="380220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1783080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1801368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 zoom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143000" y="2148840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dari berbagai sudut dan bisa diperbesar.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770632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1143000" y="2788920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 interaktif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143000" y="3136392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&amp; stok ikut berubah; varian habis terkunci.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3758184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143000" y="3776472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jelas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1143000" y="4123944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coret dan persentase hemat, sudah termasuk PPN 11%.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4745736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1143000" y="4764024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Ulasan terverifikasi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1143000" y="5111496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 dari pembeli yang pesanannya sudah selesai.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DESAIN ANTARMUKA  ·  3 DARI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4 Langkah, Ongkir Sesuai Berat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75488" y="1709928"/>
            <a:ext cx="6958584" cy="3948507"/>
          </a:xfrm>
          <a:prstGeom prst="roundRect">
            <a:avLst>
              <a:gd name="adj" fmla="val 185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pic>
        <p:nvPicPr>
          <p:cNvPr id="8" name="Image 0" descr="C:/xampp/htdocs/e-commerce/docs/mockups/03_checkout_mock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6812280" cy="380220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0" y="1783080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366760" y="1801368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Pelacak langkah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8366760" y="2148840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Alamat → Pengiriman → Pembayaran → Konfirmasi.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772400" y="2770632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366760" y="2788920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Buku alamat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8366760" y="3136392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 alamat tersimpan atau tambah baru.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7772400" y="3758184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8366760" y="3776472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Ongkir otomatis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8366760" y="4123944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JNE, SiCepat, GoSend dihitung dari total berat.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7772400" y="4745736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366760" y="4764024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 &amp; ringkasan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8366760" y="5111496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akhir terlihat jelas sebelum memesan.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DESAIN ANTARMUKA  ·  4 DARI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Admin untuk Pengelola Toko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757623" y="1709928"/>
            <a:ext cx="6958584" cy="3948507"/>
          </a:xfrm>
          <a:prstGeom prst="roundRect">
            <a:avLst>
              <a:gd name="adj" fmla="val 185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pic>
        <p:nvPicPr>
          <p:cNvPr id="8" name="Image 0" descr="C:/xampp/htdocs/e-commerce/docs/mockups/04_admin_dashboard_mock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0775" y="1783080"/>
            <a:ext cx="6812280" cy="380220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1783080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1801368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samping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143000" y="2148840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Pesanan, Produk, Kategori, Promo, dan Banner.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770632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1143000" y="2788920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 harian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143000" y="3136392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hari ini serta omzet 7 dan 30 hari.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3758184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143000" y="3776472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Peringatan stok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1143000" y="4123944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dengan stok ≤ 5 ditandai otomatis.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4745736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1143000" y="4764024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Proses pesanan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1143000" y="5111496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Ubah status dan input resi dalam satu layar.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TIM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Pembagian Peran 5 Anggota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2036003" cy="4480560"/>
          </a:xfrm>
          <a:prstGeom prst="roundRect">
            <a:avLst>
              <a:gd name="adj" fmla="val 628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22960" y="1965960"/>
            <a:ext cx="640080" cy="640080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788920"/>
            <a:ext cx="1487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Anggota 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063240"/>
            <a:ext cx="14873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Ketua Tim &amp; Arsitektur Data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22960" y="3931920"/>
            <a:ext cx="1487363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4223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115568" y="4114800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Skema database &amp; Prisma</a:t>
            </a:r>
            <a:endParaRPr lang="en-US" sz="13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709160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15568" y="4681728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keamanan</a:t>
            </a:r>
            <a:endParaRPr lang="en-US" sz="13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276088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115568" y="5248656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Pull Request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2813243" y="1691640"/>
            <a:ext cx="2036003" cy="4480560"/>
          </a:xfrm>
          <a:prstGeom prst="roundRect">
            <a:avLst>
              <a:gd name="adj" fmla="val 628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9" name="Text 13"/>
          <p:cNvSpPr txBox="1"/>
          <p:nvPr/>
        </p:nvSpPr>
        <p:spPr>
          <a:xfrm>
            <a:off x="3087563" y="1965960"/>
            <a:ext cx="640080" cy="640080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3087563" y="2788920"/>
            <a:ext cx="1487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Anggota 2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3087563" y="3063240"/>
            <a:ext cx="14873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Katalog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3087563" y="3931920"/>
            <a:ext cx="1487363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563" y="4142232"/>
            <a:ext cx="219456" cy="219456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3380171" y="4114800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Beranda &amp; banner</a:t>
            </a:r>
            <a:endParaRPr lang="en-US" sz="13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563" y="4709160"/>
            <a:ext cx="219456" cy="21945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3380171" y="4681728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Pencarian &amp; filter</a:t>
            </a:r>
            <a:endParaRPr lang="en-US" sz="13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563" y="5276088"/>
            <a:ext cx="219456" cy="219456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3380171" y="5248656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 detail produk</a:t>
            </a:r>
            <a:endParaRPr lang="en-US" sz="1300" dirty="0"/>
          </a:p>
        </p:txBody>
      </p:sp>
      <p:sp>
        <p:nvSpPr>
          <p:cNvPr id="29" name="Shape 20"/>
          <p:cNvSpPr/>
          <p:nvPr/>
        </p:nvSpPr>
        <p:spPr>
          <a:xfrm>
            <a:off x="5077846" y="1691640"/>
            <a:ext cx="2036003" cy="4480560"/>
          </a:xfrm>
          <a:prstGeom prst="roundRect">
            <a:avLst>
              <a:gd name="adj" fmla="val 628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0" name="Text 21"/>
          <p:cNvSpPr txBox="1"/>
          <p:nvPr/>
        </p:nvSpPr>
        <p:spPr>
          <a:xfrm>
            <a:off x="5352166" y="1965960"/>
            <a:ext cx="640080" cy="640080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31" name="Text 22"/>
          <p:cNvSpPr txBox="1"/>
          <p:nvPr/>
        </p:nvSpPr>
        <p:spPr>
          <a:xfrm>
            <a:off x="5352166" y="2788920"/>
            <a:ext cx="1487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Anggota 3</a:t>
            </a:r>
            <a:endParaRPr lang="en-US" sz="1200" dirty="0"/>
          </a:p>
        </p:txBody>
      </p:sp>
      <p:sp>
        <p:nvSpPr>
          <p:cNvPr id="32" name="Text 23"/>
          <p:cNvSpPr txBox="1"/>
          <p:nvPr/>
        </p:nvSpPr>
        <p:spPr>
          <a:xfrm>
            <a:off x="5352166" y="3063240"/>
            <a:ext cx="14873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Transaksi</a:t>
            </a:r>
            <a:endParaRPr lang="en-US" sz="1700" dirty="0"/>
          </a:p>
        </p:txBody>
      </p:sp>
      <p:sp>
        <p:nvSpPr>
          <p:cNvPr id="33" name="Shape 24"/>
          <p:cNvSpPr/>
          <p:nvPr/>
        </p:nvSpPr>
        <p:spPr>
          <a:xfrm>
            <a:off x="5352166" y="3931920"/>
            <a:ext cx="1487363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2166" y="4142232"/>
            <a:ext cx="219456" cy="21945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5644774" y="4114800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Keranjang (drawer)</a:t>
            </a:r>
            <a:endParaRPr lang="en-US" sz="1300" dirty="0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2166" y="4709160"/>
            <a:ext cx="219456" cy="219456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5644774" y="4681728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Buku alamat</a:t>
            </a:r>
            <a:endParaRPr lang="en-US" sz="1300" dirty="0"/>
          </a:p>
        </p:txBody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2166" y="5276088"/>
            <a:ext cx="219456" cy="219456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5644774" y="5248656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4 langkah</a:t>
            </a:r>
            <a:endParaRPr lang="en-US" sz="1300" dirty="0"/>
          </a:p>
        </p:txBody>
      </p:sp>
      <p:sp>
        <p:nvSpPr>
          <p:cNvPr id="40" name="Shape 28"/>
          <p:cNvSpPr/>
          <p:nvPr/>
        </p:nvSpPr>
        <p:spPr>
          <a:xfrm>
            <a:off x="7342449" y="1691640"/>
            <a:ext cx="2036003" cy="4480560"/>
          </a:xfrm>
          <a:prstGeom prst="roundRect">
            <a:avLst>
              <a:gd name="adj" fmla="val 628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41" name="Text 29"/>
          <p:cNvSpPr txBox="1"/>
          <p:nvPr/>
        </p:nvSpPr>
        <p:spPr>
          <a:xfrm>
            <a:off x="7616769" y="1965960"/>
            <a:ext cx="640080" cy="640080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42" name="Text 30"/>
          <p:cNvSpPr txBox="1"/>
          <p:nvPr/>
        </p:nvSpPr>
        <p:spPr>
          <a:xfrm>
            <a:off x="7616769" y="2788920"/>
            <a:ext cx="1487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Anggota 4</a:t>
            </a:r>
            <a:endParaRPr lang="en-US" sz="1200" dirty="0"/>
          </a:p>
        </p:txBody>
      </p:sp>
      <p:sp>
        <p:nvSpPr>
          <p:cNvPr id="43" name="Text 31"/>
          <p:cNvSpPr txBox="1"/>
          <p:nvPr/>
        </p:nvSpPr>
        <p:spPr>
          <a:xfrm>
            <a:off x="7616769" y="3063240"/>
            <a:ext cx="14873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Pesanan</a:t>
            </a:r>
            <a:endParaRPr lang="en-US" sz="1700" dirty="0"/>
          </a:p>
        </p:txBody>
      </p:sp>
      <p:sp>
        <p:nvSpPr>
          <p:cNvPr id="44" name="Shape 32"/>
          <p:cNvSpPr/>
          <p:nvPr/>
        </p:nvSpPr>
        <p:spPr>
          <a:xfrm>
            <a:off x="7616769" y="3931920"/>
            <a:ext cx="1487363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45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769" y="4142232"/>
            <a:ext cx="219456" cy="219456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7909377" y="4114800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Ongkir &amp; kode promo</a:t>
            </a:r>
            <a:endParaRPr lang="en-US" sz="1300" dirty="0"/>
          </a:p>
        </p:txBody>
      </p:sp>
      <p:pic>
        <p:nvPicPr>
          <p:cNvPr id="47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769" y="4709160"/>
            <a:ext cx="219456" cy="219456"/>
          </a:xfrm>
          <a:prstGeom prst="rect">
            <a:avLst/>
          </a:prstGeom>
        </p:spPr>
      </p:pic>
      <p:sp>
        <p:nvSpPr>
          <p:cNvPr id="48" name="Text 34"/>
          <p:cNvSpPr txBox="1"/>
          <p:nvPr/>
        </p:nvSpPr>
        <p:spPr>
          <a:xfrm>
            <a:off x="7909377" y="4681728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notifikasi</a:t>
            </a:r>
            <a:endParaRPr lang="en-US" sz="1300" dirty="0"/>
          </a:p>
        </p:txBody>
      </p:sp>
      <p:pic>
        <p:nvPicPr>
          <p:cNvPr id="49" name="Image 1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769" y="5276088"/>
            <a:ext cx="219456" cy="219456"/>
          </a:xfrm>
          <a:prstGeom prst="rect">
            <a:avLst/>
          </a:prstGeom>
        </p:spPr>
      </p:pic>
      <p:sp>
        <p:nvSpPr>
          <p:cNvPr id="50" name="Text 35"/>
          <p:cNvSpPr txBox="1"/>
          <p:nvPr/>
        </p:nvSpPr>
        <p:spPr>
          <a:xfrm>
            <a:off x="7909377" y="5248656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Batal otomatis 24 jam</a:t>
            </a:r>
            <a:endParaRPr lang="en-US" sz="1300" dirty="0"/>
          </a:p>
        </p:txBody>
      </p:sp>
      <p:sp>
        <p:nvSpPr>
          <p:cNvPr id="51" name="Shape 36"/>
          <p:cNvSpPr/>
          <p:nvPr/>
        </p:nvSpPr>
        <p:spPr>
          <a:xfrm>
            <a:off x="9607052" y="1691640"/>
            <a:ext cx="2036003" cy="4480560"/>
          </a:xfrm>
          <a:prstGeom prst="roundRect">
            <a:avLst>
              <a:gd name="adj" fmla="val 628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52" name="Text 37"/>
          <p:cNvSpPr txBox="1"/>
          <p:nvPr/>
        </p:nvSpPr>
        <p:spPr>
          <a:xfrm>
            <a:off x="9881372" y="1965960"/>
            <a:ext cx="640080" cy="640080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53" name="Text 38"/>
          <p:cNvSpPr txBox="1"/>
          <p:nvPr/>
        </p:nvSpPr>
        <p:spPr>
          <a:xfrm>
            <a:off x="9881372" y="2788920"/>
            <a:ext cx="1487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Anggota 5</a:t>
            </a:r>
            <a:endParaRPr lang="en-US" sz="1200" dirty="0"/>
          </a:p>
        </p:txBody>
      </p:sp>
      <p:sp>
        <p:nvSpPr>
          <p:cNvPr id="54" name="Text 39"/>
          <p:cNvSpPr txBox="1"/>
          <p:nvPr/>
        </p:nvSpPr>
        <p:spPr>
          <a:xfrm>
            <a:off x="9881372" y="3063240"/>
            <a:ext cx="14873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Panel &amp; QA</a:t>
            </a:r>
            <a:endParaRPr lang="en-US" sz="1700" dirty="0"/>
          </a:p>
        </p:txBody>
      </p:sp>
      <p:sp>
        <p:nvSpPr>
          <p:cNvPr id="55" name="Shape 40"/>
          <p:cNvSpPr/>
          <p:nvPr/>
        </p:nvSpPr>
        <p:spPr>
          <a:xfrm>
            <a:off x="9881372" y="3931920"/>
            <a:ext cx="1487363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56" name="Image 1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372" y="4142232"/>
            <a:ext cx="219456" cy="219456"/>
          </a:xfrm>
          <a:prstGeom prst="rect">
            <a:avLst/>
          </a:prstGeom>
        </p:spPr>
      </p:pic>
      <p:sp>
        <p:nvSpPr>
          <p:cNvPr id="57" name="Text 41"/>
          <p:cNvSpPr txBox="1"/>
          <p:nvPr/>
        </p:nvSpPr>
        <p:spPr>
          <a:xfrm>
            <a:off x="10173980" y="4114800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stok menipis</a:t>
            </a:r>
            <a:endParaRPr lang="en-US" sz="1300" dirty="0"/>
          </a:p>
        </p:txBody>
      </p:sp>
      <p:pic>
        <p:nvPicPr>
          <p:cNvPr id="58" name="Image 1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372" y="4709160"/>
            <a:ext cx="219456" cy="219456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10173980" y="4681728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pesanan &amp; resi</a:t>
            </a:r>
            <a:endParaRPr lang="en-US" sz="1300" dirty="0"/>
          </a:p>
        </p:txBody>
      </p:sp>
      <p:pic>
        <p:nvPicPr>
          <p:cNvPr id="60" name="Image 1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372" y="5276088"/>
            <a:ext cx="219456" cy="219456"/>
          </a:xfrm>
          <a:prstGeom prst="rect">
            <a:avLst/>
          </a:prstGeom>
        </p:spPr>
      </p:pic>
      <p:sp>
        <p:nvSpPr>
          <p:cNvPr id="61" name="Text 43"/>
          <p:cNvSpPr txBox="1"/>
          <p:nvPr/>
        </p:nvSpPr>
        <p:spPr>
          <a:xfrm>
            <a:off x="10173980" y="5248656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di berbagai HP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KERJA TIM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5 Orang Bekerja Tanpa Kode Bertabrakan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57784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68680" y="1920240"/>
            <a:ext cx="548640" cy="5486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354" y="2051914"/>
            <a:ext cx="285293" cy="28529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19202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Git &amp; GitHub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2697480"/>
            <a:ext cx="384048" cy="384048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1106424" y="3099816"/>
            <a:ext cx="0" cy="274320"/>
          </a:xfrm>
          <a:prstGeom prst="line">
            <a:avLst/>
          </a:prstGeom>
          <a:noFill/>
          <a:ln w="19050">
            <a:solidFill>
              <a:srgbClr val="FDBA7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508760" y="26791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Buat branch fitur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508760" y="294436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feat/checkout, feat/admin, dari branch develop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14400" y="3374136"/>
            <a:ext cx="384048" cy="384048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06424" y="3776472"/>
            <a:ext cx="0" cy="274320"/>
          </a:xfrm>
          <a:prstGeom prst="line">
            <a:avLst/>
          </a:prstGeom>
          <a:noFill/>
          <a:ln w="19050">
            <a:solidFill>
              <a:srgbClr val="FDBA74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508760" y="33558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kecil &amp; sering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1508760" y="362102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commit untuk satu perubahan yang jelas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914400" y="4050792"/>
            <a:ext cx="384048" cy="384048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106424" y="4453128"/>
            <a:ext cx="0" cy="274320"/>
          </a:xfrm>
          <a:prstGeom prst="line">
            <a:avLst/>
          </a:prstGeom>
          <a:noFill/>
          <a:ln w="19050">
            <a:solidFill>
              <a:srgbClr val="FDBA74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508760" y="403250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Pull Request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1508760" y="42976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Sertakan deskripsi dan tangkapan layar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914400" y="4727448"/>
            <a:ext cx="384048" cy="384048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106424" y="5129784"/>
            <a:ext cx="0" cy="274320"/>
          </a:xfrm>
          <a:prstGeom prst="line">
            <a:avLst/>
          </a:prstGeom>
          <a:noFill/>
          <a:ln w="19050">
            <a:solidFill>
              <a:srgbClr val="FDBA74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508760" y="47091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orang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1508760" y="497433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Ketua tim + satu anggota lain menyetujui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914400" y="5404104"/>
            <a:ext cx="384048" cy="384048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508760" y="538581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&amp; rilis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1508760" y="56509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 develop, lalu ke main di akhir tiap tahap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6400800" y="1691640"/>
            <a:ext cx="5242255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675120" y="187452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3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5821" y="1995221"/>
            <a:ext cx="261518" cy="261518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7315200" y="1874520"/>
            <a:ext cx="41449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Papan Tugas Trello</a:t>
            </a:r>
            <a:endParaRPr lang="en-US" sz="1700" dirty="0"/>
          </a:p>
        </p:txBody>
      </p:sp>
      <p:sp>
        <p:nvSpPr>
          <p:cNvPr id="34" name="Text 29"/>
          <p:cNvSpPr txBox="1"/>
          <p:nvPr/>
        </p:nvSpPr>
        <p:spPr>
          <a:xfrm>
            <a:off x="6675120" y="2606040"/>
            <a:ext cx="967664" cy="38404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Rencana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7679360" y="2798064"/>
            <a:ext cx="201168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6" name="Text 31"/>
          <p:cNvSpPr txBox="1"/>
          <p:nvPr/>
        </p:nvSpPr>
        <p:spPr>
          <a:xfrm>
            <a:off x="7917104" y="2606040"/>
            <a:ext cx="967664" cy="38404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Dikerjakan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8921344" y="2798064"/>
            <a:ext cx="201168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8" name="Text 33"/>
          <p:cNvSpPr txBox="1"/>
          <p:nvPr/>
        </p:nvSpPr>
        <p:spPr>
          <a:xfrm>
            <a:off x="9159088" y="2606040"/>
            <a:ext cx="967664" cy="38404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Coba</a:t>
            </a:r>
            <a:endParaRPr lang="en-US" sz="1200" dirty="0"/>
          </a:p>
        </p:txBody>
      </p:sp>
      <p:sp>
        <p:nvSpPr>
          <p:cNvPr id="39" name="Shape 34"/>
          <p:cNvSpPr/>
          <p:nvPr/>
        </p:nvSpPr>
        <p:spPr>
          <a:xfrm>
            <a:off x="10163327" y="2798064"/>
            <a:ext cx="201168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0" name="Text 35"/>
          <p:cNvSpPr txBox="1"/>
          <p:nvPr/>
        </p:nvSpPr>
        <p:spPr>
          <a:xfrm>
            <a:off x="10401071" y="2606040"/>
            <a:ext cx="967664" cy="384048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Selesai</a:t>
            </a:r>
            <a:endParaRPr lang="en-US" sz="1200" dirty="0"/>
          </a:p>
        </p:txBody>
      </p:sp>
      <p:sp>
        <p:nvSpPr>
          <p:cNvPr id="41" name="Text 36"/>
          <p:cNvSpPr txBox="1"/>
          <p:nvPr/>
        </p:nvSpPr>
        <p:spPr>
          <a:xfrm>
            <a:off x="6675120" y="3200400"/>
            <a:ext cx="4693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Kartu yang tertahan lebih dari 2 hari dibahas bersama.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6400800" y="3977640"/>
            <a:ext cx="5242255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43" name="Shape 38"/>
          <p:cNvSpPr/>
          <p:nvPr/>
        </p:nvSpPr>
        <p:spPr>
          <a:xfrm>
            <a:off x="6675120" y="4160520"/>
            <a:ext cx="457200" cy="45720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4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4848" y="4270248"/>
            <a:ext cx="237744" cy="237744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7269480" y="4142232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Sinkronisasi 20 menit</a:t>
            </a:r>
            <a:endParaRPr lang="en-US" sz="1400" dirty="0"/>
          </a:p>
        </p:txBody>
      </p:sp>
      <p:sp>
        <p:nvSpPr>
          <p:cNvPr id="46" name="Text 40"/>
          <p:cNvSpPr txBox="1"/>
          <p:nvPr/>
        </p:nvSpPr>
        <p:spPr>
          <a:xfrm>
            <a:off x="7269480" y="4398264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awal pekan untuk cek progres</a:t>
            </a:r>
            <a:endParaRPr lang="en-US" sz="1200" dirty="0"/>
          </a:p>
        </p:txBody>
      </p:sp>
      <p:sp>
        <p:nvSpPr>
          <p:cNvPr id="47" name="Shape 41"/>
          <p:cNvSpPr/>
          <p:nvPr/>
        </p:nvSpPr>
        <p:spPr>
          <a:xfrm>
            <a:off x="6675120" y="4800600"/>
            <a:ext cx="457200" cy="45720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4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4848" y="4910328"/>
            <a:ext cx="237744" cy="237744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7269480" y="4782312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Berpasangan FE–BE</a:t>
            </a:r>
            <a:endParaRPr lang="en-US" sz="1400" dirty="0"/>
          </a:p>
        </p:txBody>
      </p:sp>
      <p:sp>
        <p:nvSpPr>
          <p:cNvPr id="50" name="Text 43"/>
          <p:cNvSpPr txBox="1"/>
          <p:nvPr/>
        </p:nvSpPr>
        <p:spPr>
          <a:xfrm>
            <a:off x="7269480" y="5038344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&amp; backend satu modul selalu berkoordinasi</a:t>
            </a:r>
            <a:endParaRPr lang="en-US" sz="1200" dirty="0"/>
          </a:p>
        </p:txBody>
      </p:sp>
      <p:sp>
        <p:nvSpPr>
          <p:cNvPr id="51" name="Shape 44"/>
          <p:cNvSpPr/>
          <p:nvPr/>
        </p:nvSpPr>
        <p:spPr>
          <a:xfrm>
            <a:off x="6675120" y="5440680"/>
            <a:ext cx="457200" cy="45720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5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84848" y="5550408"/>
            <a:ext cx="237744" cy="237744"/>
          </a:xfrm>
          <a:prstGeom prst="rect">
            <a:avLst/>
          </a:prstGeom>
        </p:spPr>
      </p:pic>
      <p:sp>
        <p:nvSpPr>
          <p:cNvPr id="53" name="Text 45"/>
          <p:cNvSpPr txBox="1"/>
          <p:nvPr/>
        </p:nvSpPr>
        <p:spPr>
          <a:xfrm>
            <a:off x="7269480" y="5422392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Dokumentasi rutin</a:t>
            </a:r>
            <a:endParaRPr lang="en-US" sz="1400" dirty="0"/>
          </a:p>
        </p:txBody>
      </p:sp>
      <p:sp>
        <p:nvSpPr>
          <p:cNvPr id="54" name="Text 46"/>
          <p:cNvSpPr txBox="1"/>
          <p:nvPr/>
        </p:nvSpPr>
        <p:spPr>
          <a:xfrm>
            <a:off x="7269480" y="5678424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Fungsi dan keputusan penting dicatat di README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 KUALITAS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Keberhasilan yang Terukur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2567864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22960" y="192024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2,5 dtk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743200"/>
            <a:ext cx="2019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Muat halaman produk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090672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jaringan HP 4G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390824" y="1691640"/>
            <a:ext cx="2567864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665144" y="192024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 menit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3665144" y="2743200"/>
            <a:ext cx="2019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Waktu checkout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665144" y="3090672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keranjang sampai pesanan dibuat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33008" y="1691640"/>
            <a:ext cx="2567864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07328" y="192024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60%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6507328" y="2743200"/>
            <a:ext cx="2019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tuntas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3090672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mulai checkout berhasil memesan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075191" y="1691640"/>
            <a:ext cx="2567864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349511" y="192024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20%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9349511" y="2743200"/>
            <a:ext cx="2019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Batal tidak bayar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349511" y="3090672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batal karena lewat batas bayar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48640" y="4297680"/>
            <a:ext cx="11094415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68680" y="4480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KAMI MENGUJI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68680" y="498348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381" y="5104181"/>
            <a:ext cx="261518" cy="26151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508760" y="4956048"/>
            <a:ext cx="1836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1508760" y="5248656"/>
            <a:ext cx="183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Skor performa ≥ 90 di halaman utama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3482264" y="498348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3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2965" y="5104181"/>
            <a:ext cx="261518" cy="261518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4122344" y="4956048"/>
            <a:ext cx="1836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di 3+ HP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4122344" y="5248656"/>
            <a:ext cx="183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dan iPhone, layar mulai 360 px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6095848" y="498348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3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6548" y="5104181"/>
            <a:ext cx="261518" cy="261518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6735928" y="4956048"/>
            <a:ext cx="1836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Skenario end-to-end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6735928" y="5248656"/>
            <a:ext cx="183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cari produk sampai pesanan selesai</a:t>
            </a:r>
            <a:endParaRPr lang="en-US" sz="1200" dirty="0"/>
          </a:p>
        </p:txBody>
      </p:sp>
      <p:sp>
        <p:nvSpPr>
          <p:cNvPr id="37" name="Shape 31"/>
          <p:cNvSpPr/>
          <p:nvPr/>
        </p:nvSpPr>
        <p:spPr>
          <a:xfrm>
            <a:off x="8709431" y="498348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0132" y="5104181"/>
            <a:ext cx="261518" cy="261518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9349511" y="4956048"/>
            <a:ext cx="1836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bersamaan</a:t>
            </a:r>
            <a:endParaRPr lang="en-US" sz="1400" dirty="0"/>
          </a:p>
        </p:txBody>
      </p:sp>
      <p:sp>
        <p:nvSpPr>
          <p:cNvPr id="40" name="Text 33"/>
          <p:cNvSpPr txBox="1"/>
          <p:nvPr/>
        </p:nvSpPr>
        <p:spPr>
          <a:xfrm>
            <a:off x="9349511" y="5248656"/>
            <a:ext cx="183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Memastikan stok tidak terjual berlebih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KEAMANAN &amp; REGULASI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Melindungi Data Pembeli dan Transaksi Toko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515258" cy="448056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68680" y="2011680"/>
            <a:ext cx="777240" cy="7772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218" y="2198218"/>
            <a:ext cx="404165" cy="40416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68680" y="29718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Privasi Data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333756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 PDP No. 27/2022</a:t>
            </a:r>
            <a:endParaRPr lang="en-US" sz="13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04488"/>
            <a:ext cx="256032" cy="25603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61872" y="3886200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pembeli hanya untuk pengiriman</a:t>
            </a:r>
            <a:endParaRPr lang="en-US" sz="14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62856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61872" y="4544568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Persetujuan privasi saat daftar</a:t>
            </a:r>
            <a:endParaRPr lang="en-US" sz="14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221224"/>
            <a:ext cx="256032" cy="256032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261872" y="5202936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Pengguna bisa menghapus akun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4338218" y="1691640"/>
            <a:ext cx="3515258" cy="448056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4658258" y="2011680"/>
            <a:ext cx="777240" cy="7772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4796" y="2198218"/>
            <a:ext cx="404165" cy="404165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4658258" y="29718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Keamanan Akun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4658258" y="333756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hak akses</a:t>
            </a:r>
            <a:endParaRPr lang="en-US" sz="130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8258" y="3904488"/>
            <a:ext cx="256032" cy="25603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5051450" y="3886200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dienkripsi bcrypt</a:t>
            </a:r>
            <a:endParaRPr lang="en-US" sz="140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8258" y="4562856"/>
            <a:ext cx="256032" cy="256032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051450" y="4544568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maks. 5 percobaan / 15 menit</a:t>
            </a:r>
            <a:endParaRPr lang="en-US" sz="1400" dirty="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8258" y="5221224"/>
            <a:ext cx="256032" cy="256032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5051450" y="5202936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admin khusus role admin</a:t>
            </a:r>
            <a:endParaRPr lang="en-US" sz="1400" dirty="0"/>
          </a:p>
        </p:txBody>
      </p:sp>
      <p:sp>
        <p:nvSpPr>
          <p:cNvPr id="29" name="Shape 18"/>
          <p:cNvSpPr/>
          <p:nvPr/>
        </p:nvSpPr>
        <p:spPr>
          <a:xfrm>
            <a:off x="8127797" y="1691640"/>
            <a:ext cx="3515258" cy="448056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0" name="Shape 19"/>
          <p:cNvSpPr/>
          <p:nvPr/>
        </p:nvSpPr>
        <p:spPr>
          <a:xfrm>
            <a:off x="8447837" y="2011680"/>
            <a:ext cx="777240" cy="7772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31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4374" y="2198218"/>
            <a:ext cx="404165" cy="404165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8447837" y="29718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 Adil</a:t>
            </a:r>
            <a:endParaRPr lang="en-US" sz="2000" dirty="0"/>
          </a:p>
        </p:txBody>
      </p:sp>
      <p:sp>
        <p:nvSpPr>
          <p:cNvPr id="33" name="Text 21"/>
          <p:cNvSpPr txBox="1"/>
          <p:nvPr/>
        </p:nvSpPr>
        <p:spPr>
          <a:xfrm>
            <a:off x="8447837" y="333756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 &amp; pembayaran</a:t>
            </a:r>
            <a:endParaRPr lang="en-US" sz="1300" dirty="0"/>
          </a:p>
        </p:txBody>
      </p:sp>
      <p:pic>
        <p:nvPicPr>
          <p:cNvPr id="34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7837" y="3904488"/>
            <a:ext cx="256032" cy="256032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8841029" y="3886200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Batas bayar 24 jam</a:t>
            </a:r>
            <a:endParaRPr lang="en-US" sz="1400" dirty="0"/>
          </a:p>
        </p:txBody>
      </p:sp>
      <p:pic>
        <p:nvPicPr>
          <p:cNvPr id="36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7837" y="4562856"/>
            <a:ext cx="256032" cy="256032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8841029" y="4544568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 kembali saat pesanan batal</a:t>
            </a:r>
            <a:endParaRPr lang="en-US" sz="1400" dirty="0"/>
          </a:p>
        </p:txBody>
      </p:sp>
      <p:pic>
        <p:nvPicPr>
          <p:cNvPr id="38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7837" y="5221224"/>
            <a:ext cx="256032" cy="256032"/>
          </a:xfrm>
          <a:prstGeom prst="rect">
            <a:avLst/>
          </a:prstGeom>
        </p:spPr>
      </p:pic>
      <p:sp>
        <p:nvSpPr>
          <p:cNvPr id="39" name="Text 24"/>
          <p:cNvSpPr txBox="1"/>
          <p:nvPr/>
        </p:nvSpPr>
        <p:spPr>
          <a:xfrm>
            <a:off x="8841029" y="5202936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 dikunci agar tidak overselling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MANAJEMEN RISIKO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Risiko yang Kami Antisipasi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21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3968496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Risiko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Tingkat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Dampak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Mitigasi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Anggota baru mengenal Next.js &amp; Prisma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Tinggi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Progres minggu awal lambat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Workshop bersama di minggu 1 dan contoh kode per modul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Fitur terus bertambah (scope creep)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Tinggi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MVP tidak selesai tepat waktu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Fitur baru masuk daftar Lanjutan dan harus disetujui ketua tim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Konflik kode saat penggabungan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Sedang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Waktu habis memperbaiki merge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per fitur, folder terpisah, Pull Request kecil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Stok terjual melebihi persediaan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Sedang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Pesanan tidak bisa dipenuhi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Transaksi database dan pengurangan stok bersyarat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Anggota berhalangan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Sedang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 terhenti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Pasangan FE–BE saling back-up, dokumentasi rutin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server hilang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Rendah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pesanan &amp; pelanggan hilang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MySQL harian &amp; mingguan, uji restore bulanan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RENCANA DEMO &amp; RILIS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Skenario Demo dan Rencana Deployment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603504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68680" y="1920240"/>
            <a:ext cx="548640" cy="5486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354" y="2051914"/>
            <a:ext cx="285293" cy="28529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19202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Skenario Demo (± 7 menit)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2697480"/>
            <a:ext cx="329184" cy="329184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417320" y="26883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Pembeli mencari produk dan memilih varian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3154680"/>
            <a:ext cx="329184" cy="329184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417320" y="31455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dengan kode promo HEMAT10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914400" y="3611880"/>
            <a:ext cx="329184" cy="329184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1417320" y="36027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mengonfirmasi pembayaran dan input resi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914400" y="4069080"/>
            <a:ext cx="329184" cy="329184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1417320" y="40599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Pembeli menerima pesanan dan memberi ulasan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914400" y="4526280"/>
            <a:ext cx="329184" cy="329184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1417320" y="45171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Menunjukkan pesanan yang batal otomatis setelah 24 jam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868680" y="5120640"/>
            <a:ext cx="5394960" cy="868680"/>
          </a:xfrm>
          <a:prstGeom prst="roundRect">
            <a:avLst>
              <a:gd name="adj" fmla="val 10526"/>
            </a:avLst>
          </a:prstGeom>
          <a:solidFill>
            <a:srgbClr val="DBEAFE"/>
          </a:solidFill>
          <a:ln w="9525">
            <a:solidFill>
              <a:srgbClr val="BFDBFE"/>
            </a:solidFill>
            <a:prstDash val="solid"/>
          </a:ln>
        </p:spPr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5303520"/>
            <a:ext cx="274320" cy="27432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463040" y="521208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memakai payment gateway: Midtrans/Xendit mensyaratkan badan usaha (PT/CV). Tahap ini memakai transfer bank, QRIS, dan COD dengan konfirmasi admin.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858000" y="1691640"/>
            <a:ext cx="4785055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7132320" y="192024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3021" y="2040941"/>
            <a:ext cx="261518" cy="26151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772400" y="1920240"/>
            <a:ext cx="3687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Demo Siap</a:t>
            </a:r>
            <a:endParaRPr lang="en-US" sz="17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0" y="2642616"/>
            <a:ext cx="219456" cy="21945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543800" y="260604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akun admin + 1 akun pembeli</a:t>
            </a:r>
            <a:endParaRPr lang="en-US" sz="130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0" y="3026664"/>
            <a:ext cx="219456" cy="21945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543800" y="2990088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 produk dengan varian &amp; berat</a:t>
            </a:r>
            <a:endParaRPr lang="en-US" sz="13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0" y="3410712"/>
            <a:ext cx="219456" cy="219456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543800" y="3374136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10–15 pesanan di semua status</a:t>
            </a:r>
            <a:endParaRPr lang="en-US" sz="1300" dirty="0"/>
          </a:p>
        </p:txBody>
      </p:sp>
      <p:sp>
        <p:nvSpPr>
          <p:cNvPr id="34" name="Shape 25"/>
          <p:cNvSpPr/>
          <p:nvPr/>
        </p:nvSpPr>
        <p:spPr>
          <a:xfrm>
            <a:off x="6858000" y="4023360"/>
            <a:ext cx="4785055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5" name="Shape 26"/>
          <p:cNvSpPr/>
          <p:nvPr/>
        </p:nvSpPr>
        <p:spPr>
          <a:xfrm>
            <a:off x="7132320" y="425196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53021" y="4372661"/>
            <a:ext cx="261518" cy="261518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772400" y="4251960"/>
            <a:ext cx="3687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700" dirty="0"/>
          </a:p>
        </p:txBody>
      </p:sp>
      <p:pic>
        <p:nvPicPr>
          <p:cNvPr id="38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0" y="4974336"/>
            <a:ext cx="219456" cy="21945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7543800" y="493776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VPS Indonesia (Nginx + PM2)</a:t>
            </a:r>
            <a:endParaRPr lang="en-US" sz="1300" dirty="0"/>
          </a:p>
        </p:txBody>
      </p:sp>
      <p:pic>
        <p:nvPicPr>
          <p:cNvPr id="40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0" y="5358384"/>
            <a:ext cx="219456" cy="219456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7543800" y="5321808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gratis dari Let's Encrypt</a:t>
            </a:r>
            <a:endParaRPr lang="en-US" sz="1300" dirty="0"/>
          </a:p>
        </p:txBody>
      </p:sp>
      <p:pic>
        <p:nvPicPr>
          <p:cNvPr id="42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0" y="5742432"/>
            <a:ext cx="219456" cy="219456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7543800" y="5705856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MySQL harian &amp; mingguan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PENUTUP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430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kami siap menuntaskan TokoKita bersama.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2926080"/>
            <a:ext cx="5227168" cy="1005840"/>
          </a:xfrm>
          <a:prstGeom prst="roundRect">
            <a:avLst>
              <a:gd name="adj" fmla="val 12727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3182112"/>
            <a:ext cx="493776" cy="493776"/>
          </a:xfrm>
          <a:prstGeom prst="ellipse">
            <a:avLst/>
          </a:prstGeom>
          <a:solidFill>
            <a:srgbClr val="14532D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346" y="3300618"/>
            <a:ext cx="256764" cy="2567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91640" y="3108960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Konsep &amp; desain siap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691640" y="3438144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Mockup beranda, detail produk, checkout, dan admin sudah ada.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33008" y="2926080"/>
            <a:ext cx="5227168" cy="1005840"/>
          </a:xfrm>
          <a:prstGeom prst="roundRect">
            <a:avLst>
              <a:gd name="adj" fmla="val 12727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07328" y="3182112"/>
            <a:ext cx="493776" cy="493776"/>
          </a:xfrm>
          <a:prstGeom prst="ellipse">
            <a:avLst/>
          </a:prstGeom>
          <a:solidFill>
            <a:srgbClr val="14532D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834" y="3300618"/>
            <a:ext cx="256764" cy="2567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193128" y="3108960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ramah pemula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193128" y="3438144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+ Prisma + MySQL dalam satu proyek TypeScript.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731520" y="4114800"/>
            <a:ext cx="5227168" cy="1005840"/>
          </a:xfrm>
          <a:prstGeom prst="roundRect">
            <a:avLst>
              <a:gd name="adj" fmla="val 12727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005840" y="4370832"/>
            <a:ext cx="493776" cy="493776"/>
          </a:xfrm>
          <a:prstGeom prst="ellipse">
            <a:avLst/>
          </a:prstGeom>
          <a:solidFill>
            <a:srgbClr val="14532D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346" y="4489338"/>
            <a:ext cx="256764" cy="2567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91640" y="4297680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Kolaborasi teratur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691640" y="4626864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per fitur, Pull Request, dan papan tugas Trello.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233008" y="4114800"/>
            <a:ext cx="5227168" cy="1005840"/>
          </a:xfrm>
          <a:prstGeom prst="roundRect">
            <a:avLst>
              <a:gd name="adj" fmla="val 12727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507328" y="4370832"/>
            <a:ext cx="493776" cy="493776"/>
          </a:xfrm>
          <a:prstGeom prst="ellipse">
            <a:avLst/>
          </a:prstGeom>
          <a:solidFill>
            <a:srgbClr val="14532D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834" y="4489338"/>
            <a:ext cx="256764" cy="2567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193128" y="4297680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MVP realistis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193128" y="4626864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inti transaksi solid dan siap didemokan.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731520" y="55321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Mohon masukan, saran, dan bimbingannya  ·  Sesi Tanya Jawab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2247</Words>
  <Application>Microsoft Office PowerPoint</Application>
  <PresentationFormat>Widescreen</PresentationFormat>
  <Paragraphs>482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TokoKita - Rencana Proyek E-Commerce</dc:title>
  <dc:subject>PptxGenJS Presentation</dc:subject>
  <dc:creator>Tim Magang TokoKita</dc:creator>
  <cp:lastModifiedBy>Kevin Ilham</cp:lastModifiedBy>
  <cp:revision>3</cp:revision>
  <dcterms:created xsi:type="dcterms:W3CDTF">2026-09-24T01:28:56Z</dcterms:created>
  <dcterms:modified xsi:type="dcterms:W3CDTF">2026-09-25T12:24:59Z</dcterms:modified>
</cp:coreProperties>
</file>