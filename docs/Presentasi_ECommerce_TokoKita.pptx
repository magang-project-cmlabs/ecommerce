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34193b1c-9af9-ae34-61da-940fc1fb15fc}">
          <p14:sldIdLst>
            <p14:sldId id="256"/>
            <p14:sldId id="257"/>
          </p14:sldIdLst>
        </p14:section>
        <p14:section name="Latar &amp; cakupan" id="{33b0ad33-89d1-505a-b2ab-6658a5c68e7e}">
          <p14:sldIdLst>
            <p14:sldId id="258"/>
            <p14:sldId id="259"/>
            <p14:sldId id="260"/>
          </p14:sldIdLst>
        </p14:section>
        <p14:section name="Teknologi" id="{ea2ab9b9-2a54-f381-ea49-d75e1e36c822}">
          <p14:sldIdLst>
            <p14:sldId id="261"/>
            <p14:sldId id="262"/>
            <p14:sldId id="263"/>
            <p14:sldId id="264"/>
            <p14:sldId id="265"/>
          </p14:sldIdLst>
        </p14:section>
        <p14:section name="Tampilan aplikasi" id="{04c8e82a-79ac-1eb5-e990-549d0877099f}">
          <p14:sldIdLst>
            <p14:sldId id="266"/>
            <p14:sldId id="267"/>
            <p14:sldId id="268"/>
            <p14:sldId id="269"/>
            <p14:sldId id="270"/>
            <p14:sldId id="271"/>
          </p14:sldIdLst>
        </p14:section>
        <p14:section name="Tim &amp; cara kerja" id="{3d084203-9c8b-f257-0ab0-8ad09824d9f1}">
          <p14:sldIdLst>
            <p14:sldId id="272"/>
            <p14:sldId id="273"/>
          </p14:sldIdLst>
        </p14:section>
        <p14:section name="Kualitas &amp; demo" id="{d17f5f66-96c3-fc3f-479e-f1128aa41016}">
          <p14:sldIdLst>
            <p14:sldId id="274"/>
            <p14:sldId id="275"/>
            <p14:sldId id="276"/>
            <p14:sldId id="277"/>
            <p14:sldId id="278"/>
          </p14:sldIdLst>
        </p14:section>
        <p14:section name="Penutup" id="{5d386b7a-d2b9-7d4f-0534-9d7611279d46}">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dibuat otomatis dari schema.prisma, jadi selalu sama dengan database. Pusatnya users dan products: satu pengguna punya banyak alamat, pesanan, ulasan, dan wishlist; satu produk punya banyak foto, varian, dan item pesanan. order_items menyimpan salinan nama dan harga, dan satu item pesanan paling banyak satu ulasan. promo_usages mengunci satu promo per pesanan. banners berdiri sendiri. Tabel auth_rate_limits tidak digambar karena tidak berelasi.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nama tiap anggota saat presentasi. Pembagian mengikuti modul PRD agar tiap orang punya area yang jelas dan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Situs bisa dibuka siapa saja sekarang. Repositori GitHub dan papan Trello bersifat privat; minta akses ke ketua tim bila ingin melihat kode. Semua keputusan, status, dan panduan uji ada di folder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ecommerce-peach-seven-47.vercel.app" TargetMode="External"/><Relationship Id="rId4" Type="http://schemas.openxmlformats.org/officeDocument/2006/relationships/hyperlink" Target="https://github.com/Magang-Project-Cmlabs/ecommerce" TargetMode="External"/><Relationship Id="rId6" Type="http://schemas.openxmlformats.org/officeDocument/2006/relationships/hyperlink" Target="https://trello.com/b/sqbn4ehi/tokokita-proyek-magang" TargetMode="External"/><Relationship Id="rId1" Type="http://schemas.openxmlformats.org/officeDocument/2006/relationships/image" Target="../media/image-23-1.png"/><Relationship Id="rId3" Type="http://schemas.openxmlformats.org/officeDocument/2006/relationships/image" Target="../media/image-23-2.png"/><Relationship Id="rId5" Type="http://schemas.openxmlformats.org/officeDocument/2006/relationships/image" Target="../media/image-23-3.png"/><Relationship Id="rId7" Type="http://schemas.openxmlformats.org/officeDocument/2006/relationships/image" Target="../media/image-23-4.pn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2785262" cy="292608"/>
          </a:xfrm>
          <a:prstGeom prst="roundRect">
            <a:avLst>
              <a:gd name="adj" fmla="val 50000"/>
            </a:avLst>
          </a:prstGeom>
          <a:solidFill>
            <a:srgbClr val="F3F3F3"/>
          </a:solidFill>
          <a:ln/>
        </p:spPr>
      </p:sp>
      <p:sp>
        <p:nvSpPr>
          <p:cNvPr id="3" name="Text 1"/>
          <p:cNvSpPr txBox="1"/>
          <p:nvPr/>
        </p:nvSpPr>
        <p:spPr>
          <a:xfrm>
            <a:off x="548640" y="411480"/>
            <a:ext cx="27852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ENTITY RELATIONSHIP DIAGRAM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Relasi antar tabel (ERD)</a:t>
            </a:r>
            <a:endParaRPr lang="en-US" sz="3000" dirty="0"/>
          </a:p>
        </p:txBody>
      </p:sp>
      <p:sp>
        <p:nvSpPr>
          <p:cNvPr id="5" name="Text 3"/>
          <p:cNvSpPr txBox="1"/>
          <p:nvPr/>
        </p:nvSpPr>
        <p:spPr>
          <a:xfrm>
            <a:off x="6720840"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7104888"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tepat satu</a:t>
            </a:r>
            <a:endParaRPr lang="en-US" sz="1100" dirty="0"/>
          </a:p>
        </p:txBody>
      </p:sp>
      <p:sp>
        <p:nvSpPr>
          <p:cNvPr id="7" name="Text 5"/>
          <p:cNvSpPr txBox="1"/>
          <p:nvPr/>
        </p:nvSpPr>
        <p:spPr>
          <a:xfrm>
            <a:off x="8385048"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a:t>
            </a:r>
            <a:endParaRPr lang="en-US" sz="1300" dirty="0"/>
          </a:p>
        </p:txBody>
      </p:sp>
      <p:sp>
        <p:nvSpPr>
          <p:cNvPr id="8" name="Text 6"/>
          <p:cNvSpPr txBox="1"/>
          <p:nvPr/>
        </p:nvSpPr>
        <p:spPr>
          <a:xfrm>
            <a:off x="8769096"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satu</a:t>
            </a:r>
            <a:endParaRPr lang="en-US" sz="1100" dirty="0"/>
          </a:p>
        </p:txBody>
      </p:sp>
      <p:sp>
        <p:nvSpPr>
          <p:cNvPr id="9" name="Text 7"/>
          <p:cNvSpPr txBox="1"/>
          <p:nvPr/>
        </p:nvSpPr>
        <p:spPr>
          <a:xfrm>
            <a:off x="10049256"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o&lt;</a:t>
            </a:r>
            <a:endParaRPr lang="en-US" sz="1300" dirty="0"/>
          </a:p>
        </p:txBody>
      </p:sp>
      <p:sp>
        <p:nvSpPr>
          <p:cNvPr id="10" name="Text 8"/>
          <p:cNvSpPr txBox="1"/>
          <p:nvPr/>
        </p:nvSpPr>
        <p:spPr>
          <a:xfrm>
            <a:off x="10433304"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banyak</a:t>
            </a:r>
            <a:endParaRPr lang="en-US" sz="1100" dirty="0"/>
          </a:p>
        </p:txBody>
      </p:sp>
      <p:sp>
        <p:nvSpPr>
          <p:cNvPr id="11" name="Text 9"/>
          <p:cNvSpPr txBox="1"/>
          <p:nvPr/>
        </p:nvSpPr>
        <p:spPr>
          <a:xfrm>
            <a:off x="6720840" y="1353312"/>
            <a:ext cx="4937760" cy="256032"/>
          </a:xfrm>
          <a:prstGeom prst="rect">
            <a:avLst/>
          </a:prstGeom>
          <a:noFill/>
          <a:ln/>
        </p:spPr>
        <p:txBody>
          <a:bodyPr wrap="square" lIns="0" tIns="0" rIns="0" bIns="0" rtlCol="0" anchor="t"/>
          <a:lstStyle/>
          <a:p>
            <a:pPr indent="0" marL="0">
              <a:buNone/>
            </a:pPr>
            <a:r>
              <a:rPr lang="en-US" sz="1050" dirty="0">
                <a:solidFill>
                  <a:srgbClr val="5C5C5C"/>
                </a:solidFill>
                <a:latin typeface="Segoe UI" pitchFamily="34" charset="0"/>
                <a:ea typeface="Segoe UI" pitchFamily="34" charset="-122"/>
                <a:cs typeface="Segoe UI" pitchFamily="34" charset="-120"/>
              </a:rPr>
              <a:t>PK kunci utama · FK kunci tamu · UQ unik · kolom lain diringkas</a:t>
            </a:r>
            <a:endParaRPr lang="en-US" sz="1050" dirty="0"/>
          </a:p>
        </p:txBody>
      </p:sp>
      <p:pic>
        <p:nvPicPr>
          <p:cNvPr id="12" name="Image 0" descr="C:\laragon\www\e-commerce\scripts\ppt\aset\erd.png">    </p:cNvPr>
          <p:cNvPicPr>
            <a:picLocks noChangeAspect="1"/>
          </p:cNvPicPr>
          <p:nvPr/>
        </p:nvPicPr>
        <p:blipFill>
          <a:blip r:embed="rId1"/>
          <a:stretch>
            <a:fillRect/>
          </a:stretch>
        </p:blipFill>
        <p:spPr>
          <a:xfrm>
            <a:off x="548640" y="1783080"/>
            <a:ext cx="11091672" cy="4377306"/>
          </a:xfrm>
          <a:prstGeom prst="rect">
            <a:avLst/>
          </a:prstGeom>
        </p:spPr>
      </p:pic>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1</a:t>
            </a:r>
            <a:endParaRPr lang="en-US" sz="1150" dirty="0"/>
          </a:p>
        </p:txBody>
      </p:sp>
      <p:sp>
        <p:nvSpPr>
          <p:cNvPr id="8" name="Text 6"/>
          <p:cNvSpPr txBox="1"/>
          <p:nvPr/>
        </p:nvSpPr>
        <p:spPr>
          <a:xfrm>
            <a:off x="804672"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9" name="Text 7"/>
          <p:cNvSpPr txBox="1"/>
          <p:nvPr/>
        </p:nvSpPr>
        <p:spPr>
          <a:xfrm>
            <a:off x="804672"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0" name="Shape 8"/>
          <p:cNvSpPr/>
          <p:nvPr/>
        </p:nvSpPr>
        <p:spPr>
          <a:xfrm>
            <a:off x="2816352" y="1874520"/>
            <a:ext cx="2103120" cy="4114800"/>
          </a:xfrm>
          <a:prstGeom prst="roundRect">
            <a:avLst>
              <a:gd name="adj" fmla="val 9565"/>
            </a:avLst>
          </a:prstGeom>
          <a:solidFill>
            <a:srgbClr val="F3F3F3"/>
          </a:solidFill>
          <a:ln/>
        </p:spPr>
      </p:sp>
      <p:sp>
        <p:nvSpPr>
          <p:cNvPr id="11" name="Text 9"/>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2" name="Text 10"/>
          <p:cNvSpPr txBox="1"/>
          <p:nvPr/>
        </p:nvSpPr>
        <p:spPr>
          <a:xfrm>
            <a:off x="3072384"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2</a:t>
            </a:r>
            <a:endParaRPr lang="en-US" sz="1150" dirty="0"/>
          </a:p>
        </p:txBody>
      </p:sp>
      <p:sp>
        <p:nvSpPr>
          <p:cNvPr id="13" name="Text 11"/>
          <p:cNvSpPr txBox="1"/>
          <p:nvPr/>
        </p:nvSpPr>
        <p:spPr>
          <a:xfrm>
            <a:off x="3072384"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4" name="Text 12"/>
          <p:cNvSpPr txBox="1"/>
          <p:nvPr/>
        </p:nvSpPr>
        <p:spPr>
          <a:xfrm>
            <a:off x="3072384"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Text 14"/>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7" name="Text 15"/>
          <p:cNvSpPr txBox="1"/>
          <p:nvPr/>
        </p:nvSpPr>
        <p:spPr>
          <a:xfrm>
            <a:off x="5340096"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3</a:t>
            </a:r>
            <a:endParaRPr lang="en-US" sz="1150" dirty="0"/>
          </a:p>
        </p:txBody>
      </p:sp>
      <p:sp>
        <p:nvSpPr>
          <p:cNvPr id="18" name="Text 16"/>
          <p:cNvSpPr txBox="1"/>
          <p:nvPr/>
        </p:nvSpPr>
        <p:spPr>
          <a:xfrm>
            <a:off x="5340096"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9" name="Text 17"/>
          <p:cNvSpPr txBox="1"/>
          <p:nvPr/>
        </p:nvSpPr>
        <p:spPr>
          <a:xfrm>
            <a:off x="5340096"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0" name="Shape 18"/>
          <p:cNvSpPr/>
          <p:nvPr/>
        </p:nvSpPr>
        <p:spPr>
          <a:xfrm>
            <a:off x="7351776" y="1874520"/>
            <a:ext cx="2103120" cy="4114800"/>
          </a:xfrm>
          <a:prstGeom prst="roundRect">
            <a:avLst>
              <a:gd name="adj" fmla="val 9565"/>
            </a:avLst>
          </a:prstGeom>
          <a:solidFill>
            <a:srgbClr val="F3F3F3"/>
          </a:solidFill>
          <a:ln/>
        </p:spPr>
      </p:sp>
      <p:sp>
        <p:nvSpPr>
          <p:cNvPr id="21" name="Text 19"/>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2" name="Text 20"/>
          <p:cNvSpPr txBox="1"/>
          <p:nvPr/>
        </p:nvSpPr>
        <p:spPr>
          <a:xfrm>
            <a:off x="7607808"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4</a:t>
            </a:r>
            <a:endParaRPr lang="en-US" sz="1150" dirty="0"/>
          </a:p>
        </p:txBody>
      </p:sp>
      <p:sp>
        <p:nvSpPr>
          <p:cNvPr id="23" name="Text 21"/>
          <p:cNvSpPr txBox="1"/>
          <p:nvPr/>
        </p:nvSpPr>
        <p:spPr>
          <a:xfrm>
            <a:off x="7607808"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4" name="Text 22"/>
          <p:cNvSpPr txBox="1"/>
          <p:nvPr/>
        </p:nvSpPr>
        <p:spPr>
          <a:xfrm>
            <a:off x="7607808"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5" name="Shape 23"/>
          <p:cNvSpPr/>
          <p:nvPr/>
        </p:nvSpPr>
        <p:spPr>
          <a:xfrm>
            <a:off x="9619488" y="1874520"/>
            <a:ext cx="2103120" cy="4114800"/>
          </a:xfrm>
          <a:prstGeom prst="roundRect">
            <a:avLst>
              <a:gd name="adj" fmla="val 9565"/>
            </a:avLst>
          </a:prstGeom>
          <a:solidFill>
            <a:srgbClr val="F3F3F3"/>
          </a:solidFill>
          <a:ln/>
        </p:spPr>
      </p:sp>
      <p:sp>
        <p:nvSpPr>
          <p:cNvPr id="26" name="Text 24"/>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7" name="Text 25"/>
          <p:cNvSpPr txBox="1"/>
          <p:nvPr/>
        </p:nvSpPr>
        <p:spPr>
          <a:xfrm>
            <a:off x="9875520" y="2697480"/>
            <a:ext cx="164592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Anggota 5</a:t>
            </a:r>
            <a:endParaRPr lang="en-US" sz="1150" dirty="0"/>
          </a:p>
        </p:txBody>
      </p:sp>
      <p:sp>
        <p:nvSpPr>
          <p:cNvPr id="28" name="Text 26"/>
          <p:cNvSpPr txBox="1"/>
          <p:nvPr/>
        </p:nvSpPr>
        <p:spPr>
          <a:xfrm>
            <a:off x="9875520" y="29718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9" name="Text 27"/>
          <p:cNvSpPr txBox="1"/>
          <p:nvPr/>
        </p:nvSpPr>
        <p:spPr>
          <a:xfrm>
            <a:off x="9875520" y="3749040"/>
            <a:ext cx="1691640" cy="201168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TAUTAN PROYEK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Coba sendiri, lihat kodenya</a:t>
            </a:r>
            <a:endParaRPr lang="en-US" sz="3000" dirty="0"/>
          </a:p>
        </p:txBody>
      </p:sp>
      <p:sp>
        <p:nvSpPr>
          <p:cNvPr id="5" name="Shape 3"/>
          <p:cNvSpPr/>
          <p:nvPr/>
        </p:nvSpPr>
        <p:spPr>
          <a:xfrm>
            <a:off x="548640" y="1874520"/>
            <a:ext cx="5440680" cy="4160520"/>
          </a:xfrm>
          <a:prstGeom prst="roundRect">
            <a:avLst>
              <a:gd name="adj" fmla="val 4835"/>
            </a:avLst>
          </a:prstGeom>
          <a:solidFill>
            <a:srgbClr val="0A0A0A"/>
          </a:solidFill>
          <a:ln/>
        </p:spPr>
      </p:sp>
      <p:sp>
        <p:nvSpPr>
          <p:cNvPr id="6" name="Shape 4"/>
          <p:cNvSpPr/>
          <p:nvPr/>
        </p:nvSpPr>
        <p:spPr>
          <a:xfrm>
            <a:off x="868680" y="2194560"/>
            <a:ext cx="640080" cy="640080"/>
          </a:xfrm>
          <a:prstGeom prst="ellipse">
            <a:avLst/>
          </a:prstGeom>
          <a:solidFill>
            <a:srgbClr val="FFFFFF"/>
          </a:solidFill>
          <a:ln/>
        </p:spPr>
      </p:sp>
      <p:pic>
        <p:nvPicPr>
          <p:cNvPr id="7" name="Image 0" descr="C:\laragon\www\e-commerce\scripts\ppt\aset\ikon-Globe-hitam.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FFFFFF"/>
                </a:solidFill>
                <a:latin typeface="Segoe UI Semibold" pitchFamily="34" charset="0"/>
                <a:ea typeface="Segoe UI Semibold" pitchFamily="34" charset="-122"/>
                <a:cs typeface="Segoe UI Semibold" pitchFamily="34" charset="-120"/>
              </a:rPr>
              <a:t>Situs online</a:t>
            </a:r>
            <a:endParaRPr lang="en-US" sz="1900" dirty="0"/>
          </a:p>
        </p:txBody>
      </p:sp>
      <p:sp>
        <p:nvSpPr>
          <p:cNvPr id="9" name="Text 6"/>
          <p:cNvSpPr txBox="1"/>
          <p:nvPr/>
        </p:nvSpPr>
        <p:spPr>
          <a:xfrm>
            <a:off x="1691640" y="2560320"/>
            <a:ext cx="4023360" cy="274320"/>
          </a:xfrm>
          <a:prstGeom prst="rect">
            <a:avLst/>
          </a:prstGeom>
          <a:noFill/>
          <a:ln/>
        </p:spPr>
        <p:txBody>
          <a:bodyPr wrap="square" lIns="0" tIns="0" rIns="0" bIns="0" rtlCol="0" anchor="t"/>
          <a:lstStyle/>
          <a:p>
            <a:pPr indent="0" marL="0">
              <a:buNone/>
            </a:pPr>
            <a:r>
              <a:rPr lang="en-US" sz="1150" dirty="0">
                <a:solidFill>
                  <a:srgbClr val="A3A3A3"/>
                </a:solidFill>
                <a:latin typeface="Segoe UI" pitchFamily="34" charset="0"/>
                <a:ea typeface="Segoe UI" pitchFamily="34" charset="-122"/>
                <a:cs typeface="Segoe UI" pitchFamily="34" charset="-120"/>
              </a:rPr>
              <a:t>Publik · Vercel Singapura</a:t>
            </a:r>
            <a:endParaRPr lang="en-US" sz="1150" dirty="0"/>
          </a:p>
        </p:txBody>
      </p:sp>
      <p:sp>
        <p:nvSpPr>
          <p:cNvPr id="10" name="Text 7"/>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600" u="sng" dirty="0">
                <a:solidFill>
                  <a:srgbClr val="FFFFFF"/>
                </a:solidFill>
                <a:latin typeface="Segoe UI Semibold" pitchFamily="34" charset="0"/>
                <a:ea typeface="Segoe UI Semibold" pitchFamily="34" charset="-122"/>
                <a:cs typeface="Segoe UI Semibold" pitchFamily="34" charset="-120"/>
                <a:hlinkClick r:id="rId2" invalidUrl="" action="" tgtFrame="" tooltip="Buka TokoKita" history="1" highlightClick="0" endSnd="0">
                  <a:extLst>
                    <a:ext uri="{A12FA001-AC4F-418D-AE19-62706E023703}">
                      <ahyp:hlinkClr xmlns:ahyp="http://schemas.microsoft.com/office/drawing/2018/hyperlinkcolor" val="tx"/>
                    </a:ext>
                  </a:extLst>
                </a:hlinkClick>
              </a:rPr>
              <a:t>ecommerce-peach-seven-47.vercel.app</a:t>
            </a:r>
            <a:endParaRPr lang="en-US" sz="1600" dirty="0"/>
          </a:p>
        </p:txBody>
      </p:sp>
      <p:sp>
        <p:nvSpPr>
          <p:cNvPr id="11" name="Text 8"/>
          <p:cNvSpPr txBox="1"/>
          <p:nvPr/>
        </p:nvSpPr>
        <p:spPr>
          <a:xfrm>
            <a:off x="868680" y="3840480"/>
            <a:ext cx="4846320" cy="1280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Beranda, katalog, checkout: tanpa login</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Akun pembeli &amp; admin demo: lihat docs/DEMO.md</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Pembayaran memakai Midtrans sandbox, bukan uang asli</a:t>
            </a:r>
            <a:endParaRPr lang="en-US" sz="1300" dirty="0"/>
          </a:p>
        </p:txBody>
      </p:sp>
      <p:sp>
        <p:nvSpPr>
          <p:cNvPr id="12" name="Shape 9"/>
          <p:cNvSpPr/>
          <p:nvPr/>
        </p:nvSpPr>
        <p:spPr>
          <a:xfrm>
            <a:off x="868680" y="5212080"/>
            <a:ext cx="4800600" cy="0"/>
          </a:xfrm>
          <a:prstGeom prst="line">
            <a:avLst/>
          </a:prstGeom>
          <a:noFill/>
          <a:ln w="12700">
            <a:solidFill>
              <a:srgbClr val="262626"/>
            </a:solidFill>
            <a:prstDash val="solid"/>
          </a:ln>
        </p:spPr>
      </p:sp>
      <p:sp>
        <p:nvSpPr>
          <p:cNvPr id="13" name="Text 10"/>
          <p:cNvSpPr txBox="1"/>
          <p:nvPr/>
        </p:nvSpPr>
        <p:spPr>
          <a:xfrm>
            <a:off x="86868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26</a:t>
            </a:r>
            <a:endParaRPr lang="en-US" sz="2200" dirty="0"/>
          </a:p>
        </p:txBody>
      </p:sp>
      <p:sp>
        <p:nvSpPr>
          <p:cNvPr id="14" name="Text 11"/>
          <p:cNvSpPr txBox="1"/>
          <p:nvPr/>
        </p:nvSpPr>
        <p:spPr>
          <a:xfrm>
            <a:off x="86868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produk</a:t>
            </a:r>
            <a:endParaRPr lang="en-US" sz="1050" dirty="0"/>
          </a:p>
        </p:txBody>
      </p:sp>
      <p:sp>
        <p:nvSpPr>
          <p:cNvPr id="15" name="Text 12"/>
          <p:cNvSpPr txBox="1"/>
          <p:nvPr/>
        </p:nvSpPr>
        <p:spPr>
          <a:xfrm>
            <a:off x="251460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79</a:t>
            </a:r>
            <a:endParaRPr lang="en-US" sz="2200" dirty="0"/>
          </a:p>
        </p:txBody>
      </p:sp>
      <p:sp>
        <p:nvSpPr>
          <p:cNvPr id="16" name="Text 13"/>
          <p:cNvSpPr txBox="1"/>
          <p:nvPr/>
        </p:nvSpPr>
        <p:spPr>
          <a:xfrm>
            <a:off x="251460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pesanan demo</a:t>
            </a:r>
            <a:endParaRPr lang="en-US" sz="1050" dirty="0"/>
          </a:p>
        </p:txBody>
      </p:sp>
      <p:sp>
        <p:nvSpPr>
          <p:cNvPr id="17" name="Text 14"/>
          <p:cNvSpPr txBox="1"/>
          <p:nvPr/>
        </p:nvSpPr>
        <p:spPr>
          <a:xfrm>
            <a:off x="416052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98</a:t>
            </a:r>
            <a:endParaRPr lang="en-US" sz="2200" dirty="0"/>
          </a:p>
        </p:txBody>
      </p:sp>
      <p:sp>
        <p:nvSpPr>
          <p:cNvPr id="18" name="Text 15"/>
          <p:cNvSpPr txBox="1"/>
          <p:nvPr/>
        </p:nvSpPr>
        <p:spPr>
          <a:xfrm>
            <a:off x="416052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Lighthouse HP</a:t>
            </a:r>
            <a:endParaRPr lang="en-US" sz="1050" dirty="0"/>
          </a:p>
        </p:txBody>
      </p:sp>
      <p:sp>
        <p:nvSpPr>
          <p:cNvPr id="19" name="Shape 16"/>
          <p:cNvSpPr/>
          <p:nvPr/>
        </p:nvSpPr>
        <p:spPr>
          <a:xfrm>
            <a:off x="6199632" y="1874520"/>
            <a:ext cx="5440680" cy="1252728"/>
          </a:xfrm>
          <a:prstGeom prst="roundRect">
            <a:avLst>
              <a:gd name="adj" fmla="val 16058"/>
            </a:avLst>
          </a:prstGeom>
          <a:solidFill>
            <a:srgbClr val="F3F3F3"/>
          </a:solidFill>
          <a:ln/>
        </p:spPr>
      </p:sp>
      <p:sp>
        <p:nvSpPr>
          <p:cNvPr id="20" name="Shape 17"/>
          <p:cNvSpPr/>
          <p:nvPr/>
        </p:nvSpPr>
        <p:spPr>
          <a:xfrm>
            <a:off x="6446520" y="2203704"/>
            <a:ext cx="548640" cy="548640"/>
          </a:xfrm>
          <a:prstGeom prst="ellipse">
            <a:avLst/>
          </a:prstGeom>
          <a:solidFill>
            <a:srgbClr val="0A0A0A"/>
          </a:solidFill>
          <a:ln/>
        </p:spPr>
      </p:sp>
      <p:pic>
        <p:nvPicPr>
          <p:cNvPr id="21" name="Image 1" descr="C:\laragon\www\e-commerce\scripts\ppt\aset\ikon-GitBranch-putih.png">    </p:cNvPr>
          <p:cNvPicPr>
            <a:picLocks noChangeAspect="1"/>
          </p:cNvPicPr>
          <p:nvPr/>
        </p:nvPicPr>
        <p:blipFill>
          <a:blip r:embed="rId3"/>
          <a:stretch>
            <a:fillRect/>
          </a:stretch>
        </p:blipFill>
        <p:spPr>
          <a:xfrm>
            <a:off x="6583680" y="2340864"/>
            <a:ext cx="274320" cy="274320"/>
          </a:xfrm>
          <a:prstGeom prst="rect">
            <a:avLst/>
          </a:prstGeom>
        </p:spPr>
      </p:pic>
      <p:sp>
        <p:nvSpPr>
          <p:cNvPr id="22" name="Text 18"/>
          <p:cNvSpPr txBox="1"/>
          <p:nvPr/>
        </p:nvSpPr>
        <p:spPr>
          <a:xfrm>
            <a:off x="7223760" y="205740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Repositori GitHub</a:t>
            </a:r>
            <a:endParaRPr lang="en-US" sz="1400" dirty="0"/>
          </a:p>
        </p:txBody>
      </p:sp>
      <p:sp>
        <p:nvSpPr>
          <p:cNvPr id="23" name="Text 19"/>
          <p:cNvSpPr txBox="1"/>
          <p:nvPr/>
        </p:nvSpPr>
        <p:spPr>
          <a:xfrm>
            <a:off x="7223760" y="235000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github.com/Magang-Project-Cmlabs/ecommerce</a:t>
            </a:r>
            <a:endParaRPr lang="en-US" sz="1150" dirty="0"/>
          </a:p>
        </p:txBody>
      </p:sp>
      <p:sp>
        <p:nvSpPr>
          <p:cNvPr id="24" name="Text 20"/>
          <p:cNvSpPr txBox="1"/>
          <p:nvPr/>
        </p:nvSpPr>
        <p:spPr>
          <a:xfrm>
            <a:off x="7223760" y="266090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akses diberikan atas permintaan</a:t>
            </a:r>
            <a:endParaRPr lang="en-US" sz="1100" dirty="0"/>
          </a:p>
        </p:txBody>
      </p:sp>
      <p:sp>
        <p:nvSpPr>
          <p:cNvPr id="25" name="Shape 21"/>
          <p:cNvSpPr/>
          <p:nvPr/>
        </p:nvSpPr>
        <p:spPr>
          <a:xfrm>
            <a:off x="6199632" y="3291840"/>
            <a:ext cx="5440680" cy="1252728"/>
          </a:xfrm>
          <a:prstGeom prst="roundRect">
            <a:avLst>
              <a:gd name="adj" fmla="val 16058"/>
            </a:avLst>
          </a:prstGeom>
          <a:solidFill>
            <a:srgbClr val="F3F3F3"/>
          </a:solidFill>
          <a:ln/>
        </p:spPr>
      </p:sp>
      <p:sp>
        <p:nvSpPr>
          <p:cNvPr id="26" name="Shape 22"/>
          <p:cNvSpPr/>
          <p:nvPr/>
        </p:nvSpPr>
        <p:spPr>
          <a:xfrm>
            <a:off x="6446520" y="3621024"/>
            <a:ext cx="548640" cy="548640"/>
          </a:xfrm>
          <a:prstGeom prst="ellipse">
            <a:avLst/>
          </a:prstGeom>
          <a:solidFill>
            <a:srgbClr val="0A0A0A"/>
          </a:solidFill>
          <a:ln/>
        </p:spPr>
      </p:sp>
      <p:pic>
        <p:nvPicPr>
          <p:cNvPr id="27" name="Image 2" descr="C:\laragon\www\e-commerce\scripts\ppt\aset\ikon-ListChecks-putih.png">    </p:cNvPr>
          <p:cNvPicPr>
            <a:picLocks noChangeAspect="1"/>
          </p:cNvPicPr>
          <p:nvPr/>
        </p:nvPicPr>
        <p:blipFill>
          <a:blip r:embed="rId5"/>
          <a:stretch>
            <a:fillRect/>
          </a:stretch>
        </p:blipFill>
        <p:spPr>
          <a:xfrm>
            <a:off x="6583680" y="3758184"/>
            <a:ext cx="274320" cy="274320"/>
          </a:xfrm>
          <a:prstGeom prst="rect">
            <a:avLst/>
          </a:prstGeom>
        </p:spPr>
      </p:pic>
      <p:sp>
        <p:nvSpPr>
          <p:cNvPr id="28" name="Text 23"/>
          <p:cNvSpPr txBox="1"/>
          <p:nvPr/>
        </p:nvSpPr>
        <p:spPr>
          <a:xfrm>
            <a:off x="7223760" y="347472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Papan tugas Trello</a:t>
            </a:r>
            <a:endParaRPr lang="en-US" sz="1400" dirty="0"/>
          </a:p>
        </p:txBody>
      </p:sp>
      <p:sp>
        <p:nvSpPr>
          <p:cNvPr id="29" name="Text 24"/>
          <p:cNvSpPr txBox="1"/>
          <p:nvPr/>
        </p:nvSpPr>
        <p:spPr>
          <a:xfrm>
            <a:off x="7223760" y="376732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trello.com/b/sqbn4ehi</a:t>
            </a:r>
            <a:endParaRPr lang="en-US" sz="1150" dirty="0"/>
          </a:p>
        </p:txBody>
      </p:sp>
      <p:sp>
        <p:nvSpPr>
          <p:cNvPr id="30" name="Text 25"/>
          <p:cNvSpPr txBox="1"/>
          <p:nvPr/>
        </p:nvSpPr>
        <p:spPr>
          <a:xfrm>
            <a:off x="7223760" y="407822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anggota tim dan pembimbing</a:t>
            </a:r>
            <a:endParaRPr lang="en-US" sz="1100" dirty="0"/>
          </a:p>
        </p:txBody>
      </p:sp>
      <p:sp>
        <p:nvSpPr>
          <p:cNvPr id="31" name="Shape 26"/>
          <p:cNvSpPr/>
          <p:nvPr/>
        </p:nvSpPr>
        <p:spPr>
          <a:xfrm>
            <a:off x="6199632" y="4709160"/>
            <a:ext cx="5440680" cy="1252728"/>
          </a:xfrm>
          <a:prstGeom prst="roundRect">
            <a:avLst>
              <a:gd name="adj" fmla="val 16058"/>
            </a:avLst>
          </a:prstGeom>
          <a:solidFill>
            <a:srgbClr val="F3F3F3"/>
          </a:solidFill>
          <a:ln/>
        </p:spPr>
      </p:sp>
      <p:sp>
        <p:nvSpPr>
          <p:cNvPr id="32" name="Shape 27"/>
          <p:cNvSpPr/>
          <p:nvPr/>
        </p:nvSpPr>
        <p:spPr>
          <a:xfrm>
            <a:off x="6446520" y="5038344"/>
            <a:ext cx="548640" cy="548640"/>
          </a:xfrm>
          <a:prstGeom prst="ellipse">
            <a:avLst/>
          </a:prstGeom>
          <a:solidFill>
            <a:srgbClr val="0A0A0A"/>
          </a:solidFill>
          <a:ln/>
        </p:spPr>
      </p:sp>
      <p:pic>
        <p:nvPicPr>
          <p:cNvPr id="33" name="Image 3" descr="C:\laragon\www\e-commerce\scripts\ppt\aset\ikon-BadgeCheck-putih.png">    </p:cNvPr>
          <p:cNvPicPr>
            <a:picLocks noChangeAspect="1"/>
          </p:cNvPicPr>
          <p:nvPr/>
        </p:nvPicPr>
        <p:blipFill>
          <a:blip r:embed="rId7"/>
          <a:stretch>
            <a:fillRect/>
          </a:stretch>
        </p:blipFill>
        <p:spPr>
          <a:xfrm>
            <a:off x="6583680" y="5175504"/>
            <a:ext cx="274320" cy="274320"/>
          </a:xfrm>
          <a:prstGeom prst="rect">
            <a:avLst/>
          </a:prstGeom>
        </p:spPr>
      </p:pic>
      <p:sp>
        <p:nvSpPr>
          <p:cNvPr id="34" name="Text 28"/>
          <p:cNvSpPr txBox="1"/>
          <p:nvPr/>
        </p:nvSpPr>
        <p:spPr>
          <a:xfrm>
            <a:off x="7223760" y="489204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Dokumentasi</a:t>
            </a:r>
            <a:endParaRPr lang="en-US" sz="1400" dirty="0"/>
          </a:p>
        </p:txBody>
      </p:sp>
      <p:sp>
        <p:nvSpPr>
          <p:cNvPr id="35" name="Text 29"/>
          <p:cNvSpPr txBox="1"/>
          <p:nvPr/>
        </p:nvSpPr>
        <p:spPr>
          <a:xfrm>
            <a:off x="7223760" y="5184648"/>
            <a:ext cx="4206240" cy="274320"/>
          </a:xfrm>
          <a:prstGeom prst="rect">
            <a:avLst/>
          </a:prstGeom>
          <a:noFill/>
          <a:ln/>
        </p:spPr>
        <p:txBody>
          <a:bodyPr wrap="square" lIns="0" tIns="0" rIns="0" bIns="0" rtlCol="0" anchor="t"/>
          <a:lstStyle/>
          <a:p>
            <a:pPr indent="0" marL="0">
              <a:buNone/>
            </a:pPr>
            <a:r>
              <a:rPr lang="en-US" sz="1150" dirty="0">
                <a:solidFill>
                  <a:srgbClr val="0A0A0A"/>
                </a:solidFill>
                <a:latin typeface="Consolas" pitchFamily="34" charset="0"/>
                <a:ea typeface="Consolas" pitchFamily="34" charset="-122"/>
                <a:cs typeface="Consolas" pitchFamily="34" charset="-120"/>
              </a:rPr>
              <a:t>docs/ di repositori</a:t>
            </a:r>
            <a:endParaRPr lang="en-US" sz="1150" dirty="0"/>
          </a:p>
        </p:txBody>
      </p:sp>
      <p:sp>
        <p:nvSpPr>
          <p:cNvPr id="36" name="Text 30"/>
          <p:cNvSpPr txBox="1"/>
          <p:nvPr/>
        </p:nvSpPr>
        <p:spPr>
          <a:xfrm>
            <a:off x="7223760" y="549554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PRD, panduan mulai, status, uji mandiri, serah terima</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2026-10-04T01:52:15Z</dcterms:created>
  <dcterms:modified xsi:type="dcterms:W3CDTF">2026-10-04T01:52:15Z</dcterms:modified>
</cp:coreProperties>
</file>