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notesMasterIdLst>
    <p:notesMasterId r:id="rId2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embuka" id="{fdd58203-f443-fcef-7d1e-4844280ea7cc}">
          <p14:sldIdLst>
            <p14:sldId id="256"/>
            <p14:sldId id="257"/>
            <p14:sldId id="258"/>
          </p14:sldIdLst>
        </p14:section>
        <p14:section name="Latar &amp; cakupan" id="{c0bf1e2b-f50d-177c-be3d-577d4bcbae7f}">
          <p14:sldIdLst>
            <p14:sldId id="259"/>
            <p14:sldId id="260"/>
            <p14:sldId id="261"/>
          </p14:sldIdLst>
        </p14:section>
        <p14:section name="Teknologi" id="{2d21117b-f176-d9ec-3b35-89795c72b4b0}">
          <p14:sldIdLst>
            <p14:sldId id="262"/>
            <p14:sldId id="263"/>
            <p14:sldId id="264"/>
            <p14:sldId id="265"/>
            <p14:sldId id="266"/>
          </p14:sldIdLst>
        </p14:section>
        <p14:section name="Tampilan aplikasi" id="{c5ffe129-4ba3-c27b-6105-1b094e9a2c78}">
          <p14:sldIdLst>
            <p14:sldId id="267"/>
            <p14:sldId id="268"/>
            <p14:sldId id="269"/>
            <p14:sldId id="270"/>
            <p14:sldId id="271"/>
            <p14:sldId id="272"/>
          </p14:sldIdLst>
        </p14:section>
        <p14:section name="Tim &amp; cara kerja" id="{aa8a6743-884d-31a9-19fa-0c6055f36ac5}">
          <p14:sldIdLst>
            <p14:sldId id="273"/>
            <p14:sldId id="274"/>
          </p14:sldIdLst>
        </p14:section>
        <p14:section name="Kualitas &amp; demo" id="{441ed3db-5b9c-e35b-27e9-0a25312f93f9}">
          <p14:sldIdLst>
            <p14:sldId id="275"/>
            <p14:sldId id="276"/>
            <p14:sldId id="277"/>
            <p14:sldId id="278"/>
            <p14:sldId id="279"/>
          </p14:sldIdLst>
        </p14:section>
        <p14:section name="Penutup" id="{33edc638-dee7-5ee1-03ff-aab35408af9c}">
          <p14:sldIdLst>
            <p14:sldId id="28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Perkenalkan tim dan tujuan presentasi: TokoKita adalah toko online mandiri yang kami bangun dari PRD sampai berjalan online di Vercel. Tunjukkan bahwa situs ini nyata dan bisa dibuka sekarang, dalam mode terang maupun gelap.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Perkenalkan anggota satu per satu. Azrian Dalimunthe adalah ketua tim.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Urutan presentasi: dari masalah dan pengguna, hasil yang dibangun, teknologi, tampilan aplikasi, cara tim bekerja, sampai hasil uji dan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Jelaskan kenapa UMKM butuh toko online sendiri: komisi, kepemilikan data, perang harga, dan risiko suspend. Lalu tunjukkan jawaban TokoKita di sisi kanan.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Pembeli fokus pada kecepatan dan rasa percaya. Admin toko bukan orang IT, jadi panel admin dibuat sesederhana tampilan toko.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Seluruh fitur MVP dan fitur lanjutan sudah jalan. Tambahan dari rencana awal: pembayaran sandbox, mode gelap, asisten AI, ongkir per zona provinsi, Login Google, dan tombol cek resi di situs kurir. Lacak resi otomatis sudah dikodekan tetapi belum diaktifkan karena API-nya berbayar sekitar Rp 15 per pengecekan. Resi di data demo dibuat acak, jadi situs kurir menjawab tidak ditemukan; hasil lacak muncul untuk resi kiriman asli.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Semua dipilih agar tim cepat produktif: satu proyek, satu bahasa (TypeScript), komponen siap pakai. Argon2id menggantikan bcrypt; asisten AI memakai Gemini dengan cadangan Groq.</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Alur: pengguna membuka halaman, Next.js memproses di server Vercel Singapura, Prisma menerjemahkan ke MySQL Aiven. Semua perubahan data hanya lewat Server Actions. Layanan pendukung: Blob untuk gambar, Gmail untuk email, Midtrans sandbox, cron pesanan tiap jam (GitHub Actions, cadangan cron harian Vercel) dengan backup database harian terenkripsi, dan Gemini/Groq untuk asisten AI. Email dikirim di latar agar checkout tidak menunggu.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Tunjukkan pengelompokan tabel. Tekankan aturan data: uang INT, snapshot pesanan, stok per varian. Satu tabel tambahan dipakai untuk membatasi percobaan login dan pertanyaan ke asisten 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Diagram dibuat otomatis dari schema.prisma, jadi selalu sama dengan database. Pusatnya users dan products: satu pengguna punya banyak alamat, pesanan, ulasan, dan wishlist; satu produk punya banyak foto, varian, dan item pesanan. order_items menyimpan salinan nama dan harga, dan satu item pesanan paling banyak satu ulasan. promo_usages mengunci satu promo per pesanan. banners berdiri sendiri. Tabel auth_rate_limits tidak digambar karena tidak berelasi.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Lencana dan warnanya sama persis dengan yang tampil di aplikasi. Jelaskan siapa yang mengubah tiap status; pesanan tidak dibayar 24 jam dibatalkan otomatis oleh cron.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Desain mengikuti template Framer pilihan pemilik: monokrom, foto besar, tipografi tegas. Skor Lighthouse beranda di HP 98.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Semua pilihan bawaan browser diganti komponen sendiri yang bisa dicari dan dipakai dengan keyboard.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Detail produk menjawab kekhawatiran pembeli: harga, stok, dan ulasan yang jujur.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Checkout dipandu empat langkah. Harga dan ongkir dihitung ulang di server, angka dari browser hanya dipakai sebagai id dan jumlah.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Panel admin memakai bahasa visual yang sama dengan toko, terlihat di sini dalam mode gelap. Tambah dan edit produk, kategori, promo, banner muncul sebagai modal.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 gelap tersedia di seluruh toko dan admin. Asisten "Tanya AI" memakai Gemini dengan cadangan Groq, keduanya gratis tanpa kartu. Sejak 18 Okt asisten juga membantu belanja: rekomendasi muncul sebagai kartu produk dengan harga dari database, lalu pembeli bisa menambah ke keranjang, lanjut checkout, memilih kurir dan pembayaran, atau meminta formulir alamat diisi. Model hanya menulis usulan; setiap aksi berjalan setelah pembeli menekan tombolnya, dan pesanan tetap dibuat sendiri lewat Buat Pesanan. Contoh di layar: permintaan kode Python ditolak.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Pekerjaan dibagi per modul PRD agar setiap bagian punya pemilik yang jelas dan kode jarang bentrok.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Alur Git berbasis branch per fitur dan Pull Request dengan CI otomatis di GitHub Actions, papan Trello untuk tugas, serta kebiasaan tim yang menjaga kode tidak bertabrakan.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Semua angka hasil pengujian nyata pada 3 Oktober 2026. Kecepatan diukur dengan Lighthouse dan HP yang diperlambat (Slow 4G). Pada mode simulasi Lighthouse, halaman detail masih sekitar 3 detik; ini catatan perbaikan lanjutan.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Kepatuhan UU PDP, keamanan akun dengan Argon2id dan pembatasan percobaan, Login Google dengan OAuth + PKCE (admin tetap wajib password), aturan transaksi yang adil, dan pengaman asisten 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Risiko terbesar ada di sisi tim, bukan teknis. Kolom Hasil menunjukkan bagaimana mitigasi itu berjalan sampai akhir proyek.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memakai data awal agar toko tidak kosong. Pembayaran uang asli butuh akun Midtrans atas nama badan usaha, jadi demo memakai sandbox dan konfirmasi manual admin. Rekaman cadangan ada di docs/screenshots/demo-ppt. Pembayaran sandbox sudah diuji di situs online sampai lunas otomatis; QRIS masih tertunda di simulator Midtrans.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Situs bisa dibuka siapa saja sekarang. Repositori GitHub dan papan Trello bersifat privat; minta akses ke ketua tim bila ingin melihat kode. Semua keputusan, status, dan panduan uji ada di folder docs/.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Rangkum empat hal utama, lalu buka sesi tanya jawab. Siapkan situs online dan rekaman cadangan bila jaringan bermasalah.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ISI">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6382512"/>
            <a:ext cx="1828800" cy="274320"/>
          </a:xfrm>
          <a:prstGeom prst="rect">
            <a:avLst/>
          </a:prstGeom>
          <a:noFill/>
          <a:ln/>
        </p:spPr>
        <p:txBody>
          <a:bodyPr wrap="square" lIns="0" tIns="0" rIns="0" bIns="0" rtlCol="0" anchor="ctr"/>
          <a:lstStyle/>
          <a:p>
            <a:pPr indent="0" marL="0">
              <a:buNone/>
            </a:pPr>
            <a:r>
              <a:rPr lang="en-US" sz="1100" dirty="0">
                <a:solidFill>
                  <a:srgbClr val="0A0A0A"/>
                </a:solidFill>
                <a:latin typeface="Segoe UI Semibold" pitchFamily="34" charset="0"/>
                <a:ea typeface="Segoe UI Semibold" pitchFamily="34" charset="-122"/>
                <a:cs typeface="Segoe UI Semibold" pitchFamily="34" charset="-120"/>
              </a:rPr>
              <a:t>TokoKita</a:t>
            </a:r>
            <a:endParaRPr lang="en-US" sz="1100" dirty="0"/>
          </a:p>
        </p:txBody>
      </p:sp>
      <p:sp>
        <p:nvSpPr>
          <p:cNvPr id="3" name="Text 1"/>
          <p:cNvSpPr/>
          <p:nvPr>
            <p:ph idx="101" type="title" hasCustomPrompt="1"/>
          </p:nvPr>
        </p:nvSpPr>
        <p:spPr>
          <a:xfrm>
            <a:off x="548640" y="868680"/>
            <a:ext cx="11064240" cy="777240"/>
          </a:xfrm>
          <a:prstGeom prst="rect">
            <a:avLst/>
          </a:prstGeom>
          <a:noFill/>
          <a:ln/>
        </p:spPr>
        <p:txBody>
          <a:bodyPr wrap="square" rtlCol="0"/>
          <a:lstStyle>
            <a:lvl1pPr algn="l" indent="0" marL="0">
              <a:buNone/>
              <a:defRPr lang="en-US" sz="3000" dirty="0">
                <a:solidFill>
                  <a:srgbClr val="0A0A0A"/>
                </a:solidFill>
                <a:latin typeface="Segoe UI Semibold" pitchFamily="34" charset="0"/>
                <a:ea typeface="Segoe UI Semibold" pitchFamily="34" charset="-122"/>
                <a:cs typeface="Segoe UI Semibold" pitchFamily="34" charset="-120"/>
              </a:defRPr>
            </a:lvl1pPr>
          </a:lstStyle>
          <a:p>
            <a:pPr algn="l" indent="0" marL="0">
              <a:buNone/>
            </a:pPr>
            <a:endParaRPr lang="en-US" sz="3000" dirty="0"/>
          </a:p>
        </p:txBody>
      </p:sp>
      <p:sp>
        <p:nvSpPr>
          <p:cNvPr id="25" name="Slide Number Placeholder 0"/>
          <p:cNvSpPr>
            <a:spLocks noGrp="1"/>
          </p:cNvSpPr>
          <p:nvPr>
            <p:ph type="sldNum" sz="quarter" idx="4294967295"/>
          </p:nvPr>
        </p:nvSpPr>
        <p:spPr>
          <a:xfrm>
            <a:off x="11183112"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C5C5C"/>
                </a:solidFill>
                <a:latin typeface="Segoe UI"/>
                <a:ea typeface="Segoe UI"/>
                <a:cs typeface="Segoe U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GELAP">
    <p:bg>
      <p:bgPr>
        <a:solidFill>
          <a:srgbClr val="0A0A0A"/>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868680"/>
            <a:ext cx="11064240" cy="777240"/>
          </a:xfrm>
          <a:prstGeom prst="rect">
            <a:avLst/>
          </a:prstGeom>
          <a:noFill/>
          <a:ln/>
        </p:spPr>
        <p:txBody>
          <a:bodyPr wrap="square" rtlCol="0"/>
          <a:lstStyle>
            <a:lvl1pPr algn="l" indent="0" marL="0">
              <a:buNone/>
              <a:defRPr lang="en-US" sz="3000" dirty="0">
                <a:solidFill>
                  <a:srgbClr val="FFFFFF"/>
                </a:solidFill>
                <a:latin typeface="Segoe UI Semibold" pitchFamily="34" charset="0"/>
                <a:ea typeface="Segoe UI Semibold" pitchFamily="34" charset="-122"/>
                <a:cs typeface="Segoe UI Semibold" pitchFamily="34" charset="-120"/>
              </a:defRPr>
            </a:lvl1pPr>
          </a:lstStyle>
          <a:p>
            <a:pPr algn="l" indent="0" marL="0">
              <a:buNone/>
            </a:pPr>
            <a:endParaRPr lang="en-US" sz="3000" dirty="0"/>
          </a:p>
        </p:txBody>
      </p:sp>
      <p:sp>
        <p:nvSpPr>
          <p:cNvPr id="25" name="Slide Number Placeholder 0"/>
          <p:cNvSpPr>
            <a:spLocks noGrp="1"/>
          </p:cNvSpPr>
          <p:nvPr>
            <p:ph type="sldNum" sz="quarter" idx="4294967295"/>
          </p:nvPr>
        </p:nvSpPr>
        <p:spPr>
          <a:xfrm>
            <a:off x="11183112"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3A3A3"/>
                </a:solidFill>
                <a:latin typeface="Segoe UI"/>
                <a:ea typeface="Segoe UI"/>
                <a:cs typeface="Segoe U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3112"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C5C5C"/>
                </a:solidFill>
                <a:latin typeface="Segoe UI"/>
                <a:ea typeface="Segoe UI"/>
                <a:cs typeface="Segoe U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3.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2" Type="http://schemas.openxmlformats.org/officeDocument/2006/relationships/hyperlink" Target="https://github.com/azridalimunthe7" TargetMode="External"/><Relationship Id="rId4" Type="http://schemas.openxmlformats.org/officeDocument/2006/relationships/hyperlink" Target="https://github.com/astroceilo" TargetMode="External"/><Relationship Id="rId6" Type="http://schemas.openxmlformats.org/officeDocument/2006/relationships/hyperlink" Target="https://github.com/kvnlhm" TargetMode="External"/><Relationship Id="rId8" Type="http://schemas.openxmlformats.org/officeDocument/2006/relationships/hyperlink" Target="https://github.com/rizkikusnadi03" TargetMode="External"/><Relationship Id="rId10" Type="http://schemas.openxmlformats.org/officeDocument/2006/relationships/hyperlink" Target="https://github.com/fikarnugraha18" TargetMode="External"/><Relationship Id="rId1" Type="http://schemas.openxmlformats.org/officeDocument/2006/relationships/image" Target="../media/image-2-1.png"/><Relationship Id="rId3" Type="http://schemas.openxmlformats.org/officeDocument/2006/relationships/image" Target="../media/image-2-2.png"/><Relationship Id="rId5" Type="http://schemas.openxmlformats.org/officeDocument/2006/relationships/image" Target="../media/image-2-3.png"/><Relationship Id="rId7" Type="http://schemas.openxmlformats.org/officeDocument/2006/relationships/image" Target="../media/image-2-4.png"/><Relationship Id="rId9" Type="http://schemas.openxmlformats.org/officeDocument/2006/relationships/image" Target="../media/image-2-5.png"/><Relationship Id="rId11" Type="http://schemas.openxmlformats.org/officeDocument/2006/relationships/slideLayout" Target="../slideLayouts/slideLayout2.xml"/><Relationship Id="rId1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2.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image" Target="../media/image-7-8.png"/><Relationship Id="rId9" Type="http://schemas.openxmlformats.org/officeDocument/2006/relationships/image" Target="../media/image-7-9.png"/><Relationship Id="rId10" Type="http://schemas.openxmlformats.org/officeDocument/2006/relationships/slideLayout" Target="../slideLayouts/slideLayout2.xml"/><Relationship Id="rId11"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image" Target="../media/image-8-8.png"/><Relationship Id="rId9" Type="http://schemas.openxmlformats.org/officeDocument/2006/relationships/slideLayout" Target="../slideLayouts/slideLayout2.xml"/><Relationship Id="rId10"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2.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2.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slideLayout" Target="../slideLayouts/slideLayout3.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slideLayout" Target="../slideLayouts/slideLayout2.xml"/><Relationship Id="rId5"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slideLayout" Target="../slideLayouts/slideLayout2.xml"/><Relationship Id="rId6"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image" Target="../media/image-23-5.png"/><Relationship Id="rId6" Type="http://schemas.openxmlformats.org/officeDocument/2006/relationships/slideLayout" Target="../slideLayouts/slideLayout2.xml"/><Relationship Id="rId7"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2" Type="http://schemas.openxmlformats.org/officeDocument/2006/relationships/hyperlink" Target="https://ecommerce-peach-seven-47.vercel.app" TargetMode="External"/><Relationship Id="rId4" Type="http://schemas.openxmlformats.org/officeDocument/2006/relationships/hyperlink" Target="https://github.com/Magang-Project-Cmlabs/ecommerce" TargetMode="External"/><Relationship Id="rId6" Type="http://schemas.openxmlformats.org/officeDocument/2006/relationships/hyperlink" Target="https://trello.com/b/sqbn4ehi/tokokita-proyek-magang" TargetMode="External"/><Relationship Id="rId1" Type="http://schemas.openxmlformats.org/officeDocument/2006/relationships/image" Target="../media/image-24-1.png"/><Relationship Id="rId3" Type="http://schemas.openxmlformats.org/officeDocument/2006/relationships/image" Target="../media/image-24-2.png"/><Relationship Id="rId5" Type="http://schemas.openxmlformats.org/officeDocument/2006/relationships/image" Target="../media/image-24-3.png"/><Relationship Id="rId7" Type="http://schemas.openxmlformats.org/officeDocument/2006/relationships/image" Target="../media/image-24-4.png"/><Relationship Id="rId8" Type="http://schemas.openxmlformats.org/officeDocument/2006/relationships/slideLayout" Target="../slideLayouts/slideLayout2.xml"/><Relationship Id="rId9"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548640" y="502920"/>
            <a:ext cx="4398264" cy="292608"/>
          </a:xfrm>
          <a:prstGeom prst="roundRect">
            <a:avLst>
              <a:gd name="adj" fmla="val 50000"/>
            </a:avLst>
          </a:prstGeom>
          <a:solidFill>
            <a:srgbClr val="262626"/>
          </a:solidFill>
          <a:ln/>
        </p:spPr>
      </p:sp>
      <p:sp>
        <p:nvSpPr>
          <p:cNvPr id="3" name="Text 1"/>
          <p:cNvSpPr txBox="1"/>
          <p:nvPr/>
        </p:nvSpPr>
        <p:spPr>
          <a:xfrm>
            <a:off x="548640" y="502920"/>
            <a:ext cx="4398264" cy="292608"/>
          </a:xfrm>
          <a:prstGeom prst="rect">
            <a:avLst/>
          </a:prstGeom>
          <a:noFill/>
          <a:ln/>
        </p:spPr>
        <p:txBody>
          <a:bodyPr wrap="square" lIns="0" tIns="0" rIns="0" bIns="0" rtlCol="0" anchor="ctr"/>
          <a:lstStyle/>
          <a:p>
            <a:pPr algn="ctr" indent="0" marL="0">
              <a:buNone/>
            </a:pPr>
            <a:r>
              <a:rPr lang="en-US" sz="950" spc="150" kern="0" dirty="0">
                <a:solidFill>
                  <a:srgbClr val="D4D4D4"/>
                </a:solidFill>
                <a:latin typeface="Segoe UI Semibold" pitchFamily="34" charset="0"/>
                <a:ea typeface="Segoe UI Semibold" pitchFamily="34" charset="-122"/>
                <a:cs typeface="Segoe UI Semibold" pitchFamily="34" charset="-120"/>
              </a:rPr>
              <a:t>PROYEK MAGANG KELOMPOK · FULL STACK DEVELOPER</a:t>
            </a:r>
            <a:endParaRPr lang="en-US" sz="950" dirty="0"/>
          </a:p>
        </p:txBody>
      </p:sp>
      <p:sp>
        <p:nvSpPr>
          <p:cNvPr id="4" name="Text 2"/>
          <p:cNvSpPr txBox="1"/>
          <p:nvPr/>
        </p:nvSpPr>
        <p:spPr>
          <a:xfrm>
            <a:off x="548640" y="1600200"/>
            <a:ext cx="5669280" cy="1234440"/>
          </a:xfrm>
          <a:prstGeom prst="rect">
            <a:avLst/>
          </a:prstGeom>
          <a:noFill/>
          <a:ln/>
        </p:spPr>
        <p:txBody>
          <a:bodyPr wrap="square" lIns="0" tIns="0" rIns="0" bIns="0" rtlCol="0" anchor="ctr"/>
          <a:lstStyle/>
          <a:p>
            <a:pPr indent="0" marL="0">
              <a:buNone/>
            </a:pPr>
            <a:r>
              <a:rPr lang="en-US" sz="6600" dirty="0">
                <a:solidFill>
                  <a:srgbClr val="FFFFFF"/>
                </a:solidFill>
                <a:latin typeface="Segoe UI Semibold" pitchFamily="34" charset="0"/>
                <a:ea typeface="Segoe UI Semibold" pitchFamily="34" charset="-122"/>
                <a:cs typeface="Segoe UI Semibold" pitchFamily="34" charset="-120"/>
              </a:rPr>
              <a:t>TokoKita</a:t>
            </a:r>
            <a:pPr indent="0" marL="0">
              <a:buNone/>
            </a:pPr>
            <a:r>
              <a:rPr lang="en-US" sz="6600" dirty="0">
                <a:solidFill>
                  <a:srgbClr val="DC2626"/>
                </a:solidFill>
                <a:latin typeface="Segoe UI Semibold" pitchFamily="34" charset="0"/>
                <a:ea typeface="Segoe UI Semibold" pitchFamily="34" charset="-122"/>
                <a:cs typeface="Segoe UI Semibold" pitchFamily="34" charset="-120"/>
              </a:rPr>
              <a:t>.</a:t>
            </a:r>
            <a:endParaRPr lang="en-US" sz="6600" dirty="0"/>
          </a:p>
        </p:txBody>
      </p:sp>
      <p:sp>
        <p:nvSpPr>
          <p:cNvPr id="5" name="Text 3"/>
          <p:cNvSpPr txBox="1"/>
          <p:nvPr/>
        </p:nvSpPr>
        <p:spPr>
          <a:xfrm>
            <a:off x="548640" y="2926080"/>
            <a:ext cx="5120640" cy="1005840"/>
          </a:xfrm>
          <a:prstGeom prst="rect">
            <a:avLst/>
          </a:prstGeom>
          <a:noFill/>
          <a:ln/>
        </p:spPr>
        <p:txBody>
          <a:bodyPr wrap="square" lIns="0" tIns="0" rIns="0" bIns="0" rtlCol="0" anchor="t"/>
          <a:lstStyle/>
          <a:p>
            <a:pPr indent="0" marL="0">
              <a:buNone/>
            </a:pPr>
            <a:r>
              <a:rPr lang="en-US" sz="2200" dirty="0">
                <a:solidFill>
                  <a:srgbClr val="A3A3A3"/>
                </a:solidFill>
                <a:latin typeface="Segoe UI" pitchFamily="34" charset="0"/>
                <a:ea typeface="Segoe UI" pitchFamily="34" charset="-122"/>
                <a:cs typeface="Segoe UI" pitchFamily="34" charset="-120"/>
              </a:rPr>
              <a:t>Toko online mandiri untuk UMKM: dari rencana sampai berjalan online.</a:t>
            </a:r>
            <a:endParaRPr lang="en-US" sz="2200" dirty="0"/>
          </a:p>
        </p:txBody>
      </p:sp>
      <p:sp>
        <p:nvSpPr>
          <p:cNvPr id="6" name="Text 4"/>
          <p:cNvSpPr txBox="1"/>
          <p:nvPr/>
        </p:nvSpPr>
        <p:spPr>
          <a:xfrm>
            <a:off x="548640" y="5074920"/>
            <a:ext cx="5303520" cy="731520"/>
          </a:xfrm>
          <a:prstGeom prst="rect">
            <a:avLst/>
          </a:prstGeom>
          <a:noFill/>
          <a:ln/>
        </p:spPr>
        <p:txBody>
          <a:bodyPr wrap="square" lIns="0" tIns="0" rIns="0" bIns="0" rtlCol="0" anchor="t"/>
          <a:lstStyle/>
          <a:p>
            <a:pPr indent="0" marL="0">
              <a:spcAft>
                <a:spcPts val="600"/>
              </a:spcAft>
              <a:buNone/>
            </a:pPr>
            <a:r>
              <a:rPr lang="en-US" sz="1300" dirty="0">
                <a:solidFill>
                  <a:srgbClr val="A3A3A3"/>
                </a:solidFill>
                <a:latin typeface="Segoe UI" pitchFamily="34" charset="0"/>
                <a:ea typeface="Segoe UI" pitchFamily="34" charset="-122"/>
                <a:cs typeface="Segoe UI" pitchFamily="34" charset="-120"/>
              </a:rPr>
              <a:t>5 anggota · ± 1 minggu · Next.js · Prisma · MySQL</a:t>
            </a:r>
            <a:endParaRPr lang="en-US" sz="1300" dirty="0"/>
          </a:p>
          <a:p>
            <a:pPr indent="0" marL="0">
              <a:spcAft>
                <a:spcPts val="600"/>
              </a:spcAft>
              <a:buNone/>
            </a:pPr>
            <a:r>
              <a:rPr lang="en-US" sz="1300" dirty="0">
                <a:solidFill>
                  <a:srgbClr val="FFFFFF"/>
                </a:solidFill>
                <a:latin typeface="Segoe UI" pitchFamily="34" charset="0"/>
                <a:ea typeface="Segoe UI" pitchFamily="34" charset="-122"/>
                <a:cs typeface="Segoe UI" pitchFamily="34" charset="-120"/>
              </a:rPr>
              <a:t>ecommerce-peach-seven-47.vercel.app</a:t>
            </a:r>
            <a:endParaRPr lang="en-US" sz="1300" dirty="0"/>
          </a:p>
        </p:txBody>
      </p:sp>
      <p:pic>
        <p:nvPicPr>
          <p:cNvPr id="7" name="Image 0" descr="C:\laragon\www\e-commerce\scripts\ppt\aset\beranda.png">    </p:cNvPr>
          <p:cNvPicPr>
            <a:picLocks noChangeAspect="1"/>
          </p:cNvPicPr>
          <p:nvPr/>
        </p:nvPicPr>
        <p:blipFill>
          <a:blip r:embed="rId1"/>
          <a:stretch>
            <a:fillRect/>
          </a:stretch>
        </p:blipFill>
        <p:spPr>
          <a:xfrm>
            <a:off x="6355080" y="868680"/>
            <a:ext cx="5303520" cy="2984703"/>
          </a:xfrm>
          <a:prstGeom prst="rect">
            <a:avLst/>
          </a:prstGeom>
        </p:spPr>
      </p:pic>
      <p:pic>
        <p:nvPicPr>
          <p:cNvPr id="8" name="Image 1" descr="C:\laragon\www\e-commerce\scripts\ppt\aset\hp-gelap.png">    </p:cNvPr>
          <p:cNvPicPr>
            <a:picLocks noChangeAspect="1"/>
          </p:cNvPicPr>
          <p:nvPr/>
        </p:nvPicPr>
        <p:blipFill>
          <a:blip r:embed="rId2"/>
          <a:stretch>
            <a:fillRect/>
          </a:stretch>
        </p:blipFill>
        <p:spPr>
          <a:xfrm>
            <a:off x="5715000" y="2971800"/>
            <a:ext cx="1584491" cy="3429000"/>
          </a:xfrm>
          <a:prstGeom prst="rect">
            <a:avLst/>
          </a:prstGeom>
        </p:spPr>
      </p:pic>
      <p:sp>
        <p:nvSpPr>
          <p:cNvPr id="10" name="Text 0"/>
          <p:cNvSpPr/>
          <p:nvPr>
            <p:ph idx="100" type="title" hasCustomPrompt="1"/>
          </p:nvPr>
        </p:nvSpPr>
        <p:spPr>
          <a:xfrm>
            <a:off x="548640" y="868680"/>
            <a:ext cx="11064240" cy="777240"/>
          </a:xfrm>
          <a:prstGeom prst="rect">
            <a:avLst/>
          </a:prstGeom>
          <a:noFill/>
          <a:ln/>
        </p:spPr>
        <p:txBody>
          <a:bodyPr wrap="square" lIns="0" tIns="0" rIns="0" bIns="0" rtlCol="0" anchor="t"/>
          <a:lstStyle/>
          <a:p>
            <a:pPr algn="l" indent="0" marL="0">
              <a:buNone/>
            </a:pPr>
            <a:endParaRPr lang="en-US" sz="3000" dirty="0"/>
          </a:p>
        </p:txBody>
      </p:sp>
      <p:sp>
        <p:nvSpPr>
          <p:cNvPr id="25" name="Slide Number Placeholder 0"/>
          <p:cNvSpPr>
            <a:spLocks noGrp="1"/>
          </p:cNvSpPr>
          <p:nvPr>
            <p:ph type="sldNum" sz="quarter" idx="4294967295"/>
          </p:nvPr>
        </p:nvSpPr>
        <p:spPr>
          <a:xfrm>
            <a:off x="11183112"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3A3A3"/>
                </a:solidFill>
                <a:latin typeface="Segoe UI"/>
                <a:ea typeface="Segoe UI"/>
                <a:cs typeface="Segoe U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548640" y="411480"/>
            <a:ext cx="1351483" cy="292608"/>
          </a:xfrm>
          <a:prstGeom prst="roundRect">
            <a:avLst>
              <a:gd name="adj" fmla="val 50000"/>
            </a:avLst>
          </a:prstGeom>
          <a:solidFill>
            <a:srgbClr val="F3F3F3"/>
          </a:solidFill>
          <a:ln/>
        </p:spPr>
      </p:sp>
      <p:sp>
        <p:nvSpPr>
          <p:cNvPr id="3" name="Text 1"/>
          <p:cNvSpPr txBox="1"/>
          <p:nvPr/>
        </p:nvSpPr>
        <p:spPr>
          <a:xfrm>
            <a:off x="548640" y="411480"/>
            <a:ext cx="1351483" cy="292608"/>
          </a:xfrm>
          <a:prstGeom prst="rect">
            <a:avLst/>
          </a:prstGeom>
          <a:noFill/>
          <a:ln/>
        </p:spPr>
        <p:txBody>
          <a:bodyPr wrap="square" lIns="0" tIns="0" rIns="0" bIns="0" rtlCol="0" anchor="ctr"/>
          <a:lstStyle/>
          <a:p>
            <a:pPr algn="ctr" indent="0" marL="0">
              <a:buNone/>
            </a:pPr>
            <a:r>
              <a:rPr lang="en-US" sz="950" spc="150" kern="0" dirty="0">
                <a:solidFill>
                  <a:srgbClr val="5C5C5C"/>
                </a:solidFill>
                <a:latin typeface="Segoe UI Semibold" pitchFamily="34" charset="0"/>
                <a:ea typeface="Segoe UI Semibold" pitchFamily="34" charset="-122"/>
                <a:cs typeface="Segoe UI Semibold" pitchFamily="34" charset="-120"/>
              </a:rPr>
              <a:t>ANGGOTA TIM</a:t>
            </a:r>
            <a:endParaRPr lang="en-US" sz="950" dirty="0"/>
          </a:p>
        </p:txBody>
      </p:sp>
      <p:sp>
        <p:nvSpPr>
          <p:cNvPr id="4" name="Text 1"/>
          <p:cNvSpPr/>
          <p:nvPr>
            <p:ph idx="101" type="title" hasCustomPrompt="1"/>
          </p:nvPr>
        </p:nvSpPr>
        <p:spPr>
          <a:xfrm>
            <a:off x="548640" y="868680"/>
            <a:ext cx="11064240" cy="777240"/>
          </a:xfrm>
          <a:prstGeom prst="rect">
            <a:avLst/>
          </a:prstGeom>
          <a:noFill/>
          <a:ln/>
        </p:spPr>
        <p:txBody>
          <a:bodyPr wrap="square" lIns="0" tIns="0" rIns="0" bIns="0" rtlCol="0" anchor="t"/>
          <a:lstStyle/>
          <a:p>
            <a:pPr algn="l" indent="0" marL="0">
              <a:buNone/>
            </a:pPr>
            <a:r>
              <a:rPr lang="en-US" sz="3000" dirty="0">
                <a:solidFill>
                  <a:srgbClr val="0A0A0A"/>
                </a:solidFill>
                <a:latin typeface="Segoe UI Semibold" pitchFamily="34" charset="0"/>
                <a:ea typeface="Segoe UI Semibold" pitchFamily="34" charset="-122"/>
                <a:cs typeface="Segoe UI Semibold" pitchFamily="34" charset="-120"/>
              </a:rPr>
              <a:t>Tim di balik TokoKita</a:t>
            </a:r>
            <a:endParaRPr lang="en-US" sz="3000" dirty="0"/>
          </a:p>
        </p:txBody>
      </p:sp>
      <p:sp>
        <p:nvSpPr>
          <p:cNvPr id="5" name="Shape 3"/>
          <p:cNvSpPr/>
          <p:nvPr/>
        </p:nvSpPr>
        <p:spPr>
          <a:xfrm>
            <a:off x="548640" y="1874520"/>
            <a:ext cx="2103120" cy="4114800"/>
          </a:xfrm>
          <a:prstGeom prst="roundRect">
            <a:avLst>
              <a:gd name="adj" fmla="val 9565"/>
            </a:avLst>
          </a:prstGeom>
          <a:solidFill>
            <a:srgbClr val="0A0A0A"/>
          </a:solidFill>
          <a:ln/>
        </p:spPr>
      </p:sp>
      <p:pic>
        <p:nvPicPr>
          <p:cNvPr id="6" name="Image 0" descr="Foto profil Azrian Dalimunthe">    </p:cNvPr>
          <p:cNvPicPr>
            <a:picLocks noChangeAspect="1"/>
          </p:cNvPicPr>
          <p:nvPr/>
        </p:nvPicPr>
        <p:blipFill>
          <a:blip r:embed="rId1"/>
          <a:stretch>
            <a:fillRect/>
          </a:stretch>
        </p:blipFill>
        <p:spPr>
          <a:xfrm>
            <a:off x="1005840" y="2514600"/>
            <a:ext cx="1188720" cy="1188720"/>
          </a:xfrm>
          <a:prstGeom prst="rect">
            <a:avLst/>
          </a:prstGeom>
        </p:spPr>
      </p:pic>
      <p:sp>
        <p:nvSpPr>
          <p:cNvPr id="7" name="Shape 4"/>
          <p:cNvSpPr/>
          <p:nvPr/>
        </p:nvSpPr>
        <p:spPr>
          <a:xfrm>
            <a:off x="1005840" y="2514600"/>
            <a:ext cx="1188720" cy="1188720"/>
          </a:xfrm>
          <a:prstGeom prst="ellipse">
            <a:avLst/>
          </a:prstGeom>
          <a:solidFill>
            <a:srgbClr val="FFFFFF">
              <a:alpha val="0"/>
            </a:srgbClr>
          </a:solidFill>
          <a:ln w="19050">
            <a:solidFill>
              <a:srgbClr val="262626"/>
            </a:solidFill>
            <a:prstDash val="solid"/>
          </a:ln>
        </p:spPr>
      </p:sp>
      <p:sp>
        <p:nvSpPr>
          <p:cNvPr id="8" name="Text 5"/>
          <p:cNvSpPr txBox="1"/>
          <p:nvPr/>
        </p:nvSpPr>
        <p:spPr>
          <a:xfrm>
            <a:off x="640080" y="3977640"/>
            <a:ext cx="1920240" cy="914400"/>
          </a:xfrm>
          <a:prstGeom prst="rect">
            <a:avLst/>
          </a:prstGeom>
          <a:noFill/>
          <a:ln/>
        </p:spPr>
        <p:txBody>
          <a:bodyPr wrap="square" lIns="0" tIns="0" rIns="0" bIns="0" rtlCol="0" anchor="t"/>
          <a:lstStyle/>
          <a:p>
            <a:pPr algn="ctr" indent="0" marL="0">
              <a:spcAft>
                <a:spcPts val="400"/>
              </a:spcAft>
              <a:buNone/>
            </a:pPr>
            <a:r>
              <a:rPr lang="en-US" sz="1600" dirty="0">
                <a:solidFill>
                  <a:srgbClr val="FFFFFF"/>
                </a:solidFill>
                <a:latin typeface="Segoe UI Semibold" pitchFamily="34" charset="0"/>
                <a:ea typeface="Segoe UI Semibold" pitchFamily="34" charset="-122"/>
                <a:cs typeface="Segoe UI Semibold" pitchFamily="34" charset="-120"/>
              </a:rPr>
              <a:t>Azrian Dalimunthe</a:t>
            </a:r>
            <a:endParaRPr lang="en-US" sz="1300" dirty="0"/>
          </a:p>
          <a:p>
            <a:pPr algn="ctr" indent="0" marL="0">
              <a:spcAft>
                <a:spcPts val="400"/>
              </a:spcAft>
              <a:buNone/>
            </a:pPr>
            <a:r>
              <a:rPr lang="en-US" sz="1000" u="sng" dirty="0">
                <a:solidFill>
                  <a:srgbClr val="A3A3A3"/>
                </a:solidFill>
                <a:latin typeface="Segoe UI" pitchFamily="34" charset="0"/>
                <a:ea typeface="Segoe UI" pitchFamily="34" charset="-122"/>
                <a:cs typeface="Segoe UI" pitchFamily="34" charset="-120"/>
                <a:hlinkClick r:id="rId2" invalidUrl="" action="" tgtFrame="" tooltip="Profil GitHub Azrian Dalimunthe" history="1" highlightClick="0" endSnd="0">
                  <a:extLst>
                    <a:ext uri="{A12FA001-AC4F-418D-AE19-62706E023703}">
                      <ahyp:hlinkClr xmlns:ahyp="http://schemas.microsoft.com/office/drawing/2018/hyperlinkcolor" val="tx"/>
                    </a:ext>
                  </a:extLst>
                </a:hlinkClick>
              </a:rPr>
              <a:t>github.com/azridalimunthe7</a:t>
            </a:r>
            <a:endParaRPr lang="en-US" sz="1300" dirty="0"/>
          </a:p>
        </p:txBody>
      </p:sp>
      <p:sp>
        <p:nvSpPr>
          <p:cNvPr id="9" name="Shape 6"/>
          <p:cNvSpPr/>
          <p:nvPr/>
        </p:nvSpPr>
        <p:spPr>
          <a:xfrm>
            <a:off x="1014984" y="4663440"/>
            <a:ext cx="1172261" cy="292608"/>
          </a:xfrm>
          <a:prstGeom prst="roundRect">
            <a:avLst>
              <a:gd name="adj" fmla="val 50000"/>
            </a:avLst>
          </a:prstGeom>
          <a:solidFill>
            <a:srgbClr val="262626"/>
          </a:solidFill>
          <a:ln/>
        </p:spPr>
      </p:sp>
      <p:sp>
        <p:nvSpPr>
          <p:cNvPr id="10" name="Text 7"/>
          <p:cNvSpPr txBox="1"/>
          <p:nvPr/>
        </p:nvSpPr>
        <p:spPr>
          <a:xfrm>
            <a:off x="1014984" y="4663440"/>
            <a:ext cx="1172261" cy="292608"/>
          </a:xfrm>
          <a:prstGeom prst="rect">
            <a:avLst/>
          </a:prstGeom>
          <a:noFill/>
          <a:ln/>
        </p:spPr>
        <p:txBody>
          <a:bodyPr wrap="square" lIns="0" tIns="0" rIns="0" bIns="0" rtlCol="0" anchor="ctr"/>
          <a:lstStyle/>
          <a:p>
            <a:pPr algn="ctr" indent="0" marL="0">
              <a:buNone/>
            </a:pPr>
            <a:r>
              <a:rPr lang="en-US" sz="950" spc="150" kern="0" dirty="0">
                <a:solidFill>
                  <a:srgbClr val="D4D4D4"/>
                </a:solidFill>
                <a:latin typeface="Segoe UI Semibold" pitchFamily="34" charset="0"/>
                <a:ea typeface="Segoe UI Semibold" pitchFamily="34" charset="-122"/>
                <a:cs typeface="Segoe UI Semibold" pitchFamily="34" charset="-120"/>
              </a:rPr>
              <a:t>KETUA TIM</a:t>
            </a:r>
            <a:endParaRPr lang="en-US" sz="950" dirty="0"/>
          </a:p>
        </p:txBody>
      </p:sp>
      <p:sp>
        <p:nvSpPr>
          <p:cNvPr id="11" name="Shape 8"/>
          <p:cNvSpPr/>
          <p:nvPr/>
        </p:nvSpPr>
        <p:spPr>
          <a:xfrm>
            <a:off x="2816352" y="1874520"/>
            <a:ext cx="2103120" cy="4114800"/>
          </a:xfrm>
          <a:prstGeom prst="roundRect">
            <a:avLst>
              <a:gd name="adj" fmla="val 9565"/>
            </a:avLst>
          </a:prstGeom>
          <a:solidFill>
            <a:srgbClr val="F3F3F3"/>
          </a:solidFill>
          <a:ln/>
        </p:spPr>
      </p:sp>
      <p:pic>
        <p:nvPicPr>
          <p:cNvPr id="12" name="Image 1" descr="Foto profil Doni Anggara">    </p:cNvPr>
          <p:cNvPicPr>
            <a:picLocks noChangeAspect="1"/>
          </p:cNvPicPr>
          <p:nvPr/>
        </p:nvPicPr>
        <p:blipFill>
          <a:blip r:embed="rId3"/>
          <a:stretch>
            <a:fillRect/>
          </a:stretch>
        </p:blipFill>
        <p:spPr>
          <a:xfrm>
            <a:off x="3273552" y="2514600"/>
            <a:ext cx="1188720" cy="1188720"/>
          </a:xfrm>
          <a:prstGeom prst="rect">
            <a:avLst/>
          </a:prstGeom>
        </p:spPr>
      </p:pic>
      <p:sp>
        <p:nvSpPr>
          <p:cNvPr id="13" name="Shape 9"/>
          <p:cNvSpPr/>
          <p:nvPr/>
        </p:nvSpPr>
        <p:spPr>
          <a:xfrm>
            <a:off x="3273552" y="2514600"/>
            <a:ext cx="1188720" cy="1188720"/>
          </a:xfrm>
          <a:prstGeom prst="ellipse">
            <a:avLst/>
          </a:prstGeom>
          <a:solidFill>
            <a:srgbClr val="FFFFFF">
              <a:alpha val="0"/>
            </a:srgbClr>
          </a:solidFill>
          <a:ln w="19050">
            <a:solidFill>
              <a:srgbClr val="D4D4D4"/>
            </a:solidFill>
            <a:prstDash val="solid"/>
          </a:ln>
        </p:spPr>
      </p:sp>
      <p:sp>
        <p:nvSpPr>
          <p:cNvPr id="14" name="Text 10"/>
          <p:cNvSpPr txBox="1"/>
          <p:nvPr/>
        </p:nvSpPr>
        <p:spPr>
          <a:xfrm>
            <a:off x="2907792" y="3977640"/>
            <a:ext cx="1920240" cy="914400"/>
          </a:xfrm>
          <a:prstGeom prst="rect">
            <a:avLst/>
          </a:prstGeom>
          <a:noFill/>
          <a:ln/>
        </p:spPr>
        <p:txBody>
          <a:bodyPr wrap="square" lIns="0" tIns="0" rIns="0" bIns="0" rtlCol="0" anchor="t"/>
          <a:lstStyle/>
          <a:p>
            <a:pPr algn="ctr" indent="0" marL="0">
              <a:spcAft>
                <a:spcPts val="400"/>
              </a:spcAft>
              <a:buNone/>
            </a:pPr>
            <a:r>
              <a:rPr lang="en-US" sz="1600" dirty="0">
                <a:solidFill>
                  <a:srgbClr val="0A0A0A"/>
                </a:solidFill>
                <a:latin typeface="Segoe UI Semibold" pitchFamily="34" charset="0"/>
                <a:ea typeface="Segoe UI Semibold" pitchFamily="34" charset="-122"/>
                <a:cs typeface="Segoe UI Semibold" pitchFamily="34" charset="-120"/>
              </a:rPr>
              <a:t>Doni Anggara</a:t>
            </a:r>
            <a:endParaRPr lang="en-US" sz="1300" dirty="0"/>
          </a:p>
          <a:p>
            <a:pPr algn="ctr" indent="0" marL="0">
              <a:spcAft>
                <a:spcPts val="400"/>
              </a:spcAft>
              <a:buNone/>
            </a:pPr>
            <a:r>
              <a:rPr lang="en-US" sz="1000" u="sng" dirty="0">
                <a:solidFill>
                  <a:srgbClr val="5C5C5C"/>
                </a:solidFill>
                <a:latin typeface="Segoe UI" pitchFamily="34" charset="0"/>
                <a:ea typeface="Segoe UI" pitchFamily="34" charset="-122"/>
                <a:cs typeface="Segoe UI" pitchFamily="34" charset="-120"/>
                <a:hlinkClick r:id="rId4" invalidUrl="" action="" tgtFrame="" tooltip="Profil GitHub Doni Anggara" history="1" highlightClick="0" endSnd="0">
                  <a:extLst>
                    <a:ext uri="{A12FA001-AC4F-418D-AE19-62706E023703}">
                      <ahyp:hlinkClr xmlns:ahyp="http://schemas.microsoft.com/office/drawing/2018/hyperlinkcolor" val="tx"/>
                    </a:ext>
                  </a:extLst>
                </a:hlinkClick>
              </a:rPr>
              <a:t>github.com/astroceilo</a:t>
            </a:r>
            <a:endParaRPr lang="en-US" sz="1300" dirty="0"/>
          </a:p>
        </p:txBody>
      </p:sp>
      <p:sp>
        <p:nvSpPr>
          <p:cNvPr id="15" name="Shape 11"/>
          <p:cNvSpPr/>
          <p:nvPr/>
        </p:nvSpPr>
        <p:spPr>
          <a:xfrm>
            <a:off x="5084064" y="1874520"/>
            <a:ext cx="2103120" cy="4114800"/>
          </a:xfrm>
          <a:prstGeom prst="roundRect">
            <a:avLst>
              <a:gd name="adj" fmla="val 9565"/>
            </a:avLst>
          </a:prstGeom>
          <a:solidFill>
            <a:srgbClr val="F3F3F3"/>
          </a:solidFill>
          <a:ln/>
        </p:spPr>
      </p:sp>
      <p:pic>
        <p:nvPicPr>
          <p:cNvPr id="16" name="Image 2" descr="Foto profil Kevin Ilham">    </p:cNvPr>
          <p:cNvPicPr>
            <a:picLocks noChangeAspect="1"/>
          </p:cNvPicPr>
          <p:nvPr/>
        </p:nvPicPr>
        <p:blipFill>
          <a:blip r:embed="rId5"/>
          <a:stretch>
            <a:fillRect/>
          </a:stretch>
        </p:blipFill>
        <p:spPr>
          <a:xfrm>
            <a:off x="5541264" y="2514600"/>
            <a:ext cx="1188720" cy="1188720"/>
          </a:xfrm>
          <a:prstGeom prst="rect">
            <a:avLst/>
          </a:prstGeom>
        </p:spPr>
      </p:pic>
      <p:sp>
        <p:nvSpPr>
          <p:cNvPr id="17" name="Shape 12"/>
          <p:cNvSpPr/>
          <p:nvPr/>
        </p:nvSpPr>
        <p:spPr>
          <a:xfrm>
            <a:off x="5541264" y="2514600"/>
            <a:ext cx="1188720" cy="1188720"/>
          </a:xfrm>
          <a:prstGeom prst="ellipse">
            <a:avLst/>
          </a:prstGeom>
          <a:solidFill>
            <a:srgbClr val="FFFFFF">
              <a:alpha val="0"/>
            </a:srgbClr>
          </a:solidFill>
          <a:ln w="19050">
            <a:solidFill>
              <a:srgbClr val="D4D4D4"/>
            </a:solidFill>
            <a:prstDash val="solid"/>
          </a:ln>
        </p:spPr>
      </p:sp>
      <p:sp>
        <p:nvSpPr>
          <p:cNvPr id="18" name="Text 13"/>
          <p:cNvSpPr txBox="1"/>
          <p:nvPr/>
        </p:nvSpPr>
        <p:spPr>
          <a:xfrm>
            <a:off x="5175504" y="3977640"/>
            <a:ext cx="1920240" cy="914400"/>
          </a:xfrm>
          <a:prstGeom prst="rect">
            <a:avLst/>
          </a:prstGeom>
          <a:noFill/>
          <a:ln/>
        </p:spPr>
        <p:txBody>
          <a:bodyPr wrap="square" lIns="0" tIns="0" rIns="0" bIns="0" rtlCol="0" anchor="t"/>
          <a:lstStyle/>
          <a:p>
            <a:pPr algn="ctr" indent="0" marL="0">
              <a:spcAft>
                <a:spcPts val="400"/>
              </a:spcAft>
              <a:buNone/>
            </a:pPr>
            <a:r>
              <a:rPr lang="en-US" sz="1600" dirty="0">
                <a:solidFill>
                  <a:srgbClr val="0A0A0A"/>
                </a:solidFill>
                <a:latin typeface="Segoe UI Semibold" pitchFamily="34" charset="0"/>
                <a:ea typeface="Segoe UI Semibold" pitchFamily="34" charset="-122"/>
                <a:cs typeface="Segoe UI Semibold" pitchFamily="34" charset="-120"/>
              </a:rPr>
              <a:t>Kevin Ilham</a:t>
            </a:r>
            <a:endParaRPr lang="en-US" sz="1300" dirty="0"/>
          </a:p>
          <a:p>
            <a:pPr algn="ctr" indent="0" marL="0">
              <a:spcAft>
                <a:spcPts val="400"/>
              </a:spcAft>
              <a:buNone/>
            </a:pPr>
            <a:r>
              <a:rPr lang="en-US" sz="1000" u="sng" dirty="0">
                <a:solidFill>
                  <a:srgbClr val="5C5C5C"/>
                </a:solidFill>
                <a:latin typeface="Segoe UI" pitchFamily="34" charset="0"/>
                <a:ea typeface="Segoe UI" pitchFamily="34" charset="-122"/>
                <a:cs typeface="Segoe UI" pitchFamily="34" charset="-120"/>
                <a:hlinkClick r:id="rId6" invalidUrl="" action="" tgtFrame="" tooltip="Profil GitHub Kevin Ilham" history="1" highlightClick="0" endSnd="0">
                  <a:extLst>
                    <a:ext uri="{A12FA001-AC4F-418D-AE19-62706E023703}">
                      <ahyp:hlinkClr xmlns:ahyp="http://schemas.microsoft.com/office/drawing/2018/hyperlinkcolor" val="tx"/>
                    </a:ext>
                  </a:extLst>
                </a:hlinkClick>
              </a:rPr>
              <a:t>github.com/kvnlhm</a:t>
            </a:r>
            <a:endParaRPr lang="en-US" sz="1300" dirty="0"/>
          </a:p>
        </p:txBody>
      </p:sp>
      <p:sp>
        <p:nvSpPr>
          <p:cNvPr id="19" name="Shape 14"/>
          <p:cNvSpPr/>
          <p:nvPr/>
        </p:nvSpPr>
        <p:spPr>
          <a:xfrm>
            <a:off x="7351776" y="1874520"/>
            <a:ext cx="2103120" cy="4114800"/>
          </a:xfrm>
          <a:prstGeom prst="roundRect">
            <a:avLst>
              <a:gd name="adj" fmla="val 9565"/>
            </a:avLst>
          </a:prstGeom>
          <a:solidFill>
            <a:srgbClr val="F3F3F3"/>
          </a:solidFill>
          <a:ln/>
        </p:spPr>
      </p:sp>
      <p:pic>
        <p:nvPicPr>
          <p:cNvPr id="20" name="Image 3" descr="Foto profil Rizki Kusnadi">    </p:cNvPr>
          <p:cNvPicPr>
            <a:picLocks noChangeAspect="1"/>
          </p:cNvPicPr>
          <p:nvPr/>
        </p:nvPicPr>
        <p:blipFill>
          <a:blip r:embed="rId7"/>
          <a:stretch>
            <a:fillRect/>
          </a:stretch>
        </p:blipFill>
        <p:spPr>
          <a:xfrm>
            <a:off x="7808976" y="2514600"/>
            <a:ext cx="1188720" cy="1188720"/>
          </a:xfrm>
          <a:prstGeom prst="rect">
            <a:avLst/>
          </a:prstGeom>
        </p:spPr>
      </p:pic>
      <p:sp>
        <p:nvSpPr>
          <p:cNvPr id="21" name="Shape 15"/>
          <p:cNvSpPr/>
          <p:nvPr/>
        </p:nvSpPr>
        <p:spPr>
          <a:xfrm>
            <a:off x="7808976" y="2514600"/>
            <a:ext cx="1188720" cy="1188720"/>
          </a:xfrm>
          <a:prstGeom prst="ellipse">
            <a:avLst/>
          </a:prstGeom>
          <a:solidFill>
            <a:srgbClr val="FFFFFF">
              <a:alpha val="0"/>
            </a:srgbClr>
          </a:solidFill>
          <a:ln w="19050">
            <a:solidFill>
              <a:srgbClr val="D4D4D4"/>
            </a:solidFill>
            <a:prstDash val="solid"/>
          </a:ln>
        </p:spPr>
      </p:sp>
      <p:sp>
        <p:nvSpPr>
          <p:cNvPr id="22" name="Text 16"/>
          <p:cNvSpPr txBox="1"/>
          <p:nvPr/>
        </p:nvSpPr>
        <p:spPr>
          <a:xfrm>
            <a:off x="7443216" y="3977640"/>
            <a:ext cx="1920240" cy="914400"/>
          </a:xfrm>
          <a:prstGeom prst="rect">
            <a:avLst/>
          </a:prstGeom>
          <a:noFill/>
          <a:ln/>
        </p:spPr>
        <p:txBody>
          <a:bodyPr wrap="square" lIns="0" tIns="0" rIns="0" bIns="0" rtlCol="0" anchor="t"/>
          <a:lstStyle/>
          <a:p>
            <a:pPr algn="ctr" indent="0" marL="0">
              <a:spcAft>
                <a:spcPts val="400"/>
              </a:spcAft>
              <a:buNone/>
            </a:pPr>
            <a:r>
              <a:rPr lang="en-US" sz="1600" dirty="0">
                <a:solidFill>
                  <a:srgbClr val="0A0A0A"/>
                </a:solidFill>
                <a:latin typeface="Segoe UI Semibold" pitchFamily="34" charset="0"/>
                <a:ea typeface="Segoe UI Semibold" pitchFamily="34" charset="-122"/>
                <a:cs typeface="Segoe UI Semibold" pitchFamily="34" charset="-120"/>
              </a:rPr>
              <a:t>Rizki Kusnadi</a:t>
            </a:r>
            <a:endParaRPr lang="en-US" sz="1300" dirty="0"/>
          </a:p>
          <a:p>
            <a:pPr algn="ctr" indent="0" marL="0">
              <a:spcAft>
                <a:spcPts val="400"/>
              </a:spcAft>
              <a:buNone/>
            </a:pPr>
            <a:r>
              <a:rPr lang="en-US" sz="1000" u="sng" dirty="0">
                <a:solidFill>
                  <a:srgbClr val="5C5C5C"/>
                </a:solidFill>
                <a:latin typeface="Segoe UI" pitchFamily="34" charset="0"/>
                <a:ea typeface="Segoe UI" pitchFamily="34" charset="-122"/>
                <a:cs typeface="Segoe UI" pitchFamily="34" charset="-120"/>
                <a:hlinkClick r:id="rId8" invalidUrl="" action="" tgtFrame="" tooltip="Profil GitHub Rizki Kusnadi" history="1" highlightClick="0" endSnd="0">
                  <a:extLst>
                    <a:ext uri="{A12FA001-AC4F-418D-AE19-62706E023703}">
                      <ahyp:hlinkClr xmlns:ahyp="http://schemas.microsoft.com/office/drawing/2018/hyperlinkcolor" val="tx"/>
                    </a:ext>
                  </a:extLst>
                </a:hlinkClick>
              </a:rPr>
              <a:t>github.com/rizkikusnadi03</a:t>
            </a:r>
            <a:endParaRPr lang="en-US" sz="1300" dirty="0"/>
          </a:p>
        </p:txBody>
      </p:sp>
      <p:sp>
        <p:nvSpPr>
          <p:cNvPr id="23" name="Shape 17"/>
          <p:cNvSpPr/>
          <p:nvPr/>
        </p:nvSpPr>
        <p:spPr>
          <a:xfrm>
            <a:off x="9619488" y="1874520"/>
            <a:ext cx="2103120" cy="4114800"/>
          </a:xfrm>
          <a:prstGeom prst="roundRect">
            <a:avLst>
              <a:gd name="adj" fmla="val 9565"/>
            </a:avLst>
          </a:prstGeom>
          <a:solidFill>
            <a:srgbClr val="F3F3F3"/>
          </a:solidFill>
          <a:ln/>
        </p:spPr>
      </p:sp>
      <p:pic>
        <p:nvPicPr>
          <p:cNvPr id="24" name="Image 4" descr="Foto profil Zulfikar Satya Nugraha">    </p:cNvPr>
          <p:cNvPicPr>
            <a:picLocks noChangeAspect="1"/>
          </p:cNvPicPr>
          <p:nvPr/>
        </p:nvPicPr>
        <p:blipFill>
          <a:blip r:embed="rId9"/>
          <a:stretch>
            <a:fillRect/>
          </a:stretch>
        </p:blipFill>
        <p:spPr>
          <a:xfrm>
            <a:off x="10076688" y="2514600"/>
            <a:ext cx="1188720" cy="1188720"/>
          </a:xfrm>
          <a:prstGeom prst="rect">
            <a:avLst/>
          </a:prstGeom>
        </p:spPr>
      </p:pic>
      <p:sp>
        <p:nvSpPr>
          <p:cNvPr id="25" name="Shape 18"/>
          <p:cNvSpPr/>
          <p:nvPr/>
        </p:nvSpPr>
        <p:spPr>
          <a:xfrm>
            <a:off x="10076688" y="2514600"/>
            <a:ext cx="1188720" cy="1188720"/>
          </a:xfrm>
          <a:prstGeom prst="ellipse">
            <a:avLst/>
          </a:prstGeom>
          <a:solidFill>
            <a:srgbClr val="FFFFFF">
              <a:alpha val="0"/>
            </a:srgbClr>
          </a:solidFill>
          <a:ln w="19050">
            <a:solidFill>
              <a:srgbClr val="D4D4D4"/>
            </a:solidFill>
            <a:prstDash val="solid"/>
          </a:ln>
        </p:spPr>
      </p:sp>
      <p:sp>
        <p:nvSpPr>
          <p:cNvPr id="26" name="Text 19"/>
          <p:cNvSpPr txBox="1"/>
          <p:nvPr/>
        </p:nvSpPr>
        <p:spPr>
          <a:xfrm>
            <a:off x="9710928" y="3977640"/>
            <a:ext cx="1920240" cy="914400"/>
          </a:xfrm>
          <a:prstGeom prst="rect">
            <a:avLst/>
          </a:prstGeom>
          <a:noFill/>
          <a:ln/>
        </p:spPr>
        <p:txBody>
          <a:bodyPr wrap="square" lIns="0" tIns="0" rIns="0" bIns="0" rtlCol="0" anchor="t"/>
          <a:lstStyle/>
          <a:p>
            <a:pPr algn="ctr" indent="0" marL="0">
              <a:spcAft>
                <a:spcPts val="400"/>
              </a:spcAft>
              <a:buNone/>
            </a:pPr>
            <a:r>
              <a:rPr lang="en-US" sz="1600" dirty="0">
                <a:solidFill>
                  <a:srgbClr val="0A0A0A"/>
                </a:solidFill>
                <a:latin typeface="Segoe UI Semibold" pitchFamily="34" charset="0"/>
                <a:ea typeface="Segoe UI Semibold" pitchFamily="34" charset="-122"/>
                <a:cs typeface="Segoe UI Semibold" pitchFamily="34" charset="-120"/>
              </a:rPr>
              <a:t>Zulfikar Satya Nugraha</a:t>
            </a:r>
            <a:endParaRPr lang="en-US" sz="1300" dirty="0"/>
          </a:p>
          <a:p>
            <a:pPr algn="ctr" indent="0" marL="0">
              <a:spcAft>
                <a:spcPts val="400"/>
              </a:spcAft>
              <a:buNone/>
            </a:pPr>
            <a:r>
              <a:rPr lang="en-US" sz="1000" u="sng" dirty="0">
                <a:solidFill>
                  <a:srgbClr val="5C5C5C"/>
                </a:solidFill>
                <a:latin typeface="Segoe UI" pitchFamily="34" charset="0"/>
                <a:ea typeface="Segoe UI" pitchFamily="34" charset="-122"/>
                <a:cs typeface="Segoe UI" pitchFamily="34" charset="-120"/>
                <a:hlinkClick r:id="rId10" invalidUrl="" action="" tgtFrame="" tooltip="Profil GitHub Zulfikar Satya Nugraha" history="1" highlightClick="0" endSnd="0">
                  <a:extLst>
                    <a:ext uri="{A12FA001-AC4F-418D-AE19-62706E023703}">
                      <ahyp:hlinkClr xmlns:ahyp="http://schemas.microsoft.com/office/drawing/2018/hyperlinkcolor" val="tx"/>
                    </a:ext>
                  </a:extLst>
                </a:hlinkClick>
              </a:rPr>
              <a:t>github.com/fikarnugraha18</a:t>
            </a:r>
            <a:endParaRPr lang="en-US" sz="1300" dirty="0"/>
          </a:p>
        </p:txBody>
      </p:sp>
      <p:sp>
        <p:nvSpPr>
          <p:cNvPr id="25" name="Slide Number Placeholder 0"/>
          <p:cNvSpPr>
            <a:spLocks noGrp="1"/>
          </p:cNvSpPr>
          <p:nvPr>
            <p:ph type="sldNum" sz="quarter" idx="4294967295"/>
          </p:nvPr>
        </p:nvSpPr>
        <p:spPr>
          <a:xfrm>
            <a:off x="11183112"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C5C5C"/>
                </a:solidFill>
                <a:latin typeface="Segoe UI"/>
                <a:ea typeface="Segoe UI"/>
                <a:cs typeface="Segoe U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548640" y="411480"/>
            <a:ext cx="903427" cy="292608"/>
          </a:xfrm>
          <a:prstGeom prst="roundRect">
            <a:avLst>
              <a:gd name="adj" fmla="val 50000"/>
            </a:avLst>
          </a:prstGeom>
          <a:solidFill>
            <a:srgbClr val="F3F3F3"/>
          </a:solidFill>
          <a:ln/>
        </p:spPr>
      </p:sp>
      <p:sp>
        <p:nvSpPr>
          <p:cNvPr id="3" name="Text 1"/>
          <p:cNvSpPr txBox="1"/>
          <p:nvPr/>
        </p:nvSpPr>
        <p:spPr>
          <a:xfrm>
            <a:off x="548640" y="411480"/>
            <a:ext cx="903427" cy="292608"/>
          </a:xfrm>
          <a:prstGeom prst="rect">
            <a:avLst/>
          </a:prstGeom>
          <a:noFill/>
          <a:ln/>
        </p:spPr>
        <p:txBody>
          <a:bodyPr wrap="square" lIns="0" tIns="0" rIns="0" bIns="0" rtlCol="0" anchor="ctr"/>
          <a:lstStyle/>
          <a:p>
            <a:pPr algn="ctr" indent="0" marL="0">
              <a:buNone/>
            </a:pPr>
            <a:r>
              <a:rPr lang="en-US" sz="950" spc="150" kern="0" dirty="0">
                <a:solidFill>
                  <a:srgbClr val="5C5C5C"/>
                </a:solidFill>
                <a:latin typeface="Segoe UI Semibold" pitchFamily="34" charset="0"/>
                <a:ea typeface="Segoe UI Semibold" pitchFamily="34" charset="-122"/>
                <a:cs typeface="Segoe UI Semibold" pitchFamily="34" charset="-120"/>
              </a:rPr>
              <a:t>AGENDA</a:t>
            </a:r>
            <a:endParaRPr lang="en-US" sz="950" dirty="0"/>
          </a:p>
        </p:txBody>
      </p:sp>
      <p:sp>
        <p:nvSpPr>
          <p:cNvPr id="4" name="Text 1"/>
          <p:cNvSpPr/>
          <p:nvPr>
            <p:ph idx="101" type="title" hasCustomPrompt="1"/>
          </p:nvPr>
        </p:nvSpPr>
        <p:spPr>
          <a:xfrm>
            <a:off x="548640" y="868680"/>
            <a:ext cx="11064240" cy="777240"/>
          </a:xfrm>
          <a:prstGeom prst="rect">
            <a:avLst/>
          </a:prstGeom>
          <a:noFill/>
          <a:ln/>
        </p:spPr>
        <p:txBody>
          <a:bodyPr wrap="square" lIns="0" tIns="0" rIns="0" bIns="0" rtlCol="0" anchor="t"/>
          <a:lstStyle/>
          <a:p>
            <a:pPr algn="l" indent="0" marL="0">
              <a:buNone/>
            </a:pPr>
            <a:r>
              <a:rPr lang="en-US" sz="3000" dirty="0">
                <a:solidFill>
                  <a:srgbClr val="0A0A0A"/>
                </a:solidFill>
                <a:latin typeface="Segoe UI Semibold" pitchFamily="34" charset="0"/>
                <a:ea typeface="Segoe UI Semibold" pitchFamily="34" charset="-122"/>
                <a:cs typeface="Segoe UI Semibold" pitchFamily="34" charset="-120"/>
              </a:rPr>
              <a:t>Yang akan kami paparkan</a:t>
            </a:r>
            <a:endParaRPr lang="en-US" sz="3000" dirty="0"/>
          </a:p>
        </p:txBody>
      </p:sp>
      <p:sp>
        <p:nvSpPr>
          <p:cNvPr id="5" name="Shape 3"/>
          <p:cNvSpPr/>
          <p:nvPr/>
        </p:nvSpPr>
        <p:spPr>
          <a:xfrm>
            <a:off x="548640" y="1874520"/>
            <a:ext cx="3520440" cy="1874520"/>
          </a:xfrm>
          <a:prstGeom prst="roundRect">
            <a:avLst>
              <a:gd name="adj" fmla="val 10732"/>
            </a:avLst>
          </a:prstGeom>
          <a:solidFill>
            <a:srgbClr val="F3F3F3"/>
          </a:solidFill>
          <a:ln/>
        </p:spPr>
      </p:sp>
      <p:sp>
        <p:nvSpPr>
          <p:cNvPr id="6" name="Text 4"/>
          <p:cNvSpPr txBox="1"/>
          <p:nvPr/>
        </p:nvSpPr>
        <p:spPr>
          <a:xfrm>
            <a:off x="868680" y="2148840"/>
            <a:ext cx="914400" cy="457200"/>
          </a:xfrm>
          <a:prstGeom prst="rect">
            <a:avLst/>
          </a:prstGeom>
          <a:noFill/>
          <a:ln/>
        </p:spPr>
        <p:txBody>
          <a:bodyPr wrap="square" lIns="0" tIns="0" rIns="0" bIns="0" rtlCol="0" anchor="t"/>
          <a:lstStyle/>
          <a:p>
            <a:pPr indent="0" marL="0">
              <a:buNone/>
            </a:pPr>
            <a:r>
              <a:rPr lang="en-US" sz="2600" dirty="0">
                <a:solidFill>
                  <a:srgbClr val="5C5C5C"/>
                </a:solidFill>
                <a:latin typeface="Segoe UI Semibold" pitchFamily="34" charset="0"/>
                <a:ea typeface="Segoe UI Semibold" pitchFamily="34" charset="-122"/>
                <a:cs typeface="Segoe UI Semibold" pitchFamily="34" charset="-120"/>
              </a:rPr>
              <a:t>01</a:t>
            </a:r>
            <a:endParaRPr lang="en-US" sz="2600" dirty="0"/>
          </a:p>
        </p:txBody>
      </p:sp>
      <p:sp>
        <p:nvSpPr>
          <p:cNvPr id="7" name="Text 5"/>
          <p:cNvSpPr txBox="1"/>
          <p:nvPr/>
        </p:nvSpPr>
        <p:spPr>
          <a:xfrm>
            <a:off x="868680" y="2743200"/>
            <a:ext cx="2926080" cy="365760"/>
          </a:xfrm>
          <a:prstGeom prst="rect">
            <a:avLst/>
          </a:prstGeom>
          <a:noFill/>
          <a:ln/>
        </p:spPr>
        <p:txBody>
          <a:bodyPr wrap="square" lIns="0" tIns="0" rIns="0" bIns="0" rtlCol="0" anchor="t"/>
          <a:lstStyle/>
          <a:p>
            <a:pPr indent="0" marL="0">
              <a:buNone/>
            </a:pPr>
            <a:r>
              <a:rPr lang="en-US" sz="1700" dirty="0">
                <a:solidFill>
                  <a:srgbClr val="0A0A0A"/>
                </a:solidFill>
                <a:latin typeface="Segoe UI Semibold" pitchFamily="34" charset="0"/>
                <a:ea typeface="Segoe UI Semibold" pitchFamily="34" charset="-122"/>
                <a:cs typeface="Segoe UI Semibold" pitchFamily="34" charset="-120"/>
              </a:rPr>
              <a:t>Latar &amp; pengguna</a:t>
            </a:r>
            <a:endParaRPr lang="en-US" sz="1700" dirty="0"/>
          </a:p>
        </p:txBody>
      </p:sp>
      <p:sp>
        <p:nvSpPr>
          <p:cNvPr id="8" name="Text 6"/>
          <p:cNvSpPr txBox="1"/>
          <p:nvPr/>
        </p:nvSpPr>
        <p:spPr>
          <a:xfrm>
            <a:off x="868680" y="3127248"/>
            <a:ext cx="2926080" cy="502920"/>
          </a:xfrm>
          <a:prstGeom prst="rect">
            <a:avLst/>
          </a:prstGeom>
          <a:noFill/>
          <a:ln/>
        </p:spPr>
        <p:txBody>
          <a:bodyPr wrap="square" lIns="0" tIns="0" rIns="0" bIns="0" rtlCol="0" anchor="t"/>
          <a:lstStyle/>
          <a:p>
            <a:pPr indent="0" marL="0">
              <a:buNone/>
            </a:pPr>
            <a:r>
              <a:rPr lang="en-US" sz="1200" dirty="0">
                <a:solidFill>
                  <a:srgbClr val="5C5C5C"/>
                </a:solidFill>
                <a:latin typeface="Segoe UI" pitchFamily="34" charset="0"/>
                <a:ea typeface="Segoe UI" pitchFamily="34" charset="-122"/>
                <a:cs typeface="Segoe UI" pitchFamily="34" charset="-120"/>
              </a:rPr>
              <a:t>Masalah yang diselesaikan dan siapa penggunanya</a:t>
            </a:r>
            <a:endParaRPr lang="en-US" sz="1200" dirty="0"/>
          </a:p>
        </p:txBody>
      </p:sp>
      <p:sp>
        <p:nvSpPr>
          <p:cNvPr id="9" name="Shape 7"/>
          <p:cNvSpPr/>
          <p:nvPr/>
        </p:nvSpPr>
        <p:spPr>
          <a:xfrm>
            <a:off x="4343400" y="1874520"/>
            <a:ext cx="3520440" cy="1874520"/>
          </a:xfrm>
          <a:prstGeom prst="roundRect">
            <a:avLst>
              <a:gd name="adj" fmla="val 10732"/>
            </a:avLst>
          </a:prstGeom>
          <a:solidFill>
            <a:srgbClr val="F3F3F3"/>
          </a:solidFill>
          <a:ln/>
        </p:spPr>
      </p:sp>
      <p:sp>
        <p:nvSpPr>
          <p:cNvPr id="10" name="Text 8"/>
          <p:cNvSpPr txBox="1"/>
          <p:nvPr/>
        </p:nvSpPr>
        <p:spPr>
          <a:xfrm>
            <a:off x="4663440" y="2148840"/>
            <a:ext cx="914400" cy="457200"/>
          </a:xfrm>
          <a:prstGeom prst="rect">
            <a:avLst/>
          </a:prstGeom>
          <a:noFill/>
          <a:ln/>
        </p:spPr>
        <p:txBody>
          <a:bodyPr wrap="square" lIns="0" tIns="0" rIns="0" bIns="0" rtlCol="0" anchor="t"/>
          <a:lstStyle/>
          <a:p>
            <a:pPr indent="0" marL="0">
              <a:buNone/>
            </a:pPr>
            <a:r>
              <a:rPr lang="en-US" sz="2600" dirty="0">
                <a:solidFill>
                  <a:srgbClr val="5C5C5C"/>
                </a:solidFill>
                <a:latin typeface="Segoe UI Semibold" pitchFamily="34" charset="0"/>
                <a:ea typeface="Segoe UI Semibold" pitchFamily="34" charset="-122"/>
                <a:cs typeface="Segoe UI Semibold" pitchFamily="34" charset="-120"/>
              </a:rPr>
              <a:t>02</a:t>
            </a:r>
            <a:endParaRPr lang="en-US" sz="2600" dirty="0"/>
          </a:p>
        </p:txBody>
      </p:sp>
      <p:sp>
        <p:nvSpPr>
          <p:cNvPr id="11" name="Text 9"/>
          <p:cNvSpPr txBox="1"/>
          <p:nvPr/>
        </p:nvSpPr>
        <p:spPr>
          <a:xfrm>
            <a:off x="4663440" y="2743200"/>
            <a:ext cx="2926080" cy="365760"/>
          </a:xfrm>
          <a:prstGeom prst="rect">
            <a:avLst/>
          </a:prstGeom>
          <a:noFill/>
          <a:ln/>
        </p:spPr>
        <p:txBody>
          <a:bodyPr wrap="square" lIns="0" tIns="0" rIns="0" bIns="0" rtlCol="0" anchor="t"/>
          <a:lstStyle/>
          <a:p>
            <a:pPr indent="0" marL="0">
              <a:buNone/>
            </a:pPr>
            <a:r>
              <a:rPr lang="en-US" sz="1700" dirty="0">
                <a:solidFill>
                  <a:srgbClr val="0A0A0A"/>
                </a:solidFill>
                <a:latin typeface="Segoe UI Semibold" pitchFamily="34" charset="0"/>
                <a:ea typeface="Segoe UI Semibold" pitchFamily="34" charset="-122"/>
                <a:cs typeface="Segoe UI Semibold" pitchFamily="34" charset="-120"/>
              </a:rPr>
              <a:t>Cakupan &amp; hasil</a:t>
            </a:r>
            <a:endParaRPr lang="en-US" sz="1700" dirty="0"/>
          </a:p>
        </p:txBody>
      </p:sp>
      <p:sp>
        <p:nvSpPr>
          <p:cNvPr id="12" name="Text 10"/>
          <p:cNvSpPr txBox="1"/>
          <p:nvPr/>
        </p:nvSpPr>
        <p:spPr>
          <a:xfrm>
            <a:off x="4663440" y="3127248"/>
            <a:ext cx="2926080" cy="502920"/>
          </a:xfrm>
          <a:prstGeom prst="rect">
            <a:avLst/>
          </a:prstGeom>
          <a:noFill/>
          <a:ln/>
        </p:spPr>
        <p:txBody>
          <a:bodyPr wrap="square" lIns="0" tIns="0" rIns="0" bIns="0" rtlCol="0" anchor="t"/>
          <a:lstStyle/>
          <a:p>
            <a:pPr indent="0" marL="0">
              <a:buNone/>
            </a:pPr>
            <a:r>
              <a:rPr lang="en-US" sz="1200" dirty="0">
                <a:solidFill>
                  <a:srgbClr val="5C5C5C"/>
                </a:solidFill>
                <a:latin typeface="Segoe UI" pitchFamily="34" charset="0"/>
                <a:ea typeface="Segoe UI" pitchFamily="34" charset="-122"/>
                <a:cs typeface="Segoe UI" pitchFamily="34" charset="-120"/>
              </a:rPr>
              <a:t>Fitur yang selesai dan batasan proyek</a:t>
            </a:r>
            <a:endParaRPr lang="en-US" sz="1200" dirty="0"/>
          </a:p>
        </p:txBody>
      </p:sp>
      <p:sp>
        <p:nvSpPr>
          <p:cNvPr id="13" name="Shape 11"/>
          <p:cNvSpPr/>
          <p:nvPr/>
        </p:nvSpPr>
        <p:spPr>
          <a:xfrm>
            <a:off x="8138160" y="1874520"/>
            <a:ext cx="3520440" cy="1874520"/>
          </a:xfrm>
          <a:prstGeom prst="roundRect">
            <a:avLst>
              <a:gd name="adj" fmla="val 10732"/>
            </a:avLst>
          </a:prstGeom>
          <a:solidFill>
            <a:srgbClr val="F3F3F3"/>
          </a:solidFill>
          <a:ln/>
        </p:spPr>
      </p:sp>
      <p:sp>
        <p:nvSpPr>
          <p:cNvPr id="14" name="Text 12"/>
          <p:cNvSpPr txBox="1"/>
          <p:nvPr/>
        </p:nvSpPr>
        <p:spPr>
          <a:xfrm>
            <a:off x="8458200" y="2148840"/>
            <a:ext cx="914400" cy="457200"/>
          </a:xfrm>
          <a:prstGeom prst="rect">
            <a:avLst/>
          </a:prstGeom>
          <a:noFill/>
          <a:ln/>
        </p:spPr>
        <p:txBody>
          <a:bodyPr wrap="square" lIns="0" tIns="0" rIns="0" bIns="0" rtlCol="0" anchor="t"/>
          <a:lstStyle/>
          <a:p>
            <a:pPr indent="0" marL="0">
              <a:buNone/>
            </a:pPr>
            <a:r>
              <a:rPr lang="en-US" sz="2600" dirty="0">
                <a:solidFill>
                  <a:srgbClr val="5C5C5C"/>
                </a:solidFill>
                <a:latin typeface="Segoe UI Semibold" pitchFamily="34" charset="0"/>
                <a:ea typeface="Segoe UI Semibold" pitchFamily="34" charset="-122"/>
                <a:cs typeface="Segoe UI Semibold" pitchFamily="34" charset="-120"/>
              </a:rPr>
              <a:t>03</a:t>
            </a:r>
            <a:endParaRPr lang="en-US" sz="2600" dirty="0"/>
          </a:p>
        </p:txBody>
      </p:sp>
      <p:sp>
        <p:nvSpPr>
          <p:cNvPr id="15" name="Text 13"/>
          <p:cNvSpPr txBox="1"/>
          <p:nvPr/>
        </p:nvSpPr>
        <p:spPr>
          <a:xfrm>
            <a:off x="8458200" y="2743200"/>
            <a:ext cx="2926080" cy="365760"/>
          </a:xfrm>
          <a:prstGeom prst="rect">
            <a:avLst/>
          </a:prstGeom>
          <a:noFill/>
          <a:ln/>
        </p:spPr>
        <p:txBody>
          <a:bodyPr wrap="square" lIns="0" tIns="0" rIns="0" bIns="0" rtlCol="0" anchor="t"/>
          <a:lstStyle/>
          <a:p>
            <a:pPr indent="0" marL="0">
              <a:buNone/>
            </a:pPr>
            <a:r>
              <a:rPr lang="en-US" sz="1700" dirty="0">
                <a:solidFill>
                  <a:srgbClr val="0A0A0A"/>
                </a:solidFill>
                <a:latin typeface="Segoe UI Semibold" pitchFamily="34" charset="0"/>
                <a:ea typeface="Segoe UI Semibold" pitchFamily="34" charset="-122"/>
                <a:cs typeface="Segoe UI Semibold" pitchFamily="34" charset="-120"/>
              </a:rPr>
              <a:t>Teknologi &amp; arsitektur</a:t>
            </a:r>
            <a:endParaRPr lang="en-US" sz="1700" dirty="0"/>
          </a:p>
        </p:txBody>
      </p:sp>
      <p:sp>
        <p:nvSpPr>
          <p:cNvPr id="16" name="Text 14"/>
          <p:cNvSpPr txBox="1"/>
          <p:nvPr/>
        </p:nvSpPr>
        <p:spPr>
          <a:xfrm>
            <a:off x="8458200" y="3127248"/>
            <a:ext cx="2926080" cy="502920"/>
          </a:xfrm>
          <a:prstGeom prst="rect">
            <a:avLst/>
          </a:prstGeom>
          <a:noFill/>
          <a:ln/>
        </p:spPr>
        <p:txBody>
          <a:bodyPr wrap="square" lIns="0" tIns="0" rIns="0" bIns="0" rtlCol="0" anchor="t"/>
          <a:lstStyle/>
          <a:p>
            <a:pPr indent="0" marL="0">
              <a:buNone/>
            </a:pPr>
            <a:r>
              <a:rPr lang="en-US" sz="1200" dirty="0">
                <a:solidFill>
                  <a:srgbClr val="5C5C5C"/>
                </a:solidFill>
                <a:latin typeface="Segoe UI" pitchFamily="34" charset="0"/>
                <a:ea typeface="Segoe UI" pitchFamily="34" charset="-122"/>
                <a:cs typeface="Segoe UI" pitchFamily="34" charset="-120"/>
              </a:rPr>
              <a:t>Stack, arsitektur, database, aturan bisnis</a:t>
            </a:r>
            <a:endParaRPr lang="en-US" sz="1200" dirty="0"/>
          </a:p>
        </p:txBody>
      </p:sp>
      <p:sp>
        <p:nvSpPr>
          <p:cNvPr id="17" name="Shape 15"/>
          <p:cNvSpPr/>
          <p:nvPr/>
        </p:nvSpPr>
        <p:spPr>
          <a:xfrm>
            <a:off x="548640" y="3977640"/>
            <a:ext cx="3520440" cy="1874520"/>
          </a:xfrm>
          <a:prstGeom prst="roundRect">
            <a:avLst>
              <a:gd name="adj" fmla="val 10732"/>
            </a:avLst>
          </a:prstGeom>
          <a:solidFill>
            <a:srgbClr val="F3F3F3"/>
          </a:solidFill>
          <a:ln/>
        </p:spPr>
      </p:sp>
      <p:sp>
        <p:nvSpPr>
          <p:cNvPr id="18" name="Text 16"/>
          <p:cNvSpPr txBox="1"/>
          <p:nvPr/>
        </p:nvSpPr>
        <p:spPr>
          <a:xfrm>
            <a:off x="868680" y="4251960"/>
            <a:ext cx="914400" cy="457200"/>
          </a:xfrm>
          <a:prstGeom prst="rect">
            <a:avLst/>
          </a:prstGeom>
          <a:noFill/>
          <a:ln/>
        </p:spPr>
        <p:txBody>
          <a:bodyPr wrap="square" lIns="0" tIns="0" rIns="0" bIns="0" rtlCol="0" anchor="t"/>
          <a:lstStyle/>
          <a:p>
            <a:pPr indent="0" marL="0">
              <a:buNone/>
            </a:pPr>
            <a:r>
              <a:rPr lang="en-US" sz="2600" dirty="0">
                <a:solidFill>
                  <a:srgbClr val="5C5C5C"/>
                </a:solidFill>
                <a:latin typeface="Segoe UI Semibold" pitchFamily="34" charset="0"/>
                <a:ea typeface="Segoe UI Semibold" pitchFamily="34" charset="-122"/>
                <a:cs typeface="Segoe UI Semibold" pitchFamily="34" charset="-120"/>
              </a:rPr>
              <a:t>04</a:t>
            </a:r>
            <a:endParaRPr lang="en-US" sz="2600" dirty="0"/>
          </a:p>
        </p:txBody>
      </p:sp>
      <p:sp>
        <p:nvSpPr>
          <p:cNvPr id="19" name="Text 17"/>
          <p:cNvSpPr txBox="1"/>
          <p:nvPr/>
        </p:nvSpPr>
        <p:spPr>
          <a:xfrm>
            <a:off x="868680" y="4846320"/>
            <a:ext cx="2926080" cy="365760"/>
          </a:xfrm>
          <a:prstGeom prst="rect">
            <a:avLst/>
          </a:prstGeom>
          <a:noFill/>
          <a:ln/>
        </p:spPr>
        <p:txBody>
          <a:bodyPr wrap="square" lIns="0" tIns="0" rIns="0" bIns="0" rtlCol="0" anchor="t"/>
          <a:lstStyle/>
          <a:p>
            <a:pPr indent="0" marL="0">
              <a:buNone/>
            </a:pPr>
            <a:r>
              <a:rPr lang="en-US" sz="1700" dirty="0">
                <a:solidFill>
                  <a:srgbClr val="0A0A0A"/>
                </a:solidFill>
                <a:latin typeface="Segoe UI Semibold" pitchFamily="34" charset="0"/>
                <a:ea typeface="Segoe UI Semibold" pitchFamily="34" charset="-122"/>
                <a:cs typeface="Segoe UI Semibold" pitchFamily="34" charset="-120"/>
              </a:rPr>
              <a:t>Tampilan aplikasi</a:t>
            </a:r>
            <a:endParaRPr lang="en-US" sz="1700" dirty="0"/>
          </a:p>
        </p:txBody>
      </p:sp>
      <p:sp>
        <p:nvSpPr>
          <p:cNvPr id="20" name="Text 18"/>
          <p:cNvSpPr txBox="1"/>
          <p:nvPr/>
        </p:nvSpPr>
        <p:spPr>
          <a:xfrm>
            <a:off x="868680" y="5230368"/>
            <a:ext cx="2926080" cy="502920"/>
          </a:xfrm>
          <a:prstGeom prst="rect">
            <a:avLst/>
          </a:prstGeom>
          <a:noFill/>
          <a:ln/>
        </p:spPr>
        <p:txBody>
          <a:bodyPr wrap="square" lIns="0" tIns="0" rIns="0" bIns="0" rtlCol="0" anchor="t"/>
          <a:lstStyle/>
          <a:p>
            <a:pPr indent="0" marL="0">
              <a:buNone/>
            </a:pPr>
            <a:r>
              <a:rPr lang="en-US" sz="1200" dirty="0">
                <a:solidFill>
                  <a:srgbClr val="5C5C5C"/>
                </a:solidFill>
                <a:latin typeface="Segoe UI" pitchFamily="34" charset="0"/>
                <a:ea typeface="Segoe UI" pitchFamily="34" charset="-122"/>
                <a:cs typeface="Segoe UI" pitchFamily="34" charset="-120"/>
              </a:rPr>
              <a:t>Beranda, katalog, checkout, admin, asisten AI</a:t>
            </a:r>
            <a:endParaRPr lang="en-US" sz="1200" dirty="0"/>
          </a:p>
        </p:txBody>
      </p:sp>
      <p:sp>
        <p:nvSpPr>
          <p:cNvPr id="21" name="Shape 19"/>
          <p:cNvSpPr/>
          <p:nvPr/>
        </p:nvSpPr>
        <p:spPr>
          <a:xfrm>
            <a:off x="4343400" y="3977640"/>
            <a:ext cx="3520440" cy="1874520"/>
          </a:xfrm>
          <a:prstGeom prst="roundRect">
            <a:avLst>
              <a:gd name="adj" fmla="val 10732"/>
            </a:avLst>
          </a:prstGeom>
          <a:solidFill>
            <a:srgbClr val="F3F3F3"/>
          </a:solidFill>
          <a:ln/>
        </p:spPr>
      </p:sp>
      <p:sp>
        <p:nvSpPr>
          <p:cNvPr id="22" name="Text 20"/>
          <p:cNvSpPr txBox="1"/>
          <p:nvPr/>
        </p:nvSpPr>
        <p:spPr>
          <a:xfrm>
            <a:off x="4663440" y="4251960"/>
            <a:ext cx="914400" cy="457200"/>
          </a:xfrm>
          <a:prstGeom prst="rect">
            <a:avLst/>
          </a:prstGeom>
          <a:noFill/>
          <a:ln/>
        </p:spPr>
        <p:txBody>
          <a:bodyPr wrap="square" lIns="0" tIns="0" rIns="0" bIns="0" rtlCol="0" anchor="t"/>
          <a:lstStyle/>
          <a:p>
            <a:pPr indent="0" marL="0">
              <a:buNone/>
            </a:pPr>
            <a:r>
              <a:rPr lang="en-US" sz="2600" dirty="0">
                <a:solidFill>
                  <a:srgbClr val="5C5C5C"/>
                </a:solidFill>
                <a:latin typeface="Segoe UI Semibold" pitchFamily="34" charset="0"/>
                <a:ea typeface="Segoe UI Semibold" pitchFamily="34" charset="-122"/>
                <a:cs typeface="Segoe UI Semibold" pitchFamily="34" charset="-120"/>
              </a:rPr>
              <a:t>05</a:t>
            </a:r>
            <a:endParaRPr lang="en-US" sz="2600" dirty="0"/>
          </a:p>
        </p:txBody>
      </p:sp>
      <p:sp>
        <p:nvSpPr>
          <p:cNvPr id="23" name="Text 21"/>
          <p:cNvSpPr txBox="1"/>
          <p:nvPr/>
        </p:nvSpPr>
        <p:spPr>
          <a:xfrm>
            <a:off x="4663440" y="4846320"/>
            <a:ext cx="2926080" cy="365760"/>
          </a:xfrm>
          <a:prstGeom prst="rect">
            <a:avLst/>
          </a:prstGeom>
          <a:noFill/>
          <a:ln/>
        </p:spPr>
        <p:txBody>
          <a:bodyPr wrap="square" lIns="0" tIns="0" rIns="0" bIns="0" rtlCol="0" anchor="t"/>
          <a:lstStyle/>
          <a:p>
            <a:pPr indent="0" marL="0">
              <a:buNone/>
            </a:pPr>
            <a:r>
              <a:rPr lang="en-US" sz="1700" dirty="0">
                <a:solidFill>
                  <a:srgbClr val="0A0A0A"/>
                </a:solidFill>
                <a:latin typeface="Segoe UI Semibold" pitchFamily="34" charset="0"/>
                <a:ea typeface="Segoe UI Semibold" pitchFamily="34" charset="-122"/>
                <a:cs typeface="Segoe UI Semibold" pitchFamily="34" charset="-120"/>
              </a:rPr>
              <a:t>Tim &amp; cara kerja</a:t>
            </a:r>
            <a:endParaRPr lang="en-US" sz="1700" dirty="0"/>
          </a:p>
        </p:txBody>
      </p:sp>
      <p:sp>
        <p:nvSpPr>
          <p:cNvPr id="24" name="Text 22"/>
          <p:cNvSpPr txBox="1"/>
          <p:nvPr/>
        </p:nvSpPr>
        <p:spPr>
          <a:xfrm>
            <a:off x="4663440" y="5230368"/>
            <a:ext cx="2926080" cy="502920"/>
          </a:xfrm>
          <a:prstGeom prst="rect">
            <a:avLst/>
          </a:prstGeom>
          <a:noFill/>
          <a:ln/>
        </p:spPr>
        <p:txBody>
          <a:bodyPr wrap="square" lIns="0" tIns="0" rIns="0" bIns="0" rtlCol="0" anchor="t"/>
          <a:lstStyle/>
          <a:p>
            <a:pPr indent="0" marL="0">
              <a:buNone/>
            </a:pPr>
            <a:r>
              <a:rPr lang="en-US" sz="1200" dirty="0">
                <a:solidFill>
                  <a:srgbClr val="5C5C5C"/>
                </a:solidFill>
                <a:latin typeface="Segoe UI" pitchFamily="34" charset="0"/>
                <a:ea typeface="Segoe UI" pitchFamily="34" charset="-122"/>
                <a:cs typeface="Segoe UI" pitchFamily="34" charset="-120"/>
              </a:rPr>
              <a:t>Pembagian peran, alur Git, papan tugas</a:t>
            </a:r>
            <a:endParaRPr lang="en-US" sz="1200" dirty="0"/>
          </a:p>
        </p:txBody>
      </p:sp>
      <p:sp>
        <p:nvSpPr>
          <p:cNvPr id="25" name="Shape 23"/>
          <p:cNvSpPr/>
          <p:nvPr/>
        </p:nvSpPr>
        <p:spPr>
          <a:xfrm>
            <a:off x="8138160" y="3977640"/>
            <a:ext cx="3520440" cy="1874520"/>
          </a:xfrm>
          <a:prstGeom prst="roundRect">
            <a:avLst>
              <a:gd name="adj" fmla="val 10732"/>
            </a:avLst>
          </a:prstGeom>
          <a:solidFill>
            <a:srgbClr val="F3F3F3"/>
          </a:solidFill>
          <a:ln/>
        </p:spPr>
      </p:sp>
      <p:sp>
        <p:nvSpPr>
          <p:cNvPr id="26" name="Text 24"/>
          <p:cNvSpPr txBox="1"/>
          <p:nvPr/>
        </p:nvSpPr>
        <p:spPr>
          <a:xfrm>
            <a:off x="8458200" y="4251960"/>
            <a:ext cx="914400" cy="457200"/>
          </a:xfrm>
          <a:prstGeom prst="rect">
            <a:avLst/>
          </a:prstGeom>
          <a:noFill/>
          <a:ln/>
        </p:spPr>
        <p:txBody>
          <a:bodyPr wrap="square" lIns="0" tIns="0" rIns="0" bIns="0" rtlCol="0" anchor="t"/>
          <a:lstStyle/>
          <a:p>
            <a:pPr indent="0" marL="0">
              <a:buNone/>
            </a:pPr>
            <a:r>
              <a:rPr lang="en-US" sz="2600" dirty="0">
                <a:solidFill>
                  <a:srgbClr val="5C5C5C"/>
                </a:solidFill>
                <a:latin typeface="Segoe UI Semibold" pitchFamily="34" charset="0"/>
                <a:ea typeface="Segoe UI Semibold" pitchFamily="34" charset="-122"/>
                <a:cs typeface="Segoe UI Semibold" pitchFamily="34" charset="-120"/>
              </a:rPr>
              <a:t>06</a:t>
            </a:r>
            <a:endParaRPr lang="en-US" sz="2600" dirty="0"/>
          </a:p>
        </p:txBody>
      </p:sp>
      <p:sp>
        <p:nvSpPr>
          <p:cNvPr id="27" name="Text 25"/>
          <p:cNvSpPr txBox="1"/>
          <p:nvPr/>
        </p:nvSpPr>
        <p:spPr>
          <a:xfrm>
            <a:off x="8458200" y="4846320"/>
            <a:ext cx="2926080" cy="365760"/>
          </a:xfrm>
          <a:prstGeom prst="rect">
            <a:avLst/>
          </a:prstGeom>
          <a:noFill/>
          <a:ln/>
        </p:spPr>
        <p:txBody>
          <a:bodyPr wrap="square" lIns="0" tIns="0" rIns="0" bIns="0" rtlCol="0" anchor="t"/>
          <a:lstStyle/>
          <a:p>
            <a:pPr indent="0" marL="0">
              <a:buNone/>
            </a:pPr>
            <a:r>
              <a:rPr lang="en-US" sz="1700" dirty="0">
                <a:solidFill>
                  <a:srgbClr val="0A0A0A"/>
                </a:solidFill>
                <a:latin typeface="Segoe UI Semibold" pitchFamily="34" charset="0"/>
                <a:ea typeface="Segoe UI Semibold" pitchFamily="34" charset="-122"/>
                <a:cs typeface="Segoe UI Semibold" pitchFamily="34" charset="-120"/>
              </a:rPr>
              <a:t>Kualitas, keamanan &amp; demo</a:t>
            </a:r>
            <a:endParaRPr lang="en-US" sz="1700" dirty="0"/>
          </a:p>
        </p:txBody>
      </p:sp>
      <p:sp>
        <p:nvSpPr>
          <p:cNvPr id="28" name="Text 26"/>
          <p:cNvSpPr txBox="1"/>
          <p:nvPr/>
        </p:nvSpPr>
        <p:spPr>
          <a:xfrm>
            <a:off x="8458200" y="5230368"/>
            <a:ext cx="2926080" cy="502920"/>
          </a:xfrm>
          <a:prstGeom prst="rect">
            <a:avLst/>
          </a:prstGeom>
          <a:noFill/>
          <a:ln/>
        </p:spPr>
        <p:txBody>
          <a:bodyPr wrap="square" lIns="0" tIns="0" rIns="0" bIns="0" rtlCol="0" anchor="t"/>
          <a:lstStyle/>
          <a:p>
            <a:pPr indent="0" marL="0">
              <a:buNone/>
            </a:pPr>
            <a:r>
              <a:rPr lang="en-US" sz="1200" dirty="0">
                <a:solidFill>
                  <a:srgbClr val="5C5C5C"/>
                </a:solidFill>
                <a:latin typeface="Segoe UI" pitchFamily="34" charset="0"/>
                <a:ea typeface="Segoe UI" pitchFamily="34" charset="-122"/>
                <a:cs typeface="Segoe UI" pitchFamily="34" charset="-120"/>
              </a:rPr>
              <a:t>Hasil uji, keamanan, risiko, skenario demo</a:t>
            </a:r>
            <a:endParaRPr lang="en-US" sz="1200" dirty="0"/>
          </a:p>
        </p:txBody>
      </p:sp>
      <p:sp>
        <p:nvSpPr>
          <p:cNvPr id="25" name="Slide Number Placeholder 0"/>
          <p:cNvSpPr>
            <a:spLocks noGrp="1"/>
          </p:cNvSpPr>
          <p:nvPr>
            <p:ph type="sldNum" sz="quarter" idx="4294967295"/>
          </p:nvPr>
        </p:nvSpPr>
        <p:spPr>
          <a:xfrm>
            <a:off x="11183112"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C5C5C"/>
                </a:solidFill>
                <a:latin typeface="Segoe UI"/>
                <a:ea typeface="Segoe UI"/>
                <a:cs typeface="Segoe U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548640" y="411480"/>
            <a:ext cx="1620317" cy="292608"/>
          </a:xfrm>
          <a:prstGeom prst="roundRect">
            <a:avLst>
              <a:gd name="adj" fmla="val 50000"/>
            </a:avLst>
          </a:prstGeom>
          <a:solidFill>
            <a:srgbClr val="F3F3F3"/>
          </a:solidFill>
          <a:ln/>
        </p:spPr>
      </p:sp>
      <p:sp>
        <p:nvSpPr>
          <p:cNvPr id="3" name="Text 1"/>
          <p:cNvSpPr txBox="1"/>
          <p:nvPr/>
        </p:nvSpPr>
        <p:spPr>
          <a:xfrm>
            <a:off x="548640" y="411480"/>
            <a:ext cx="1620317" cy="292608"/>
          </a:xfrm>
          <a:prstGeom prst="rect">
            <a:avLst/>
          </a:prstGeom>
          <a:noFill/>
          <a:ln/>
        </p:spPr>
        <p:txBody>
          <a:bodyPr wrap="square" lIns="0" tIns="0" rIns="0" bIns="0" rtlCol="0" anchor="ctr"/>
          <a:lstStyle/>
          <a:p>
            <a:pPr algn="ctr" indent="0" marL="0">
              <a:buNone/>
            </a:pPr>
            <a:r>
              <a:rPr lang="en-US" sz="950" spc="150" kern="0" dirty="0">
                <a:solidFill>
                  <a:srgbClr val="5C5C5C"/>
                </a:solidFill>
                <a:latin typeface="Segoe UI Semibold" pitchFamily="34" charset="0"/>
                <a:ea typeface="Segoe UI Semibold" pitchFamily="34" charset="-122"/>
                <a:cs typeface="Segoe UI Semibold" pitchFamily="34" charset="-120"/>
              </a:rPr>
              <a:t>LATAR BELAKANG</a:t>
            </a:r>
            <a:endParaRPr lang="en-US" sz="950" dirty="0"/>
          </a:p>
        </p:txBody>
      </p:sp>
      <p:sp>
        <p:nvSpPr>
          <p:cNvPr id="4" name="Text 1"/>
          <p:cNvSpPr/>
          <p:nvPr>
            <p:ph idx="101" type="title" hasCustomPrompt="1"/>
          </p:nvPr>
        </p:nvSpPr>
        <p:spPr>
          <a:xfrm>
            <a:off x="548640" y="868680"/>
            <a:ext cx="11064240" cy="777240"/>
          </a:xfrm>
          <a:prstGeom prst="rect">
            <a:avLst/>
          </a:prstGeom>
          <a:noFill/>
          <a:ln/>
        </p:spPr>
        <p:txBody>
          <a:bodyPr wrap="square" lIns="0" tIns="0" rIns="0" bIns="0" rtlCol="0" anchor="t"/>
          <a:lstStyle/>
          <a:p>
            <a:pPr algn="l" indent="0" marL="0">
              <a:buNone/>
            </a:pPr>
            <a:r>
              <a:rPr lang="en-US" sz="3000" dirty="0">
                <a:solidFill>
                  <a:srgbClr val="0A0A0A"/>
                </a:solidFill>
                <a:latin typeface="Segoe UI Semibold" pitchFamily="34" charset="0"/>
                <a:ea typeface="Segoe UI Semibold" pitchFamily="34" charset="-122"/>
                <a:cs typeface="Segoe UI Semibold" pitchFamily="34" charset="-120"/>
              </a:rPr>
              <a:t>Masalah berjualan di marketplace, dan jawabannya</a:t>
            </a:r>
            <a:endParaRPr lang="en-US" sz="3000" dirty="0"/>
          </a:p>
        </p:txBody>
      </p:sp>
      <p:sp>
        <p:nvSpPr>
          <p:cNvPr id="5" name="Shape 3"/>
          <p:cNvSpPr/>
          <p:nvPr/>
        </p:nvSpPr>
        <p:spPr>
          <a:xfrm>
            <a:off x="548640" y="1874520"/>
            <a:ext cx="5440680" cy="4160520"/>
          </a:xfrm>
          <a:prstGeom prst="roundRect">
            <a:avLst>
              <a:gd name="adj" fmla="val 4835"/>
            </a:avLst>
          </a:prstGeom>
          <a:solidFill>
            <a:srgbClr val="F3F3F3"/>
          </a:solidFill>
          <a:ln/>
        </p:spPr>
      </p:sp>
      <p:sp>
        <p:nvSpPr>
          <p:cNvPr id="6" name="Text 4"/>
          <p:cNvSpPr txBox="1"/>
          <p:nvPr/>
        </p:nvSpPr>
        <p:spPr>
          <a:xfrm>
            <a:off x="868680" y="2148840"/>
            <a:ext cx="4846320" cy="365760"/>
          </a:xfrm>
          <a:prstGeom prst="rect">
            <a:avLst/>
          </a:prstGeom>
          <a:noFill/>
          <a:ln/>
        </p:spPr>
        <p:txBody>
          <a:bodyPr wrap="square" lIns="0" tIns="0" rIns="0" bIns="0" rtlCol="0" anchor="t"/>
          <a:lstStyle/>
          <a:p>
            <a:pPr indent="0" marL="0">
              <a:buNone/>
            </a:pPr>
            <a:r>
              <a:rPr lang="en-US" sz="1700" dirty="0">
                <a:solidFill>
                  <a:srgbClr val="0A0A0A"/>
                </a:solidFill>
                <a:latin typeface="Segoe UI Semibold" pitchFamily="34" charset="0"/>
                <a:ea typeface="Segoe UI Semibold" pitchFamily="34" charset="-122"/>
                <a:cs typeface="Segoe UI Semibold" pitchFamily="34" charset="-120"/>
              </a:rPr>
              <a:t>Tantangan di marketplace</a:t>
            </a:r>
            <a:endParaRPr lang="en-US" sz="1700" dirty="0"/>
          </a:p>
        </p:txBody>
      </p:sp>
      <p:sp>
        <p:nvSpPr>
          <p:cNvPr id="7" name="Text 5"/>
          <p:cNvSpPr txBox="1"/>
          <p:nvPr/>
        </p:nvSpPr>
        <p:spPr>
          <a:xfrm>
            <a:off x="868680" y="2743200"/>
            <a:ext cx="4846320" cy="292608"/>
          </a:xfrm>
          <a:prstGeom prst="rect">
            <a:avLst/>
          </a:prstGeom>
          <a:noFill/>
          <a:ln/>
        </p:spPr>
        <p:txBody>
          <a:bodyPr wrap="square" lIns="0" tIns="0" rIns="0" bIns="0" rtlCol="0" anchor="t"/>
          <a:lstStyle/>
          <a:p>
            <a:pPr indent="0" marL="0">
              <a:buNone/>
            </a:pPr>
            <a:r>
              <a:rPr lang="en-US" sz="1400" dirty="0">
                <a:solidFill>
                  <a:srgbClr val="0A0A0A"/>
                </a:solidFill>
                <a:latin typeface="Segoe UI Semibold" pitchFamily="34" charset="0"/>
                <a:ea typeface="Segoe UI Semibold" pitchFamily="34" charset="-122"/>
                <a:cs typeface="Segoe UI Semibold" pitchFamily="34" charset="-120"/>
              </a:rPr>
              <a:t>Komisi terus naik</a:t>
            </a:r>
            <a:endParaRPr lang="en-US" sz="1400" dirty="0"/>
          </a:p>
        </p:txBody>
      </p:sp>
      <p:sp>
        <p:nvSpPr>
          <p:cNvPr id="8" name="Text 6"/>
          <p:cNvSpPr txBox="1"/>
          <p:nvPr/>
        </p:nvSpPr>
        <p:spPr>
          <a:xfrm>
            <a:off x="868680" y="3035808"/>
            <a:ext cx="4846320" cy="365760"/>
          </a:xfrm>
          <a:prstGeom prst="rect">
            <a:avLst/>
          </a:prstGeom>
          <a:noFill/>
          <a:ln/>
        </p:spPr>
        <p:txBody>
          <a:bodyPr wrap="square" lIns="0" tIns="0" rIns="0" bIns="0" rtlCol="0" anchor="t"/>
          <a:lstStyle/>
          <a:p>
            <a:pPr indent="0" marL="0">
              <a:buNone/>
            </a:pPr>
            <a:r>
              <a:rPr lang="en-US" sz="1250" dirty="0">
                <a:solidFill>
                  <a:srgbClr val="5C5C5C"/>
                </a:solidFill>
                <a:latin typeface="Segoe UI" pitchFamily="34" charset="0"/>
                <a:ea typeface="Segoe UI" pitchFamily="34" charset="-122"/>
                <a:cs typeface="Segoe UI" pitchFamily="34" charset="-120"/>
              </a:rPr>
              <a:t>Potongan per transaksi menggerus margin UMKM.</a:t>
            </a:r>
            <a:endParaRPr lang="en-US" sz="1250" dirty="0"/>
          </a:p>
        </p:txBody>
      </p:sp>
      <p:sp>
        <p:nvSpPr>
          <p:cNvPr id="9" name="Text 7"/>
          <p:cNvSpPr txBox="1"/>
          <p:nvPr/>
        </p:nvSpPr>
        <p:spPr>
          <a:xfrm>
            <a:off x="868680" y="3547872"/>
            <a:ext cx="4846320" cy="292608"/>
          </a:xfrm>
          <a:prstGeom prst="rect">
            <a:avLst/>
          </a:prstGeom>
          <a:noFill/>
          <a:ln/>
        </p:spPr>
        <p:txBody>
          <a:bodyPr wrap="square" lIns="0" tIns="0" rIns="0" bIns="0" rtlCol="0" anchor="t"/>
          <a:lstStyle/>
          <a:p>
            <a:pPr indent="0" marL="0">
              <a:buNone/>
            </a:pPr>
            <a:r>
              <a:rPr lang="en-US" sz="1400" dirty="0">
                <a:solidFill>
                  <a:srgbClr val="0A0A0A"/>
                </a:solidFill>
                <a:latin typeface="Segoe UI Semibold" pitchFamily="34" charset="0"/>
                <a:ea typeface="Segoe UI Semibold" pitchFamily="34" charset="-122"/>
                <a:cs typeface="Segoe UI Semibold" pitchFamily="34" charset="-120"/>
              </a:rPr>
              <a:t>Data pembeli bukan milik penjual</a:t>
            </a:r>
            <a:endParaRPr lang="en-US" sz="1400" dirty="0"/>
          </a:p>
        </p:txBody>
      </p:sp>
      <p:sp>
        <p:nvSpPr>
          <p:cNvPr id="10" name="Text 8"/>
          <p:cNvSpPr txBox="1"/>
          <p:nvPr/>
        </p:nvSpPr>
        <p:spPr>
          <a:xfrm>
            <a:off x="868680" y="3840480"/>
            <a:ext cx="4846320" cy="365760"/>
          </a:xfrm>
          <a:prstGeom prst="rect">
            <a:avLst/>
          </a:prstGeom>
          <a:noFill/>
          <a:ln/>
        </p:spPr>
        <p:txBody>
          <a:bodyPr wrap="square" lIns="0" tIns="0" rIns="0" bIns="0" rtlCol="0" anchor="t"/>
          <a:lstStyle/>
          <a:p>
            <a:pPr indent="0" marL="0">
              <a:buNone/>
            </a:pPr>
            <a:r>
              <a:rPr lang="en-US" sz="1250" dirty="0">
                <a:solidFill>
                  <a:srgbClr val="5C5C5C"/>
                </a:solidFill>
                <a:latin typeface="Segoe UI" pitchFamily="34" charset="0"/>
                <a:ea typeface="Segoe UI" pitchFamily="34" charset="-122"/>
                <a:cs typeface="Segoe UI" pitchFamily="34" charset="-120"/>
              </a:rPr>
              <a:t>Sulit membangun pelanggan setia.</a:t>
            </a:r>
            <a:endParaRPr lang="en-US" sz="1250" dirty="0"/>
          </a:p>
        </p:txBody>
      </p:sp>
      <p:sp>
        <p:nvSpPr>
          <p:cNvPr id="11" name="Text 9"/>
          <p:cNvSpPr txBox="1"/>
          <p:nvPr/>
        </p:nvSpPr>
        <p:spPr>
          <a:xfrm>
            <a:off x="868680" y="4352544"/>
            <a:ext cx="4846320" cy="292608"/>
          </a:xfrm>
          <a:prstGeom prst="rect">
            <a:avLst/>
          </a:prstGeom>
          <a:noFill/>
          <a:ln/>
        </p:spPr>
        <p:txBody>
          <a:bodyPr wrap="square" lIns="0" tIns="0" rIns="0" bIns="0" rtlCol="0" anchor="t"/>
          <a:lstStyle/>
          <a:p>
            <a:pPr indent="0" marL="0">
              <a:buNone/>
            </a:pPr>
            <a:r>
              <a:rPr lang="en-US" sz="1400" dirty="0">
                <a:solidFill>
                  <a:srgbClr val="0A0A0A"/>
                </a:solidFill>
                <a:latin typeface="Segoe UI Semibold" pitchFamily="34" charset="0"/>
                <a:ea typeface="Segoe UI Semibold" pitchFamily="34" charset="-122"/>
                <a:cs typeface="Segoe UI Semibold" pitchFamily="34" charset="-120"/>
              </a:rPr>
              <a:t>Perang harga</a:t>
            </a:r>
            <a:endParaRPr lang="en-US" sz="1400" dirty="0"/>
          </a:p>
        </p:txBody>
      </p:sp>
      <p:sp>
        <p:nvSpPr>
          <p:cNvPr id="12" name="Text 10"/>
          <p:cNvSpPr txBox="1"/>
          <p:nvPr/>
        </p:nvSpPr>
        <p:spPr>
          <a:xfrm>
            <a:off x="868680" y="4645152"/>
            <a:ext cx="4846320" cy="365760"/>
          </a:xfrm>
          <a:prstGeom prst="rect">
            <a:avLst/>
          </a:prstGeom>
          <a:noFill/>
          <a:ln/>
        </p:spPr>
        <p:txBody>
          <a:bodyPr wrap="square" lIns="0" tIns="0" rIns="0" bIns="0" rtlCol="0" anchor="t"/>
          <a:lstStyle/>
          <a:p>
            <a:pPr indent="0" marL="0">
              <a:buNone/>
            </a:pPr>
            <a:r>
              <a:rPr lang="en-US" sz="1250" dirty="0">
                <a:solidFill>
                  <a:srgbClr val="5C5C5C"/>
                </a:solidFill>
                <a:latin typeface="Segoe UI" pitchFamily="34" charset="0"/>
                <a:ea typeface="Segoe UI" pitchFamily="34" charset="-122"/>
                <a:cs typeface="Segoe UI" pitchFamily="34" charset="-120"/>
              </a:rPr>
              <a:t>Produk disandingkan langsung dengan kompetitor.</a:t>
            </a:r>
            <a:endParaRPr lang="en-US" sz="1250" dirty="0"/>
          </a:p>
        </p:txBody>
      </p:sp>
      <p:sp>
        <p:nvSpPr>
          <p:cNvPr id="13" name="Text 11"/>
          <p:cNvSpPr txBox="1"/>
          <p:nvPr/>
        </p:nvSpPr>
        <p:spPr>
          <a:xfrm>
            <a:off x="868680" y="5157216"/>
            <a:ext cx="4846320" cy="292608"/>
          </a:xfrm>
          <a:prstGeom prst="rect">
            <a:avLst/>
          </a:prstGeom>
          <a:noFill/>
          <a:ln/>
        </p:spPr>
        <p:txBody>
          <a:bodyPr wrap="square" lIns="0" tIns="0" rIns="0" bIns="0" rtlCol="0" anchor="t"/>
          <a:lstStyle/>
          <a:p>
            <a:pPr indent="0" marL="0">
              <a:buNone/>
            </a:pPr>
            <a:r>
              <a:rPr lang="en-US" sz="1400" dirty="0">
                <a:solidFill>
                  <a:srgbClr val="0A0A0A"/>
                </a:solidFill>
                <a:latin typeface="Segoe UI Semibold" pitchFamily="34" charset="0"/>
                <a:ea typeface="Segoe UI Semibold" pitchFamily="34" charset="-122"/>
                <a:cs typeface="Segoe UI Semibold" pitchFamily="34" charset="-120"/>
              </a:rPr>
              <a:t>Ketergantungan platform</a:t>
            </a:r>
            <a:endParaRPr lang="en-US" sz="1400" dirty="0"/>
          </a:p>
        </p:txBody>
      </p:sp>
      <p:sp>
        <p:nvSpPr>
          <p:cNvPr id="14" name="Text 12"/>
          <p:cNvSpPr txBox="1"/>
          <p:nvPr/>
        </p:nvSpPr>
        <p:spPr>
          <a:xfrm>
            <a:off x="868680" y="5449824"/>
            <a:ext cx="4846320" cy="365760"/>
          </a:xfrm>
          <a:prstGeom prst="rect">
            <a:avLst/>
          </a:prstGeom>
          <a:noFill/>
          <a:ln/>
        </p:spPr>
        <p:txBody>
          <a:bodyPr wrap="square" lIns="0" tIns="0" rIns="0" bIns="0" rtlCol="0" anchor="t"/>
          <a:lstStyle/>
          <a:p>
            <a:pPr indent="0" marL="0">
              <a:buNone/>
            </a:pPr>
            <a:r>
              <a:rPr lang="en-US" sz="1250" dirty="0">
                <a:solidFill>
                  <a:srgbClr val="5C5C5C"/>
                </a:solidFill>
                <a:latin typeface="Segoe UI" pitchFamily="34" charset="0"/>
                <a:ea typeface="Segoe UI" pitchFamily="34" charset="-122"/>
                <a:cs typeface="Segoe UI" pitchFamily="34" charset="-120"/>
              </a:rPr>
              <a:t>Akun di-suspend, penjualan langsung berhenti.</a:t>
            </a:r>
            <a:endParaRPr lang="en-US" sz="1250" dirty="0"/>
          </a:p>
        </p:txBody>
      </p:sp>
      <p:sp>
        <p:nvSpPr>
          <p:cNvPr id="15" name="Shape 13"/>
          <p:cNvSpPr/>
          <p:nvPr/>
        </p:nvSpPr>
        <p:spPr>
          <a:xfrm>
            <a:off x="6199632" y="1874520"/>
            <a:ext cx="5440680" cy="4160520"/>
          </a:xfrm>
          <a:prstGeom prst="roundRect">
            <a:avLst>
              <a:gd name="adj" fmla="val 4835"/>
            </a:avLst>
          </a:prstGeom>
          <a:solidFill>
            <a:srgbClr val="0A0A0A"/>
          </a:solidFill>
          <a:ln/>
        </p:spPr>
      </p:sp>
      <p:sp>
        <p:nvSpPr>
          <p:cNvPr id="16" name="Text 14"/>
          <p:cNvSpPr txBox="1"/>
          <p:nvPr/>
        </p:nvSpPr>
        <p:spPr>
          <a:xfrm>
            <a:off x="6519672" y="2148840"/>
            <a:ext cx="4846320" cy="365760"/>
          </a:xfrm>
          <a:prstGeom prst="rect">
            <a:avLst/>
          </a:prstGeom>
          <a:noFill/>
          <a:ln/>
        </p:spPr>
        <p:txBody>
          <a:bodyPr wrap="square" lIns="0" tIns="0" rIns="0" bIns="0" rtlCol="0" anchor="ctr"/>
          <a:lstStyle/>
          <a:p>
            <a:pPr indent="0" marL="0">
              <a:buNone/>
            </a:pPr>
            <a:r>
              <a:rPr lang="en-US" sz="1700" dirty="0">
                <a:solidFill>
                  <a:srgbClr val="FFFFFF"/>
                </a:solidFill>
                <a:latin typeface="Segoe UI Semibold" pitchFamily="34" charset="0"/>
                <a:ea typeface="Segoe UI Semibold" pitchFamily="34" charset="-122"/>
                <a:cs typeface="Segoe UI Semibold" pitchFamily="34" charset="-120"/>
              </a:rPr>
              <a:t>Solusi TokoKita</a:t>
            </a:r>
            <a:pPr indent="0" marL="0">
              <a:buNone/>
            </a:pPr>
            <a:r>
              <a:rPr lang="en-US" sz="1700" dirty="0">
                <a:solidFill>
                  <a:srgbClr val="DC2626"/>
                </a:solidFill>
                <a:latin typeface="Segoe UI Semibold" pitchFamily="34" charset="0"/>
                <a:ea typeface="Segoe UI Semibold" pitchFamily="34" charset="-122"/>
                <a:cs typeface="Segoe UI Semibold" pitchFamily="34" charset="-120"/>
              </a:rPr>
              <a:t>.</a:t>
            </a:r>
            <a:endParaRPr lang="en-US" sz="1700" dirty="0"/>
          </a:p>
        </p:txBody>
      </p:sp>
      <p:sp>
        <p:nvSpPr>
          <p:cNvPr id="17" name="Text 15"/>
          <p:cNvSpPr txBox="1"/>
          <p:nvPr/>
        </p:nvSpPr>
        <p:spPr>
          <a:xfrm>
            <a:off x="6519672" y="2743200"/>
            <a:ext cx="4846320" cy="292608"/>
          </a:xfrm>
          <a:prstGeom prst="rect">
            <a:avLst/>
          </a:prstGeom>
          <a:noFill/>
          <a:ln/>
        </p:spPr>
        <p:txBody>
          <a:bodyPr wrap="square" lIns="0" tIns="0" rIns="0" bIns="0" rtlCol="0" anchor="t"/>
          <a:lstStyle/>
          <a:p>
            <a:pPr indent="0" marL="0">
              <a:buNone/>
            </a:pPr>
            <a:r>
              <a:rPr lang="en-US" sz="1400" dirty="0">
                <a:solidFill>
                  <a:srgbClr val="FFFFFF"/>
                </a:solidFill>
                <a:latin typeface="Segoe UI Semibold" pitchFamily="34" charset="0"/>
                <a:ea typeface="Segoe UI Semibold" pitchFamily="34" charset="-122"/>
                <a:cs typeface="Segoe UI Semibold" pitchFamily="34" charset="-120"/>
              </a:rPr>
              <a:t>Bebas komisi</a:t>
            </a:r>
            <a:endParaRPr lang="en-US" sz="1400" dirty="0"/>
          </a:p>
        </p:txBody>
      </p:sp>
      <p:sp>
        <p:nvSpPr>
          <p:cNvPr id="18" name="Text 16"/>
          <p:cNvSpPr txBox="1"/>
          <p:nvPr/>
        </p:nvSpPr>
        <p:spPr>
          <a:xfrm>
            <a:off x="6519672" y="3035808"/>
            <a:ext cx="4846320" cy="365760"/>
          </a:xfrm>
          <a:prstGeom prst="rect">
            <a:avLst/>
          </a:prstGeom>
          <a:noFill/>
          <a:ln/>
        </p:spPr>
        <p:txBody>
          <a:bodyPr wrap="square" lIns="0" tIns="0" rIns="0" bIns="0" rtlCol="0" anchor="t"/>
          <a:lstStyle/>
          <a:p>
            <a:pPr indent="0" marL="0">
              <a:buNone/>
            </a:pPr>
            <a:r>
              <a:rPr lang="en-US" sz="1250" dirty="0">
                <a:solidFill>
                  <a:srgbClr val="A3A3A3"/>
                </a:solidFill>
                <a:latin typeface="Segoe UI" pitchFamily="34" charset="0"/>
                <a:ea typeface="Segoe UI" pitchFamily="34" charset="-122"/>
                <a:cs typeface="Segoe UI" pitchFamily="34" charset="-120"/>
              </a:rPr>
              <a:t>Seluruh hasil penjualan masuk ke pemilik toko.</a:t>
            </a:r>
            <a:endParaRPr lang="en-US" sz="1250" dirty="0"/>
          </a:p>
        </p:txBody>
      </p:sp>
      <p:sp>
        <p:nvSpPr>
          <p:cNvPr id="19" name="Text 17"/>
          <p:cNvSpPr txBox="1"/>
          <p:nvPr/>
        </p:nvSpPr>
        <p:spPr>
          <a:xfrm>
            <a:off x="6519672" y="3547872"/>
            <a:ext cx="4846320" cy="292608"/>
          </a:xfrm>
          <a:prstGeom prst="rect">
            <a:avLst/>
          </a:prstGeom>
          <a:noFill/>
          <a:ln/>
        </p:spPr>
        <p:txBody>
          <a:bodyPr wrap="square" lIns="0" tIns="0" rIns="0" bIns="0" rtlCol="0" anchor="t"/>
          <a:lstStyle/>
          <a:p>
            <a:pPr indent="0" marL="0">
              <a:buNone/>
            </a:pPr>
            <a:r>
              <a:rPr lang="en-US" sz="1400" dirty="0">
                <a:solidFill>
                  <a:srgbClr val="FFFFFF"/>
                </a:solidFill>
                <a:latin typeface="Segoe UI Semibold" pitchFamily="34" charset="0"/>
                <a:ea typeface="Segoe UI Semibold" pitchFamily="34" charset="-122"/>
                <a:cs typeface="Segoe UI Semibold" pitchFamily="34" charset="-120"/>
              </a:rPr>
              <a:t>Data pelanggan sendiri</a:t>
            </a:r>
            <a:endParaRPr lang="en-US" sz="1400" dirty="0"/>
          </a:p>
        </p:txBody>
      </p:sp>
      <p:sp>
        <p:nvSpPr>
          <p:cNvPr id="20" name="Text 18"/>
          <p:cNvSpPr txBox="1"/>
          <p:nvPr/>
        </p:nvSpPr>
        <p:spPr>
          <a:xfrm>
            <a:off x="6519672" y="3840480"/>
            <a:ext cx="4846320" cy="365760"/>
          </a:xfrm>
          <a:prstGeom prst="rect">
            <a:avLst/>
          </a:prstGeom>
          <a:noFill/>
          <a:ln/>
        </p:spPr>
        <p:txBody>
          <a:bodyPr wrap="square" lIns="0" tIns="0" rIns="0" bIns="0" rtlCol="0" anchor="t"/>
          <a:lstStyle/>
          <a:p>
            <a:pPr indent="0" marL="0">
              <a:buNone/>
            </a:pPr>
            <a:r>
              <a:rPr lang="en-US" sz="1250" dirty="0">
                <a:solidFill>
                  <a:srgbClr val="A3A3A3"/>
                </a:solidFill>
                <a:latin typeface="Segoe UI" pitchFamily="34" charset="0"/>
                <a:ea typeface="Segoe UI" pitchFamily="34" charset="-122"/>
                <a:cs typeface="Segoe UI" pitchFamily="34" charset="-120"/>
              </a:rPr>
              <a:t>Bisa mengirim promo dan voucher ke pelanggan setia.</a:t>
            </a:r>
            <a:endParaRPr lang="en-US" sz="1250" dirty="0"/>
          </a:p>
        </p:txBody>
      </p:sp>
      <p:sp>
        <p:nvSpPr>
          <p:cNvPr id="21" name="Text 19"/>
          <p:cNvSpPr txBox="1"/>
          <p:nvPr/>
        </p:nvSpPr>
        <p:spPr>
          <a:xfrm>
            <a:off x="6519672" y="4352544"/>
            <a:ext cx="4846320" cy="292608"/>
          </a:xfrm>
          <a:prstGeom prst="rect">
            <a:avLst/>
          </a:prstGeom>
          <a:noFill/>
          <a:ln/>
        </p:spPr>
        <p:txBody>
          <a:bodyPr wrap="square" lIns="0" tIns="0" rIns="0" bIns="0" rtlCol="0" anchor="t"/>
          <a:lstStyle/>
          <a:p>
            <a:pPr indent="0" marL="0">
              <a:buNone/>
            </a:pPr>
            <a:r>
              <a:rPr lang="en-US" sz="1400" dirty="0">
                <a:solidFill>
                  <a:srgbClr val="FFFFFF"/>
                </a:solidFill>
                <a:latin typeface="Segoe UI Semibold" pitchFamily="34" charset="0"/>
                <a:ea typeface="Segoe UI Semibold" pitchFamily="34" charset="-122"/>
                <a:cs typeface="Segoe UI Semibold" pitchFamily="34" charset="-120"/>
              </a:rPr>
              <a:t>Etalase eksklusif</a:t>
            </a:r>
            <a:endParaRPr lang="en-US" sz="1400" dirty="0"/>
          </a:p>
        </p:txBody>
      </p:sp>
      <p:sp>
        <p:nvSpPr>
          <p:cNvPr id="22" name="Text 20"/>
          <p:cNvSpPr txBox="1"/>
          <p:nvPr/>
        </p:nvSpPr>
        <p:spPr>
          <a:xfrm>
            <a:off x="6519672" y="4645152"/>
            <a:ext cx="4846320" cy="365760"/>
          </a:xfrm>
          <a:prstGeom prst="rect">
            <a:avLst/>
          </a:prstGeom>
          <a:noFill/>
          <a:ln/>
        </p:spPr>
        <p:txBody>
          <a:bodyPr wrap="square" lIns="0" tIns="0" rIns="0" bIns="0" rtlCol="0" anchor="t"/>
          <a:lstStyle/>
          <a:p>
            <a:pPr indent="0" marL="0">
              <a:buNone/>
            </a:pPr>
            <a:r>
              <a:rPr lang="en-US" sz="1250" dirty="0">
                <a:solidFill>
                  <a:srgbClr val="A3A3A3"/>
                </a:solidFill>
                <a:latin typeface="Segoe UI" pitchFamily="34" charset="0"/>
                <a:ea typeface="Segoe UI" pitchFamily="34" charset="-122"/>
                <a:cs typeface="Segoe UI" pitchFamily="34" charset="-120"/>
              </a:rPr>
              <a:t>Hanya produk brand sendiri, tanpa iklan kompetitor.</a:t>
            </a:r>
            <a:endParaRPr lang="en-US" sz="1250" dirty="0"/>
          </a:p>
        </p:txBody>
      </p:sp>
      <p:sp>
        <p:nvSpPr>
          <p:cNvPr id="23" name="Text 21"/>
          <p:cNvSpPr txBox="1"/>
          <p:nvPr/>
        </p:nvSpPr>
        <p:spPr>
          <a:xfrm>
            <a:off x="6519672" y="5157216"/>
            <a:ext cx="4846320" cy="292608"/>
          </a:xfrm>
          <a:prstGeom prst="rect">
            <a:avLst/>
          </a:prstGeom>
          <a:noFill/>
          <a:ln/>
        </p:spPr>
        <p:txBody>
          <a:bodyPr wrap="square" lIns="0" tIns="0" rIns="0" bIns="0" rtlCol="0" anchor="t"/>
          <a:lstStyle/>
          <a:p>
            <a:pPr indent="0" marL="0">
              <a:buNone/>
            </a:pPr>
            <a:r>
              <a:rPr lang="en-US" sz="1400" dirty="0">
                <a:solidFill>
                  <a:srgbClr val="FFFFFF"/>
                </a:solidFill>
                <a:latin typeface="Segoe UI Semibold" pitchFamily="34" charset="0"/>
                <a:ea typeface="Segoe UI Semibold" pitchFamily="34" charset="-122"/>
                <a:cs typeface="Segoe UI Semibold" pitchFamily="34" charset="-120"/>
              </a:rPr>
              <a:t>Pembelajaran nyata</a:t>
            </a:r>
            <a:endParaRPr lang="en-US" sz="1400" dirty="0"/>
          </a:p>
        </p:txBody>
      </p:sp>
      <p:sp>
        <p:nvSpPr>
          <p:cNvPr id="24" name="Text 22"/>
          <p:cNvSpPr txBox="1"/>
          <p:nvPr/>
        </p:nvSpPr>
        <p:spPr>
          <a:xfrm>
            <a:off x="6519672" y="5449824"/>
            <a:ext cx="4846320" cy="365760"/>
          </a:xfrm>
          <a:prstGeom prst="rect">
            <a:avLst/>
          </a:prstGeom>
          <a:noFill/>
          <a:ln/>
        </p:spPr>
        <p:txBody>
          <a:bodyPr wrap="square" lIns="0" tIns="0" rIns="0" bIns="0" rtlCol="0" anchor="t"/>
          <a:lstStyle/>
          <a:p>
            <a:pPr indent="0" marL="0">
              <a:buNone/>
            </a:pPr>
            <a:r>
              <a:rPr lang="en-US" sz="1250" dirty="0">
                <a:solidFill>
                  <a:srgbClr val="A3A3A3"/>
                </a:solidFill>
                <a:latin typeface="Segoe UI" pitchFamily="34" charset="0"/>
                <a:ea typeface="Segoe UI" pitchFamily="34" charset="-122"/>
                <a:cs typeface="Segoe UI" pitchFamily="34" charset="-120"/>
              </a:rPr>
              <a:t>Tim membangun sistem transaksi dari hulu ke hilir.</a:t>
            </a:r>
            <a:endParaRPr lang="en-US" sz="1250" dirty="0"/>
          </a:p>
        </p:txBody>
      </p:sp>
      <p:sp>
        <p:nvSpPr>
          <p:cNvPr id="25" name="Slide Number Placeholder 0"/>
          <p:cNvSpPr>
            <a:spLocks noGrp="1"/>
          </p:cNvSpPr>
          <p:nvPr>
            <p:ph type="sldNum" sz="quarter" idx="4294967295"/>
          </p:nvPr>
        </p:nvSpPr>
        <p:spPr>
          <a:xfrm>
            <a:off x="11183112"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C5C5C"/>
                </a:solidFill>
                <a:latin typeface="Segoe UI"/>
                <a:ea typeface="Segoe UI"/>
                <a:cs typeface="Segoe U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548640" y="411480"/>
            <a:ext cx="1978762" cy="292608"/>
          </a:xfrm>
          <a:prstGeom prst="roundRect">
            <a:avLst>
              <a:gd name="adj" fmla="val 50000"/>
            </a:avLst>
          </a:prstGeom>
          <a:solidFill>
            <a:srgbClr val="F3F3F3"/>
          </a:solidFill>
          <a:ln/>
        </p:spPr>
      </p:sp>
      <p:sp>
        <p:nvSpPr>
          <p:cNvPr id="3" name="Text 1"/>
          <p:cNvSpPr txBox="1"/>
          <p:nvPr/>
        </p:nvSpPr>
        <p:spPr>
          <a:xfrm>
            <a:off x="548640" y="411480"/>
            <a:ext cx="1978762" cy="292608"/>
          </a:xfrm>
          <a:prstGeom prst="rect">
            <a:avLst/>
          </a:prstGeom>
          <a:noFill/>
          <a:ln/>
        </p:spPr>
        <p:txBody>
          <a:bodyPr wrap="square" lIns="0" tIns="0" rIns="0" bIns="0" rtlCol="0" anchor="ctr"/>
          <a:lstStyle/>
          <a:p>
            <a:pPr algn="ctr" indent="0" marL="0">
              <a:buNone/>
            </a:pPr>
            <a:r>
              <a:rPr lang="en-US" sz="950" spc="150" kern="0" dirty="0">
                <a:solidFill>
                  <a:srgbClr val="5C5C5C"/>
                </a:solidFill>
                <a:latin typeface="Segoe UI Semibold" pitchFamily="34" charset="0"/>
                <a:ea typeface="Segoe UI Semibold" pitchFamily="34" charset="-122"/>
                <a:cs typeface="Segoe UI Semibold" pitchFamily="34" charset="-120"/>
              </a:rPr>
              <a:t>ANALISIS KEBUTUHAN</a:t>
            </a:r>
            <a:endParaRPr lang="en-US" sz="950" dirty="0"/>
          </a:p>
        </p:txBody>
      </p:sp>
      <p:sp>
        <p:nvSpPr>
          <p:cNvPr id="4" name="Text 1"/>
          <p:cNvSpPr/>
          <p:nvPr>
            <p:ph idx="101" type="title" hasCustomPrompt="1"/>
          </p:nvPr>
        </p:nvSpPr>
        <p:spPr>
          <a:xfrm>
            <a:off x="548640" y="868680"/>
            <a:ext cx="11064240" cy="777240"/>
          </a:xfrm>
          <a:prstGeom prst="rect">
            <a:avLst/>
          </a:prstGeom>
          <a:noFill/>
          <a:ln/>
        </p:spPr>
        <p:txBody>
          <a:bodyPr wrap="square" lIns="0" tIns="0" rIns="0" bIns="0" rtlCol="0" anchor="t"/>
          <a:lstStyle/>
          <a:p>
            <a:pPr algn="l" indent="0" marL="0">
              <a:buNone/>
            </a:pPr>
            <a:r>
              <a:rPr lang="en-US" sz="3000" dirty="0">
                <a:solidFill>
                  <a:srgbClr val="0A0A0A"/>
                </a:solidFill>
                <a:latin typeface="Segoe UI Semibold" pitchFamily="34" charset="0"/>
                <a:ea typeface="Segoe UI Semibold" pitchFamily="34" charset="-122"/>
                <a:cs typeface="Segoe UI Semibold" pitchFamily="34" charset="-120"/>
              </a:rPr>
              <a:t>Dua pengguna utama TokoKita</a:t>
            </a:r>
            <a:endParaRPr lang="en-US" sz="3000" dirty="0"/>
          </a:p>
        </p:txBody>
      </p:sp>
      <p:sp>
        <p:nvSpPr>
          <p:cNvPr id="5" name="Shape 3"/>
          <p:cNvSpPr/>
          <p:nvPr/>
        </p:nvSpPr>
        <p:spPr>
          <a:xfrm>
            <a:off x="548640" y="1874520"/>
            <a:ext cx="5440680" cy="4160520"/>
          </a:xfrm>
          <a:prstGeom prst="roundRect">
            <a:avLst>
              <a:gd name="adj" fmla="val 4835"/>
            </a:avLst>
          </a:prstGeom>
          <a:solidFill>
            <a:srgbClr val="F3F3F3"/>
          </a:solidFill>
          <a:ln/>
        </p:spPr>
      </p:sp>
      <p:sp>
        <p:nvSpPr>
          <p:cNvPr id="6" name="Shape 4"/>
          <p:cNvSpPr/>
          <p:nvPr/>
        </p:nvSpPr>
        <p:spPr>
          <a:xfrm>
            <a:off x="868680" y="2194560"/>
            <a:ext cx="640080" cy="640080"/>
          </a:xfrm>
          <a:prstGeom prst="ellipse">
            <a:avLst/>
          </a:prstGeom>
          <a:solidFill>
            <a:srgbClr val="0A0A0A"/>
          </a:solidFill>
          <a:ln/>
        </p:spPr>
      </p:sp>
      <p:pic>
        <p:nvPicPr>
          <p:cNvPr id="7" name="Image 0" descr="C:\laragon\www\e-commerce\scripts\ppt\aset\ikon-User-putih.png">    </p:cNvPr>
          <p:cNvPicPr>
            <a:picLocks noChangeAspect="1"/>
          </p:cNvPicPr>
          <p:nvPr/>
        </p:nvPicPr>
        <p:blipFill>
          <a:blip r:embed="rId1"/>
          <a:stretch>
            <a:fillRect/>
          </a:stretch>
        </p:blipFill>
        <p:spPr>
          <a:xfrm>
            <a:off x="1028700" y="2354580"/>
            <a:ext cx="320040" cy="320040"/>
          </a:xfrm>
          <a:prstGeom prst="rect">
            <a:avLst/>
          </a:prstGeom>
        </p:spPr>
      </p:pic>
      <p:sp>
        <p:nvSpPr>
          <p:cNvPr id="8" name="Text 5"/>
          <p:cNvSpPr txBox="1"/>
          <p:nvPr/>
        </p:nvSpPr>
        <p:spPr>
          <a:xfrm>
            <a:off x="1691640" y="2212848"/>
            <a:ext cx="4023360" cy="347472"/>
          </a:xfrm>
          <a:prstGeom prst="rect">
            <a:avLst/>
          </a:prstGeom>
          <a:noFill/>
          <a:ln/>
        </p:spPr>
        <p:txBody>
          <a:bodyPr wrap="square" lIns="0" tIns="0" rIns="0" bIns="0" rtlCol="0" anchor="t"/>
          <a:lstStyle/>
          <a:p>
            <a:pPr indent="0" marL="0">
              <a:buNone/>
            </a:pPr>
            <a:r>
              <a:rPr lang="en-US" sz="1900" dirty="0">
                <a:solidFill>
                  <a:srgbClr val="0A0A0A"/>
                </a:solidFill>
                <a:latin typeface="Segoe UI Semibold" pitchFamily="34" charset="0"/>
                <a:ea typeface="Segoe UI Semibold" pitchFamily="34" charset="-122"/>
                <a:cs typeface="Segoe UI Semibold" pitchFamily="34" charset="-120"/>
              </a:rPr>
              <a:t>Pembeli</a:t>
            </a:r>
            <a:endParaRPr lang="en-US" sz="1900" dirty="0"/>
          </a:p>
        </p:txBody>
      </p:sp>
      <p:sp>
        <p:nvSpPr>
          <p:cNvPr id="9" name="Text 6"/>
          <p:cNvSpPr txBox="1"/>
          <p:nvPr/>
        </p:nvSpPr>
        <p:spPr>
          <a:xfrm>
            <a:off x="1691640" y="2560320"/>
            <a:ext cx="4114800" cy="274320"/>
          </a:xfrm>
          <a:prstGeom prst="rect">
            <a:avLst/>
          </a:prstGeom>
          <a:noFill/>
          <a:ln/>
        </p:spPr>
        <p:txBody>
          <a:bodyPr wrap="square" lIns="0" tIns="0" rIns="0" bIns="0" rtlCol="0" anchor="t"/>
          <a:lstStyle/>
          <a:p>
            <a:pPr indent="0" marL="0">
              <a:buNone/>
            </a:pPr>
            <a:r>
              <a:rPr lang="en-US" sz="1150" dirty="0">
                <a:solidFill>
                  <a:srgbClr val="5C5C5C"/>
                </a:solidFill>
                <a:latin typeface="Segoe UI" pitchFamily="34" charset="0"/>
                <a:ea typeface="Segoe UI" pitchFamily="34" charset="-122"/>
                <a:cs typeface="Segoe UI" pitchFamily="34" charset="-120"/>
              </a:rPr>
              <a:t>Usia 18–40 tahun · 90% belanja lewat HP</a:t>
            </a:r>
            <a:endParaRPr lang="en-US" sz="1150" dirty="0"/>
          </a:p>
        </p:txBody>
      </p:sp>
      <p:sp>
        <p:nvSpPr>
          <p:cNvPr id="10" name="Text 7"/>
          <p:cNvSpPr txBox="1"/>
          <p:nvPr/>
        </p:nvSpPr>
        <p:spPr>
          <a:xfrm>
            <a:off x="868680" y="3310128"/>
            <a:ext cx="4754880" cy="228600"/>
          </a:xfrm>
          <a:prstGeom prst="rect">
            <a:avLst/>
          </a:prstGeom>
          <a:noFill/>
          <a:ln/>
        </p:spPr>
        <p:txBody>
          <a:bodyPr wrap="square" lIns="0" tIns="0" rIns="0" bIns="0" rtlCol="0" anchor="t"/>
          <a:lstStyle/>
          <a:p>
            <a:pPr indent="0" marL="0">
              <a:buNone/>
            </a:pPr>
            <a:r>
              <a:rPr lang="en-US" sz="950" spc="150" kern="0" dirty="0">
                <a:solidFill>
                  <a:srgbClr val="5C5C5C"/>
                </a:solidFill>
                <a:latin typeface="Segoe UI Semibold" pitchFamily="34" charset="0"/>
                <a:ea typeface="Segoe UI Semibold" pitchFamily="34" charset="-122"/>
                <a:cs typeface="Segoe UI Semibold" pitchFamily="34" charset="-120"/>
              </a:rPr>
              <a:t>KEBUTUHAN</a:t>
            </a:r>
            <a:endParaRPr lang="en-US" sz="950" dirty="0"/>
          </a:p>
        </p:txBody>
      </p:sp>
      <p:sp>
        <p:nvSpPr>
          <p:cNvPr id="11" name="Text 8"/>
          <p:cNvSpPr txBox="1"/>
          <p:nvPr/>
        </p:nvSpPr>
        <p:spPr>
          <a:xfrm>
            <a:off x="868680" y="3566160"/>
            <a:ext cx="4800600" cy="502920"/>
          </a:xfrm>
          <a:prstGeom prst="rect">
            <a:avLst/>
          </a:prstGeom>
          <a:noFill/>
          <a:ln/>
        </p:spPr>
        <p:txBody>
          <a:bodyPr wrap="square" lIns="0" tIns="0" rIns="0" bIns="0" rtlCol="0" anchor="t"/>
          <a:lstStyle/>
          <a:p>
            <a:pPr indent="0" marL="0">
              <a:buNone/>
            </a:pPr>
            <a:r>
              <a:rPr lang="en-US" sz="1300" dirty="0">
                <a:solidFill>
                  <a:srgbClr val="0A0A0A"/>
                </a:solidFill>
                <a:latin typeface="Segoe UI" pitchFamily="34" charset="0"/>
                <a:ea typeface="Segoe UI" pitchFamily="34" charset="-122"/>
                <a:cs typeface="Segoe UI" pitchFamily="34" charset="-120"/>
              </a:rPr>
              <a:t>Cari barang cepat, foto jelas, checkout di bawah 3 menit.</a:t>
            </a:r>
            <a:endParaRPr lang="en-US" sz="1300" dirty="0"/>
          </a:p>
        </p:txBody>
      </p:sp>
      <p:sp>
        <p:nvSpPr>
          <p:cNvPr id="12" name="Text 9"/>
          <p:cNvSpPr txBox="1"/>
          <p:nvPr/>
        </p:nvSpPr>
        <p:spPr>
          <a:xfrm>
            <a:off x="868680" y="4178808"/>
            <a:ext cx="4754880" cy="228600"/>
          </a:xfrm>
          <a:prstGeom prst="rect">
            <a:avLst/>
          </a:prstGeom>
          <a:noFill/>
          <a:ln/>
        </p:spPr>
        <p:txBody>
          <a:bodyPr wrap="square" lIns="0" tIns="0" rIns="0" bIns="0" rtlCol="0" anchor="t"/>
          <a:lstStyle/>
          <a:p>
            <a:pPr indent="0" marL="0">
              <a:buNone/>
            </a:pPr>
            <a:r>
              <a:rPr lang="en-US" sz="950" spc="150" kern="0" dirty="0">
                <a:solidFill>
                  <a:srgbClr val="5C5C5C"/>
                </a:solidFill>
                <a:latin typeface="Segoe UI Semibold" pitchFamily="34" charset="0"/>
                <a:ea typeface="Segoe UI Semibold" pitchFamily="34" charset="-122"/>
                <a:cs typeface="Segoe UI Semibold" pitchFamily="34" charset="-120"/>
              </a:rPr>
              <a:t>KEKHAWATIRAN</a:t>
            </a:r>
            <a:endParaRPr lang="en-US" sz="950" dirty="0"/>
          </a:p>
        </p:txBody>
      </p:sp>
      <p:sp>
        <p:nvSpPr>
          <p:cNvPr id="13" name="Text 10"/>
          <p:cNvSpPr txBox="1"/>
          <p:nvPr/>
        </p:nvSpPr>
        <p:spPr>
          <a:xfrm>
            <a:off x="868680" y="4434840"/>
            <a:ext cx="4800600" cy="502920"/>
          </a:xfrm>
          <a:prstGeom prst="rect">
            <a:avLst/>
          </a:prstGeom>
          <a:noFill/>
          <a:ln/>
        </p:spPr>
        <p:txBody>
          <a:bodyPr wrap="square" lIns="0" tIns="0" rIns="0" bIns="0" rtlCol="0" anchor="t"/>
          <a:lstStyle/>
          <a:p>
            <a:pPr indent="0" marL="0">
              <a:buNone/>
            </a:pPr>
            <a:r>
              <a:rPr lang="en-US" sz="1300" dirty="0">
                <a:solidFill>
                  <a:srgbClr val="0A0A0A"/>
                </a:solidFill>
                <a:latin typeface="Segoe UI" pitchFamily="34" charset="0"/>
                <a:ea typeface="Segoe UI" pitchFamily="34" charset="-122"/>
                <a:cs typeface="Segoe UI" pitchFamily="34" charset="-120"/>
              </a:rPr>
              <a:t>Barang palsu, ongkir tidak jelas, stok ternyata habis.</a:t>
            </a:r>
            <a:endParaRPr lang="en-US" sz="1300" dirty="0"/>
          </a:p>
        </p:txBody>
      </p:sp>
      <p:sp>
        <p:nvSpPr>
          <p:cNvPr id="14" name="Text 11"/>
          <p:cNvSpPr txBox="1"/>
          <p:nvPr/>
        </p:nvSpPr>
        <p:spPr>
          <a:xfrm>
            <a:off x="868680" y="5047488"/>
            <a:ext cx="4754880" cy="228600"/>
          </a:xfrm>
          <a:prstGeom prst="rect">
            <a:avLst/>
          </a:prstGeom>
          <a:noFill/>
          <a:ln/>
        </p:spPr>
        <p:txBody>
          <a:bodyPr wrap="square" lIns="0" tIns="0" rIns="0" bIns="0" rtlCol="0" anchor="t"/>
          <a:lstStyle/>
          <a:p>
            <a:pPr indent="0" marL="0">
              <a:buNone/>
            </a:pPr>
            <a:r>
              <a:rPr lang="en-US" sz="950" spc="150" kern="0" dirty="0">
                <a:solidFill>
                  <a:srgbClr val="5C5C5C"/>
                </a:solidFill>
                <a:latin typeface="Segoe UI Semibold" pitchFamily="34" charset="0"/>
                <a:ea typeface="Segoe UI Semibold" pitchFamily="34" charset="-122"/>
                <a:cs typeface="Segoe UI Semibold" pitchFamily="34" charset="-120"/>
              </a:rPr>
              <a:t>FITUR ANDALAN</a:t>
            </a:r>
            <a:endParaRPr lang="en-US" sz="950" dirty="0"/>
          </a:p>
        </p:txBody>
      </p:sp>
      <p:sp>
        <p:nvSpPr>
          <p:cNvPr id="15" name="Text 12"/>
          <p:cNvSpPr txBox="1"/>
          <p:nvPr/>
        </p:nvSpPr>
        <p:spPr>
          <a:xfrm>
            <a:off x="868680" y="5303520"/>
            <a:ext cx="4800600" cy="502920"/>
          </a:xfrm>
          <a:prstGeom prst="rect">
            <a:avLst/>
          </a:prstGeom>
          <a:noFill/>
          <a:ln/>
        </p:spPr>
        <p:txBody>
          <a:bodyPr wrap="square" lIns="0" tIns="0" rIns="0" bIns="0" rtlCol="0" anchor="t"/>
          <a:lstStyle/>
          <a:p>
            <a:pPr indent="0" marL="0">
              <a:buNone/>
            </a:pPr>
            <a:r>
              <a:rPr lang="en-US" sz="1300" dirty="0">
                <a:solidFill>
                  <a:srgbClr val="0A0A0A"/>
                </a:solidFill>
                <a:latin typeface="Segoe UI" pitchFamily="34" charset="0"/>
                <a:ea typeface="Segoe UI" pitchFamily="34" charset="-122"/>
                <a:cs typeface="Segoe UI" pitchFamily="34" charset="-120"/>
              </a:rPr>
              <a:t>Pencarian + filter, ulasan pembeli asli, kode promo, asisten AI.</a:t>
            </a:r>
            <a:endParaRPr lang="en-US" sz="1300" dirty="0"/>
          </a:p>
        </p:txBody>
      </p:sp>
      <p:sp>
        <p:nvSpPr>
          <p:cNvPr id="16" name="Shape 13"/>
          <p:cNvSpPr/>
          <p:nvPr/>
        </p:nvSpPr>
        <p:spPr>
          <a:xfrm>
            <a:off x="6199632" y="1874520"/>
            <a:ext cx="5440680" cy="4160520"/>
          </a:xfrm>
          <a:prstGeom prst="roundRect">
            <a:avLst>
              <a:gd name="adj" fmla="val 4835"/>
            </a:avLst>
          </a:prstGeom>
          <a:solidFill>
            <a:srgbClr val="F3F3F3"/>
          </a:solidFill>
          <a:ln/>
        </p:spPr>
      </p:sp>
      <p:sp>
        <p:nvSpPr>
          <p:cNvPr id="17" name="Shape 14"/>
          <p:cNvSpPr/>
          <p:nvPr/>
        </p:nvSpPr>
        <p:spPr>
          <a:xfrm>
            <a:off x="6519672" y="2194560"/>
            <a:ext cx="640080" cy="640080"/>
          </a:xfrm>
          <a:prstGeom prst="ellipse">
            <a:avLst/>
          </a:prstGeom>
          <a:solidFill>
            <a:srgbClr val="0A0A0A"/>
          </a:solidFill>
          <a:ln/>
        </p:spPr>
      </p:sp>
      <p:pic>
        <p:nvPicPr>
          <p:cNvPr id="18" name="Image 1" descr="C:\laragon\www\e-commerce\scripts\ppt\aset\ikon-UserCog-putih.png">    </p:cNvPr>
          <p:cNvPicPr>
            <a:picLocks noChangeAspect="1"/>
          </p:cNvPicPr>
          <p:nvPr/>
        </p:nvPicPr>
        <p:blipFill>
          <a:blip r:embed="rId2"/>
          <a:stretch>
            <a:fillRect/>
          </a:stretch>
        </p:blipFill>
        <p:spPr>
          <a:xfrm>
            <a:off x="6679692" y="2354580"/>
            <a:ext cx="320040" cy="320040"/>
          </a:xfrm>
          <a:prstGeom prst="rect">
            <a:avLst/>
          </a:prstGeom>
        </p:spPr>
      </p:pic>
      <p:sp>
        <p:nvSpPr>
          <p:cNvPr id="19" name="Text 15"/>
          <p:cNvSpPr txBox="1"/>
          <p:nvPr/>
        </p:nvSpPr>
        <p:spPr>
          <a:xfrm>
            <a:off x="7342632" y="2212848"/>
            <a:ext cx="4023360" cy="347472"/>
          </a:xfrm>
          <a:prstGeom prst="rect">
            <a:avLst/>
          </a:prstGeom>
          <a:noFill/>
          <a:ln/>
        </p:spPr>
        <p:txBody>
          <a:bodyPr wrap="square" lIns="0" tIns="0" rIns="0" bIns="0" rtlCol="0" anchor="t"/>
          <a:lstStyle/>
          <a:p>
            <a:pPr indent="0" marL="0">
              <a:buNone/>
            </a:pPr>
            <a:r>
              <a:rPr lang="en-US" sz="1900" dirty="0">
                <a:solidFill>
                  <a:srgbClr val="0A0A0A"/>
                </a:solidFill>
                <a:latin typeface="Segoe UI Semibold" pitchFamily="34" charset="0"/>
                <a:ea typeface="Segoe UI Semibold" pitchFamily="34" charset="-122"/>
                <a:cs typeface="Segoe UI Semibold" pitchFamily="34" charset="-120"/>
              </a:rPr>
              <a:t>Admin toko</a:t>
            </a:r>
            <a:endParaRPr lang="en-US" sz="1900" dirty="0"/>
          </a:p>
        </p:txBody>
      </p:sp>
      <p:sp>
        <p:nvSpPr>
          <p:cNvPr id="20" name="Text 16"/>
          <p:cNvSpPr txBox="1"/>
          <p:nvPr/>
        </p:nvSpPr>
        <p:spPr>
          <a:xfrm>
            <a:off x="7342632" y="2560320"/>
            <a:ext cx="4114800" cy="274320"/>
          </a:xfrm>
          <a:prstGeom prst="rect">
            <a:avLst/>
          </a:prstGeom>
          <a:noFill/>
          <a:ln/>
        </p:spPr>
        <p:txBody>
          <a:bodyPr wrap="square" lIns="0" tIns="0" rIns="0" bIns="0" rtlCol="0" anchor="t"/>
          <a:lstStyle/>
          <a:p>
            <a:pPr indent="0" marL="0">
              <a:buNone/>
            </a:pPr>
            <a:r>
              <a:rPr lang="en-US" sz="1150" dirty="0">
                <a:solidFill>
                  <a:srgbClr val="5C5C5C"/>
                </a:solidFill>
                <a:latin typeface="Segoe UI" pitchFamily="34" charset="0"/>
                <a:ea typeface="Segoe UI" pitchFamily="34" charset="-122"/>
                <a:cs typeface="Segoe UI" pitchFamily="34" charset="-120"/>
              </a:rPr>
              <a:t>Pemilik atau staf operasional · bukan orang IT</a:t>
            </a:r>
            <a:endParaRPr lang="en-US" sz="1150" dirty="0"/>
          </a:p>
        </p:txBody>
      </p:sp>
      <p:sp>
        <p:nvSpPr>
          <p:cNvPr id="21" name="Text 17"/>
          <p:cNvSpPr txBox="1"/>
          <p:nvPr/>
        </p:nvSpPr>
        <p:spPr>
          <a:xfrm>
            <a:off x="6519672" y="3310128"/>
            <a:ext cx="4754880" cy="228600"/>
          </a:xfrm>
          <a:prstGeom prst="rect">
            <a:avLst/>
          </a:prstGeom>
          <a:noFill/>
          <a:ln/>
        </p:spPr>
        <p:txBody>
          <a:bodyPr wrap="square" lIns="0" tIns="0" rIns="0" bIns="0" rtlCol="0" anchor="t"/>
          <a:lstStyle/>
          <a:p>
            <a:pPr indent="0" marL="0">
              <a:buNone/>
            </a:pPr>
            <a:r>
              <a:rPr lang="en-US" sz="950" spc="150" kern="0" dirty="0">
                <a:solidFill>
                  <a:srgbClr val="5C5C5C"/>
                </a:solidFill>
                <a:latin typeface="Segoe UI Semibold" pitchFamily="34" charset="0"/>
                <a:ea typeface="Segoe UI Semibold" pitchFamily="34" charset="-122"/>
                <a:cs typeface="Segoe UI Semibold" pitchFamily="34" charset="-120"/>
              </a:rPr>
              <a:t>KEBUTUHAN</a:t>
            </a:r>
            <a:endParaRPr lang="en-US" sz="950" dirty="0"/>
          </a:p>
        </p:txBody>
      </p:sp>
      <p:sp>
        <p:nvSpPr>
          <p:cNvPr id="22" name="Text 18"/>
          <p:cNvSpPr txBox="1"/>
          <p:nvPr/>
        </p:nvSpPr>
        <p:spPr>
          <a:xfrm>
            <a:off x="6519672" y="3566160"/>
            <a:ext cx="4800600" cy="502920"/>
          </a:xfrm>
          <a:prstGeom prst="rect">
            <a:avLst/>
          </a:prstGeom>
          <a:noFill/>
          <a:ln/>
        </p:spPr>
        <p:txBody>
          <a:bodyPr wrap="square" lIns="0" tIns="0" rIns="0" bIns="0" rtlCol="0" anchor="t"/>
          <a:lstStyle/>
          <a:p>
            <a:pPr indent="0" marL="0">
              <a:buNone/>
            </a:pPr>
            <a:r>
              <a:rPr lang="en-US" sz="1300" dirty="0">
                <a:solidFill>
                  <a:srgbClr val="0A0A0A"/>
                </a:solidFill>
                <a:latin typeface="Segoe UI" pitchFamily="34" charset="0"/>
                <a:ea typeface="Segoe UI" pitchFamily="34" charset="-122"/>
                <a:cs typeface="Segoe UI" pitchFamily="34" charset="-120"/>
              </a:rPr>
              <a:t>Pantau omzet, stok menipis, dan input resi dengan mudah.</a:t>
            </a:r>
            <a:endParaRPr lang="en-US" sz="1300" dirty="0"/>
          </a:p>
        </p:txBody>
      </p:sp>
      <p:sp>
        <p:nvSpPr>
          <p:cNvPr id="23" name="Text 19"/>
          <p:cNvSpPr txBox="1"/>
          <p:nvPr/>
        </p:nvSpPr>
        <p:spPr>
          <a:xfrm>
            <a:off x="6519672" y="4178808"/>
            <a:ext cx="4754880" cy="228600"/>
          </a:xfrm>
          <a:prstGeom prst="rect">
            <a:avLst/>
          </a:prstGeom>
          <a:noFill/>
          <a:ln/>
        </p:spPr>
        <p:txBody>
          <a:bodyPr wrap="square" lIns="0" tIns="0" rIns="0" bIns="0" rtlCol="0" anchor="t"/>
          <a:lstStyle/>
          <a:p>
            <a:pPr indent="0" marL="0">
              <a:buNone/>
            </a:pPr>
            <a:r>
              <a:rPr lang="en-US" sz="950" spc="150" kern="0" dirty="0">
                <a:solidFill>
                  <a:srgbClr val="5C5C5C"/>
                </a:solidFill>
                <a:latin typeface="Segoe UI Semibold" pitchFamily="34" charset="0"/>
                <a:ea typeface="Segoe UI Semibold" pitchFamily="34" charset="-122"/>
                <a:cs typeface="Segoe UI Semibold" pitchFamily="34" charset="-120"/>
              </a:rPr>
              <a:t>KEKHAWATIRAN</a:t>
            </a:r>
            <a:endParaRPr lang="en-US" sz="950" dirty="0"/>
          </a:p>
        </p:txBody>
      </p:sp>
      <p:sp>
        <p:nvSpPr>
          <p:cNvPr id="24" name="Text 20"/>
          <p:cNvSpPr txBox="1"/>
          <p:nvPr/>
        </p:nvSpPr>
        <p:spPr>
          <a:xfrm>
            <a:off x="6519672" y="4434840"/>
            <a:ext cx="4800600" cy="502920"/>
          </a:xfrm>
          <a:prstGeom prst="rect">
            <a:avLst/>
          </a:prstGeom>
          <a:noFill/>
          <a:ln/>
        </p:spPr>
        <p:txBody>
          <a:bodyPr wrap="square" lIns="0" tIns="0" rIns="0" bIns="0" rtlCol="0" anchor="t"/>
          <a:lstStyle/>
          <a:p>
            <a:pPr indent="0" marL="0">
              <a:buNone/>
            </a:pPr>
            <a:r>
              <a:rPr lang="en-US" sz="1300" dirty="0">
                <a:solidFill>
                  <a:srgbClr val="0A0A0A"/>
                </a:solidFill>
                <a:latin typeface="Segoe UI" pitchFamily="34" charset="0"/>
                <a:ea typeface="Segoe UI" pitchFamily="34" charset="-122"/>
                <a:cs typeface="Segoe UI" pitchFamily="34" charset="-120"/>
              </a:rPr>
              <a:t>Cek mutasi bank manual dan salah kirim varian.</a:t>
            </a:r>
            <a:endParaRPr lang="en-US" sz="1300" dirty="0"/>
          </a:p>
        </p:txBody>
      </p:sp>
      <p:sp>
        <p:nvSpPr>
          <p:cNvPr id="25" name="Text 21"/>
          <p:cNvSpPr txBox="1"/>
          <p:nvPr/>
        </p:nvSpPr>
        <p:spPr>
          <a:xfrm>
            <a:off x="6519672" y="5047488"/>
            <a:ext cx="4754880" cy="228600"/>
          </a:xfrm>
          <a:prstGeom prst="rect">
            <a:avLst/>
          </a:prstGeom>
          <a:noFill/>
          <a:ln/>
        </p:spPr>
        <p:txBody>
          <a:bodyPr wrap="square" lIns="0" tIns="0" rIns="0" bIns="0" rtlCol="0" anchor="t"/>
          <a:lstStyle/>
          <a:p>
            <a:pPr indent="0" marL="0">
              <a:buNone/>
            </a:pPr>
            <a:r>
              <a:rPr lang="en-US" sz="950" spc="150" kern="0" dirty="0">
                <a:solidFill>
                  <a:srgbClr val="5C5C5C"/>
                </a:solidFill>
                <a:latin typeface="Segoe UI Semibold" pitchFamily="34" charset="0"/>
                <a:ea typeface="Segoe UI Semibold" pitchFamily="34" charset="-122"/>
                <a:cs typeface="Segoe UI Semibold" pitchFamily="34" charset="-120"/>
              </a:rPr>
              <a:t>FITUR ANDALAN</a:t>
            </a:r>
            <a:endParaRPr lang="en-US" sz="950" dirty="0"/>
          </a:p>
        </p:txBody>
      </p:sp>
      <p:sp>
        <p:nvSpPr>
          <p:cNvPr id="26" name="Text 22"/>
          <p:cNvSpPr txBox="1"/>
          <p:nvPr/>
        </p:nvSpPr>
        <p:spPr>
          <a:xfrm>
            <a:off x="6519672" y="5303520"/>
            <a:ext cx="4800600" cy="502920"/>
          </a:xfrm>
          <a:prstGeom prst="rect">
            <a:avLst/>
          </a:prstGeom>
          <a:noFill/>
          <a:ln/>
        </p:spPr>
        <p:txBody>
          <a:bodyPr wrap="square" lIns="0" tIns="0" rIns="0" bIns="0" rtlCol="0" anchor="t"/>
          <a:lstStyle/>
          <a:p>
            <a:pPr indent="0" marL="0">
              <a:buNone/>
            </a:pPr>
            <a:r>
              <a:rPr lang="en-US" sz="1300" dirty="0">
                <a:solidFill>
                  <a:srgbClr val="0A0A0A"/>
                </a:solidFill>
                <a:latin typeface="Segoe UI" pitchFamily="34" charset="0"/>
                <a:ea typeface="Segoe UI" pitchFamily="34" charset="-122"/>
                <a:cs typeface="Segoe UI" pitchFamily="34" charset="-120"/>
              </a:rPr>
              <a:t>Peringatan stok ≤ 5, ubah status sekali klik, tambah/edit di modal.</a:t>
            </a:r>
            <a:endParaRPr lang="en-US" sz="1300" dirty="0"/>
          </a:p>
        </p:txBody>
      </p:sp>
      <p:sp>
        <p:nvSpPr>
          <p:cNvPr id="25" name="Slide Number Placeholder 0"/>
          <p:cNvSpPr>
            <a:spLocks noGrp="1"/>
          </p:cNvSpPr>
          <p:nvPr>
            <p:ph type="sldNum" sz="quarter" idx="4294967295"/>
          </p:nvPr>
        </p:nvSpPr>
        <p:spPr>
          <a:xfrm>
            <a:off x="11183112"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C5C5C"/>
                </a:solidFill>
                <a:latin typeface="Segoe UI"/>
                <a:ea typeface="Segoe UI"/>
                <a:cs typeface="Segoe U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548640" y="411480"/>
            <a:ext cx="1530706" cy="292608"/>
          </a:xfrm>
          <a:prstGeom prst="roundRect">
            <a:avLst>
              <a:gd name="adj" fmla="val 50000"/>
            </a:avLst>
          </a:prstGeom>
          <a:solidFill>
            <a:srgbClr val="F3F3F3"/>
          </a:solidFill>
          <a:ln/>
        </p:spPr>
      </p:sp>
      <p:sp>
        <p:nvSpPr>
          <p:cNvPr id="3" name="Text 1"/>
          <p:cNvSpPr txBox="1"/>
          <p:nvPr/>
        </p:nvSpPr>
        <p:spPr>
          <a:xfrm>
            <a:off x="548640" y="411480"/>
            <a:ext cx="1530706" cy="292608"/>
          </a:xfrm>
          <a:prstGeom prst="rect">
            <a:avLst/>
          </a:prstGeom>
          <a:noFill/>
          <a:ln/>
        </p:spPr>
        <p:txBody>
          <a:bodyPr wrap="square" lIns="0" tIns="0" rIns="0" bIns="0" rtlCol="0" anchor="ctr"/>
          <a:lstStyle/>
          <a:p>
            <a:pPr algn="ctr" indent="0" marL="0">
              <a:buNone/>
            </a:pPr>
            <a:r>
              <a:rPr lang="en-US" sz="950" spc="150" kern="0" dirty="0">
                <a:solidFill>
                  <a:srgbClr val="5C5C5C"/>
                </a:solidFill>
                <a:latin typeface="Segoe UI Semibold" pitchFamily="34" charset="0"/>
                <a:ea typeface="Segoe UI Semibold" pitchFamily="34" charset="-122"/>
                <a:cs typeface="Segoe UI Semibold" pitchFamily="34" charset="-120"/>
              </a:rPr>
              <a:t>RUANG LINGKUP</a:t>
            </a:r>
            <a:endParaRPr lang="en-US" sz="950" dirty="0"/>
          </a:p>
        </p:txBody>
      </p:sp>
      <p:sp>
        <p:nvSpPr>
          <p:cNvPr id="4" name="Text 1"/>
          <p:cNvSpPr/>
          <p:nvPr>
            <p:ph idx="101" type="title" hasCustomPrompt="1"/>
          </p:nvPr>
        </p:nvSpPr>
        <p:spPr>
          <a:xfrm>
            <a:off x="548640" y="868680"/>
            <a:ext cx="11064240" cy="777240"/>
          </a:xfrm>
          <a:prstGeom prst="rect">
            <a:avLst/>
          </a:prstGeom>
          <a:noFill/>
          <a:ln/>
        </p:spPr>
        <p:txBody>
          <a:bodyPr wrap="square" lIns="0" tIns="0" rIns="0" bIns="0" rtlCol="0" anchor="t"/>
          <a:lstStyle/>
          <a:p>
            <a:pPr algn="l" indent="0" marL="0">
              <a:buNone/>
            </a:pPr>
            <a:r>
              <a:rPr lang="en-US" sz="3000" dirty="0">
                <a:solidFill>
                  <a:srgbClr val="0A0A0A"/>
                </a:solidFill>
                <a:latin typeface="Segoe UI Semibold" pitchFamily="34" charset="0"/>
                <a:ea typeface="Segoe UI Semibold" pitchFamily="34" charset="-122"/>
                <a:cs typeface="Segoe UI Semibold" pitchFamily="34" charset="-120"/>
              </a:rPr>
              <a:t>Semua fitur MVP dan lanjutan sudah selesai</a:t>
            </a:r>
            <a:endParaRPr lang="en-US" sz="3000" dirty="0"/>
          </a:p>
        </p:txBody>
      </p:sp>
      <p:sp>
        <p:nvSpPr>
          <p:cNvPr id="5" name="Shape 3"/>
          <p:cNvSpPr/>
          <p:nvPr/>
        </p:nvSpPr>
        <p:spPr>
          <a:xfrm>
            <a:off x="548640" y="1874520"/>
            <a:ext cx="3520440" cy="4160520"/>
          </a:xfrm>
          <a:prstGeom prst="roundRect">
            <a:avLst>
              <a:gd name="adj" fmla="val 5714"/>
            </a:avLst>
          </a:prstGeom>
          <a:solidFill>
            <a:srgbClr val="0A0A0A"/>
          </a:solidFill>
          <a:ln/>
        </p:spPr>
      </p:sp>
      <p:sp>
        <p:nvSpPr>
          <p:cNvPr id="6" name="Text 4"/>
          <p:cNvSpPr txBox="1"/>
          <p:nvPr/>
        </p:nvSpPr>
        <p:spPr>
          <a:xfrm>
            <a:off x="868680" y="2121408"/>
            <a:ext cx="2926080" cy="329184"/>
          </a:xfrm>
          <a:prstGeom prst="rect">
            <a:avLst/>
          </a:prstGeom>
          <a:noFill/>
          <a:ln/>
        </p:spPr>
        <p:txBody>
          <a:bodyPr wrap="square" lIns="0" tIns="0" rIns="0" bIns="0" rtlCol="0" anchor="t"/>
          <a:lstStyle/>
          <a:p>
            <a:pPr indent="0" marL="0">
              <a:buNone/>
            </a:pPr>
            <a:r>
              <a:rPr lang="en-US" sz="1500" dirty="0">
                <a:solidFill>
                  <a:srgbClr val="FFFFFF"/>
                </a:solidFill>
                <a:latin typeface="Segoe UI Semibold" pitchFamily="34" charset="0"/>
                <a:ea typeface="Segoe UI Semibold" pitchFamily="34" charset="-122"/>
                <a:cs typeface="Segoe UI Semibold" pitchFamily="34" charset="-120"/>
              </a:rPr>
              <a:t>MVP · selesai</a:t>
            </a:r>
            <a:endParaRPr lang="en-US" sz="1500" dirty="0"/>
          </a:p>
        </p:txBody>
      </p:sp>
      <p:sp>
        <p:nvSpPr>
          <p:cNvPr id="7" name="Text 5"/>
          <p:cNvSpPr txBox="1"/>
          <p:nvPr/>
        </p:nvSpPr>
        <p:spPr>
          <a:xfrm>
            <a:off x="868680" y="2606040"/>
            <a:ext cx="3017520" cy="3291840"/>
          </a:xfrm>
          <a:prstGeom prst="rect">
            <a:avLst/>
          </a:prstGeom>
          <a:noFill/>
          <a:ln/>
        </p:spPr>
        <p:txBody>
          <a:bodyPr wrap="square" lIns="0" tIns="0" rIns="0" bIns="0" rtlCol="0" anchor="t"/>
          <a:lstStyle/>
          <a:p>
            <a:pPr marL="342900" indent="-342900">
              <a:spcAft>
                <a:spcPts val="500"/>
              </a:spcAft>
              <a:buSzPct val="100000"/>
              <a:buChar char="✓"/>
            </a:pPr>
            <a:r>
              <a:rPr lang="en-US" sz="1250" dirty="0">
                <a:solidFill>
                  <a:srgbClr val="FFFFFF"/>
                </a:solidFill>
                <a:latin typeface="Segoe UI" pitchFamily="34" charset="0"/>
                <a:ea typeface="Segoe UI" pitchFamily="34" charset="-122"/>
                <a:cs typeface="Segoe UI" pitchFamily="34" charset="-120"/>
              </a:rPr>
              <a:t>Katalog, cari &amp; filter</a:t>
            </a:r>
            <a:endParaRPr lang="en-US" sz="1250" dirty="0"/>
          </a:p>
          <a:p>
            <a:pPr marL="342900" indent="-342900">
              <a:spcAft>
                <a:spcPts val="500"/>
              </a:spcAft>
              <a:buSzPct val="100000"/>
              <a:buChar char="✓"/>
            </a:pPr>
            <a:r>
              <a:rPr lang="en-US" sz="1250" dirty="0">
                <a:solidFill>
                  <a:srgbClr val="FFFFFF"/>
                </a:solidFill>
                <a:latin typeface="Segoe UI" pitchFamily="34" charset="0"/>
                <a:ea typeface="Segoe UI" pitchFamily="34" charset="-122"/>
                <a:cs typeface="Segoe UI" pitchFamily="34" charset="-120"/>
              </a:rPr>
              <a:t>Detail produk &amp; varian</a:t>
            </a:r>
            <a:endParaRPr lang="en-US" sz="1250" dirty="0"/>
          </a:p>
          <a:p>
            <a:pPr marL="342900" indent="-342900">
              <a:spcAft>
                <a:spcPts val="500"/>
              </a:spcAft>
              <a:buSzPct val="100000"/>
              <a:buChar char="✓"/>
            </a:pPr>
            <a:r>
              <a:rPr lang="en-US" sz="1250" dirty="0">
                <a:solidFill>
                  <a:srgbClr val="FFFFFF"/>
                </a:solidFill>
                <a:latin typeface="Segoe UI" pitchFamily="34" charset="0"/>
                <a:ea typeface="Segoe UI" pitchFamily="34" charset="-122"/>
                <a:cs typeface="Segoe UI" pitchFamily="34" charset="-120"/>
              </a:rPr>
              <a:t>Keranjang &amp; kode promo</a:t>
            </a:r>
            <a:endParaRPr lang="en-US" sz="1250" dirty="0"/>
          </a:p>
          <a:p>
            <a:pPr marL="342900" indent="-342900">
              <a:spcAft>
                <a:spcPts val="500"/>
              </a:spcAft>
              <a:buSzPct val="100000"/>
              <a:buChar char="✓"/>
            </a:pPr>
            <a:r>
              <a:rPr lang="en-US" sz="1250" dirty="0">
                <a:solidFill>
                  <a:srgbClr val="FFFFFF"/>
                </a:solidFill>
                <a:latin typeface="Segoe UI" pitchFamily="34" charset="0"/>
                <a:ea typeface="Segoe UI" pitchFamily="34" charset="-122"/>
                <a:cs typeface="Segoe UI" pitchFamily="34" charset="-120"/>
              </a:rPr>
              <a:t>Checkout 4 langkah</a:t>
            </a:r>
            <a:endParaRPr lang="en-US" sz="1250" dirty="0"/>
          </a:p>
          <a:p>
            <a:pPr marL="342900" indent="-342900">
              <a:spcAft>
                <a:spcPts val="500"/>
              </a:spcAft>
              <a:buSzPct val="100000"/>
              <a:buChar char="✓"/>
            </a:pPr>
            <a:r>
              <a:rPr lang="en-US" sz="1250" dirty="0">
                <a:solidFill>
                  <a:srgbClr val="FFFFFF"/>
                </a:solidFill>
                <a:latin typeface="Segoe UI" pitchFamily="34" charset="0"/>
                <a:ea typeface="Segoe UI" pitchFamily="34" charset="-122"/>
                <a:cs typeface="Segoe UI" pitchFamily="34" charset="-120"/>
              </a:rPr>
              <a:t>Ongkir sesuai berat</a:t>
            </a:r>
            <a:endParaRPr lang="en-US" sz="1250" dirty="0"/>
          </a:p>
          <a:p>
            <a:pPr marL="342900" indent="-342900">
              <a:spcAft>
                <a:spcPts val="500"/>
              </a:spcAft>
              <a:buSzPct val="100000"/>
              <a:buChar char="✓"/>
            </a:pPr>
            <a:r>
              <a:rPr lang="en-US" sz="1250" dirty="0">
                <a:solidFill>
                  <a:srgbClr val="FFFFFF"/>
                </a:solidFill>
                <a:latin typeface="Segoe UI" pitchFamily="34" charset="0"/>
                <a:ea typeface="Segoe UI" pitchFamily="34" charset="-122"/>
                <a:cs typeface="Segoe UI" pitchFamily="34" charset="-120"/>
              </a:rPr>
              <a:t>Akun &amp; lupa password</a:t>
            </a:r>
            <a:endParaRPr lang="en-US" sz="1250" dirty="0"/>
          </a:p>
          <a:p>
            <a:pPr marL="342900" indent="-342900">
              <a:spcAft>
                <a:spcPts val="500"/>
              </a:spcAft>
              <a:buSzPct val="100000"/>
              <a:buChar char="✓"/>
            </a:pPr>
            <a:r>
              <a:rPr lang="en-US" sz="1250" dirty="0">
                <a:solidFill>
                  <a:srgbClr val="FFFFFF"/>
                </a:solidFill>
                <a:latin typeface="Segoe UI" pitchFamily="34" charset="0"/>
                <a:ea typeface="Segoe UI" pitchFamily="34" charset="-122"/>
                <a:cs typeface="Segoe UI" pitchFamily="34" charset="-120"/>
              </a:rPr>
              <a:t>Riwayat &amp; status pesanan</a:t>
            </a:r>
            <a:endParaRPr lang="en-US" sz="1250" dirty="0"/>
          </a:p>
          <a:p>
            <a:pPr marL="342900" indent="-342900">
              <a:spcAft>
                <a:spcPts val="500"/>
              </a:spcAft>
              <a:buSzPct val="100000"/>
              <a:buChar char="✓"/>
            </a:pPr>
            <a:r>
              <a:rPr lang="en-US" sz="1250" dirty="0">
                <a:solidFill>
                  <a:srgbClr val="FFFFFF"/>
                </a:solidFill>
                <a:latin typeface="Segoe UI" pitchFamily="34" charset="0"/>
                <a:ea typeface="Segoe UI" pitchFamily="34" charset="-122"/>
                <a:cs typeface="Segoe UI" pitchFamily="34" charset="-120"/>
              </a:rPr>
              <a:t>Admin pesanan &amp; produk</a:t>
            </a:r>
            <a:endParaRPr lang="en-US" sz="1250" dirty="0"/>
          </a:p>
          <a:p>
            <a:pPr marL="342900" indent="-342900">
              <a:spcAft>
                <a:spcPts val="500"/>
              </a:spcAft>
              <a:buSzPct val="100000"/>
              <a:buChar char="✓"/>
            </a:pPr>
            <a:r>
              <a:rPr lang="en-US" sz="1250" dirty="0">
                <a:solidFill>
                  <a:srgbClr val="FFFFFF"/>
                </a:solidFill>
                <a:latin typeface="Segoe UI" pitchFamily="34" charset="0"/>
                <a:ea typeface="Segoe UI" pitchFamily="34" charset="-122"/>
                <a:cs typeface="Segoe UI" pitchFamily="34" charset="-120"/>
              </a:rPr>
              <a:t>Email notifikasi</a:t>
            </a:r>
            <a:endParaRPr lang="en-US" sz="1250" dirty="0"/>
          </a:p>
          <a:p>
            <a:pPr marL="342900" indent="-342900">
              <a:spcAft>
                <a:spcPts val="500"/>
              </a:spcAft>
              <a:buSzPct val="100000"/>
              <a:buChar char="✓"/>
            </a:pPr>
            <a:r>
              <a:rPr lang="en-US" sz="1250" dirty="0">
                <a:solidFill>
                  <a:srgbClr val="FFFFFF"/>
                </a:solidFill>
                <a:latin typeface="Segoe UI" pitchFamily="34" charset="0"/>
                <a:ea typeface="Segoe UI" pitchFamily="34" charset="-122"/>
                <a:cs typeface="Segoe UI" pitchFamily="34" charset="-120"/>
              </a:rPr>
              <a:t>Batal otomatis 24 jam</a:t>
            </a:r>
            <a:endParaRPr lang="en-US" sz="1250" dirty="0"/>
          </a:p>
        </p:txBody>
      </p:sp>
      <p:sp>
        <p:nvSpPr>
          <p:cNvPr id="8" name="Shape 6"/>
          <p:cNvSpPr/>
          <p:nvPr/>
        </p:nvSpPr>
        <p:spPr>
          <a:xfrm>
            <a:off x="4343400" y="1874520"/>
            <a:ext cx="3520440" cy="4160520"/>
          </a:xfrm>
          <a:prstGeom prst="roundRect">
            <a:avLst>
              <a:gd name="adj" fmla="val 5714"/>
            </a:avLst>
          </a:prstGeom>
          <a:solidFill>
            <a:srgbClr val="F3F3F3"/>
          </a:solidFill>
          <a:ln/>
        </p:spPr>
      </p:sp>
      <p:sp>
        <p:nvSpPr>
          <p:cNvPr id="9" name="Text 7"/>
          <p:cNvSpPr txBox="1"/>
          <p:nvPr/>
        </p:nvSpPr>
        <p:spPr>
          <a:xfrm>
            <a:off x="4663440" y="2121408"/>
            <a:ext cx="2926080" cy="329184"/>
          </a:xfrm>
          <a:prstGeom prst="rect">
            <a:avLst/>
          </a:prstGeom>
          <a:noFill/>
          <a:ln/>
        </p:spPr>
        <p:txBody>
          <a:bodyPr wrap="square" lIns="0" tIns="0" rIns="0" bIns="0" rtlCol="0" anchor="t"/>
          <a:lstStyle/>
          <a:p>
            <a:pPr indent="0" marL="0">
              <a:buNone/>
            </a:pPr>
            <a:r>
              <a:rPr lang="en-US" sz="1500" dirty="0">
                <a:solidFill>
                  <a:srgbClr val="0A0A0A"/>
                </a:solidFill>
                <a:latin typeface="Segoe UI Semibold" pitchFamily="34" charset="0"/>
                <a:ea typeface="Segoe UI Semibold" pitchFamily="34" charset="-122"/>
                <a:cs typeface="Segoe UI Semibold" pitchFamily="34" charset="-120"/>
              </a:rPr>
              <a:t>Lanjutan · selesai</a:t>
            </a:r>
            <a:endParaRPr lang="en-US" sz="1500" dirty="0"/>
          </a:p>
        </p:txBody>
      </p:sp>
      <p:sp>
        <p:nvSpPr>
          <p:cNvPr id="10" name="Text 8"/>
          <p:cNvSpPr txBox="1"/>
          <p:nvPr/>
        </p:nvSpPr>
        <p:spPr>
          <a:xfrm>
            <a:off x="4663440" y="2606040"/>
            <a:ext cx="3017520" cy="3291840"/>
          </a:xfrm>
          <a:prstGeom prst="rect">
            <a:avLst/>
          </a:prstGeom>
          <a:noFill/>
          <a:ln/>
        </p:spPr>
        <p:txBody>
          <a:bodyPr wrap="square" lIns="0" tIns="0" rIns="0" bIns="0" rtlCol="0" anchor="t"/>
          <a:lstStyle/>
          <a:p>
            <a:pPr marL="342900" indent="-342900">
              <a:spcAft>
                <a:spcPts val="500"/>
              </a:spcAft>
              <a:buSzPct val="100000"/>
              <a:buChar char="✓"/>
            </a:pPr>
            <a:r>
              <a:rPr lang="en-US" sz="1250" dirty="0">
                <a:solidFill>
                  <a:srgbClr val="0A0A0A"/>
                </a:solidFill>
                <a:latin typeface="Segoe UI" pitchFamily="34" charset="0"/>
                <a:ea typeface="Segoe UI" pitchFamily="34" charset="-122"/>
                <a:cs typeface="Segoe UI" pitchFamily="34" charset="-120"/>
              </a:rPr>
              <a:t>Wishlist</a:t>
            </a:r>
            <a:endParaRPr lang="en-US" sz="1250" dirty="0"/>
          </a:p>
          <a:p>
            <a:pPr marL="342900" indent="-342900">
              <a:spcAft>
                <a:spcPts val="500"/>
              </a:spcAft>
              <a:buSzPct val="100000"/>
              <a:buChar char="✓"/>
            </a:pPr>
            <a:r>
              <a:rPr lang="en-US" sz="1250" dirty="0">
                <a:solidFill>
                  <a:srgbClr val="0A0A0A"/>
                </a:solidFill>
                <a:latin typeface="Segoe UI" pitchFamily="34" charset="0"/>
                <a:ea typeface="Segoe UI" pitchFamily="34" charset="-122"/>
                <a:cs typeface="Segoe UI" pitchFamily="34" charset="-120"/>
              </a:rPr>
              <a:t>Ulasan terverifikasi + foto</a:t>
            </a:r>
            <a:endParaRPr lang="en-US" sz="1250" dirty="0"/>
          </a:p>
          <a:p>
            <a:pPr marL="342900" indent="-342900">
              <a:spcAft>
                <a:spcPts val="500"/>
              </a:spcAft>
              <a:buSzPct val="100000"/>
              <a:buChar char="✓"/>
            </a:pPr>
            <a:r>
              <a:rPr lang="en-US" sz="1250" dirty="0">
                <a:solidFill>
                  <a:srgbClr val="0A0A0A"/>
                </a:solidFill>
                <a:latin typeface="Segoe UI" pitchFamily="34" charset="0"/>
                <a:ea typeface="Segoe UI" pitchFamily="34" charset="-122"/>
                <a:cs typeface="Segoe UI" pitchFamily="34" charset="-120"/>
              </a:rPr>
              <a:t>Admin promo &amp; banner</a:t>
            </a:r>
            <a:endParaRPr lang="en-US" sz="1250" dirty="0"/>
          </a:p>
          <a:p>
            <a:pPr marL="342900" indent="-342900">
              <a:spcAft>
                <a:spcPts val="500"/>
              </a:spcAft>
              <a:buSzPct val="100000"/>
              <a:buChar char="✓"/>
            </a:pPr>
            <a:r>
              <a:rPr lang="en-US" sz="1250" dirty="0">
                <a:solidFill>
                  <a:srgbClr val="0A0A0A"/>
                </a:solidFill>
                <a:latin typeface="Segoe UI" pitchFamily="34" charset="0"/>
                <a:ea typeface="Segoe UI" pitchFamily="34" charset="-122"/>
                <a:cs typeface="Segoe UI" pitchFamily="34" charset="-120"/>
              </a:rPr>
              <a:t>Dashboard omzet &amp; stok</a:t>
            </a:r>
            <a:endParaRPr lang="en-US" sz="1250" dirty="0"/>
          </a:p>
          <a:p>
            <a:pPr marL="342900" indent="-342900">
              <a:spcAft>
                <a:spcPts val="500"/>
              </a:spcAft>
              <a:buSzPct val="100000"/>
              <a:buChar char="✓"/>
            </a:pPr>
            <a:r>
              <a:rPr lang="en-US" sz="1250" dirty="0">
                <a:solidFill>
                  <a:srgbClr val="0A0A0A"/>
                </a:solidFill>
                <a:latin typeface="Segoe UI" pitchFamily="34" charset="0"/>
                <a:ea typeface="Segoe UI" pitchFamily="34" charset="-122"/>
                <a:cs typeface="Segoe UI" pitchFamily="34" charset="-120"/>
              </a:rPr>
              <a:t>Pembayaran Midtrans sandbox</a:t>
            </a:r>
            <a:endParaRPr lang="en-US" sz="1250" dirty="0"/>
          </a:p>
          <a:p>
            <a:pPr marL="342900" indent="-342900">
              <a:spcAft>
                <a:spcPts val="500"/>
              </a:spcAft>
              <a:buSzPct val="100000"/>
              <a:buChar char="✓"/>
            </a:pPr>
            <a:r>
              <a:rPr lang="en-US" sz="1250" dirty="0">
                <a:solidFill>
                  <a:srgbClr val="0A0A0A"/>
                </a:solidFill>
                <a:latin typeface="Segoe UI" pitchFamily="34" charset="0"/>
                <a:ea typeface="Segoe UI" pitchFamily="34" charset="-122"/>
                <a:cs typeface="Segoe UI" pitchFamily="34" charset="-120"/>
              </a:rPr>
              <a:t>Mode terang &amp; gelap</a:t>
            </a:r>
            <a:endParaRPr lang="en-US" sz="1250" dirty="0"/>
          </a:p>
          <a:p>
            <a:pPr marL="342900" indent="-342900">
              <a:spcAft>
                <a:spcPts val="500"/>
              </a:spcAft>
              <a:buSzPct val="100000"/>
              <a:buChar char="✓"/>
            </a:pPr>
            <a:r>
              <a:rPr lang="en-US" sz="1250" dirty="0">
                <a:solidFill>
                  <a:srgbClr val="0A0A0A"/>
                </a:solidFill>
                <a:latin typeface="Segoe UI" pitchFamily="34" charset="0"/>
                <a:ea typeface="Segoe UI" pitchFamily="34" charset="-122"/>
                <a:cs typeface="Segoe UI" pitchFamily="34" charset="-120"/>
              </a:rPr>
              <a:t>Asisten AI "Tanya AI"</a:t>
            </a:r>
            <a:endParaRPr lang="en-US" sz="1250" dirty="0"/>
          </a:p>
          <a:p>
            <a:pPr marL="342900" indent="-342900">
              <a:spcAft>
                <a:spcPts val="500"/>
              </a:spcAft>
              <a:buSzPct val="100000"/>
              <a:buChar char="✓"/>
            </a:pPr>
            <a:r>
              <a:rPr lang="en-US" sz="1250" dirty="0">
                <a:solidFill>
                  <a:srgbClr val="0A0A0A"/>
                </a:solidFill>
                <a:latin typeface="Segoe UI" pitchFamily="34" charset="0"/>
                <a:ea typeface="Segoe UI" pitchFamily="34" charset="-122"/>
                <a:cs typeface="Segoe UI" pitchFamily="34" charset="-120"/>
              </a:rPr>
              <a:t>Ongkir per zona provinsi</a:t>
            </a:r>
            <a:endParaRPr lang="en-US" sz="1250" dirty="0"/>
          </a:p>
          <a:p>
            <a:pPr marL="342900" indent="-342900">
              <a:spcAft>
                <a:spcPts val="500"/>
              </a:spcAft>
              <a:buSzPct val="100000"/>
              <a:buChar char="✓"/>
            </a:pPr>
            <a:r>
              <a:rPr lang="en-US" sz="1250" dirty="0">
                <a:solidFill>
                  <a:srgbClr val="0A0A0A"/>
                </a:solidFill>
                <a:latin typeface="Segoe UI" pitchFamily="34" charset="0"/>
                <a:ea typeface="Segoe UI" pitchFamily="34" charset="-122"/>
                <a:cs typeface="Segoe UI" pitchFamily="34" charset="-120"/>
              </a:rPr>
              <a:t>Login Google</a:t>
            </a:r>
            <a:endParaRPr lang="en-US" sz="1250" dirty="0"/>
          </a:p>
          <a:p>
            <a:pPr marL="342900" indent="-342900">
              <a:spcAft>
                <a:spcPts val="500"/>
              </a:spcAft>
              <a:buSzPct val="100000"/>
              <a:buChar char="✓"/>
            </a:pPr>
            <a:r>
              <a:rPr lang="en-US" sz="1250" dirty="0">
                <a:solidFill>
                  <a:srgbClr val="0A0A0A"/>
                </a:solidFill>
                <a:latin typeface="Segoe UI" pitchFamily="34" charset="0"/>
                <a:ea typeface="Segoe UI" pitchFamily="34" charset="-122"/>
                <a:cs typeface="Segoe UI" pitchFamily="34" charset="-120"/>
              </a:rPr>
              <a:t>Cek resi di situs kurir</a:t>
            </a:r>
            <a:endParaRPr lang="en-US" sz="1250" dirty="0"/>
          </a:p>
        </p:txBody>
      </p:sp>
      <p:sp>
        <p:nvSpPr>
          <p:cNvPr id="11" name="Shape 9"/>
          <p:cNvSpPr/>
          <p:nvPr/>
        </p:nvSpPr>
        <p:spPr>
          <a:xfrm>
            <a:off x="8138160" y="1874520"/>
            <a:ext cx="3520440" cy="4160520"/>
          </a:xfrm>
          <a:prstGeom prst="roundRect">
            <a:avLst>
              <a:gd name="adj" fmla="val 5714"/>
            </a:avLst>
          </a:prstGeom>
          <a:solidFill>
            <a:srgbClr val="FFFFFF"/>
          </a:solidFill>
          <a:ln w="12700">
            <a:solidFill>
              <a:srgbClr val="E6E6E6"/>
            </a:solidFill>
            <a:prstDash val="solid"/>
          </a:ln>
        </p:spPr>
      </p:sp>
      <p:sp>
        <p:nvSpPr>
          <p:cNvPr id="12" name="Text 10"/>
          <p:cNvSpPr txBox="1"/>
          <p:nvPr/>
        </p:nvSpPr>
        <p:spPr>
          <a:xfrm>
            <a:off x="8458200" y="2121408"/>
            <a:ext cx="2926080" cy="329184"/>
          </a:xfrm>
          <a:prstGeom prst="rect">
            <a:avLst/>
          </a:prstGeom>
          <a:noFill/>
          <a:ln/>
        </p:spPr>
        <p:txBody>
          <a:bodyPr wrap="square" lIns="0" tIns="0" rIns="0" bIns="0" rtlCol="0" anchor="t"/>
          <a:lstStyle/>
          <a:p>
            <a:pPr indent="0" marL="0">
              <a:buNone/>
            </a:pPr>
            <a:r>
              <a:rPr lang="en-US" sz="1500" dirty="0">
                <a:solidFill>
                  <a:srgbClr val="5C5C5C"/>
                </a:solidFill>
                <a:latin typeface="Segoe UI Semibold" pitchFamily="34" charset="0"/>
                <a:ea typeface="Segoe UI Semibold" pitchFamily="34" charset="-122"/>
                <a:cs typeface="Segoe UI Semibold" pitchFamily="34" charset="-120"/>
              </a:rPr>
              <a:t>Di luar cakupan</a:t>
            </a:r>
            <a:endParaRPr lang="en-US" sz="1500" dirty="0"/>
          </a:p>
        </p:txBody>
      </p:sp>
      <p:sp>
        <p:nvSpPr>
          <p:cNvPr id="13" name="Text 11"/>
          <p:cNvSpPr txBox="1"/>
          <p:nvPr/>
        </p:nvSpPr>
        <p:spPr>
          <a:xfrm>
            <a:off x="8458200" y="2606040"/>
            <a:ext cx="3017520" cy="3291840"/>
          </a:xfrm>
          <a:prstGeom prst="rect">
            <a:avLst/>
          </a:prstGeom>
          <a:noFill/>
          <a:ln/>
        </p:spPr>
        <p:txBody>
          <a:bodyPr wrap="square" lIns="0" tIns="0" rIns="0" bIns="0" rtlCol="0" anchor="t"/>
          <a:lstStyle/>
          <a:p>
            <a:pPr marL="342900" indent="-342900">
              <a:spcAft>
                <a:spcPts val="500"/>
              </a:spcAft>
              <a:buSzPct val="100000"/>
              <a:buChar char="–"/>
            </a:pPr>
            <a:r>
              <a:rPr lang="en-US" sz="1250" dirty="0">
                <a:solidFill>
                  <a:srgbClr val="5C5C5C"/>
                </a:solidFill>
                <a:latin typeface="Segoe UI" pitchFamily="34" charset="0"/>
                <a:ea typeface="Segoe UI" pitchFamily="34" charset="-122"/>
                <a:cs typeface="Segoe UI" pitchFamily="34" charset="-120"/>
              </a:rPr>
              <a:t>Pembayaran uang asli (butuh badan usaha)</a:t>
            </a:r>
            <a:endParaRPr lang="en-US" sz="1250" dirty="0"/>
          </a:p>
          <a:p>
            <a:pPr marL="342900" indent="-342900">
              <a:spcAft>
                <a:spcPts val="500"/>
              </a:spcAft>
              <a:buSzPct val="100000"/>
              <a:buChar char="–"/>
            </a:pPr>
            <a:r>
              <a:rPr lang="en-US" sz="1250" dirty="0">
                <a:solidFill>
                  <a:srgbClr val="5C5C5C"/>
                </a:solidFill>
                <a:latin typeface="Segoe UI" pitchFamily="34" charset="0"/>
                <a:ea typeface="Segoe UI" pitchFamily="34" charset="-122"/>
                <a:cs typeface="Segoe UI" pitchFamily="34" charset="-120"/>
              </a:rPr>
              <a:t>Lacak resi otomatis (API berbayar, kode siap)</a:t>
            </a:r>
            <a:endParaRPr lang="en-US" sz="1250" dirty="0"/>
          </a:p>
          <a:p>
            <a:pPr marL="342900" indent="-342900">
              <a:spcAft>
                <a:spcPts val="500"/>
              </a:spcAft>
              <a:buSzPct val="100000"/>
              <a:buChar char="–"/>
            </a:pPr>
            <a:r>
              <a:rPr lang="en-US" sz="1250" dirty="0">
                <a:solidFill>
                  <a:srgbClr val="5C5C5C"/>
                </a:solidFill>
                <a:latin typeface="Segoe UI" pitchFamily="34" charset="0"/>
                <a:ea typeface="Segoe UI" pitchFamily="34" charset="-122"/>
                <a:cs typeface="Segoe UI" pitchFamily="34" charset="-120"/>
              </a:rPr>
              <a:t>Tarif ongkir resmi ekspedisi</a:t>
            </a:r>
            <a:endParaRPr lang="en-US" sz="1250" dirty="0"/>
          </a:p>
          <a:p>
            <a:pPr marL="342900" indent="-342900">
              <a:spcAft>
                <a:spcPts val="500"/>
              </a:spcAft>
              <a:buSzPct val="100000"/>
              <a:buChar char="–"/>
            </a:pPr>
            <a:r>
              <a:rPr lang="en-US" sz="1250" dirty="0">
                <a:solidFill>
                  <a:srgbClr val="5C5C5C"/>
                </a:solidFill>
                <a:latin typeface="Segoe UI" pitchFamily="34" charset="0"/>
                <a:ea typeface="Segoe UI" pitchFamily="34" charset="-122"/>
                <a:cs typeface="Segoe UI" pitchFamily="34" charset="-120"/>
              </a:rPr>
              <a:t>Aplikasi mobile</a:t>
            </a:r>
            <a:endParaRPr lang="en-US" sz="1250" dirty="0"/>
          </a:p>
        </p:txBody>
      </p:sp>
      <p:sp>
        <p:nvSpPr>
          <p:cNvPr id="25" name="Slide Number Placeholder 0"/>
          <p:cNvSpPr>
            <a:spLocks noGrp="1"/>
          </p:cNvSpPr>
          <p:nvPr>
            <p:ph type="sldNum" sz="quarter" idx="4294967295"/>
          </p:nvPr>
        </p:nvSpPr>
        <p:spPr>
          <a:xfrm>
            <a:off x="11183112"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C5C5C"/>
                </a:solidFill>
                <a:latin typeface="Segoe UI"/>
                <a:ea typeface="Segoe UI"/>
                <a:cs typeface="Segoe U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548640" y="411480"/>
            <a:ext cx="1172261" cy="292608"/>
          </a:xfrm>
          <a:prstGeom prst="roundRect">
            <a:avLst>
              <a:gd name="adj" fmla="val 50000"/>
            </a:avLst>
          </a:prstGeom>
          <a:solidFill>
            <a:srgbClr val="F3F3F3"/>
          </a:solidFill>
          <a:ln/>
        </p:spPr>
      </p:sp>
      <p:sp>
        <p:nvSpPr>
          <p:cNvPr id="3" name="Text 1"/>
          <p:cNvSpPr txBox="1"/>
          <p:nvPr/>
        </p:nvSpPr>
        <p:spPr>
          <a:xfrm>
            <a:off x="548640" y="411480"/>
            <a:ext cx="1172261" cy="292608"/>
          </a:xfrm>
          <a:prstGeom prst="rect">
            <a:avLst/>
          </a:prstGeom>
          <a:noFill/>
          <a:ln/>
        </p:spPr>
        <p:txBody>
          <a:bodyPr wrap="square" lIns="0" tIns="0" rIns="0" bIns="0" rtlCol="0" anchor="ctr"/>
          <a:lstStyle/>
          <a:p>
            <a:pPr algn="ctr" indent="0" marL="0">
              <a:buNone/>
            </a:pPr>
            <a:r>
              <a:rPr lang="en-US" sz="950" spc="150" kern="0" dirty="0">
                <a:solidFill>
                  <a:srgbClr val="5C5C5C"/>
                </a:solidFill>
                <a:latin typeface="Segoe UI Semibold" pitchFamily="34" charset="0"/>
                <a:ea typeface="Segoe UI Semibold" pitchFamily="34" charset="-122"/>
                <a:cs typeface="Segoe UI Semibold" pitchFamily="34" charset="-120"/>
              </a:rPr>
              <a:t>TEKNOLOGI</a:t>
            </a:r>
            <a:endParaRPr lang="en-US" sz="950" dirty="0"/>
          </a:p>
        </p:txBody>
      </p:sp>
      <p:sp>
        <p:nvSpPr>
          <p:cNvPr id="4" name="Text 1"/>
          <p:cNvSpPr/>
          <p:nvPr>
            <p:ph idx="101" type="title" hasCustomPrompt="1"/>
          </p:nvPr>
        </p:nvSpPr>
        <p:spPr>
          <a:xfrm>
            <a:off x="548640" y="868680"/>
            <a:ext cx="11064240" cy="777240"/>
          </a:xfrm>
          <a:prstGeom prst="rect">
            <a:avLst/>
          </a:prstGeom>
          <a:noFill/>
          <a:ln/>
        </p:spPr>
        <p:txBody>
          <a:bodyPr wrap="square" lIns="0" tIns="0" rIns="0" bIns="0" rtlCol="0" anchor="t"/>
          <a:lstStyle/>
          <a:p>
            <a:pPr algn="l" indent="0" marL="0">
              <a:buNone/>
            </a:pPr>
            <a:r>
              <a:rPr lang="en-US" sz="3000" dirty="0">
                <a:solidFill>
                  <a:srgbClr val="0A0A0A"/>
                </a:solidFill>
                <a:latin typeface="Segoe UI Semibold" pitchFamily="34" charset="0"/>
                <a:ea typeface="Segoe UI Semibold" pitchFamily="34" charset="-122"/>
                <a:cs typeface="Segoe UI Semibold" pitchFamily="34" charset="-120"/>
              </a:rPr>
              <a:t>Tech stack dan alasan pemilihannya</a:t>
            </a:r>
            <a:endParaRPr lang="en-US" sz="3000" dirty="0"/>
          </a:p>
        </p:txBody>
      </p:sp>
      <p:sp>
        <p:nvSpPr>
          <p:cNvPr id="5" name="Shape 3"/>
          <p:cNvSpPr/>
          <p:nvPr/>
        </p:nvSpPr>
        <p:spPr>
          <a:xfrm>
            <a:off x="548640" y="1874520"/>
            <a:ext cx="3520440" cy="1252728"/>
          </a:xfrm>
          <a:prstGeom prst="roundRect">
            <a:avLst>
              <a:gd name="adj" fmla="val 16058"/>
            </a:avLst>
          </a:prstGeom>
          <a:solidFill>
            <a:srgbClr val="F3F3F3"/>
          </a:solidFill>
          <a:ln/>
        </p:spPr>
      </p:sp>
      <p:sp>
        <p:nvSpPr>
          <p:cNvPr id="6" name="Shape 4"/>
          <p:cNvSpPr/>
          <p:nvPr/>
        </p:nvSpPr>
        <p:spPr>
          <a:xfrm>
            <a:off x="777240" y="2148840"/>
            <a:ext cx="548640" cy="548640"/>
          </a:xfrm>
          <a:prstGeom prst="ellipse">
            <a:avLst/>
          </a:prstGeom>
          <a:solidFill>
            <a:srgbClr val="0A0A0A"/>
          </a:solidFill>
          <a:ln/>
        </p:spPr>
      </p:sp>
      <p:pic>
        <p:nvPicPr>
          <p:cNvPr id="7" name="Image 0" descr="C:\laragon\www\e-commerce\scripts\ppt\aset\ikon-Layers-putih.png">    </p:cNvPr>
          <p:cNvPicPr>
            <a:picLocks noChangeAspect="1"/>
          </p:cNvPicPr>
          <p:nvPr/>
        </p:nvPicPr>
        <p:blipFill>
          <a:blip r:embed="rId1"/>
          <a:stretch>
            <a:fillRect/>
          </a:stretch>
        </p:blipFill>
        <p:spPr>
          <a:xfrm>
            <a:off x="914400" y="2286000"/>
            <a:ext cx="274320" cy="274320"/>
          </a:xfrm>
          <a:prstGeom prst="rect">
            <a:avLst/>
          </a:prstGeom>
        </p:spPr>
      </p:pic>
      <p:sp>
        <p:nvSpPr>
          <p:cNvPr id="8" name="Text 5"/>
          <p:cNvSpPr txBox="1"/>
          <p:nvPr/>
        </p:nvSpPr>
        <p:spPr>
          <a:xfrm>
            <a:off x="1508760" y="2075688"/>
            <a:ext cx="2423160" cy="329184"/>
          </a:xfrm>
          <a:prstGeom prst="rect">
            <a:avLst/>
          </a:prstGeom>
          <a:noFill/>
          <a:ln/>
        </p:spPr>
        <p:txBody>
          <a:bodyPr wrap="square" lIns="0" tIns="0" rIns="0" bIns="0" rtlCol="0" anchor="t"/>
          <a:lstStyle/>
          <a:p>
            <a:pPr indent="0" marL="0">
              <a:buNone/>
            </a:pPr>
            <a:r>
              <a:rPr lang="en-US" sz="1400" dirty="0">
                <a:solidFill>
                  <a:srgbClr val="0A0A0A"/>
                </a:solidFill>
                <a:latin typeface="Segoe UI Semibold" pitchFamily="34" charset="0"/>
                <a:ea typeface="Segoe UI Semibold" pitchFamily="34" charset="-122"/>
                <a:cs typeface="Segoe UI Semibold" pitchFamily="34" charset="-120"/>
              </a:rPr>
              <a:t>Next.js 16 (App Router)</a:t>
            </a:r>
            <a:endParaRPr lang="en-US" sz="1400" dirty="0"/>
          </a:p>
        </p:txBody>
      </p:sp>
      <p:sp>
        <p:nvSpPr>
          <p:cNvPr id="9" name="Text 6"/>
          <p:cNvSpPr txBox="1"/>
          <p:nvPr/>
        </p:nvSpPr>
        <p:spPr>
          <a:xfrm>
            <a:off x="1508760" y="2423160"/>
            <a:ext cx="2423160" cy="594360"/>
          </a:xfrm>
          <a:prstGeom prst="rect">
            <a:avLst/>
          </a:prstGeom>
          <a:noFill/>
          <a:ln/>
        </p:spPr>
        <p:txBody>
          <a:bodyPr wrap="square" lIns="0" tIns="0" rIns="0" bIns="0" rtlCol="0" anchor="t"/>
          <a:lstStyle/>
          <a:p>
            <a:pPr indent="0" marL="0">
              <a:buNone/>
            </a:pPr>
            <a:r>
              <a:rPr lang="en-US" sz="1150" dirty="0">
                <a:solidFill>
                  <a:srgbClr val="5C5C5C"/>
                </a:solidFill>
                <a:latin typeface="Segoe UI" pitchFamily="34" charset="0"/>
                <a:ea typeface="Segoe UI" pitchFamily="34" charset="-122"/>
                <a:cs typeface="Segoe UI" pitchFamily="34" charset="-120"/>
              </a:rPr>
              <a:t>Tampilan dan logika server dalam satu proyek TypeScript.</a:t>
            </a:r>
            <a:endParaRPr lang="en-US" sz="1150" dirty="0"/>
          </a:p>
        </p:txBody>
      </p:sp>
      <p:sp>
        <p:nvSpPr>
          <p:cNvPr id="10" name="Shape 7"/>
          <p:cNvSpPr/>
          <p:nvPr/>
        </p:nvSpPr>
        <p:spPr>
          <a:xfrm>
            <a:off x="4343400" y="1874520"/>
            <a:ext cx="3520440" cy="1252728"/>
          </a:xfrm>
          <a:prstGeom prst="roundRect">
            <a:avLst>
              <a:gd name="adj" fmla="val 16058"/>
            </a:avLst>
          </a:prstGeom>
          <a:solidFill>
            <a:srgbClr val="F3F3F3"/>
          </a:solidFill>
          <a:ln/>
        </p:spPr>
      </p:sp>
      <p:sp>
        <p:nvSpPr>
          <p:cNvPr id="11" name="Shape 8"/>
          <p:cNvSpPr/>
          <p:nvPr/>
        </p:nvSpPr>
        <p:spPr>
          <a:xfrm>
            <a:off x="4572000" y="2148840"/>
            <a:ext cx="548640" cy="548640"/>
          </a:xfrm>
          <a:prstGeom prst="ellipse">
            <a:avLst/>
          </a:prstGeom>
          <a:solidFill>
            <a:srgbClr val="0A0A0A"/>
          </a:solidFill>
          <a:ln/>
        </p:spPr>
      </p:sp>
      <p:pic>
        <p:nvPicPr>
          <p:cNvPr id="12" name="Image 1" descr="C:\laragon\www\e-commerce\scripts\ppt\aset\ikon-Database-putih.png">    </p:cNvPr>
          <p:cNvPicPr>
            <a:picLocks noChangeAspect="1"/>
          </p:cNvPicPr>
          <p:nvPr/>
        </p:nvPicPr>
        <p:blipFill>
          <a:blip r:embed="rId2"/>
          <a:stretch>
            <a:fillRect/>
          </a:stretch>
        </p:blipFill>
        <p:spPr>
          <a:xfrm>
            <a:off x="4709160" y="2286000"/>
            <a:ext cx="274320" cy="274320"/>
          </a:xfrm>
          <a:prstGeom prst="rect">
            <a:avLst/>
          </a:prstGeom>
        </p:spPr>
      </p:pic>
      <p:sp>
        <p:nvSpPr>
          <p:cNvPr id="13" name="Text 9"/>
          <p:cNvSpPr txBox="1"/>
          <p:nvPr/>
        </p:nvSpPr>
        <p:spPr>
          <a:xfrm>
            <a:off x="5303520" y="2075688"/>
            <a:ext cx="2423160" cy="329184"/>
          </a:xfrm>
          <a:prstGeom prst="rect">
            <a:avLst/>
          </a:prstGeom>
          <a:noFill/>
          <a:ln/>
        </p:spPr>
        <p:txBody>
          <a:bodyPr wrap="square" lIns="0" tIns="0" rIns="0" bIns="0" rtlCol="0" anchor="t"/>
          <a:lstStyle/>
          <a:p>
            <a:pPr indent="0" marL="0">
              <a:buNone/>
            </a:pPr>
            <a:r>
              <a:rPr lang="en-US" sz="1400" dirty="0">
                <a:solidFill>
                  <a:srgbClr val="0A0A0A"/>
                </a:solidFill>
                <a:latin typeface="Segoe UI Semibold" pitchFamily="34" charset="0"/>
                <a:ea typeface="Segoe UI Semibold" pitchFamily="34" charset="-122"/>
                <a:cs typeface="Segoe UI Semibold" pitchFamily="34" charset="-120"/>
              </a:rPr>
              <a:t>MySQL di Aiven</a:t>
            </a:r>
            <a:endParaRPr lang="en-US" sz="1400" dirty="0"/>
          </a:p>
        </p:txBody>
      </p:sp>
      <p:sp>
        <p:nvSpPr>
          <p:cNvPr id="14" name="Text 10"/>
          <p:cNvSpPr txBox="1"/>
          <p:nvPr/>
        </p:nvSpPr>
        <p:spPr>
          <a:xfrm>
            <a:off x="5303520" y="2423160"/>
            <a:ext cx="2423160" cy="594360"/>
          </a:xfrm>
          <a:prstGeom prst="rect">
            <a:avLst/>
          </a:prstGeom>
          <a:noFill/>
          <a:ln/>
        </p:spPr>
        <p:txBody>
          <a:bodyPr wrap="square" lIns="0" tIns="0" rIns="0" bIns="0" rtlCol="0" anchor="t"/>
          <a:lstStyle/>
          <a:p>
            <a:pPr indent="0" marL="0">
              <a:buNone/>
            </a:pPr>
            <a:r>
              <a:rPr lang="en-US" sz="1150" dirty="0">
                <a:solidFill>
                  <a:srgbClr val="5C5C5C"/>
                </a:solidFill>
                <a:latin typeface="Segoe UI" pitchFamily="34" charset="0"/>
                <a:ea typeface="Segoe UI" pitchFamily="34" charset="-122"/>
                <a:cs typeface="Segoe UI" pitchFamily="34" charset="-120"/>
              </a:rPr>
              <a:t>Stabil dan dikenal; cloud saat rilis, Laragon saat lokal.</a:t>
            </a:r>
            <a:endParaRPr lang="en-US" sz="1150" dirty="0"/>
          </a:p>
        </p:txBody>
      </p:sp>
      <p:sp>
        <p:nvSpPr>
          <p:cNvPr id="15" name="Shape 11"/>
          <p:cNvSpPr/>
          <p:nvPr/>
        </p:nvSpPr>
        <p:spPr>
          <a:xfrm>
            <a:off x="8138160" y="1874520"/>
            <a:ext cx="3520440" cy="1252728"/>
          </a:xfrm>
          <a:prstGeom prst="roundRect">
            <a:avLst>
              <a:gd name="adj" fmla="val 16058"/>
            </a:avLst>
          </a:prstGeom>
          <a:solidFill>
            <a:srgbClr val="F3F3F3"/>
          </a:solidFill>
          <a:ln/>
        </p:spPr>
      </p:sp>
      <p:sp>
        <p:nvSpPr>
          <p:cNvPr id="16" name="Shape 12"/>
          <p:cNvSpPr/>
          <p:nvPr/>
        </p:nvSpPr>
        <p:spPr>
          <a:xfrm>
            <a:off x="8366760" y="2148840"/>
            <a:ext cx="548640" cy="548640"/>
          </a:xfrm>
          <a:prstGeom prst="ellipse">
            <a:avLst/>
          </a:prstGeom>
          <a:solidFill>
            <a:srgbClr val="0A0A0A"/>
          </a:solidFill>
          <a:ln/>
        </p:spPr>
      </p:sp>
      <p:pic>
        <p:nvPicPr>
          <p:cNvPr id="17" name="Image 2" descr="C:\laragon\www\e-commerce\scripts\ppt\aset\ikon-Workflow-putih.png">    </p:cNvPr>
          <p:cNvPicPr>
            <a:picLocks noChangeAspect="1"/>
          </p:cNvPicPr>
          <p:nvPr/>
        </p:nvPicPr>
        <p:blipFill>
          <a:blip r:embed="rId3"/>
          <a:stretch>
            <a:fillRect/>
          </a:stretch>
        </p:blipFill>
        <p:spPr>
          <a:xfrm>
            <a:off x="8503920" y="2286000"/>
            <a:ext cx="274320" cy="274320"/>
          </a:xfrm>
          <a:prstGeom prst="rect">
            <a:avLst/>
          </a:prstGeom>
        </p:spPr>
      </p:pic>
      <p:sp>
        <p:nvSpPr>
          <p:cNvPr id="18" name="Text 13"/>
          <p:cNvSpPr txBox="1"/>
          <p:nvPr/>
        </p:nvSpPr>
        <p:spPr>
          <a:xfrm>
            <a:off x="9098280" y="2075688"/>
            <a:ext cx="2423160" cy="329184"/>
          </a:xfrm>
          <a:prstGeom prst="rect">
            <a:avLst/>
          </a:prstGeom>
          <a:noFill/>
          <a:ln/>
        </p:spPr>
        <p:txBody>
          <a:bodyPr wrap="square" lIns="0" tIns="0" rIns="0" bIns="0" rtlCol="0" anchor="t"/>
          <a:lstStyle/>
          <a:p>
            <a:pPr indent="0" marL="0">
              <a:buNone/>
            </a:pPr>
            <a:r>
              <a:rPr lang="en-US" sz="1400" dirty="0">
                <a:solidFill>
                  <a:srgbClr val="0A0A0A"/>
                </a:solidFill>
                <a:latin typeface="Segoe UI Semibold" pitchFamily="34" charset="0"/>
                <a:ea typeface="Segoe UI Semibold" pitchFamily="34" charset="-122"/>
                <a:cs typeface="Segoe UI Semibold" pitchFamily="34" charset="-120"/>
              </a:rPr>
              <a:t>Prisma 7</a:t>
            </a:r>
            <a:endParaRPr lang="en-US" sz="1400" dirty="0"/>
          </a:p>
        </p:txBody>
      </p:sp>
      <p:sp>
        <p:nvSpPr>
          <p:cNvPr id="19" name="Text 14"/>
          <p:cNvSpPr txBox="1"/>
          <p:nvPr/>
        </p:nvSpPr>
        <p:spPr>
          <a:xfrm>
            <a:off x="9098280" y="2423160"/>
            <a:ext cx="2423160" cy="594360"/>
          </a:xfrm>
          <a:prstGeom prst="rect">
            <a:avLst/>
          </a:prstGeom>
          <a:noFill/>
          <a:ln/>
        </p:spPr>
        <p:txBody>
          <a:bodyPr wrap="square" lIns="0" tIns="0" rIns="0" bIns="0" rtlCol="0" anchor="t"/>
          <a:lstStyle/>
          <a:p>
            <a:pPr indent="0" marL="0">
              <a:buNone/>
            </a:pPr>
            <a:r>
              <a:rPr lang="en-US" sz="1150" dirty="0">
                <a:solidFill>
                  <a:srgbClr val="5C5C5C"/>
                </a:solidFill>
                <a:latin typeface="Segoe UI" pitchFamily="34" charset="0"/>
                <a:ea typeface="Segoe UI" pitchFamily="34" charset="-122"/>
                <a:cs typeface="Segoe UI" pitchFamily="34" charset="-120"/>
              </a:rPr>
              <a:t>Query sebagai kode, migrasi, dan data demo.</a:t>
            </a:r>
            <a:endParaRPr lang="en-US" sz="1150" dirty="0"/>
          </a:p>
        </p:txBody>
      </p:sp>
      <p:sp>
        <p:nvSpPr>
          <p:cNvPr id="20" name="Shape 15"/>
          <p:cNvSpPr/>
          <p:nvPr/>
        </p:nvSpPr>
        <p:spPr>
          <a:xfrm>
            <a:off x="548640" y="3291840"/>
            <a:ext cx="3520440" cy="1252728"/>
          </a:xfrm>
          <a:prstGeom prst="roundRect">
            <a:avLst>
              <a:gd name="adj" fmla="val 16058"/>
            </a:avLst>
          </a:prstGeom>
          <a:solidFill>
            <a:srgbClr val="F3F3F3"/>
          </a:solidFill>
          <a:ln/>
        </p:spPr>
      </p:sp>
      <p:sp>
        <p:nvSpPr>
          <p:cNvPr id="21" name="Shape 16"/>
          <p:cNvSpPr/>
          <p:nvPr/>
        </p:nvSpPr>
        <p:spPr>
          <a:xfrm>
            <a:off x="777240" y="3566160"/>
            <a:ext cx="548640" cy="548640"/>
          </a:xfrm>
          <a:prstGeom prst="ellipse">
            <a:avLst/>
          </a:prstGeom>
          <a:solidFill>
            <a:srgbClr val="0A0A0A"/>
          </a:solidFill>
          <a:ln/>
        </p:spPr>
      </p:sp>
      <p:pic>
        <p:nvPicPr>
          <p:cNvPr id="22" name="Image 3" descr="C:\laragon\www\e-commerce\scripts\ppt\aset\ikon-Palette-putih.png">    </p:cNvPr>
          <p:cNvPicPr>
            <a:picLocks noChangeAspect="1"/>
          </p:cNvPicPr>
          <p:nvPr/>
        </p:nvPicPr>
        <p:blipFill>
          <a:blip r:embed="rId4"/>
          <a:stretch>
            <a:fillRect/>
          </a:stretch>
        </p:blipFill>
        <p:spPr>
          <a:xfrm>
            <a:off x="914400" y="3703320"/>
            <a:ext cx="274320" cy="274320"/>
          </a:xfrm>
          <a:prstGeom prst="rect">
            <a:avLst/>
          </a:prstGeom>
        </p:spPr>
      </p:pic>
      <p:sp>
        <p:nvSpPr>
          <p:cNvPr id="23" name="Text 17"/>
          <p:cNvSpPr txBox="1"/>
          <p:nvPr/>
        </p:nvSpPr>
        <p:spPr>
          <a:xfrm>
            <a:off x="1508760" y="3493008"/>
            <a:ext cx="2423160" cy="329184"/>
          </a:xfrm>
          <a:prstGeom prst="rect">
            <a:avLst/>
          </a:prstGeom>
          <a:noFill/>
          <a:ln/>
        </p:spPr>
        <p:txBody>
          <a:bodyPr wrap="square" lIns="0" tIns="0" rIns="0" bIns="0" rtlCol="0" anchor="t"/>
          <a:lstStyle/>
          <a:p>
            <a:pPr indent="0" marL="0">
              <a:buNone/>
            </a:pPr>
            <a:r>
              <a:rPr lang="en-US" sz="1400" dirty="0">
                <a:solidFill>
                  <a:srgbClr val="0A0A0A"/>
                </a:solidFill>
                <a:latin typeface="Segoe UI Semibold" pitchFamily="34" charset="0"/>
                <a:ea typeface="Segoe UI Semibold" pitchFamily="34" charset="-122"/>
                <a:cs typeface="Segoe UI Semibold" pitchFamily="34" charset="-120"/>
              </a:rPr>
              <a:t>Tailwind 4 + shadcn/ui</a:t>
            </a:r>
            <a:endParaRPr lang="en-US" sz="1400" dirty="0"/>
          </a:p>
        </p:txBody>
      </p:sp>
      <p:sp>
        <p:nvSpPr>
          <p:cNvPr id="24" name="Text 18"/>
          <p:cNvSpPr txBox="1"/>
          <p:nvPr/>
        </p:nvSpPr>
        <p:spPr>
          <a:xfrm>
            <a:off x="1508760" y="3840480"/>
            <a:ext cx="2423160" cy="594360"/>
          </a:xfrm>
          <a:prstGeom prst="rect">
            <a:avLst/>
          </a:prstGeom>
          <a:noFill/>
          <a:ln/>
        </p:spPr>
        <p:txBody>
          <a:bodyPr wrap="square" lIns="0" tIns="0" rIns="0" bIns="0" rtlCol="0" anchor="t"/>
          <a:lstStyle/>
          <a:p>
            <a:pPr indent="0" marL="0">
              <a:buNone/>
            </a:pPr>
            <a:r>
              <a:rPr lang="en-US" sz="1150" dirty="0">
                <a:solidFill>
                  <a:srgbClr val="5C5C5C"/>
                </a:solidFill>
                <a:latin typeface="Segoe UI" pitchFamily="34" charset="0"/>
                <a:ea typeface="Segoe UI" pitchFamily="34" charset="-122"/>
                <a:cs typeface="Segoe UI" pitchFamily="34" charset="-120"/>
              </a:rPr>
              <a:t>Komponen seragam, responsif, mode terang/gelap.</a:t>
            </a:r>
            <a:endParaRPr lang="en-US" sz="1150" dirty="0"/>
          </a:p>
        </p:txBody>
      </p:sp>
      <p:sp>
        <p:nvSpPr>
          <p:cNvPr id="25" name="Shape 19"/>
          <p:cNvSpPr/>
          <p:nvPr/>
        </p:nvSpPr>
        <p:spPr>
          <a:xfrm>
            <a:off x="4343400" y="3291840"/>
            <a:ext cx="3520440" cy="1252728"/>
          </a:xfrm>
          <a:prstGeom prst="roundRect">
            <a:avLst>
              <a:gd name="adj" fmla="val 16058"/>
            </a:avLst>
          </a:prstGeom>
          <a:solidFill>
            <a:srgbClr val="F3F3F3"/>
          </a:solidFill>
          <a:ln/>
        </p:spPr>
      </p:sp>
      <p:sp>
        <p:nvSpPr>
          <p:cNvPr id="26" name="Shape 20"/>
          <p:cNvSpPr/>
          <p:nvPr/>
        </p:nvSpPr>
        <p:spPr>
          <a:xfrm>
            <a:off x="4572000" y="3566160"/>
            <a:ext cx="548640" cy="548640"/>
          </a:xfrm>
          <a:prstGeom prst="ellipse">
            <a:avLst/>
          </a:prstGeom>
          <a:solidFill>
            <a:srgbClr val="0A0A0A"/>
          </a:solidFill>
          <a:ln/>
        </p:spPr>
      </p:sp>
      <p:pic>
        <p:nvPicPr>
          <p:cNvPr id="27" name="Image 4" descr="C:\laragon\www\e-commerce\scripts\ppt\aset\ikon-ShoppingCart-putih.png">    </p:cNvPr>
          <p:cNvPicPr>
            <a:picLocks noChangeAspect="1"/>
          </p:cNvPicPr>
          <p:nvPr/>
        </p:nvPicPr>
        <p:blipFill>
          <a:blip r:embed="rId5"/>
          <a:stretch>
            <a:fillRect/>
          </a:stretch>
        </p:blipFill>
        <p:spPr>
          <a:xfrm>
            <a:off x="4709160" y="3703320"/>
            <a:ext cx="274320" cy="274320"/>
          </a:xfrm>
          <a:prstGeom prst="rect">
            <a:avLst/>
          </a:prstGeom>
        </p:spPr>
      </p:pic>
      <p:sp>
        <p:nvSpPr>
          <p:cNvPr id="28" name="Text 21"/>
          <p:cNvSpPr txBox="1"/>
          <p:nvPr/>
        </p:nvSpPr>
        <p:spPr>
          <a:xfrm>
            <a:off x="5303520" y="3493008"/>
            <a:ext cx="2423160" cy="329184"/>
          </a:xfrm>
          <a:prstGeom prst="rect">
            <a:avLst/>
          </a:prstGeom>
          <a:noFill/>
          <a:ln/>
        </p:spPr>
        <p:txBody>
          <a:bodyPr wrap="square" lIns="0" tIns="0" rIns="0" bIns="0" rtlCol="0" anchor="t"/>
          <a:lstStyle/>
          <a:p>
            <a:pPr indent="0" marL="0">
              <a:buNone/>
            </a:pPr>
            <a:r>
              <a:rPr lang="en-US" sz="1400" dirty="0">
                <a:solidFill>
                  <a:srgbClr val="0A0A0A"/>
                </a:solidFill>
                <a:latin typeface="Segoe UI Semibold" pitchFamily="34" charset="0"/>
                <a:ea typeface="Segoe UI Semibold" pitchFamily="34" charset="-122"/>
                <a:cs typeface="Segoe UI Semibold" pitchFamily="34" charset="-120"/>
              </a:rPr>
              <a:t>Zustand</a:t>
            </a:r>
            <a:endParaRPr lang="en-US" sz="1400" dirty="0"/>
          </a:p>
        </p:txBody>
      </p:sp>
      <p:sp>
        <p:nvSpPr>
          <p:cNvPr id="29" name="Text 22"/>
          <p:cNvSpPr txBox="1"/>
          <p:nvPr/>
        </p:nvSpPr>
        <p:spPr>
          <a:xfrm>
            <a:off x="5303520" y="3840480"/>
            <a:ext cx="2423160" cy="594360"/>
          </a:xfrm>
          <a:prstGeom prst="rect">
            <a:avLst/>
          </a:prstGeom>
          <a:noFill/>
          <a:ln/>
        </p:spPr>
        <p:txBody>
          <a:bodyPr wrap="square" lIns="0" tIns="0" rIns="0" bIns="0" rtlCol="0" anchor="t"/>
          <a:lstStyle/>
          <a:p>
            <a:pPr indent="0" marL="0">
              <a:buNone/>
            </a:pPr>
            <a:r>
              <a:rPr lang="en-US" sz="1150" dirty="0">
                <a:solidFill>
                  <a:srgbClr val="5C5C5C"/>
                </a:solidFill>
                <a:latin typeface="Segoe UI" pitchFamily="34" charset="0"/>
                <a:ea typeface="Segoe UI" pitchFamily="34" charset="-122"/>
                <a:cs typeface="Segoe UI" pitchFamily="34" charset="-120"/>
              </a:rPr>
              <a:t>Keranjang tersimpan di browser walau halaman dimuat ulang.</a:t>
            </a:r>
            <a:endParaRPr lang="en-US" sz="1150" dirty="0"/>
          </a:p>
        </p:txBody>
      </p:sp>
      <p:sp>
        <p:nvSpPr>
          <p:cNvPr id="30" name="Shape 23"/>
          <p:cNvSpPr/>
          <p:nvPr/>
        </p:nvSpPr>
        <p:spPr>
          <a:xfrm>
            <a:off x="8138160" y="3291840"/>
            <a:ext cx="3520440" cy="1252728"/>
          </a:xfrm>
          <a:prstGeom prst="roundRect">
            <a:avLst>
              <a:gd name="adj" fmla="val 16058"/>
            </a:avLst>
          </a:prstGeom>
          <a:solidFill>
            <a:srgbClr val="F3F3F3"/>
          </a:solidFill>
          <a:ln/>
        </p:spPr>
      </p:sp>
      <p:sp>
        <p:nvSpPr>
          <p:cNvPr id="31" name="Shape 24"/>
          <p:cNvSpPr/>
          <p:nvPr/>
        </p:nvSpPr>
        <p:spPr>
          <a:xfrm>
            <a:off x="8366760" y="3566160"/>
            <a:ext cx="548640" cy="548640"/>
          </a:xfrm>
          <a:prstGeom prst="ellipse">
            <a:avLst/>
          </a:prstGeom>
          <a:solidFill>
            <a:srgbClr val="0A0A0A"/>
          </a:solidFill>
          <a:ln/>
        </p:spPr>
      </p:sp>
      <p:pic>
        <p:nvPicPr>
          <p:cNvPr id="32" name="Image 5" descr="C:\laragon\www\e-commerce\scripts\ppt\aset\ikon-ListChecks-putih.png">    </p:cNvPr>
          <p:cNvPicPr>
            <a:picLocks noChangeAspect="1"/>
          </p:cNvPicPr>
          <p:nvPr/>
        </p:nvPicPr>
        <p:blipFill>
          <a:blip r:embed="rId6"/>
          <a:stretch>
            <a:fillRect/>
          </a:stretch>
        </p:blipFill>
        <p:spPr>
          <a:xfrm>
            <a:off x="8503920" y="3703320"/>
            <a:ext cx="274320" cy="274320"/>
          </a:xfrm>
          <a:prstGeom prst="rect">
            <a:avLst/>
          </a:prstGeom>
        </p:spPr>
      </p:pic>
      <p:sp>
        <p:nvSpPr>
          <p:cNvPr id="33" name="Text 25"/>
          <p:cNvSpPr txBox="1"/>
          <p:nvPr/>
        </p:nvSpPr>
        <p:spPr>
          <a:xfrm>
            <a:off x="9098280" y="3493008"/>
            <a:ext cx="2423160" cy="329184"/>
          </a:xfrm>
          <a:prstGeom prst="rect">
            <a:avLst/>
          </a:prstGeom>
          <a:noFill/>
          <a:ln/>
        </p:spPr>
        <p:txBody>
          <a:bodyPr wrap="square" lIns="0" tIns="0" rIns="0" bIns="0" rtlCol="0" anchor="t"/>
          <a:lstStyle/>
          <a:p>
            <a:pPr indent="0" marL="0">
              <a:buNone/>
            </a:pPr>
            <a:r>
              <a:rPr lang="en-US" sz="1400" dirty="0">
                <a:solidFill>
                  <a:srgbClr val="0A0A0A"/>
                </a:solidFill>
                <a:latin typeface="Segoe UI Semibold" pitchFamily="34" charset="0"/>
                <a:ea typeface="Segoe UI Semibold" pitchFamily="34" charset="-122"/>
                <a:cs typeface="Segoe UI Semibold" pitchFamily="34" charset="-120"/>
              </a:rPr>
              <a:t>React Hook Form + Zod</a:t>
            </a:r>
            <a:endParaRPr lang="en-US" sz="1400" dirty="0"/>
          </a:p>
        </p:txBody>
      </p:sp>
      <p:sp>
        <p:nvSpPr>
          <p:cNvPr id="34" name="Text 26"/>
          <p:cNvSpPr txBox="1"/>
          <p:nvPr/>
        </p:nvSpPr>
        <p:spPr>
          <a:xfrm>
            <a:off x="9098280" y="3840480"/>
            <a:ext cx="2423160" cy="594360"/>
          </a:xfrm>
          <a:prstGeom prst="rect">
            <a:avLst/>
          </a:prstGeom>
          <a:noFill/>
          <a:ln/>
        </p:spPr>
        <p:txBody>
          <a:bodyPr wrap="square" lIns="0" tIns="0" rIns="0" bIns="0" rtlCol="0" anchor="t"/>
          <a:lstStyle/>
          <a:p>
            <a:pPr indent="0" marL="0">
              <a:buNone/>
            </a:pPr>
            <a:r>
              <a:rPr lang="en-US" sz="1150" dirty="0">
                <a:solidFill>
                  <a:srgbClr val="5C5C5C"/>
                </a:solidFill>
                <a:latin typeface="Segoe UI" pitchFamily="34" charset="0"/>
                <a:ea typeface="Segoe UI" pitchFamily="34" charset="-122"/>
                <a:cs typeface="Segoe UI" pitchFamily="34" charset="-120"/>
              </a:rPr>
              <a:t>Validasi yang sama di form dan di server.</a:t>
            </a:r>
            <a:endParaRPr lang="en-US" sz="1150" dirty="0"/>
          </a:p>
        </p:txBody>
      </p:sp>
      <p:sp>
        <p:nvSpPr>
          <p:cNvPr id="35" name="Shape 27"/>
          <p:cNvSpPr/>
          <p:nvPr/>
        </p:nvSpPr>
        <p:spPr>
          <a:xfrm>
            <a:off x="548640" y="4709160"/>
            <a:ext cx="3520440" cy="1252728"/>
          </a:xfrm>
          <a:prstGeom prst="roundRect">
            <a:avLst>
              <a:gd name="adj" fmla="val 16058"/>
            </a:avLst>
          </a:prstGeom>
          <a:solidFill>
            <a:srgbClr val="F3F3F3"/>
          </a:solidFill>
          <a:ln/>
        </p:spPr>
      </p:sp>
      <p:sp>
        <p:nvSpPr>
          <p:cNvPr id="36" name="Shape 28"/>
          <p:cNvSpPr/>
          <p:nvPr/>
        </p:nvSpPr>
        <p:spPr>
          <a:xfrm>
            <a:off x="777240" y="4983480"/>
            <a:ext cx="548640" cy="548640"/>
          </a:xfrm>
          <a:prstGeom prst="ellipse">
            <a:avLst/>
          </a:prstGeom>
          <a:solidFill>
            <a:srgbClr val="0A0A0A"/>
          </a:solidFill>
          <a:ln/>
        </p:spPr>
      </p:sp>
      <p:pic>
        <p:nvPicPr>
          <p:cNvPr id="37" name="Image 6" descr="C:\laragon\www\e-commerce\scripts\ppt\aset\ikon-KeyRound-putih.png">    </p:cNvPr>
          <p:cNvPicPr>
            <a:picLocks noChangeAspect="1"/>
          </p:cNvPicPr>
          <p:nvPr/>
        </p:nvPicPr>
        <p:blipFill>
          <a:blip r:embed="rId7"/>
          <a:stretch>
            <a:fillRect/>
          </a:stretch>
        </p:blipFill>
        <p:spPr>
          <a:xfrm>
            <a:off x="914400" y="5120640"/>
            <a:ext cx="274320" cy="274320"/>
          </a:xfrm>
          <a:prstGeom prst="rect">
            <a:avLst/>
          </a:prstGeom>
        </p:spPr>
      </p:pic>
      <p:sp>
        <p:nvSpPr>
          <p:cNvPr id="38" name="Text 29"/>
          <p:cNvSpPr txBox="1"/>
          <p:nvPr/>
        </p:nvSpPr>
        <p:spPr>
          <a:xfrm>
            <a:off x="1508760" y="4910328"/>
            <a:ext cx="2423160" cy="329184"/>
          </a:xfrm>
          <a:prstGeom prst="rect">
            <a:avLst/>
          </a:prstGeom>
          <a:noFill/>
          <a:ln/>
        </p:spPr>
        <p:txBody>
          <a:bodyPr wrap="square" lIns="0" tIns="0" rIns="0" bIns="0" rtlCol="0" anchor="t"/>
          <a:lstStyle/>
          <a:p>
            <a:pPr indent="0" marL="0">
              <a:buNone/>
            </a:pPr>
            <a:r>
              <a:rPr lang="en-US" sz="1400" dirty="0">
                <a:solidFill>
                  <a:srgbClr val="0A0A0A"/>
                </a:solidFill>
                <a:latin typeface="Segoe UI Semibold" pitchFamily="34" charset="0"/>
                <a:ea typeface="Segoe UI Semibold" pitchFamily="34" charset="-122"/>
                <a:cs typeface="Segoe UI Semibold" pitchFamily="34" charset="-120"/>
              </a:rPr>
              <a:t>Argon2id + JWT</a:t>
            </a:r>
            <a:endParaRPr lang="en-US" sz="1400" dirty="0"/>
          </a:p>
        </p:txBody>
      </p:sp>
      <p:sp>
        <p:nvSpPr>
          <p:cNvPr id="39" name="Text 30"/>
          <p:cNvSpPr txBox="1"/>
          <p:nvPr/>
        </p:nvSpPr>
        <p:spPr>
          <a:xfrm>
            <a:off x="1508760" y="5257800"/>
            <a:ext cx="2423160" cy="594360"/>
          </a:xfrm>
          <a:prstGeom prst="rect">
            <a:avLst/>
          </a:prstGeom>
          <a:noFill/>
          <a:ln/>
        </p:spPr>
        <p:txBody>
          <a:bodyPr wrap="square" lIns="0" tIns="0" rIns="0" bIns="0" rtlCol="0" anchor="t"/>
          <a:lstStyle/>
          <a:p>
            <a:pPr indent="0" marL="0">
              <a:buNone/>
            </a:pPr>
            <a:r>
              <a:rPr lang="en-US" sz="1150" dirty="0">
                <a:solidFill>
                  <a:srgbClr val="5C5C5C"/>
                </a:solidFill>
                <a:latin typeface="Segoe UI" pitchFamily="34" charset="0"/>
                <a:ea typeface="Segoe UI" pitchFamily="34" charset="-122"/>
                <a:cs typeface="Segoe UI" pitchFamily="34" charset="-120"/>
              </a:rPr>
              <a:t>Password di-hash modern; sesi di cookie httpOnly.</a:t>
            </a:r>
            <a:endParaRPr lang="en-US" sz="1150" dirty="0"/>
          </a:p>
        </p:txBody>
      </p:sp>
      <p:sp>
        <p:nvSpPr>
          <p:cNvPr id="40" name="Shape 31"/>
          <p:cNvSpPr/>
          <p:nvPr/>
        </p:nvSpPr>
        <p:spPr>
          <a:xfrm>
            <a:off x="4343400" y="4709160"/>
            <a:ext cx="3520440" cy="1252728"/>
          </a:xfrm>
          <a:prstGeom prst="roundRect">
            <a:avLst>
              <a:gd name="adj" fmla="val 16058"/>
            </a:avLst>
          </a:prstGeom>
          <a:solidFill>
            <a:srgbClr val="F3F3F3"/>
          </a:solidFill>
          <a:ln/>
        </p:spPr>
      </p:sp>
      <p:sp>
        <p:nvSpPr>
          <p:cNvPr id="41" name="Shape 32"/>
          <p:cNvSpPr/>
          <p:nvPr/>
        </p:nvSpPr>
        <p:spPr>
          <a:xfrm>
            <a:off x="4572000" y="4983480"/>
            <a:ext cx="548640" cy="548640"/>
          </a:xfrm>
          <a:prstGeom prst="ellipse">
            <a:avLst/>
          </a:prstGeom>
          <a:solidFill>
            <a:srgbClr val="0A0A0A"/>
          </a:solidFill>
          <a:ln/>
        </p:spPr>
      </p:sp>
      <p:pic>
        <p:nvPicPr>
          <p:cNvPr id="42" name="Image 7" descr="C:\laragon\www\e-commerce\scripts\ppt\aset\ikon-CreditCard-putih.png">    </p:cNvPr>
          <p:cNvPicPr>
            <a:picLocks noChangeAspect="1"/>
          </p:cNvPicPr>
          <p:nvPr/>
        </p:nvPicPr>
        <p:blipFill>
          <a:blip r:embed="rId8"/>
          <a:stretch>
            <a:fillRect/>
          </a:stretch>
        </p:blipFill>
        <p:spPr>
          <a:xfrm>
            <a:off x="4709160" y="5120640"/>
            <a:ext cx="274320" cy="274320"/>
          </a:xfrm>
          <a:prstGeom prst="rect">
            <a:avLst/>
          </a:prstGeom>
        </p:spPr>
      </p:pic>
      <p:sp>
        <p:nvSpPr>
          <p:cNvPr id="43" name="Text 33"/>
          <p:cNvSpPr txBox="1"/>
          <p:nvPr/>
        </p:nvSpPr>
        <p:spPr>
          <a:xfrm>
            <a:off x="5303520" y="4910328"/>
            <a:ext cx="2423160" cy="329184"/>
          </a:xfrm>
          <a:prstGeom prst="rect">
            <a:avLst/>
          </a:prstGeom>
          <a:noFill/>
          <a:ln/>
        </p:spPr>
        <p:txBody>
          <a:bodyPr wrap="square" lIns="0" tIns="0" rIns="0" bIns="0" rtlCol="0" anchor="t"/>
          <a:lstStyle/>
          <a:p>
            <a:pPr indent="0" marL="0">
              <a:buNone/>
            </a:pPr>
            <a:r>
              <a:rPr lang="en-US" sz="1400" dirty="0">
                <a:solidFill>
                  <a:srgbClr val="0A0A0A"/>
                </a:solidFill>
                <a:latin typeface="Segoe UI Semibold" pitchFamily="34" charset="0"/>
                <a:ea typeface="Segoe UI Semibold" pitchFamily="34" charset="-122"/>
                <a:cs typeface="Segoe UI Semibold" pitchFamily="34" charset="-120"/>
              </a:rPr>
              <a:t>Midtrans Snap (sandbox)</a:t>
            </a:r>
            <a:endParaRPr lang="en-US" sz="1400" dirty="0"/>
          </a:p>
        </p:txBody>
      </p:sp>
      <p:sp>
        <p:nvSpPr>
          <p:cNvPr id="44" name="Text 34"/>
          <p:cNvSpPr txBox="1"/>
          <p:nvPr/>
        </p:nvSpPr>
        <p:spPr>
          <a:xfrm>
            <a:off x="5303520" y="5257800"/>
            <a:ext cx="2423160" cy="594360"/>
          </a:xfrm>
          <a:prstGeom prst="rect">
            <a:avLst/>
          </a:prstGeom>
          <a:noFill/>
          <a:ln/>
        </p:spPr>
        <p:txBody>
          <a:bodyPr wrap="square" lIns="0" tIns="0" rIns="0" bIns="0" rtlCol="0" anchor="t"/>
          <a:lstStyle/>
          <a:p>
            <a:pPr indent="0" marL="0">
              <a:buNone/>
            </a:pPr>
            <a:r>
              <a:rPr lang="en-US" sz="1150" dirty="0">
                <a:solidFill>
                  <a:srgbClr val="5C5C5C"/>
                </a:solidFill>
                <a:latin typeface="Segoe UI" pitchFamily="34" charset="0"/>
                <a:ea typeface="Segoe UI" pitchFamily="34" charset="-122"/>
                <a:cs typeface="Segoe UI" pitchFamily="34" charset="-120"/>
              </a:rPr>
              <a:t>Bayar QRIS, BCA, Mandiri; tanpa SDK, cukup fetch.</a:t>
            </a:r>
            <a:endParaRPr lang="en-US" sz="1150" dirty="0"/>
          </a:p>
        </p:txBody>
      </p:sp>
      <p:sp>
        <p:nvSpPr>
          <p:cNvPr id="45" name="Shape 35"/>
          <p:cNvSpPr/>
          <p:nvPr/>
        </p:nvSpPr>
        <p:spPr>
          <a:xfrm>
            <a:off x="8138160" y="4709160"/>
            <a:ext cx="3520440" cy="1252728"/>
          </a:xfrm>
          <a:prstGeom prst="roundRect">
            <a:avLst>
              <a:gd name="adj" fmla="val 16058"/>
            </a:avLst>
          </a:prstGeom>
          <a:solidFill>
            <a:srgbClr val="F3F3F3"/>
          </a:solidFill>
          <a:ln/>
        </p:spPr>
      </p:sp>
      <p:sp>
        <p:nvSpPr>
          <p:cNvPr id="46" name="Shape 36"/>
          <p:cNvSpPr/>
          <p:nvPr/>
        </p:nvSpPr>
        <p:spPr>
          <a:xfrm>
            <a:off x="8366760" y="4983480"/>
            <a:ext cx="548640" cy="548640"/>
          </a:xfrm>
          <a:prstGeom prst="ellipse">
            <a:avLst/>
          </a:prstGeom>
          <a:solidFill>
            <a:srgbClr val="0A0A0A"/>
          </a:solidFill>
          <a:ln/>
        </p:spPr>
      </p:sp>
      <p:pic>
        <p:nvPicPr>
          <p:cNvPr id="47" name="Image 8" descr="C:\laragon\www\e-commerce\scripts\ppt\aset\ikon-Sparkles-putih.png">    </p:cNvPr>
          <p:cNvPicPr>
            <a:picLocks noChangeAspect="1"/>
          </p:cNvPicPr>
          <p:nvPr/>
        </p:nvPicPr>
        <p:blipFill>
          <a:blip r:embed="rId9"/>
          <a:stretch>
            <a:fillRect/>
          </a:stretch>
        </p:blipFill>
        <p:spPr>
          <a:xfrm>
            <a:off x="8503920" y="5120640"/>
            <a:ext cx="274320" cy="274320"/>
          </a:xfrm>
          <a:prstGeom prst="rect">
            <a:avLst/>
          </a:prstGeom>
        </p:spPr>
      </p:pic>
      <p:sp>
        <p:nvSpPr>
          <p:cNvPr id="48" name="Text 37"/>
          <p:cNvSpPr txBox="1"/>
          <p:nvPr/>
        </p:nvSpPr>
        <p:spPr>
          <a:xfrm>
            <a:off x="9098280" y="4910328"/>
            <a:ext cx="2423160" cy="329184"/>
          </a:xfrm>
          <a:prstGeom prst="rect">
            <a:avLst/>
          </a:prstGeom>
          <a:noFill/>
          <a:ln/>
        </p:spPr>
        <p:txBody>
          <a:bodyPr wrap="square" lIns="0" tIns="0" rIns="0" bIns="0" rtlCol="0" anchor="t"/>
          <a:lstStyle/>
          <a:p>
            <a:pPr indent="0" marL="0">
              <a:buNone/>
            </a:pPr>
            <a:r>
              <a:rPr lang="en-US" sz="1400" dirty="0">
                <a:solidFill>
                  <a:srgbClr val="0A0A0A"/>
                </a:solidFill>
                <a:latin typeface="Segoe UI Semibold" pitchFamily="34" charset="0"/>
                <a:ea typeface="Segoe UI Semibold" pitchFamily="34" charset="-122"/>
                <a:cs typeface="Segoe UI Semibold" pitchFamily="34" charset="-120"/>
              </a:rPr>
              <a:t>Gemini + Groq</a:t>
            </a:r>
            <a:endParaRPr lang="en-US" sz="1400" dirty="0"/>
          </a:p>
        </p:txBody>
      </p:sp>
      <p:sp>
        <p:nvSpPr>
          <p:cNvPr id="49" name="Text 38"/>
          <p:cNvSpPr txBox="1"/>
          <p:nvPr/>
        </p:nvSpPr>
        <p:spPr>
          <a:xfrm>
            <a:off x="9098280" y="5257800"/>
            <a:ext cx="2423160" cy="594360"/>
          </a:xfrm>
          <a:prstGeom prst="rect">
            <a:avLst/>
          </a:prstGeom>
          <a:noFill/>
          <a:ln/>
        </p:spPr>
        <p:txBody>
          <a:bodyPr wrap="square" lIns="0" tIns="0" rIns="0" bIns="0" rtlCol="0" anchor="t"/>
          <a:lstStyle/>
          <a:p>
            <a:pPr indent="0" marL="0">
              <a:buNone/>
            </a:pPr>
            <a:r>
              <a:rPr lang="en-US" sz="1150" dirty="0">
                <a:solidFill>
                  <a:srgbClr val="5C5C5C"/>
                </a:solidFill>
                <a:latin typeface="Segoe UI" pitchFamily="34" charset="0"/>
                <a:ea typeface="Segoe UI" pitchFamily="34" charset="-122"/>
                <a:cs typeface="Segoe UI" pitchFamily="34" charset="-120"/>
              </a:rPr>
              <a:t>Asisten AI gratis tanpa kartu, cadangan otomatis.</a:t>
            </a:r>
            <a:endParaRPr lang="en-US" sz="1150" dirty="0"/>
          </a:p>
        </p:txBody>
      </p:sp>
      <p:sp>
        <p:nvSpPr>
          <p:cNvPr id="25" name="Slide Number Placeholder 0"/>
          <p:cNvSpPr>
            <a:spLocks noGrp="1"/>
          </p:cNvSpPr>
          <p:nvPr>
            <p:ph type="sldNum" sz="quarter" idx="4294967295"/>
          </p:nvPr>
        </p:nvSpPr>
        <p:spPr>
          <a:xfrm>
            <a:off x="11183112"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C5C5C"/>
                </a:solidFill>
                <a:latin typeface="Segoe UI"/>
                <a:ea typeface="Segoe UI"/>
                <a:cs typeface="Segoe U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548640" y="411480"/>
            <a:ext cx="1889150" cy="292608"/>
          </a:xfrm>
          <a:prstGeom prst="roundRect">
            <a:avLst>
              <a:gd name="adj" fmla="val 50000"/>
            </a:avLst>
          </a:prstGeom>
          <a:solidFill>
            <a:srgbClr val="F3F3F3"/>
          </a:solidFill>
          <a:ln/>
        </p:spPr>
      </p:sp>
      <p:sp>
        <p:nvSpPr>
          <p:cNvPr id="3" name="Text 1"/>
          <p:cNvSpPr txBox="1"/>
          <p:nvPr/>
        </p:nvSpPr>
        <p:spPr>
          <a:xfrm>
            <a:off x="548640" y="411480"/>
            <a:ext cx="1889150" cy="292608"/>
          </a:xfrm>
          <a:prstGeom prst="rect">
            <a:avLst/>
          </a:prstGeom>
          <a:noFill/>
          <a:ln/>
        </p:spPr>
        <p:txBody>
          <a:bodyPr wrap="square" lIns="0" tIns="0" rIns="0" bIns="0" rtlCol="0" anchor="ctr"/>
          <a:lstStyle/>
          <a:p>
            <a:pPr algn="ctr" indent="0" marL="0">
              <a:buNone/>
            </a:pPr>
            <a:r>
              <a:rPr lang="en-US" sz="950" spc="150" kern="0" dirty="0">
                <a:solidFill>
                  <a:srgbClr val="5C5C5C"/>
                </a:solidFill>
                <a:latin typeface="Segoe UI Semibold" pitchFamily="34" charset="0"/>
                <a:ea typeface="Segoe UI Semibold" pitchFamily="34" charset="-122"/>
                <a:cs typeface="Segoe UI Semibold" pitchFamily="34" charset="-120"/>
              </a:rPr>
              <a:t>ARSITEKTUR SISTEM</a:t>
            </a:r>
            <a:endParaRPr lang="en-US" sz="950" dirty="0"/>
          </a:p>
        </p:txBody>
      </p:sp>
      <p:sp>
        <p:nvSpPr>
          <p:cNvPr id="4" name="Text 1"/>
          <p:cNvSpPr/>
          <p:nvPr>
            <p:ph idx="101" type="title" hasCustomPrompt="1"/>
          </p:nvPr>
        </p:nvSpPr>
        <p:spPr>
          <a:xfrm>
            <a:off x="548640" y="868680"/>
            <a:ext cx="11064240" cy="777240"/>
          </a:xfrm>
          <a:prstGeom prst="rect">
            <a:avLst/>
          </a:prstGeom>
          <a:noFill/>
          <a:ln/>
        </p:spPr>
        <p:txBody>
          <a:bodyPr wrap="square" lIns="0" tIns="0" rIns="0" bIns="0" rtlCol="0" anchor="t"/>
          <a:lstStyle/>
          <a:p>
            <a:pPr algn="l" indent="0" marL="0">
              <a:buNone/>
            </a:pPr>
            <a:r>
              <a:rPr lang="en-US" sz="3000" dirty="0">
                <a:solidFill>
                  <a:srgbClr val="0A0A0A"/>
                </a:solidFill>
                <a:latin typeface="Segoe UI Semibold" pitchFamily="34" charset="0"/>
                <a:ea typeface="Segoe UI Semibold" pitchFamily="34" charset="-122"/>
                <a:cs typeface="Segoe UI Semibold" pitchFamily="34" charset="-120"/>
              </a:rPr>
              <a:t>Bagaimana semua bagian terhubung</a:t>
            </a:r>
            <a:endParaRPr lang="en-US" sz="3000" dirty="0"/>
          </a:p>
        </p:txBody>
      </p:sp>
      <p:sp>
        <p:nvSpPr>
          <p:cNvPr id="5" name="Shape 3"/>
          <p:cNvSpPr/>
          <p:nvPr/>
        </p:nvSpPr>
        <p:spPr>
          <a:xfrm>
            <a:off x="548640" y="1874520"/>
            <a:ext cx="2148840" cy="2743200"/>
          </a:xfrm>
          <a:prstGeom prst="roundRect">
            <a:avLst>
              <a:gd name="adj" fmla="val 9362"/>
            </a:avLst>
          </a:prstGeom>
          <a:solidFill>
            <a:srgbClr val="F3F3F3"/>
          </a:solidFill>
          <a:ln/>
        </p:spPr>
      </p:sp>
      <p:sp>
        <p:nvSpPr>
          <p:cNvPr id="6" name="Text 4"/>
          <p:cNvSpPr txBox="1"/>
          <p:nvPr/>
        </p:nvSpPr>
        <p:spPr>
          <a:xfrm>
            <a:off x="777240" y="2103120"/>
            <a:ext cx="1828800" cy="228600"/>
          </a:xfrm>
          <a:prstGeom prst="rect">
            <a:avLst/>
          </a:prstGeom>
          <a:noFill/>
          <a:ln/>
        </p:spPr>
        <p:txBody>
          <a:bodyPr wrap="square" lIns="0" tIns="0" rIns="0" bIns="0" rtlCol="0" anchor="t"/>
          <a:lstStyle/>
          <a:p>
            <a:pPr indent="0" marL="0">
              <a:buNone/>
            </a:pPr>
            <a:r>
              <a:rPr lang="en-US" sz="950" spc="150" kern="0" dirty="0">
                <a:solidFill>
                  <a:srgbClr val="5C5C5C"/>
                </a:solidFill>
                <a:latin typeface="Segoe UI Semibold" pitchFamily="34" charset="0"/>
                <a:ea typeface="Segoe UI Semibold" pitchFamily="34" charset="-122"/>
                <a:cs typeface="Segoe UI Semibold" pitchFamily="34" charset="-120"/>
              </a:rPr>
              <a:t>PENGGUNA</a:t>
            </a:r>
            <a:endParaRPr lang="en-US" sz="950" dirty="0"/>
          </a:p>
        </p:txBody>
      </p:sp>
      <p:sp>
        <p:nvSpPr>
          <p:cNvPr id="7" name="Shape 5"/>
          <p:cNvSpPr/>
          <p:nvPr/>
        </p:nvSpPr>
        <p:spPr>
          <a:xfrm>
            <a:off x="777240" y="2514600"/>
            <a:ext cx="548640" cy="548640"/>
          </a:xfrm>
          <a:prstGeom prst="ellipse">
            <a:avLst/>
          </a:prstGeom>
          <a:solidFill>
            <a:srgbClr val="0A0A0A"/>
          </a:solidFill>
          <a:ln/>
        </p:spPr>
      </p:sp>
      <p:pic>
        <p:nvPicPr>
          <p:cNvPr id="8" name="Image 0" descr="C:\laragon\www\e-commerce\scripts\ppt\aset\ikon-User-putih.png">    </p:cNvPr>
          <p:cNvPicPr>
            <a:picLocks noChangeAspect="1"/>
          </p:cNvPicPr>
          <p:nvPr/>
        </p:nvPicPr>
        <p:blipFill>
          <a:blip r:embed="rId1"/>
          <a:stretch>
            <a:fillRect/>
          </a:stretch>
        </p:blipFill>
        <p:spPr>
          <a:xfrm>
            <a:off x="914400" y="2651760"/>
            <a:ext cx="274320" cy="274320"/>
          </a:xfrm>
          <a:prstGeom prst="rect">
            <a:avLst/>
          </a:prstGeom>
        </p:spPr>
      </p:pic>
      <p:sp>
        <p:nvSpPr>
          <p:cNvPr id="9" name="Text 6"/>
          <p:cNvSpPr txBox="1"/>
          <p:nvPr/>
        </p:nvSpPr>
        <p:spPr>
          <a:xfrm>
            <a:off x="1417320" y="2606040"/>
            <a:ext cx="1188720" cy="365760"/>
          </a:xfrm>
          <a:prstGeom prst="rect">
            <a:avLst/>
          </a:prstGeom>
          <a:noFill/>
          <a:ln/>
        </p:spPr>
        <p:txBody>
          <a:bodyPr wrap="square" lIns="0" tIns="0" rIns="0" bIns="0" rtlCol="0" anchor="t"/>
          <a:lstStyle/>
          <a:p>
            <a:pPr indent="0" marL="0">
              <a:buNone/>
            </a:pPr>
            <a:r>
              <a:rPr lang="en-US" sz="1300" dirty="0">
                <a:solidFill>
                  <a:srgbClr val="0A0A0A"/>
                </a:solidFill>
                <a:latin typeface="Segoe UI Semibold" pitchFamily="34" charset="0"/>
                <a:ea typeface="Segoe UI Semibold" pitchFamily="34" charset="-122"/>
                <a:cs typeface="Segoe UI Semibold" pitchFamily="34" charset="-120"/>
              </a:rPr>
              <a:t>Pembeli</a:t>
            </a:r>
            <a:endParaRPr lang="en-US" sz="1300" dirty="0"/>
          </a:p>
        </p:txBody>
      </p:sp>
      <p:sp>
        <p:nvSpPr>
          <p:cNvPr id="10" name="Shape 7"/>
          <p:cNvSpPr/>
          <p:nvPr/>
        </p:nvSpPr>
        <p:spPr>
          <a:xfrm>
            <a:off x="777240" y="3429000"/>
            <a:ext cx="548640" cy="548640"/>
          </a:xfrm>
          <a:prstGeom prst="ellipse">
            <a:avLst/>
          </a:prstGeom>
          <a:solidFill>
            <a:srgbClr val="0A0A0A"/>
          </a:solidFill>
          <a:ln/>
        </p:spPr>
      </p:sp>
      <p:pic>
        <p:nvPicPr>
          <p:cNvPr id="11" name="Image 1" descr="C:\laragon\www\e-commerce\scripts\ppt\aset\ikon-UserCog-putih.png">    </p:cNvPr>
          <p:cNvPicPr>
            <a:picLocks noChangeAspect="1"/>
          </p:cNvPicPr>
          <p:nvPr/>
        </p:nvPicPr>
        <p:blipFill>
          <a:blip r:embed="rId2"/>
          <a:stretch>
            <a:fillRect/>
          </a:stretch>
        </p:blipFill>
        <p:spPr>
          <a:xfrm>
            <a:off x="914400" y="3566160"/>
            <a:ext cx="274320" cy="274320"/>
          </a:xfrm>
          <a:prstGeom prst="rect">
            <a:avLst/>
          </a:prstGeom>
        </p:spPr>
      </p:pic>
      <p:sp>
        <p:nvSpPr>
          <p:cNvPr id="12" name="Text 8"/>
          <p:cNvSpPr txBox="1"/>
          <p:nvPr/>
        </p:nvSpPr>
        <p:spPr>
          <a:xfrm>
            <a:off x="1417320" y="3520440"/>
            <a:ext cx="1188720" cy="365760"/>
          </a:xfrm>
          <a:prstGeom prst="rect">
            <a:avLst/>
          </a:prstGeom>
          <a:noFill/>
          <a:ln/>
        </p:spPr>
        <p:txBody>
          <a:bodyPr wrap="square" lIns="0" tIns="0" rIns="0" bIns="0" rtlCol="0" anchor="t"/>
          <a:lstStyle/>
          <a:p>
            <a:pPr indent="0" marL="0">
              <a:buNone/>
            </a:pPr>
            <a:r>
              <a:rPr lang="en-US" sz="1300" dirty="0">
                <a:solidFill>
                  <a:srgbClr val="0A0A0A"/>
                </a:solidFill>
                <a:latin typeface="Segoe UI Semibold" pitchFamily="34" charset="0"/>
                <a:ea typeface="Segoe UI Semibold" pitchFamily="34" charset="-122"/>
                <a:cs typeface="Segoe UI Semibold" pitchFamily="34" charset="-120"/>
              </a:rPr>
              <a:t>Admin toko</a:t>
            </a:r>
            <a:endParaRPr lang="en-US" sz="1300" dirty="0"/>
          </a:p>
        </p:txBody>
      </p:sp>
      <p:sp>
        <p:nvSpPr>
          <p:cNvPr id="13" name="Shape 9"/>
          <p:cNvSpPr/>
          <p:nvPr/>
        </p:nvSpPr>
        <p:spPr>
          <a:xfrm>
            <a:off x="2788920" y="3246120"/>
            <a:ext cx="411480" cy="0"/>
          </a:xfrm>
          <a:prstGeom prst="line">
            <a:avLst/>
          </a:prstGeom>
          <a:noFill/>
          <a:ln w="19050">
            <a:solidFill>
              <a:srgbClr val="5C5C5C"/>
            </a:solidFill>
            <a:prstDash val="solid"/>
            <a:tailEnd type="triangle"/>
          </a:ln>
        </p:spPr>
      </p:sp>
      <p:sp>
        <p:nvSpPr>
          <p:cNvPr id="14" name="Shape 10"/>
          <p:cNvSpPr/>
          <p:nvPr/>
        </p:nvSpPr>
        <p:spPr>
          <a:xfrm>
            <a:off x="3291840" y="1874520"/>
            <a:ext cx="4937760" cy="2743200"/>
          </a:xfrm>
          <a:prstGeom prst="roundRect">
            <a:avLst>
              <a:gd name="adj" fmla="val 7333"/>
            </a:avLst>
          </a:prstGeom>
          <a:solidFill>
            <a:srgbClr val="0A0A0A"/>
          </a:solidFill>
          <a:ln/>
        </p:spPr>
      </p:sp>
      <p:sp>
        <p:nvSpPr>
          <p:cNvPr id="15" name="Text 11"/>
          <p:cNvSpPr txBox="1"/>
          <p:nvPr/>
        </p:nvSpPr>
        <p:spPr>
          <a:xfrm>
            <a:off x="3566160" y="2103120"/>
            <a:ext cx="4572000" cy="228600"/>
          </a:xfrm>
          <a:prstGeom prst="rect">
            <a:avLst/>
          </a:prstGeom>
          <a:noFill/>
          <a:ln/>
        </p:spPr>
        <p:txBody>
          <a:bodyPr wrap="square" lIns="0" tIns="0" rIns="0" bIns="0" rtlCol="0" anchor="t"/>
          <a:lstStyle/>
          <a:p>
            <a:pPr indent="0" marL="0">
              <a:buNone/>
            </a:pPr>
            <a:r>
              <a:rPr lang="en-US" sz="950" spc="150" kern="0" dirty="0">
                <a:solidFill>
                  <a:srgbClr val="A3A3A3"/>
                </a:solidFill>
                <a:latin typeface="Segoe UI Semibold" pitchFamily="34" charset="0"/>
                <a:ea typeface="Segoe UI Semibold" pitchFamily="34" charset="-122"/>
                <a:cs typeface="Segoe UI Semibold" pitchFamily="34" charset="-120"/>
              </a:rPr>
              <a:t>APLIKASI NEXT.JS · VERCEL (SIN1)</a:t>
            </a:r>
            <a:endParaRPr lang="en-US" sz="950" dirty="0"/>
          </a:p>
        </p:txBody>
      </p:sp>
      <p:sp>
        <p:nvSpPr>
          <p:cNvPr id="16" name="Text 12"/>
          <p:cNvSpPr txBox="1"/>
          <p:nvPr/>
        </p:nvSpPr>
        <p:spPr>
          <a:xfrm>
            <a:off x="3566160" y="2514600"/>
            <a:ext cx="1463040" cy="274320"/>
          </a:xfrm>
          <a:prstGeom prst="rect">
            <a:avLst/>
          </a:prstGeom>
          <a:noFill/>
          <a:ln/>
        </p:spPr>
        <p:txBody>
          <a:bodyPr wrap="square" lIns="0" tIns="0" rIns="0" bIns="0" rtlCol="0" anchor="t"/>
          <a:lstStyle/>
          <a:p>
            <a:pPr indent="0" marL="0">
              <a:buNone/>
            </a:pPr>
            <a:r>
              <a:rPr lang="en-US" sz="1300" dirty="0">
                <a:solidFill>
                  <a:srgbClr val="FFFFFF"/>
                </a:solidFill>
                <a:latin typeface="Segoe UI Semibold" pitchFamily="34" charset="0"/>
                <a:ea typeface="Segoe UI Semibold" pitchFamily="34" charset="-122"/>
                <a:cs typeface="Segoe UI Semibold" pitchFamily="34" charset="-120"/>
              </a:rPr>
              <a:t>Halaman</a:t>
            </a:r>
            <a:endParaRPr lang="en-US" sz="1300" dirty="0"/>
          </a:p>
        </p:txBody>
      </p:sp>
      <p:sp>
        <p:nvSpPr>
          <p:cNvPr id="17" name="Text 13"/>
          <p:cNvSpPr txBox="1"/>
          <p:nvPr/>
        </p:nvSpPr>
        <p:spPr>
          <a:xfrm>
            <a:off x="5074920" y="2532888"/>
            <a:ext cx="2971800" cy="548640"/>
          </a:xfrm>
          <a:prstGeom prst="rect">
            <a:avLst/>
          </a:prstGeom>
          <a:noFill/>
          <a:ln/>
        </p:spPr>
        <p:txBody>
          <a:bodyPr wrap="square" lIns="0" tIns="0" rIns="0" bIns="0" rtlCol="0" anchor="t"/>
          <a:lstStyle/>
          <a:p>
            <a:pPr indent="0" marL="0">
              <a:buNone/>
            </a:pPr>
            <a:r>
              <a:rPr lang="en-US" sz="1100" dirty="0">
                <a:solidFill>
                  <a:srgbClr val="A3A3A3"/>
                </a:solidFill>
                <a:latin typeface="Segoe UI" pitchFamily="34" charset="0"/>
                <a:ea typeface="Segoe UI" pitchFamily="34" charset="-122"/>
                <a:cs typeface="Segoe UI" pitchFamily="34" charset="-120"/>
              </a:rPr>
              <a:t>Server Components: beranda, katalog, akun, admin</a:t>
            </a:r>
            <a:endParaRPr lang="en-US" sz="1100" dirty="0"/>
          </a:p>
        </p:txBody>
      </p:sp>
      <p:sp>
        <p:nvSpPr>
          <p:cNvPr id="18" name="Text 14"/>
          <p:cNvSpPr txBox="1"/>
          <p:nvPr/>
        </p:nvSpPr>
        <p:spPr>
          <a:xfrm>
            <a:off x="3566160" y="3172968"/>
            <a:ext cx="1463040" cy="274320"/>
          </a:xfrm>
          <a:prstGeom prst="rect">
            <a:avLst/>
          </a:prstGeom>
          <a:noFill/>
          <a:ln/>
        </p:spPr>
        <p:txBody>
          <a:bodyPr wrap="square" lIns="0" tIns="0" rIns="0" bIns="0" rtlCol="0" anchor="t"/>
          <a:lstStyle/>
          <a:p>
            <a:pPr indent="0" marL="0">
              <a:buNone/>
            </a:pPr>
            <a:r>
              <a:rPr lang="en-US" sz="1300" dirty="0">
                <a:solidFill>
                  <a:srgbClr val="FFFFFF"/>
                </a:solidFill>
                <a:latin typeface="Segoe UI Semibold" pitchFamily="34" charset="0"/>
                <a:ea typeface="Segoe UI Semibold" pitchFamily="34" charset="-122"/>
                <a:cs typeface="Segoe UI Semibold" pitchFamily="34" charset="-120"/>
              </a:rPr>
              <a:t>Server Actions</a:t>
            </a:r>
            <a:endParaRPr lang="en-US" sz="1300" dirty="0"/>
          </a:p>
        </p:txBody>
      </p:sp>
      <p:sp>
        <p:nvSpPr>
          <p:cNvPr id="19" name="Text 15"/>
          <p:cNvSpPr txBox="1"/>
          <p:nvPr/>
        </p:nvSpPr>
        <p:spPr>
          <a:xfrm>
            <a:off x="5074920" y="3191256"/>
            <a:ext cx="2971800" cy="548640"/>
          </a:xfrm>
          <a:prstGeom prst="rect">
            <a:avLst/>
          </a:prstGeom>
          <a:noFill/>
          <a:ln/>
        </p:spPr>
        <p:txBody>
          <a:bodyPr wrap="square" lIns="0" tIns="0" rIns="0" bIns="0" rtlCol="0" anchor="t"/>
          <a:lstStyle/>
          <a:p>
            <a:pPr indent="0" marL="0">
              <a:buNone/>
            </a:pPr>
            <a:r>
              <a:rPr lang="en-US" sz="1100" dirty="0">
                <a:solidFill>
                  <a:srgbClr val="A3A3A3"/>
                </a:solidFill>
                <a:latin typeface="Segoe UI" pitchFamily="34" charset="0"/>
                <a:ea typeface="Segoe UI" pitchFamily="34" charset="-122"/>
                <a:cs typeface="Segoe UI" pitchFamily="34" charset="-120"/>
              </a:rPr>
              <a:t>Satu-satunya jalur ubah data: login, checkout, promo, status, asisten</a:t>
            </a:r>
            <a:endParaRPr lang="en-US" sz="1100" dirty="0"/>
          </a:p>
        </p:txBody>
      </p:sp>
      <p:sp>
        <p:nvSpPr>
          <p:cNvPr id="20" name="Text 16"/>
          <p:cNvSpPr txBox="1"/>
          <p:nvPr/>
        </p:nvSpPr>
        <p:spPr>
          <a:xfrm>
            <a:off x="3566160" y="3831336"/>
            <a:ext cx="1463040" cy="274320"/>
          </a:xfrm>
          <a:prstGeom prst="rect">
            <a:avLst/>
          </a:prstGeom>
          <a:noFill/>
          <a:ln/>
        </p:spPr>
        <p:txBody>
          <a:bodyPr wrap="square" lIns="0" tIns="0" rIns="0" bIns="0" rtlCol="0" anchor="t"/>
          <a:lstStyle/>
          <a:p>
            <a:pPr indent="0" marL="0">
              <a:buNone/>
            </a:pPr>
            <a:r>
              <a:rPr lang="en-US" sz="1300" dirty="0">
                <a:solidFill>
                  <a:srgbClr val="FFFFFF"/>
                </a:solidFill>
                <a:latin typeface="Segoe UI Semibold" pitchFamily="34" charset="0"/>
                <a:ea typeface="Segoe UI Semibold" pitchFamily="34" charset="-122"/>
                <a:cs typeface="Segoe UI Semibold" pitchFamily="34" charset="-120"/>
              </a:rPr>
              <a:t>Route Handler</a:t>
            </a:r>
            <a:endParaRPr lang="en-US" sz="1300" dirty="0"/>
          </a:p>
        </p:txBody>
      </p:sp>
      <p:sp>
        <p:nvSpPr>
          <p:cNvPr id="21" name="Text 17"/>
          <p:cNvSpPr txBox="1"/>
          <p:nvPr/>
        </p:nvSpPr>
        <p:spPr>
          <a:xfrm>
            <a:off x="5074920" y="3849624"/>
            <a:ext cx="2971800" cy="548640"/>
          </a:xfrm>
          <a:prstGeom prst="rect">
            <a:avLst/>
          </a:prstGeom>
          <a:noFill/>
          <a:ln/>
        </p:spPr>
        <p:txBody>
          <a:bodyPr wrap="square" lIns="0" tIns="0" rIns="0" bIns="0" rtlCol="0" anchor="t"/>
          <a:lstStyle/>
          <a:p>
            <a:pPr indent="0" marL="0">
              <a:buNone/>
            </a:pPr>
            <a:r>
              <a:rPr lang="en-US" sz="1100" dirty="0">
                <a:solidFill>
                  <a:srgbClr val="A3A3A3"/>
                </a:solidFill>
                <a:latin typeface="Segoe UI" pitchFamily="34" charset="0"/>
                <a:ea typeface="Segoe UI" pitchFamily="34" charset="-122"/>
                <a:cs typeface="Segoe UI" pitchFamily="34" charset="-120"/>
              </a:rPr>
              <a:t>/api/search · /api/cron/orders · /api/payment/midtrans</a:t>
            </a:r>
            <a:endParaRPr lang="en-US" sz="1100" dirty="0"/>
          </a:p>
        </p:txBody>
      </p:sp>
      <p:sp>
        <p:nvSpPr>
          <p:cNvPr id="22" name="Shape 18"/>
          <p:cNvSpPr/>
          <p:nvPr/>
        </p:nvSpPr>
        <p:spPr>
          <a:xfrm>
            <a:off x="8321040" y="3246120"/>
            <a:ext cx="411480" cy="0"/>
          </a:xfrm>
          <a:prstGeom prst="line">
            <a:avLst/>
          </a:prstGeom>
          <a:noFill/>
          <a:ln w="19050">
            <a:solidFill>
              <a:srgbClr val="5C5C5C"/>
            </a:solidFill>
            <a:prstDash val="solid"/>
            <a:tailEnd type="triangle"/>
          </a:ln>
        </p:spPr>
      </p:sp>
      <p:sp>
        <p:nvSpPr>
          <p:cNvPr id="23" name="Shape 19"/>
          <p:cNvSpPr/>
          <p:nvPr/>
        </p:nvSpPr>
        <p:spPr>
          <a:xfrm>
            <a:off x="8823960" y="1874520"/>
            <a:ext cx="2816352" cy="2743200"/>
          </a:xfrm>
          <a:prstGeom prst="roundRect">
            <a:avLst>
              <a:gd name="adj" fmla="val 7333"/>
            </a:avLst>
          </a:prstGeom>
          <a:solidFill>
            <a:srgbClr val="F3F3F3"/>
          </a:solidFill>
          <a:ln/>
        </p:spPr>
      </p:sp>
      <p:sp>
        <p:nvSpPr>
          <p:cNvPr id="24" name="Text 20"/>
          <p:cNvSpPr txBox="1"/>
          <p:nvPr/>
        </p:nvSpPr>
        <p:spPr>
          <a:xfrm>
            <a:off x="9052560" y="2103120"/>
            <a:ext cx="1828800" cy="228600"/>
          </a:xfrm>
          <a:prstGeom prst="rect">
            <a:avLst/>
          </a:prstGeom>
          <a:noFill/>
          <a:ln/>
        </p:spPr>
        <p:txBody>
          <a:bodyPr wrap="square" lIns="0" tIns="0" rIns="0" bIns="0" rtlCol="0" anchor="t"/>
          <a:lstStyle/>
          <a:p>
            <a:pPr indent="0" marL="0">
              <a:buNone/>
            </a:pPr>
            <a:r>
              <a:rPr lang="en-US" sz="950" spc="150" kern="0" dirty="0">
                <a:solidFill>
                  <a:srgbClr val="5C5C5C"/>
                </a:solidFill>
                <a:latin typeface="Segoe UI Semibold" pitchFamily="34" charset="0"/>
                <a:ea typeface="Segoe UI Semibold" pitchFamily="34" charset="-122"/>
                <a:cs typeface="Segoe UI Semibold" pitchFamily="34" charset="-120"/>
              </a:rPr>
              <a:t>DATA</a:t>
            </a:r>
            <a:endParaRPr lang="en-US" sz="950" dirty="0"/>
          </a:p>
        </p:txBody>
      </p:sp>
      <p:sp>
        <p:nvSpPr>
          <p:cNvPr id="25" name="Shape 21"/>
          <p:cNvSpPr/>
          <p:nvPr/>
        </p:nvSpPr>
        <p:spPr>
          <a:xfrm>
            <a:off x="9052560" y="2514600"/>
            <a:ext cx="548640" cy="548640"/>
          </a:xfrm>
          <a:prstGeom prst="ellipse">
            <a:avLst/>
          </a:prstGeom>
          <a:solidFill>
            <a:srgbClr val="0A0A0A"/>
          </a:solidFill>
          <a:ln/>
        </p:spPr>
      </p:sp>
      <p:pic>
        <p:nvPicPr>
          <p:cNvPr id="26" name="Image 2" descr="C:\laragon\www\e-commerce\scripts\ppt\aset\ikon-Database-putih.png">    </p:cNvPr>
          <p:cNvPicPr>
            <a:picLocks noChangeAspect="1"/>
          </p:cNvPicPr>
          <p:nvPr/>
        </p:nvPicPr>
        <p:blipFill>
          <a:blip r:embed="rId3"/>
          <a:stretch>
            <a:fillRect/>
          </a:stretch>
        </p:blipFill>
        <p:spPr>
          <a:xfrm>
            <a:off x="9189720" y="2651760"/>
            <a:ext cx="274320" cy="274320"/>
          </a:xfrm>
          <a:prstGeom prst="rect">
            <a:avLst/>
          </a:prstGeom>
        </p:spPr>
      </p:pic>
      <p:sp>
        <p:nvSpPr>
          <p:cNvPr id="27" name="Text 22"/>
          <p:cNvSpPr txBox="1"/>
          <p:nvPr/>
        </p:nvSpPr>
        <p:spPr>
          <a:xfrm>
            <a:off x="9692640" y="2514600"/>
            <a:ext cx="1828800" cy="274320"/>
          </a:xfrm>
          <a:prstGeom prst="rect">
            <a:avLst/>
          </a:prstGeom>
          <a:noFill/>
          <a:ln/>
        </p:spPr>
        <p:txBody>
          <a:bodyPr wrap="square" lIns="0" tIns="0" rIns="0" bIns="0" rtlCol="0" anchor="t"/>
          <a:lstStyle/>
          <a:p>
            <a:pPr indent="0" marL="0">
              <a:buNone/>
            </a:pPr>
            <a:r>
              <a:rPr lang="en-US" sz="1300" dirty="0">
                <a:solidFill>
                  <a:srgbClr val="0A0A0A"/>
                </a:solidFill>
                <a:latin typeface="Segoe UI Semibold" pitchFamily="34" charset="0"/>
                <a:ea typeface="Segoe UI Semibold" pitchFamily="34" charset="-122"/>
                <a:cs typeface="Segoe UI Semibold" pitchFamily="34" charset="-120"/>
              </a:rPr>
              <a:t>Prisma 7 → MySQL</a:t>
            </a:r>
            <a:endParaRPr lang="en-US" sz="1300" dirty="0"/>
          </a:p>
        </p:txBody>
      </p:sp>
      <p:sp>
        <p:nvSpPr>
          <p:cNvPr id="28" name="Text 23"/>
          <p:cNvSpPr txBox="1"/>
          <p:nvPr/>
        </p:nvSpPr>
        <p:spPr>
          <a:xfrm>
            <a:off x="9692640" y="2788920"/>
            <a:ext cx="1828800" cy="274320"/>
          </a:xfrm>
          <a:prstGeom prst="rect">
            <a:avLst/>
          </a:prstGeom>
          <a:noFill/>
          <a:ln/>
        </p:spPr>
        <p:txBody>
          <a:bodyPr wrap="square" lIns="0" tIns="0" rIns="0" bIns="0" rtlCol="0" anchor="t"/>
          <a:lstStyle/>
          <a:p>
            <a:pPr indent="0" marL="0">
              <a:buNone/>
            </a:pPr>
            <a:r>
              <a:rPr lang="en-US" sz="1100" dirty="0">
                <a:solidFill>
                  <a:srgbClr val="5C5C5C"/>
                </a:solidFill>
                <a:latin typeface="Segoe UI" pitchFamily="34" charset="0"/>
                <a:ea typeface="Segoe UI" pitchFamily="34" charset="-122"/>
                <a:cs typeface="Segoe UI" pitchFamily="34" charset="-120"/>
              </a:rPr>
              <a:t>Aiven, TLS terverifikasi</a:t>
            </a:r>
            <a:endParaRPr lang="en-US" sz="1100" dirty="0"/>
          </a:p>
        </p:txBody>
      </p:sp>
      <p:sp>
        <p:nvSpPr>
          <p:cNvPr id="29" name="Text 24"/>
          <p:cNvSpPr txBox="1"/>
          <p:nvPr/>
        </p:nvSpPr>
        <p:spPr>
          <a:xfrm>
            <a:off x="9052560" y="3337560"/>
            <a:ext cx="2423160" cy="1097280"/>
          </a:xfrm>
          <a:prstGeom prst="rect">
            <a:avLst/>
          </a:prstGeom>
          <a:noFill/>
          <a:ln/>
        </p:spPr>
        <p:txBody>
          <a:bodyPr wrap="square" lIns="0" tIns="0" rIns="0" bIns="0" rtlCol="0" anchor="t"/>
          <a:lstStyle/>
          <a:p>
            <a:pPr indent="0" marL="0">
              <a:buNone/>
            </a:pPr>
            <a:r>
              <a:rPr lang="en-US" sz="1100" dirty="0">
                <a:solidFill>
                  <a:srgbClr val="5C5C5C"/>
                </a:solidFill>
                <a:latin typeface="Segoe UI" pitchFamily="34" charset="0"/>
                <a:ea typeface="Segoe UI" pitchFamily="34" charset="-122"/>
                <a:cs typeface="Segoe UI" pitchFamily="34" charset="-120"/>
              </a:rPr>
              <a:t>15 tabel bisnis + 1 tabel pembatas percobaan. Harga &amp; stok selalu dihitung ulang di server.</a:t>
            </a:r>
            <a:endParaRPr lang="en-US" sz="1100" dirty="0"/>
          </a:p>
        </p:txBody>
      </p:sp>
      <p:sp>
        <p:nvSpPr>
          <p:cNvPr id="30" name="Text 25"/>
          <p:cNvSpPr txBox="1"/>
          <p:nvPr/>
        </p:nvSpPr>
        <p:spPr>
          <a:xfrm>
            <a:off x="548640" y="4892040"/>
            <a:ext cx="3657600" cy="228600"/>
          </a:xfrm>
          <a:prstGeom prst="rect">
            <a:avLst/>
          </a:prstGeom>
          <a:noFill/>
          <a:ln/>
        </p:spPr>
        <p:txBody>
          <a:bodyPr wrap="square" lIns="0" tIns="0" rIns="0" bIns="0" rtlCol="0" anchor="t"/>
          <a:lstStyle/>
          <a:p>
            <a:pPr indent="0" marL="0">
              <a:buNone/>
            </a:pPr>
            <a:r>
              <a:rPr lang="en-US" sz="950" spc="150" kern="0" dirty="0">
                <a:solidFill>
                  <a:srgbClr val="5C5C5C"/>
                </a:solidFill>
                <a:latin typeface="Segoe UI Semibold" pitchFamily="34" charset="0"/>
                <a:ea typeface="Segoe UI Semibold" pitchFamily="34" charset="-122"/>
                <a:cs typeface="Segoe UI Semibold" pitchFamily="34" charset="-120"/>
              </a:rPr>
              <a:t>LAYANAN PENDUKUNG</a:t>
            </a:r>
            <a:endParaRPr lang="en-US" sz="950" dirty="0"/>
          </a:p>
        </p:txBody>
      </p:sp>
      <p:sp>
        <p:nvSpPr>
          <p:cNvPr id="31" name="Shape 26"/>
          <p:cNvSpPr/>
          <p:nvPr/>
        </p:nvSpPr>
        <p:spPr>
          <a:xfrm>
            <a:off x="548640" y="5212080"/>
            <a:ext cx="2084832" cy="868680"/>
          </a:xfrm>
          <a:prstGeom prst="roundRect">
            <a:avLst>
              <a:gd name="adj" fmla="val 23158"/>
            </a:avLst>
          </a:prstGeom>
          <a:solidFill>
            <a:srgbClr val="F3F3F3"/>
          </a:solidFill>
          <a:ln/>
        </p:spPr>
      </p:sp>
      <p:sp>
        <p:nvSpPr>
          <p:cNvPr id="32" name="Shape 27"/>
          <p:cNvSpPr/>
          <p:nvPr/>
        </p:nvSpPr>
        <p:spPr>
          <a:xfrm>
            <a:off x="731520" y="5376672"/>
            <a:ext cx="530352" cy="530352"/>
          </a:xfrm>
          <a:prstGeom prst="ellipse">
            <a:avLst/>
          </a:prstGeom>
          <a:solidFill>
            <a:srgbClr val="0A0A0A"/>
          </a:solidFill>
          <a:ln/>
        </p:spPr>
      </p:sp>
      <p:pic>
        <p:nvPicPr>
          <p:cNvPr id="33" name="Image 3" descr="C:\laragon\www\e-commerce\scripts\ppt\aset\ikon-Image-putih.png">    </p:cNvPr>
          <p:cNvPicPr>
            <a:picLocks noChangeAspect="1"/>
          </p:cNvPicPr>
          <p:nvPr/>
        </p:nvPicPr>
        <p:blipFill>
          <a:blip r:embed="rId4"/>
          <a:stretch>
            <a:fillRect/>
          </a:stretch>
        </p:blipFill>
        <p:spPr>
          <a:xfrm>
            <a:off x="864108" y="5509260"/>
            <a:ext cx="265176" cy="265176"/>
          </a:xfrm>
          <a:prstGeom prst="rect">
            <a:avLst/>
          </a:prstGeom>
        </p:spPr>
      </p:pic>
      <p:sp>
        <p:nvSpPr>
          <p:cNvPr id="34" name="Text 28"/>
          <p:cNvSpPr txBox="1"/>
          <p:nvPr/>
        </p:nvSpPr>
        <p:spPr>
          <a:xfrm>
            <a:off x="1371600" y="5358384"/>
            <a:ext cx="1234440" cy="274320"/>
          </a:xfrm>
          <a:prstGeom prst="rect">
            <a:avLst/>
          </a:prstGeom>
          <a:noFill/>
          <a:ln/>
        </p:spPr>
        <p:txBody>
          <a:bodyPr wrap="square" lIns="0" tIns="0" rIns="0" bIns="0" rtlCol="0" anchor="t"/>
          <a:lstStyle/>
          <a:p>
            <a:pPr indent="0" marL="0">
              <a:buNone/>
            </a:pPr>
            <a:r>
              <a:rPr lang="en-US" sz="1200" dirty="0">
                <a:solidFill>
                  <a:srgbClr val="0A0A0A"/>
                </a:solidFill>
                <a:latin typeface="Segoe UI Semibold" pitchFamily="34" charset="0"/>
                <a:ea typeface="Segoe UI Semibold" pitchFamily="34" charset="-122"/>
                <a:cs typeface="Segoe UI Semibold" pitchFamily="34" charset="-120"/>
              </a:rPr>
              <a:t>Vercel Blob</a:t>
            </a:r>
            <a:endParaRPr lang="en-US" sz="1200" dirty="0"/>
          </a:p>
        </p:txBody>
      </p:sp>
      <p:sp>
        <p:nvSpPr>
          <p:cNvPr id="35" name="Text 29"/>
          <p:cNvSpPr txBox="1"/>
          <p:nvPr/>
        </p:nvSpPr>
        <p:spPr>
          <a:xfrm>
            <a:off x="1371600" y="5632704"/>
            <a:ext cx="1234440" cy="411480"/>
          </a:xfrm>
          <a:prstGeom prst="rect">
            <a:avLst/>
          </a:prstGeom>
          <a:noFill/>
          <a:ln/>
        </p:spPr>
        <p:txBody>
          <a:bodyPr wrap="square" lIns="0" tIns="0" rIns="0" bIns="0" rtlCol="0" anchor="t"/>
          <a:lstStyle/>
          <a:p>
            <a:pPr indent="0" marL="0">
              <a:buNone/>
            </a:pPr>
            <a:r>
              <a:rPr lang="en-US" sz="950" dirty="0">
                <a:solidFill>
                  <a:srgbClr val="5C5C5C"/>
                </a:solidFill>
                <a:latin typeface="Segoe UI" pitchFamily="34" charset="0"/>
                <a:ea typeface="Segoe UI" pitchFamily="34" charset="-122"/>
                <a:cs typeface="Segoe UI" pitchFamily="34" charset="-120"/>
              </a:rPr>
              <a:t>Gambar produk &amp; ulasan</a:t>
            </a:r>
            <a:endParaRPr lang="en-US" sz="950" dirty="0"/>
          </a:p>
        </p:txBody>
      </p:sp>
      <p:sp>
        <p:nvSpPr>
          <p:cNvPr id="36" name="Shape 30"/>
          <p:cNvSpPr/>
          <p:nvPr/>
        </p:nvSpPr>
        <p:spPr>
          <a:xfrm>
            <a:off x="2788920" y="5212080"/>
            <a:ext cx="2084832" cy="868680"/>
          </a:xfrm>
          <a:prstGeom prst="roundRect">
            <a:avLst>
              <a:gd name="adj" fmla="val 23158"/>
            </a:avLst>
          </a:prstGeom>
          <a:solidFill>
            <a:srgbClr val="F3F3F3"/>
          </a:solidFill>
          <a:ln/>
        </p:spPr>
      </p:sp>
      <p:sp>
        <p:nvSpPr>
          <p:cNvPr id="37" name="Shape 31"/>
          <p:cNvSpPr/>
          <p:nvPr/>
        </p:nvSpPr>
        <p:spPr>
          <a:xfrm>
            <a:off x="2971800" y="5376672"/>
            <a:ext cx="530352" cy="530352"/>
          </a:xfrm>
          <a:prstGeom prst="ellipse">
            <a:avLst/>
          </a:prstGeom>
          <a:solidFill>
            <a:srgbClr val="0A0A0A"/>
          </a:solidFill>
          <a:ln/>
        </p:spPr>
      </p:sp>
      <p:pic>
        <p:nvPicPr>
          <p:cNvPr id="38" name="Image 4" descr="C:\laragon\www\e-commerce\scripts\ppt\aset\ikon-Mail-putih.png">    </p:cNvPr>
          <p:cNvPicPr>
            <a:picLocks noChangeAspect="1"/>
          </p:cNvPicPr>
          <p:nvPr/>
        </p:nvPicPr>
        <p:blipFill>
          <a:blip r:embed="rId5"/>
          <a:stretch>
            <a:fillRect/>
          </a:stretch>
        </p:blipFill>
        <p:spPr>
          <a:xfrm>
            <a:off x="3104388" y="5509260"/>
            <a:ext cx="265176" cy="265176"/>
          </a:xfrm>
          <a:prstGeom prst="rect">
            <a:avLst/>
          </a:prstGeom>
        </p:spPr>
      </p:pic>
      <p:sp>
        <p:nvSpPr>
          <p:cNvPr id="39" name="Text 32"/>
          <p:cNvSpPr txBox="1"/>
          <p:nvPr/>
        </p:nvSpPr>
        <p:spPr>
          <a:xfrm>
            <a:off x="3611880" y="5358384"/>
            <a:ext cx="1234440" cy="274320"/>
          </a:xfrm>
          <a:prstGeom prst="rect">
            <a:avLst/>
          </a:prstGeom>
          <a:noFill/>
          <a:ln/>
        </p:spPr>
        <p:txBody>
          <a:bodyPr wrap="square" lIns="0" tIns="0" rIns="0" bIns="0" rtlCol="0" anchor="t"/>
          <a:lstStyle/>
          <a:p>
            <a:pPr indent="0" marL="0">
              <a:buNone/>
            </a:pPr>
            <a:r>
              <a:rPr lang="en-US" sz="1200" dirty="0">
                <a:solidFill>
                  <a:srgbClr val="0A0A0A"/>
                </a:solidFill>
                <a:latin typeface="Segoe UI Semibold" pitchFamily="34" charset="0"/>
                <a:ea typeface="Segoe UI Semibold" pitchFamily="34" charset="-122"/>
                <a:cs typeface="Segoe UI Semibold" pitchFamily="34" charset="-120"/>
              </a:rPr>
              <a:t>Gmail SMTP</a:t>
            </a:r>
            <a:endParaRPr lang="en-US" sz="1200" dirty="0"/>
          </a:p>
        </p:txBody>
      </p:sp>
      <p:sp>
        <p:nvSpPr>
          <p:cNvPr id="40" name="Text 33"/>
          <p:cNvSpPr txBox="1"/>
          <p:nvPr/>
        </p:nvSpPr>
        <p:spPr>
          <a:xfrm>
            <a:off x="3611880" y="5632704"/>
            <a:ext cx="1234440" cy="411480"/>
          </a:xfrm>
          <a:prstGeom prst="rect">
            <a:avLst/>
          </a:prstGeom>
          <a:noFill/>
          <a:ln/>
        </p:spPr>
        <p:txBody>
          <a:bodyPr wrap="square" lIns="0" tIns="0" rIns="0" bIns="0" rtlCol="0" anchor="t"/>
          <a:lstStyle/>
          <a:p>
            <a:pPr indent="0" marL="0">
              <a:buNone/>
            </a:pPr>
            <a:r>
              <a:rPr lang="en-US" sz="950" dirty="0">
                <a:solidFill>
                  <a:srgbClr val="5C5C5C"/>
                </a:solidFill>
                <a:latin typeface="Segoe UI" pitchFamily="34" charset="0"/>
                <a:ea typeface="Segoe UI" pitchFamily="34" charset="-122"/>
                <a:cs typeface="Segoe UI" pitchFamily="34" charset="-120"/>
              </a:rPr>
              <a:t>Invoice &amp; reset password</a:t>
            </a:r>
            <a:endParaRPr lang="en-US" sz="950" dirty="0"/>
          </a:p>
        </p:txBody>
      </p:sp>
      <p:sp>
        <p:nvSpPr>
          <p:cNvPr id="41" name="Shape 34"/>
          <p:cNvSpPr/>
          <p:nvPr/>
        </p:nvSpPr>
        <p:spPr>
          <a:xfrm>
            <a:off x="5029200" y="5212080"/>
            <a:ext cx="2084832" cy="868680"/>
          </a:xfrm>
          <a:prstGeom prst="roundRect">
            <a:avLst>
              <a:gd name="adj" fmla="val 23158"/>
            </a:avLst>
          </a:prstGeom>
          <a:solidFill>
            <a:srgbClr val="F3F3F3"/>
          </a:solidFill>
          <a:ln/>
        </p:spPr>
      </p:sp>
      <p:sp>
        <p:nvSpPr>
          <p:cNvPr id="42" name="Shape 35"/>
          <p:cNvSpPr/>
          <p:nvPr/>
        </p:nvSpPr>
        <p:spPr>
          <a:xfrm>
            <a:off x="5212080" y="5376672"/>
            <a:ext cx="530352" cy="530352"/>
          </a:xfrm>
          <a:prstGeom prst="ellipse">
            <a:avLst/>
          </a:prstGeom>
          <a:solidFill>
            <a:srgbClr val="0A0A0A"/>
          </a:solidFill>
          <a:ln/>
        </p:spPr>
      </p:sp>
      <p:pic>
        <p:nvPicPr>
          <p:cNvPr id="43" name="Image 5" descr="C:\laragon\www\e-commerce\scripts\ppt\aset\ikon-CreditCard-putih.png">    </p:cNvPr>
          <p:cNvPicPr>
            <a:picLocks noChangeAspect="1"/>
          </p:cNvPicPr>
          <p:nvPr/>
        </p:nvPicPr>
        <p:blipFill>
          <a:blip r:embed="rId6"/>
          <a:stretch>
            <a:fillRect/>
          </a:stretch>
        </p:blipFill>
        <p:spPr>
          <a:xfrm>
            <a:off x="5344668" y="5509260"/>
            <a:ext cx="265176" cy="265176"/>
          </a:xfrm>
          <a:prstGeom prst="rect">
            <a:avLst/>
          </a:prstGeom>
        </p:spPr>
      </p:pic>
      <p:sp>
        <p:nvSpPr>
          <p:cNvPr id="44" name="Text 36"/>
          <p:cNvSpPr txBox="1"/>
          <p:nvPr/>
        </p:nvSpPr>
        <p:spPr>
          <a:xfrm>
            <a:off x="5852160" y="5358384"/>
            <a:ext cx="1234440" cy="274320"/>
          </a:xfrm>
          <a:prstGeom prst="rect">
            <a:avLst/>
          </a:prstGeom>
          <a:noFill/>
          <a:ln/>
        </p:spPr>
        <p:txBody>
          <a:bodyPr wrap="square" lIns="0" tIns="0" rIns="0" bIns="0" rtlCol="0" anchor="t"/>
          <a:lstStyle/>
          <a:p>
            <a:pPr indent="0" marL="0">
              <a:buNone/>
            </a:pPr>
            <a:r>
              <a:rPr lang="en-US" sz="1200" dirty="0">
                <a:solidFill>
                  <a:srgbClr val="0A0A0A"/>
                </a:solidFill>
                <a:latin typeface="Segoe UI Semibold" pitchFamily="34" charset="0"/>
                <a:ea typeface="Segoe UI Semibold" pitchFamily="34" charset="-122"/>
                <a:cs typeface="Segoe UI Semibold" pitchFamily="34" charset="-120"/>
              </a:rPr>
              <a:t>Midtrans</a:t>
            </a:r>
            <a:endParaRPr lang="en-US" sz="1200" dirty="0"/>
          </a:p>
        </p:txBody>
      </p:sp>
      <p:sp>
        <p:nvSpPr>
          <p:cNvPr id="45" name="Text 37"/>
          <p:cNvSpPr txBox="1"/>
          <p:nvPr/>
        </p:nvSpPr>
        <p:spPr>
          <a:xfrm>
            <a:off x="5852160" y="5632704"/>
            <a:ext cx="1234440" cy="411480"/>
          </a:xfrm>
          <a:prstGeom prst="rect">
            <a:avLst/>
          </a:prstGeom>
          <a:noFill/>
          <a:ln/>
        </p:spPr>
        <p:txBody>
          <a:bodyPr wrap="square" lIns="0" tIns="0" rIns="0" bIns="0" rtlCol="0" anchor="t"/>
          <a:lstStyle/>
          <a:p>
            <a:pPr indent="0" marL="0">
              <a:buNone/>
            </a:pPr>
            <a:r>
              <a:rPr lang="en-US" sz="950" dirty="0">
                <a:solidFill>
                  <a:srgbClr val="5C5C5C"/>
                </a:solidFill>
                <a:latin typeface="Segoe UI" pitchFamily="34" charset="0"/>
                <a:ea typeface="Segoe UI" pitchFamily="34" charset="-122"/>
                <a:cs typeface="Segoe UI" pitchFamily="34" charset="-120"/>
              </a:rPr>
              <a:t>Snap sandbox + webhook</a:t>
            </a:r>
            <a:endParaRPr lang="en-US" sz="950" dirty="0"/>
          </a:p>
        </p:txBody>
      </p:sp>
      <p:sp>
        <p:nvSpPr>
          <p:cNvPr id="46" name="Shape 38"/>
          <p:cNvSpPr/>
          <p:nvPr/>
        </p:nvSpPr>
        <p:spPr>
          <a:xfrm>
            <a:off x="7269480" y="5212080"/>
            <a:ext cx="2084832" cy="868680"/>
          </a:xfrm>
          <a:prstGeom prst="roundRect">
            <a:avLst>
              <a:gd name="adj" fmla="val 23158"/>
            </a:avLst>
          </a:prstGeom>
          <a:solidFill>
            <a:srgbClr val="F3F3F3"/>
          </a:solidFill>
          <a:ln/>
        </p:spPr>
      </p:sp>
      <p:sp>
        <p:nvSpPr>
          <p:cNvPr id="47" name="Shape 39"/>
          <p:cNvSpPr/>
          <p:nvPr/>
        </p:nvSpPr>
        <p:spPr>
          <a:xfrm>
            <a:off x="7452360" y="5376672"/>
            <a:ext cx="530352" cy="530352"/>
          </a:xfrm>
          <a:prstGeom prst="ellipse">
            <a:avLst/>
          </a:prstGeom>
          <a:solidFill>
            <a:srgbClr val="0A0A0A"/>
          </a:solidFill>
          <a:ln/>
        </p:spPr>
      </p:sp>
      <p:pic>
        <p:nvPicPr>
          <p:cNvPr id="48" name="Image 6" descr="C:\laragon\www\e-commerce\scripts\ppt\aset\ikon-Clock-putih.png">    </p:cNvPr>
          <p:cNvPicPr>
            <a:picLocks noChangeAspect="1"/>
          </p:cNvPicPr>
          <p:nvPr/>
        </p:nvPicPr>
        <p:blipFill>
          <a:blip r:embed="rId7"/>
          <a:stretch>
            <a:fillRect/>
          </a:stretch>
        </p:blipFill>
        <p:spPr>
          <a:xfrm>
            <a:off x="7584948" y="5509260"/>
            <a:ext cx="265176" cy="265176"/>
          </a:xfrm>
          <a:prstGeom prst="rect">
            <a:avLst/>
          </a:prstGeom>
        </p:spPr>
      </p:pic>
      <p:sp>
        <p:nvSpPr>
          <p:cNvPr id="49" name="Text 40"/>
          <p:cNvSpPr txBox="1"/>
          <p:nvPr/>
        </p:nvSpPr>
        <p:spPr>
          <a:xfrm>
            <a:off x="8092440" y="5358384"/>
            <a:ext cx="1234440" cy="274320"/>
          </a:xfrm>
          <a:prstGeom prst="rect">
            <a:avLst/>
          </a:prstGeom>
          <a:noFill/>
          <a:ln/>
        </p:spPr>
        <p:txBody>
          <a:bodyPr wrap="square" lIns="0" tIns="0" rIns="0" bIns="0" rtlCol="0" anchor="t"/>
          <a:lstStyle/>
          <a:p>
            <a:pPr indent="0" marL="0">
              <a:buNone/>
            </a:pPr>
            <a:r>
              <a:rPr lang="en-US" sz="1200" dirty="0">
                <a:solidFill>
                  <a:srgbClr val="0A0A0A"/>
                </a:solidFill>
                <a:latin typeface="Segoe UI Semibold" pitchFamily="34" charset="0"/>
                <a:ea typeface="Segoe UI Semibold" pitchFamily="34" charset="-122"/>
                <a:cs typeface="Segoe UI Semibold" pitchFamily="34" charset="-120"/>
              </a:rPr>
              <a:t>Cron &amp; backup</a:t>
            </a:r>
            <a:endParaRPr lang="en-US" sz="1200" dirty="0"/>
          </a:p>
        </p:txBody>
      </p:sp>
      <p:sp>
        <p:nvSpPr>
          <p:cNvPr id="50" name="Text 41"/>
          <p:cNvSpPr txBox="1"/>
          <p:nvPr/>
        </p:nvSpPr>
        <p:spPr>
          <a:xfrm>
            <a:off x="8092440" y="5632704"/>
            <a:ext cx="1234440" cy="411480"/>
          </a:xfrm>
          <a:prstGeom prst="rect">
            <a:avLst/>
          </a:prstGeom>
          <a:noFill/>
          <a:ln/>
        </p:spPr>
        <p:txBody>
          <a:bodyPr wrap="square" lIns="0" tIns="0" rIns="0" bIns="0" rtlCol="0" anchor="t"/>
          <a:lstStyle/>
          <a:p>
            <a:pPr indent="0" marL="0">
              <a:buNone/>
            </a:pPr>
            <a:r>
              <a:rPr lang="en-US" sz="950" dirty="0">
                <a:solidFill>
                  <a:srgbClr val="5C5C5C"/>
                </a:solidFill>
                <a:latin typeface="Segoe UI" pitchFamily="34" charset="0"/>
                <a:ea typeface="Segoe UI" pitchFamily="34" charset="-122"/>
                <a:cs typeface="Segoe UI" pitchFamily="34" charset="-120"/>
              </a:rPr>
              <a:t>Pesanan tiap jam, backup harian</a:t>
            </a:r>
            <a:endParaRPr lang="en-US" sz="950" dirty="0"/>
          </a:p>
        </p:txBody>
      </p:sp>
      <p:sp>
        <p:nvSpPr>
          <p:cNvPr id="51" name="Shape 42"/>
          <p:cNvSpPr/>
          <p:nvPr/>
        </p:nvSpPr>
        <p:spPr>
          <a:xfrm>
            <a:off x="9509760" y="5212080"/>
            <a:ext cx="2084832" cy="868680"/>
          </a:xfrm>
          <a:prstGeom prst="roundRect">
            <a:avLst>
              <a:gd name="adj" fmla="val 23158"/>
            </a:avLst>
          </a:prstGeom>
          <a:solidFill>
            <a:srgbClr val="F3F3F3"/>
          </a:solidFill>
          <a:ln/>
        </p:spPr>
      </p:sp>
      <p:sp>
        <p:nvSpPr>
          <p:cNvPr id="52" name="Shape 43"/>
          <p:cNvSpPr/>
          <p:nvPr/>
        </p:nvSpPr>
        <p:spPr>
          <a:xfrm>
            <a:off x="9692640" y="5376672"/>
            <a:ext cx="530352" cy="530352"/>
          </a:xfrm>
          <a:prstGeom prst="ellipse">
            <a:avLst/>
          </a:prstGeom>
          <a:solidFill>
            <a:srgbClr val="0A0A0A"/>
          </a:solidFill>
          <a:ln/>
        </p:spPr>
      </p:sp>
      <p:pic>
        <p:nvPicPr>
          <p:cNvPr id="53" name="Image 7" descr="C:\laragon\www\e-commerce\scripts\ppt\aset\ikon-Bot-putih.png">    </p:cNvPr>
          <p:cNvPicPr>
            <a:picLocks noChangeAspect="1"/>
          </p:cNvPicPr>
          <p:nvPr/>
        </p:nvPicPr>
        <p:blipFill>
          <a:blip r:embed="rId8"/>
          <a:stretch>
            <a:fillRect/>
          </a:stretch>
        </p:blipFill>
        <p:spPr>
          <a:xfrm>
            <a:off x="9825228" y="5509260"/>
            <a:ext cx="265176" cy="265176"/>
          </a:xfrm>
          <a:prstGeom prst="rect">
            <a:avLst/>
          </a:prstGeom>
        </p:spPr>
      </p:pic>
      <p:sp>
        <p:nvSpPr>
          <p:cNvPr id="54" name="Text 44"/>
          <p:cNvSpPr txBox="1"/>
          <p:nvPr/>
        </p:nvSpPr>
        <p:spPr>
          <a:xfrm>
            <a:off x="10332720" y="5358384"/>
            <a:ext cx="1234440" cy="274320"/>
          </a:xfrm>
          <a:prstGeom prst="rect">
            <a:avLst/>
          </a:prstGeom>
          <a:noFill/>
          <a:ln/>
        </p:spPr>
        <p:txBody>
          <a:bodyPr wrap="square" lIns="0" tIns="0" rIns="0" bIns="0" rtlCol="0" anchor="t"/>
          <a:lstStyle/>
          <a:p>
            <a:pPr indent="0" marL="0">
              <a:buNone/>
            </a:pPr>
            <a:r>
              <a:rPr lang="en-US" sz="1200" dirty="0">
                <a:solidFill>
                  <a:srgbClr val="0A0A0A"/>
                </a:solidFill>
                <a:latin typeface="Segoe UI Semibold" pitchFamily="34" charset="0"/>
                <a:ea typeface="Segoe UI Semibold" pitchFamily="34" charset="-122"/>
                <a:cs typeface="Segoe UI Semibold" pitchFamily="34" charset="-120"/>
              </a:rPr>
              <a:t>Gemini + Groq</a:t>
            </a:r>
            <a:endParaRPr lang="en-US" sz="1200" dirty="0"/>
          </a:p>
        </p:txBody>
      </p:sp>
      <p:sp>
        <p:nvSpPr>
          <p:cNvPr id="55" name="Text 45"/>
          <p:cNvSpPr txBox="1"/>
          <p:nvPr/>
        </p:nvSpPr>
        <p:spPr>
          <a:xfrm>
            <a:off x="10332720" y="5632704"/>
            <a:ext cx="1234440" cy="411480"/>
          </a:xfrm>
          <a:prstGeom prst="rect">
            <a:avLst/>
          </a:prstGeom>
          <a:noFill/>
          <a:ln/>
        </p:spPr>
        <p:txBody>
          <a:bodyPr wrap="square" lIns="0" tIns="0" rIns="0" bIns="0" rtlCol="0" anchor="t"/>
          <a:lstStyle/>
          <a:p>
            <a:pPr indent="0" marL="0">
              <a:buNone/>
            </a:pPr>
            <a:r>
              <a:rPr lang="en-US" sz="950" dirty="0">
                <a:solidFill>
                  <a:srgbClr val="5C5C5C"/>
                </a:solidFill>
                <a:latin typeface="Segoe UI" pitchFamily="34" charset="0"/>
                <a:ea typeface="Segoe UI" pitchFamily="34" charset="-122"/>
                <a:cs typeface="Segoe UI" pitchFamily="34" charset="-120"/>
              </a:rPr>
              <a:t>Asisten "Tanya AI"</a:t>
            </a:r>
            <a:endParaRPr lang="en-US" sz="950" dirty="0"/>
          </a:p>
        </p:txBody>
      </p:sp>
      <p:sp>
        <p:nvSpPr>
          <p:cNvPr id="25" name="Slide Number Placeholder 0"/>
          <p:cNvSpPr>
            <a:spLocks noGrp="1"/>
          </p:cNvSpPr>
          <p:nvPr>
            <p:ph type="sldNum" sz="quarter" idx="4294967295"/>
          </p:nvPr>
        </p:nvSpPr>
        <p:spPr>
          <a:xfrm>
            <a:off x="11183112"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C5C5C"/>
                </a:solidFill>
                <a:latin typeface="Segoe UI"/>
                <a:ea typeface="Segoe UI"/>
                <a:cs typeface="Segoe U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548640" y="411480"/>
            <a:ext cx="1978762" cy="292608"/>
          </a:xfrm>
          <a:prstGeom prst="roundRect">
            <a:avLst>
              <a:gd name="adj" fmla="val 50000"/>
            </a:avLst>
          </a:prstGeom>
          <a:solidFill>
            <a:srgbClr val="F3F3F3"/>
          </a:solidFill>
          <a:ln/>
        </p:spPr>
      </p:sp>
      <p:sp>
        <p:nvSpPr>
          <p:cNvPr id="3" name="Text 1"/>
          <p:cNvSpPr txBox="1"/>
          <p:nvPr/>
        </p:nvSpPr>
        <p:spPr>
          <a:xfrm>
            <a:off x="548640" y="411480"/>
            <a:ext cx="1978762" cy="292608"/>
          </a:xfrm>
          <a:prstGeom prst="rect">
            <a:avLst/>
          </a:prstGeom>
          <a:noFill/>
          <a:ln/>
        </p:spPr>
        <p:txBody>
          <a:bodyPr wrap="square" lIns="0" tIns="0" rIns="0" bIns="0" rtlCol="0" anchor="ctr"/>
          <a:lstStyle/>
          <a:p>
            <a:pPr algn="ctr" indent="0" marL="0">
              <a:buNone/>
            </a:pPr>
            <a:r>
              <a:rPr lang="en-US" sz="950" spc="150" kern="0" dirty="0">
                <a:solidFill>
                  <a:srgbClr val="5C5C5C"/>
                </a:solidFill>
                <a:latin typeface="Segoe UI Semibold" pitchFamily="34" charset="0"/>
                <a:ea typeface="Segoe UI Semibold" pitchFamily="34" charset="-122"/>
                <a:cs typeface="Segoe UI Semibold" pitchFamily="34" charset="-120"/>
              </a:rPr>
              <a:t>RANCANGAN DATABASE</a:t>
            </a:r>
            <a:endParaRPr lang="en-US" sz="950" dirty="0"/>
          </a:p>
        </p:txBody>
      </p:sp>
      <p:sp>
        <p:nvSpPr>
          <p:cNvPr id="4" name="Text 1"/>
          <p:cNvSpPr/>
          <p:nvPr>
            <p:ph idx="101" type="title" hasCustomPrompt="1"/>
          </p:nvPr>
        </p:nvSpPr>
        <p:spPr>
          <a:xfrm>
            <a:off x="548640" y="868680"/>
            <a:ext cx="11064240" cy="777240"/>
          </a:xfrm>
          <a:prstGeom prst="rect">
            <a:avLst/>
          </a:prstGeom>
          <a:noFill/>
          <a:ln/>
        </p:spPr>
        <p:txBody>
          <a:bodyPr wrap="square" lIns="0" tIns="0" rIns="0" bIns="0" rtlCol="0" anchor="t"/>
          <a:lstStyle/>
          <a:p>
            <a:pPr algn="l" indent="0" marL="0">
              <a:buNone/>
            </a:pPr>
            <a:r>
              <a:rPr lang="en-US" sz="3000" dirty="0">
                <a:solidFill>
                  <a:srgbClr val="0A0A0A"/>
                </a:solidFill>
                <a:latin typeface="Segoe UI Semibold" pitchFamily="34" charset="0"/>
                <a:ea typeface="Segoe UI Semibold" pitchFamily="34" charset="-122"/>
                <a:cs typeface="Segoe UI Semibold" pitchFamily="34" charset="-120"/>
              </a:rPr>
              <a:t>15 tabel MySQL dalam 4 kelompok</a:t>
            </a:r>
            <a:endParaRPr lang="en-US" sz="3000" dirty="0"/>
          </a:p>
        </p:txBody>
      </p:sp>
      <p:sp>
        <p:nvSpPr>
          <p:cNvPr id="5" name="Shape 3"/>
          <p:cNvSpPr/>
          <p:nvPr/>
        </p:nvSpPr>
        <p:spPr>
          <a:xfrm>
            <a:off x="548640" y="1874520"/>
            <a:ext cx="2651760" cy="2743200"/>
          </a:xfrm>
          <a:prstGeom prst="roundRect">
            <a:avLst>
              <a:gd name="adj" fmla="val 7586"/>
            </a:avLst>
          </a:prstGeom>
          <a:solidFill>
            <a:srgbClr val="F3F3F3"/>
          </a:solidFill>
          <a:ln/>
        </p:spPr>
      </p:sp>
      <p:sp>
        <p:nvSpPr>
          <p:cNvPr id="6" name="Text 4"/>
          <p:cNvSpPr txBox="1"/>
          <p:nvPr/>
        </p:nvSpPr>
        <p:spPr>
          <a:xfrm>
            <a:off x="822960" y="2103120"/>
            <a:ext cx="2103120" cy="329184"/>
          </a:xfrm>
          <a:prstGeom prst="rect">
            <a:avLst/>
          </a:prstGeom>
          <a:noFill/>
          <a:ln/>
        </p:spPr>
        <p:txBody>
          <a:bodyPr wrap="square" lIns="0" tIns="0" rIns="0" bIns="0" rtlCol="0" anchor="t"/>
          <a:lstStyle/>
          <a:p>
            <a:pPr indent="0" marL="0">
              <a:buNone/>
            </a:pPr>
            <a:r>
              <a:rPr lang="en-US" sz="1600" dirty="0">
                <a:solidFill>
                  <a:srgbClr val="0A0A0A"/>
                </a:solidFill>
                <a:latin typeface="Segoe UI Semibold" pitchFamily="34" charset="0"/>
                <a:ea typeface="Segoe UI Semibold" pitchFamily="34" charset="-122"/>
                <a:cs typeface="Segoe UI Semibold" pitchFamily="34" charset="-120"/>
              </a:rPr>
              <a:t>Pengguna</a:t>
            </a:r>
            <a:endParaRPr lang="en-US" sz="1600" dirty="0"/>
          </a:p>
        </p:txBody>
      </p:sp>
      <p:sp>
        <p:nvSpPr>
          <p:cNvPr id="7" name="Text 5"/>
          <p:cNvSpPr txBox="1"/>
          <p:nvPr/>
        </p:nvSpPr>
        <p:spPr>
          <a:xfrm>
            <a:off x="822960" y="2450592"/>
            <a:ext cx="2103120" cy="256032"/>
          </a:xfrm>
          <a:prstGeom prst="rect">
            <a:avLst/>
          </a:prstGeom>
          <a:noFill/>
          <a:ln/>
        </p:spPr>
        <p:txBody>
          <a:bodyPr wrap="square" lIns="0" tIns="0" rIns="0" bIns="0" rtlCol="0" anchor="t"/>
          <a:lstStyle/>
          <a:p>
            <a:pPr indent="0" marL="0">
              <a:buNone/>
            </a:pPr>
            <a:r>
              <a:rPr lang="en-US" sz="1100" dirty="0">
                <a:solidFill>
                  <a:srgbClr val="5C5C5C"/>
                </a:solidFill>
                <a:latin typeface="Segoe UI" pitchFamily="34" charset="0"/>
                <a:ea typeface="Segoe UI" pitchFamily="34" charset="-122"/>
                <a:cs typeface="Segoe UI" pitchFamily="34" charset="-120"/>
              </a:rPr>
              <a:t>3 tabel</a:t>
            </a:r>
            <a:endParaRPr lang="en-US" sz="1100" dirty="0"/>
          </a:p>
        </p:txBody>
      </p:sp>
      <p:sp>
        <p:nvSpPr>
          <p:cNvPr id="8" name="Text 6"/>
          <p:cNvSpPr txBox="1"/>
          <p:nvPr/>
        </p:nvSpPr>
        <p:spPr>
          <a:xfrm>
            <a:off x="822960" y="2834640"/>
            <a:ext cx="2194560" cy="1691640"/>
          </a:xfrm>
          <a:prstGeom prst="rect">
            <a:avLst/>
          </a:prstGeom>
          <a:noFill/>
          <a:ln/>
        </p:spPr>
        <p:txBody>
          <a:bodyPr wrap="square" lIns="0" tIns="0" rIns="0" bIns="0" rtlCol="0" anchor="t"/>
          <a:lstStyle/>
          <a:p>
            <a:pPr indent="0" marL="0">
              <a:spcAft>
                <a:spcPts val="300"/>
              </a:spcAft>
              <a:buNone/>
            </a:pPr>
            <a:r>
              <a:rPr lang="en-US" sz="1150" dirty="0">
                <a:solidFill>
                  <a:srgbClr val="0A0A0A"/>
                </a:solidFill>
                <a:latin typeface="Consolas" pitchFamily="34" charset="0"/>
                <a:ea typeface="Consolas" pitchFamily="34" charset="-122"/>
                <a:cs typeface="Consolas" pitchFamily="34" charset="-120"/>
              </a:rPr>
              <a:t>users</a:t>
            </a:r>
            <a:endParaRPr lang="en-US" sz="1150" dirty="0"/>
          </a:p>
          <a:p>
            <a:pPr indent="0" marL="0">
              <a:spcAft>
                <a:spcPts val="300"/>
              </a:spcAft>
              <a:buNone/>
            </a:pPr>
            <a:r>
              <a:rPr lang="en-US" sz="1150" dirty="0">
                <a:solidFill>
                  <a:srgbClr val="0A0A0A"/>
                </a:solidFill>
                <a:latin typeface="Consolas" pitchFamily="34" charset="0"/>
                <a:ea typeface="Consolas" pitchFamily="34" charset="-122"/>
                <a:cs typeface="Consolas" pitchFamily="34" charset="-120"/>
              </a:rPr>
              <a:t>addresses</a:t>
            </a:r>
            <a:endParaRPr lang="en-US" sz="1150" dirty="0"/>
          </a:p>
          <a:p>
            <a:pPr indent="0" marL="0">
              <a:spcAft>
                <a:spcPts val="300"/>
              </a:spcAft>
              <a:buNone/>
            </a:pPr>
            <a:r>
              <a:rPr lang="en-US" sz="1150" dirty="0">
                <a:solidFill>
                  <a:srgbClr val="0A0A0A"/>
                </a:solidFill>
                <a:latin typeface="Consolas" pitchFamily="34" charset="0"/>
                <a:ea typeface="Consolas" pitchFamily="34" charset="-122"/>
                <a:cs typeface="Consolas" pitchFamily="34" charset="-120"/>
              </a:rPr>
              <a:t>password_reset_tokens</a:t>
            </a:r>
            <a:endParaRPr lang="en-US" sz="1150" dirty="0"/>
          </a:p>
        </p:txBody>
      </p:sp>
      <p:sp>
        <p:nvSpPr>
          <p:cNvPr id="9" name="Shape 7"/>
          <p:cNvSpPr/>
          <p:nvPr/>
        </p:nvSpPr>
        <p:spPr>
          <a:xfrm>
            <a:off x="3383280" y="1874520"/>
            <a:ext cx="2651760" cy="2743200"/>
          </a:xfrm>
          <a:prstGeom prst="roundRect">
            <a:avLst>
              <a:gd name="adj" fmla="val 7586"/>
            </a:avLst>
          </a:prstGeom>
          <a:solidFill>
            <a:srgbClr val="F3F3F3"/>
          </a:solidFill>
          <a:ln/>
        </p:spPr>
      </p:sp>
      <p:sp>
        <p:nvSpPr>
          <p:cNvPr id="10" name="Text 8"/>
          <p:cNvSpPr txBox="1"/>
          <p:nvPr/>
        </p:nvSpPr>
        <p:spPr>
          <a:xfrm>
            <a:off x="3657600" y="2103120"/>
            <a:ext cx="2103120" cy="329184"/>
          </a:xfrm>
          <a:prstGeom prst="rect">
            <a:avLst/>
          </a:prstGeom>
          <a:noFill/>
          <a:ln/>
        </p:spPr>
        <p:txBody>
          <a:bodyPr wrap="square" lIns="0" tIns="0" rIns="0" bIns="0" rtlCol="0" anchor="t"/>
          <a:lstStyle/>
          <a:p>
            <a:pPr indent="0" marL="0">
              <a:buNone/>
            </a:pPr>
            <a:r>
              <a:rPr lang="en-US" sz="1600" dirty="0">
                <a:solidFill>
                  <a:srgbClr val="0A0A0A"/>
                </a:solidFill>
                <a:latin typeface="Segoe UI Semibold" pitchFamily="34" charset="0"/>
                <a:ea typeface="Segoe UI Semibold" pitchFamily="34" charset="-122"/>
                <a:cs typeface="Segoe UI Semibold" pitchFamily="34" charset="-120"/>
              </a:rPr>
              <a:t>Katalog</a:t>
            </a:r>
            <a:endParaRPr lang="en-US" sz="1600" dirty="0"/>
          </a:p>
        </p:txBody>
      </p:sp>
      <p:sp>
        <p:nvSpPr>
          <p:cNvPr id="11" name="Text 9"/>
          <p:cNvSpPr txBox="1"/>
          <p:nvPr/>
        </p:nvSpPr>
        <p:spPr>
          <a:xfrm>
            <a:off x="3657600" y="2450592"/>
            <a:ext cx="2103120" cy="256032"/>
          </a:xfrm>
          <a:prstGeom prst="rect">
            <a:avLst/>
          </a:prstGeom>
          <a:noFill/>
          <a:ln/>
        </p:spPr>
        <p:txBody>
          <a:bodyPr wrap="square" lIns="0" tIns="0" rIns="0" bIns="0" rtlCol="0" anchor="t"/>
          <a:lstStyle/>
          <a:p>
            <a:pPr indent="0" marL="0">
              <a:buNone/>
            </a:pPr>
            <a:r>
              <a:rPr lang="en-US" sz="1100" dirty="0">
                <a:solidFill>
                  <a:srgbClr val="5C5C5C"/>
                </a:solidFill>
                <a:latin typeface="Segoe UI" pitchFamily="34" charset="0"/>
                <a:ea typeface="Segoe UI" pitchFamily="34" charset="-122"/>
                <a:cs typeface="Segoe UI" pitchFamily="34" charset="-120"/>
              </a:rPr>
              <a:t>6 tabel</a:t>
            </a:r>
            <a:endParaRPr lang="en-US" sz="1100" dirty="0"/>
          </a:p>
        </p:txBody>
      </p:sp>
      <p:sp>
        <p:nvSpPr>
          <p:cNvPr id="12" name="Text 10"/>
          <p:cNvSpPr txBox="1"/>
          <p:nvPr/>
        </p:nvSpPr>
        <p:spPr>
          <a:xfrm>
            <a:off x="3657600" y="2834640"/>
            <a:ext cx="2194560" cy="1691640"/>
          </a:xfrm>
          <a:prstGeom prst="rect">
            <a:avLst/>
          </a:prstGeom>
          <a:noFill/>
          <a:ln/>
        </p:spPr>
        <p:txBody>
          <a:bodyPr wrap="square" lIns="0" tIns="0" rIns="0" bIns="0" rtlCol="0" anchor="t"/>
          <a:lstStyle/>
          <a:p>
            <a:pPr indent="0" marL="0">
              <a:spcAft>
                <a:spcPts val="300"/>
              </a:spcAft>
              <a:buNone/>
            </a:pPr>
            <a:r>
              <a:rPr lang="en-US" sz="1150" dirty="0">
                <a:solidFill>
                  <a:srgbClr val="0A0A0A"/>
                </a:solidFill>
                <a:latin typeface="Consolas" pitchFamily="34" charset="0"/>
                <a:ea typeface="Consolas" pitchFamily="34" charset="-122"/>
                <a:cs typeface="Consolas" pitchFamily="34" charset="-120"/>
              </a:rPr>
              <a:t>categories</a:t>
            </a:r>
            <a:endParaRPr lang="en-US" sz="1150" dirty="0"/>
          </a:p>
          <a:p>
            <a:pPr indent="0" marL="0">
              <a:spcAft>
                <a:spcPts val="300"/>
              </a:spcAft>
              <a:buNone/>
            </a:pPr>
            <a:r>
              <a:rPr lang="en-US" sz="1150" dirty="0">
                <a:solidFill>
                  <a:srgbClr val="0A0A0A"/>
                </a:solidFill>
                <a:latin typeface="Consolas" pitchFamily="34" charset="0"/>
                <a:ea typeface="Consolas" pitchFamily="34" charset="-122"/>
                <a:cs typeface="Consolas" pitchFamily="34" charset="-120"/>
              </a:rPr>
              <a:t>products</a:t>
            </a:r>
            <a:endParaRPr lang="en-US" sz="1150" dirty="0"/>
          </a:p>
          <a:p>
            <a:pPr indent="0" marL="0">
              <a:spcAft>
                <a:spcPts val="300"/>
              </a:spcAft>
              <a:buNone/>
            </a:pPr>
            <a:r>
              <a:rPr lang="en-US" sz="1150" dirty="0">
                <a:solidFill>
                  <a:srgbClr val="0A0A0A"/>
                </a:solidFill>
                <a:latin typeface="Consolas" pitchFamily="34" charset="0"/>
                <a:ea typeface="Consolas" pitchFamily="34" charset="-122"/>
                <a:cs typeface="Consolas" pitchFamily="34" charset="-120"/>
              </a:rPr>
              <a:t>product_images</a:t>
            </a:r>
            <a:endParaRPr lang="en-US" sz="1150" dirty="0"/>
          </a:p>
          <a:p>
            <a:pPr indent="0" marL="0">
              <a:spcAft>
                <a:spcPts val="300"/>
              </a:spcAft>
              <a:buNone/>
            </a:pPr>
            <a:r>
              <a:rPr lang="en-US" sz="1150" dirty="0">
                <a:solidFill>
                  <a:srgbClr val="0A0A0A"/>
                </a:solidFill>
                <a:latin typeface="Consolas" pitchFamily="34" charset="0"/>
                <a:ea typeface="Consolas" pitchFamily="34" charset="-122"/>
                <a:cs typeface="Consolas" pitchFamily="34" charset="-120"/>
              </a:rPr>
              <a:t>product_variants</a:t>
            </a:r>
            <a:endParaRPr lang="en-US" sz="1150" dirty="0"/>
          </a:p>
          <a:p>
            <a:pPr indent="0" marL="0">
              <a:spcAft>
                <a:spcPts val="300"/>
              </a:spcAft>
              <a:buNone/>
            </a:pPr>
            <a:r>
              <a:rPr lang="en-US" sz="1150" dirty="0">
                <a:solidFill>
                  <a:srgbClr val="0A0A0A"/>
                </a:solidFill>
                <a:latin typeface="Consolas" pitchFamily="34" charset="0"/>
                <a:ea typeface="Consolas" pitchFamily="34" charset="-122"/>
                <a:cs typeface="Consolas" pitchFamily="34" charset="-120"/>
              </a:rPr>
              <a:t>reviews</a:t>
            </a:r>
            <a:endParaRPr lang="en-US" sz="1150" dirty="0"/>
          </a:p>
          <a:p>
            <a:pPr indent="0" marL="0">
              <a:spcAft>
                <a:spcPts val="300"/>
              </a:spcAft>
              <a:buNone/>
            </a:pPr>
            <a:r>
              <a:rPr lang="en-US" sz="1150" dirty="0">
                <a:solidFill>
                  <a:srgbClr val="0A0A0A"/>
                </a:solidFill>
                <a:latin typeface="Consolas" pitchFamily="34" charset="0"/>
                <a:ea typeface="Consolas" pitchFamily="34" charset="-122"/>
                <a:cs typeface="Consolas" pitchFamily="34" charset="-120"/>
              </a:rPr>
              <a:t>wishlist_items</a:t>
            </a:r>
            <a:endParaRPr lang="en-US" sz="1150" dirty="0"/>
          </a:p>
        </p:txBody>
      </p:sp>
      <p:sp>
        <p:nvSpPr>
          <p:cNvPr id="13" name="Shape 11"/>
          <p:cNvSpPr/>
          <p:nvPr/>
        </p:nvSpPr>
        <p:spPr>
          <a:xfrm>
            <a:off x="6217920" y="1874520"/>
            <a:ext cx="2651760" cy="2743200"/>
          </a:xfrm>
          <a:prstGeom prst="roundRect">
            <a:avLst>
              <a:gd name="adj" fmla="val 7586"/>
            </a:avLst>
          </a:prstGeom>
          <a:solidFill>
            <a:srgbClr val="F3F3F3"/>
          </a:solidFill>
          <a:ln/>
        </p:spPr>
      </p:sp>
      <p:sp>
        <p:nvSpPr>
          <p:cNvPr id="14" name="Text 12"/>
          <p:cNvSpPr txBox="1"/>
          <p:nvPr/>
        </p:nvSpPr>
        <p:spPr>
          <a:xfrm>
            <a:off x="6492240" y="2103120"/>
            <a:ext cx="2103120" cy="329184"/>
          </a:xfrm>
          <a:prstGeom prst="rect">
            <a:avLst/>
          </a:prstGeom>
          <a:noFill/>
          <a:ln/>
        </p:spPr>
        <p:txBody>
          <a:bodyPr wrap="square" lIns="0" tIns="0" rIns="0" bIns="0" rtlCol="0" anchor="t"/>
          <a:lstStyle/>
          <a:p>
            <a:pPr indent="0" marL="0">
              <a:buNone/>
            </a:pPr>
            <a:r>
              <a:rPr lang="en-US" sz="1600" dirty="0">
                <a:solidFill>
                  <a:srgbClr val="0A0A0A"/>
                </a:solidFill>
                <a:latin typeface="Segoe UI Semibold" pitchFamily="34" charset="0"/>
                <a:ea typeface="Segoe UI Semibold" pitchFamily="34" charset="-122"/>
                <a:cs typeface="Segoe UI Semibold" pitchFamily="34" charset="-120"/>
              </a:rPr>
              <a:t>Transaksi</a:t>
            </a:r>
            <a:endParaRPr lang="en-US" sz="1600" dirty="0"/>
          </a:p>
        </p:txBody>
      </p:sp>
      <p:sp>
        <p:nvSpPr>
          <p:cNvPr id="15" name="Text 13"/>
          <p:cNvSpPr txBox="1"/>
          <p:nvPr/>
        </p:nvSpPr>
        <p:spPr>
          <a:xfrm>
            <a:off x="6492240" y="2450592"/>
            <a:ext cx="2103120" cy="256032"/>
          </a:xfrm>
          <a:prstGeom prst="rect">
            <a:avLst/>
          </a:prstGeom>
          <a:noFill/>
          <a:ln/>
        </p:spPr>
        <p:txBody>
          <a:bodyPr wrap="square" lIns="0" tIns="0" rIns="0" bIns="0" rtlCol="0" anchor="t"/>
          <a:lstStyle/>
          <a:p>
            <a:pPr indent="0" marL="0">
              <a:buNone/>
            </a:pPr>
            <a:r>
              <a:rPr lang="en-US" sz="1100" dirty="0">
                <a:solidFill>
                  <a:srgbClr val="5C5C5C"/>
                </a:solidFill>
                <a:latin typeface="Segoe UI" pitchFamily="34" charset="0"/>
                <a:ea typeface="Segoe UI" pitchFamily="34" charset="-122"/>
                <a:cs typeface="Segoe UI" pitchFamily="34" charset="-120"/>
              </a:rPr>
              <a:t>5 tabel</a:t>
            </a:r>
            <a:endParaRPr lang="en-US" sz="1100" dirty="0"/>
          </a:p>
        </p:txBody>
      </p:sp>
      <p:sp>
        <p:nvSpPr>
          <p:cNvPr id="16" name="Text 14"/>
          <p:cNvSpPr txBox="1"/>
          <p:nvPr/>
        </p:nvSpPr>
        <p:spPr>
          <a:xfrm>
            <a:off x="6492240" y="2834640"/>
            <a:ext cx="2194560" cy="1691640"/>
          </a:xfrm>
          <a:prstGeom prst="rect">
            <a:avLst/>
          </a:prstGeom>
          <a:noFill/>
          <a:ln/>
        </p:spPr>
        <p:txBody>
          <a:bodyPr wrap="square" lIns="0" tIns="0" rIns="0" bIns="0" rtlCol="0" anchor="t"/>
          <a:lstStyle/>
          <a:p>
            <a:pPr indent="0" marL="0">
              <a:spcAft>
                <a:spcPts val="300"/>
              </a:spcAft>
              <a:buNone/>
            </a:pPr>
            <a:r>
              <a:rPr lang="en-US" sz="1150" dirty="0">
                <a:solidFill>
                  <a:srgbClr val="0A0A0A"/>
                </a:solidFill>
                <a:latin typeface="Consolas" pitchFamily="34" charset="0"/>
                <a:ea typeface="Consolas" pitchFamily="34" charset="-122"/>
                <a:cs typeface="Consolas" pitchFamily="34" charset="-120"/>
              </a:rPr>
              <a:t>orders</a:t>
            </a:r>
            <a:endParaRPr lang="en-US" sz="1150" dirty="0"/>
          </a:p>
          <a:p>
            <a:pPr indent="0" marL="0">
              <a:spcAft>
                <a:spcPts val="300"/>
              </a:spcAft>
              <a:buNone/>
            </a:pPr>
            <a:r>
              <a:rPr lang="en-US" sz="1150" dirty="0">
                <a:solidFill>
                  <a:srgbClr val="0A0A0A"/>
                </a:solidFill>
                <a:latin typeface="Consolas" pitchFamily="34" charset="0"/>
                <a:ea typeface="Consolas" pitchFamily="34" charset="-122"/>
                <a:cs typeface="Consolas" pitchFamily="34" charset="-120"/>
              </a:rPr>
              <a:t>order_items</a:t>
            </a:r>
            <a:endParaRPr lang="en-US" sz="1150" dirty="0"/>
          </a:p>
          <a:p>
            <a:pPr indent="0" marL="0">
              <a:spcAft>
                <a:spcPts val="300"/>
              </a:spcAft>
              <a:buNone/>
            </a:pPr>
            <a:r>
              <a:rPr lang="en-US" sz="1150" dirty="0">
                <a:solidFill>
                  <a:srgbClr val="0A0A0A"/>
                </a:solidFill>
                <a:latin typeface="Consolas" pitchFamily="34" charset="0"/>
                <a:ea typeface="Consolas" pitchFamily="34" charset="-122"/>
                <a:cs typeface="Consolas" pitchFamily="34" charset="-120"/>
              </a:rPr>
              <a:t>order_status_logs</a:t>
            </a:r>
            <a:endParaRPr lang="en-US" sz="1150" dirty="0"/>
          </a:p>
          <a:p>
            <a:pPr indent="0" marL="0">
              <a:spcAft>
                <a:spcPts val="300"/>
              </a:spcAft>
              <a:buNone/>
            </a:pPr>
            <a:r>
              <a:rPr lang="en-US" sz="1150" dirty="0">
                <a:solidFill>
                  <a:srgbClr val="0A0A0A"/>
                </a:solidFill>
                <a:latin typeface="Consolas" pitchFamily="34" charset="0"/>
                <a:ea typeface="Consolas" pitchFamily="34" charset="-122"/>
                <a:cs typeface="Consolas" pitchFamily="34" charset="-120"/>
              </a:rPr>
              <a:t>promo_codes</a:t>
            </a:r>
            <a:endParaRPr lang="en-US" sz="1150" dirty="0"/>
          </a:p>
          <a:p>
            <a:pPr indent="0" marL="0">
              <a:spcAft>
                <a:spcPts val="300"/>
              </a:spcAft>
              <a:buNone/>
            </a:pPr>
            <a:r>
              <a:rPr lang="en-US" sz="1150" dirty="0">
                <a:solidFill>
                  <a:srgbClr val="0A0A0A"/>
                </a:solidFill>
                <a:latin typeface="Consolas" pitchFamily="34" charset="0"/>
                <a:ea typeface="Consolas" pitchFamily="34" charset="-122"/>
                <a:cs typeface="Consolas" pitchFamily="34" charset="-120"/>
              </a:rPr>
              <a:t>promo_usages</a:t>
            </a:r>
            <a:endParaRPr lang="en-US" sz="1150" dirty="0"/>
          </a:p>
        </p:txBody>
      </p:sp>
      <p:sp>
        <p:nvSpPr>
          <p:cNvPr id="17" name="Shape 15"/>
          <p:cNvSpPr/>
          <p:nvPr/>
        </p:nvSpPr>
        <p:spPr>
          <a:xfrm>
            <a:off x="9052560" y="1874520"/>
            <a:ext cx="2651760" cy="2743200"/>
          </a:xfrm>
          <a:prstGeom prst="roundRect">
            <a:avLst>
              <a:gd name="adj" fmla="val 7586"/>
            </a:avLst>
          </a:prstGeom>
          <a:solidFill>
            <a:srgbClr val="F3F3F3"/>
          </a:solidFill>
          <a:ln/>
        </p:spPr>
      </p:sp>
      <p:sp>
        <p:nvSpPr>
          <p:cNvPr id="18" name="Text 16"/>
          <p:cNvSpPr txBox="1"/>
          <p:nvPr/>
        </p:nvSpPr>
        <p:spPr>
          <a:xfrm>
            <a:off x="9326880" y="2103120"/>
            <a:ext cx="2103120" cy="329184"/>
          </a:xfrm>
          <a:prstGeom prst="rect">
            <a:avLst/>
          </a:prstGeom>
          <a:noFill/>
          <a:ln/>
        </p:spPr>
        <p:txBody>
          <a:bodyPr wrap="square" lIns="0" tIns="0" rIns="0" bIns="0" rtlCol="0" anchor="t"/>
          <a:lstStyle/>
          <a:p>
            <a:pPr indent="0" marL="0">
              <a:buNone/>
            </a:pPr>
            <a:r>
              <a:rPr lang="en-US" sz="1600" dirty="0">
                <a:solidFill>
                  <a:srgbClr val="0A0A0A"/>
                </a:solidFill>
                <a:latin typeface="Segoe UI Semibold" pitchFamily="34" charset="0"/>
                <a:ea typeface="Segoe UI Semibold" pitchFamily="34" charset="-122"/>
                <a:cs typeface="Segoe UI Semibold" pitchFamily="34" charset="-120"/>
              </a:rPr>
              <a:t>Konten</a:t>
            </a:r>
            <a:endParaRPr lang="en-US" sz="1600" dirty="0"/>
          </a:p>
        </p:txBody>
      </p:sp>
      <p:sp>
        <p:nvSpPr>
          <p:cNvPr id="19" name="Text 17"/>
          <p:cNvSpPr txBox="1"/>
          <p:nvPr/>
        </p:nvSpPr>
        <p:spPr>
          <a:xfrm>
            <a:off x="9326880" y="2450592"/>
            <a:ext cx="2103120" cy="256032"/>
          </a:xfrm>
          <a:prstGeom prst="rect">
            <a:avLst/>
          </a:prstGeom>
          <a:noFill/>
          <a:ln/>
        </p:spPr>
        <p:txBody>
          <a:bodyPr wrap="square" lIns="0" tIns="0" rIns="0" bIns="0" rtlCol="0" anchor="t"/>
          <a:lstStyle/>
          <a:p>
            <a:pPr indent="0" marL="0">
              <a:buNone/>
            </a:pPr>
            <a:r>
              <a:rPr lang="en-US" sz="1100" dirty="0">
                <a:solidFill>
                  <a:srgbClr val="5C5C5C"/>
                </a:solidFill>
                <a:latin typeface="Segoe UI" pitchFamily="34" charset="0"/>
                <a:ea typeface="Segoe UI" pitchFamily="34" charset="-122"/>
                <a:cs typeface="Segoe UI" pitchFamily="34" charset="-120"/>
              </a:rPr>
              <a:t>1 tabel</a:t>
            </a:r>
            <a:endParaRPr lang="en-US" sz="1100" dirty="0"/>
          </a:p>
        </p:txBody>
      </p:sp>
      <p:sp>
        <p:nvSpPr>
          <p:cNvPr id="20" name="Text 18"/>
          <p:cNvSpPr txBox="1"/>
          <p:nvPr/>
        </p:nvSpPr>
        <p:spPr>
          <a:xfrm>
            <a:off x="9326880" y="2834640"/>
            <a:ext cx="2194560" cy="1691640"/>
          </a:xfrm>
          <a:prstGeom prst="rect">
            <a:avLst/>
          </a:prstGeom>
          <a:noFill/>
          <a:ln/>
        </p:spPr>
        <p:txBody>
          <a:bodyPr wrap="square" lIns="0" tIns="0" rIns="0" bIns="0" rtlCol="0" anchor="t"/>
          <a:lstStyle/>
          <a:p>
            <a:pPr indent="0" marL="0">
              <a:spcAft>
                <a:spcPts val="300"/>
              </a:spcAft>
              <a:buNone/>
            </a:pPr>
            <a:r>
              <a:rPr lang="en-US" sz="1150" dirty="0">
                <a:solidFill>
                  <a:srgbClr val="0A0A0A"/>
                </a:solidFill>
                <a:latin typeface="Consolas" pitchFamily="34" charset="0"/>
                <a:ea typeface="Consolas" pitchFamily="34" charset="-122"/>
                <a:cs typeface="Consolas" pitchFamily="34" charset="-120"/>
              </a:rPr>
              <a:t>banners</a:t>
            </a:r>
            <a:endParaRPr lang="en-US" sz="1150" dirty="0"/>
          </a:p>
        </p:txBody>
      </p:sp>
      <p:sp>
        <p:nvSpPr>
          <p:cNvPr id="21" name="Text 19"/>
          <p:cNvSpPr txBox="1"/>
          <p:nvPr/>
        </p:nvSpPr>
        <p:spPr>
          <a:xfrm>
            <a:off x="548640" y="4937760"/>
            <a:ext cx="2651760" cy="292608"/>
          </a:xfrm>
          <a:prstGeom prst="rect">
            <a:avLst/>
          </a:prstGeom>
          <a:noFill/>
          <a:ln/>
        </p:spPr>
        <p:txBody>
          <a:bodyPr wrap="square" lIns="0" tIns="0" rIns="0" bIns="0" rtlCol="0" anchor="t"/>
          <a:lstStyle/>
          <a:p>
            <a:pPr indent="0" marL="0">
              <a:buNone/>
            </a:pPr>
            <a:r>
              <a:rPr lang="en-US" sz="1300" dirty="0">
                <a:solidFill>
                  <a:srgbClr val="0A0A0A"/>
                </a:solidFill>
                <a:latin typeface="Segoe UI Semibold" pitchFamily="34" charset="0"/>
                <a:ea typeface="Segoe UI Semibold" pitchFamily="34" charset="-122"/>
                <a:cs typeface="Segoe UI Semibold" pitchFamily="34" charset="-120"/>
              </a:rPr>
              <a:t>Harga disimpan INT</a:t>
            </a:r>
            <a:endParaRPr lang="en-US" sz="1300" dirty="0"/>
          </a:p>
        </p:txBody>
      </p:sp>
      <p:sp>
        <p:nvSpPr>
          <p:cNvPr id="22" name="Text 20"/>
          <p:cNvSpPr txBox="1"/>
          <p:nvPr/>
        </p:nvSpPr>
        <p:spPr>
          <a:xfrm>
            <a:off x="548640" y="5239512"/>
            <a:ext cx="2651760" cy="548640"/>
          </a:xfrm>
          <a:prstGeom prst="rect">
            <a:avLst/>
          </a:prstGeom>
          <a:noFill/>
          <a:ln/>
        </p:spPr>
        <p:txBody>
          <a:bodyPr wrap="square" lIns="0" tIns="0" rIns="0" bIns="0" rtlCol="0" anchor="t"/>
          <a:lstStyle/>
          <a:p>
            <a:pPr indent="0" marL="0">
              <a:buNone/>
            </a:pPr>
            <a:r>
              <a:rPr lang="en-US" sz="1150" dirty="0">
                <a:solidFill>
                  <a:srgbClr val="5C5C5C"/>
                </a:solidFill>
                <a:latin typeface="Segoe UI" pitchFamily="34" charset="0"/>
                <a:ea typeface="Segoe UI" pitchFamily="34" charset="-122"/>
                <a:cs typeface="Segoe UI" pitchFamily="34" charset="-120"/>
              </a:rPr>
              <a:t>Rupiah tanpa desimal, berat dalam gram.</a:t>
            </a:r>
            <a:endParaRPr lang="en-US" sz="1150" dirty="0"/>
          </a:p>
        </p:txBody>
      </p:sp>
      <p:sp>
        <p:nvSpPr>
          <p:cNvPr id="23" name="Text 21"/>
          <p:cNvSpPr txBox="1"/>
          <p:nvPr/>
        </p:nvSpPr>
        <p:spPr>
          <a:xfrm>
            <a:off x="3383280" y="4937760"/>
            <a:ext cx="2651760" cy="292608"/>
          </a:xfrm>
          <a:prstGeom prst="rect">
            <a:avLst/>
          </a:prstGeom>
          <a:noFill/>
          <a:ln/>
        </p:spPr>
        <p:txBody>
          <a:bodyPr wrap="square" lIns="0" tIns="0" rIns="0" bIns="0" rtlCol="0" anchor="t"/>
          <a:lstStyle/>
          <a:p>
            <a:pPr indent="0" marL="0">
              <a:buNone/>
            </a:pPr>
            <a:r>
              <a:rPr lang="en-US" sz="1300" dirty="0">
                <a:solidFill>
                  <a:srgbClr val="0A0A0A"/>
                </a:solidFill>
                <a:latin typeface="Segoe UI Semibold" pitchFamily="34" charset="0"/>
                <a:ea typeface="Segoe UI Semibold" pitchFamily="34" charset="-122"/>
                <a:cs typeface="Segoe UI Semibold" pitchFamily="34" charset="-120"/>
              </a:rPr>
              <a:t>Snapshot pesanan</a:t>
            </a:r>
            <a:endParaRPr lang="en-US" sz="1300" dirty="0"/>
          </a:p>
        </p:txBody>
      </p:sp>
      <p:sp>
        <p:nvSpPr>
          <p:cNvPr id="24" name="Text 22"/>
          <p:cNvSpPr txBox="1"/>
          <p:nvPr/>
        </p:nvSpPr>
        <p:spPr>
          <a:xfrm>
            <a:off x="3383280" y="5239512"/>
            <a:ext cx="2651760" cy="548640"/>
          </a:xfrm>
          <a:prstGeom prst="rect">
            <a:avLst/>
          </a:prstGeom>
          <a:noFill/>
          <a:ln/>
        </p:spPr>
        <p:txBody>
          <a:bodyPr wrap="square" lIns="0" tIns="0" rIns="0" bIns="0" rtlCol="0" anchor="t"/>
          <a:lstStyle/>
          <a:p>
            <a:pPr indent="0" marL="0">
              <a:buNone/>
            </a:pPr>
            <a:r>
              <a:rPr lang="en-US" sz="1150" dirty="0">
                <a:solidFill>
                  <a:srgbClr val="5C5C5C"/>
                </a:solidFill>
                <a:latin typeface="Segoe UI" pitchFamily="34" charset="0"/>
                <a:ea typeface="Segoe UI" pitchFamily="34" charset="-122"/>
                <a:cs typeface="Segoe UI" pitchFamily="34" charset="-120"/>
              </a:rPr>
              <a:t>Nama, harga &amp; alamat disalin saat checkout.</a:t>
            </a:r>
            <a:endParaRPr lang="en-US" sz="1150" dirty="0"/>
          </a:p>
        </p:txBody>
      </p:sp>
      <p:sp>
        <p:nvSpPr>
          <p:cNvPr id="25" name="Text 23"/>
          <p:cNvSpPr txBox="1"/>
          <p:nvPr/>
        </p:nvSpPr>
        <p:spPr>
          <a:xfrm>
            <a:off x="6217920" y="4937760"/>
            <a:ext cx="2651760" cy="292608"/>
          </a:xfrm>
          <a:prstGeom prst="rect">
            <a:avLst/>
          </a:prstGeom>
          <a:noFill/>
          <a:ln/>
        </p:spPr>
        <p:txBody>
          <a:bodyPr wrap="square" lIns="0" tIns="0" rIns="0" bIns="0" rtlCol="0" anchor="t"/>
          <a:lstStyle/>
          <a:p>
            <a:pPr indent="0" marL="0">
              <a:buNone/>
            </a:pPr>
            <a:r>
              <a:rPr lang="en-US" sz="1300" dirty="0">
                <a:solidFill>
                  <a:srgbClr val="0A0A0A"/>
                </a:solidFill>
                <a:latin typeface="Segoe UI Semibold" pitchFamily="34" charset="0"/>
                <a:ea typeface="Segoe UI Semibold" pitchFamily="34" charset="-122"/>
                <a:cs typeface="Segoe UI Semibold" pitchFamily="34" charset="-120"/>
              </a:rPr>
              <a:t>Stok per varian</a:t>
            </a:r>
            <a:endParaRPr lang="en-US" sz="1300" dirty="0"/>
          </a:p>
        </p:txBody>
      </p:sp>
      <p:sp>
        <p:nvSpPr>
          <p:cNvPr id="26" name="Text 24"/>
          <p:cNvSpPr txBox="1"/>
          <p:nvPr/>
        </p:nvSpPr>
        <p:spPr>
          <a:xfrm>
            <a:off x="6217920" y="5239512"/>
            <a:ext cx="2651760" cy="548640"/>
          </a:xfrm>
          <a:prstGeom prst="rect">
            <a:avLst/>
          </a:prstGeom>
          <a:noFill/>
          <a:ln/>
        </p:spPr>
        <p:txBody>
          <a:bodyPr wrap="square" lIns="0" tIns="0" rIns="0" bIns="0" rtlCol="0" anchor="t"/>
          <a:lstStyle/>
          <a:p>
            <a:pPr indent="0" marL="0">
              <a:buNone/>
            </a:pPr>
            <a:r>
              <a:rPr lang="en-US" sz="1150" dirty="0">
                <a:solidFill>
                  <a:srgbClr val="5C5C5C"/>
                </a:solidFill>
                <a:latin typeface="Segoe UI" pitchFamily="34" charset="0"/>
                <a:ea typeface="Segoe UI" pitchFamily="34" charset="-122"/>
                <a:cs typeface="Segoe UI" pitchFamily="34" charset="-120"/>
              </a:rPr>
              <a:t>Setiap ukuran/warna punya stok sendiri.</a:t>
            </a:r>
            <a:endParaRPr lang="en-US" sz="1150" dirty="0"/>
          </a:p>
        </p:txBody>
      </p:sp>
      <p:sp>
        <p:nvSpPr>
          <p:cNvPr id="27" name="Text 25"/>
          <p:cNvSpPr txBox="1"/>
          <p:nvPr/>
        </p:nvSpPr>
        <p:spPr>
          <a:xfrm>
            <a:off x="9052560" y="4937760"/>
            <a:ext cx="2651760" cy="292608"/>
          </a:xfrm>
          <a:prstGeom prst="rect">
            <a:avLst/>
          </a:prstGeom>
          <a:noFill/>
          <a:ln/>
        </p:spPr>
        <p:txBody>
          <a:bodyPr wrap="square" lIns="0" tIns="0" rIns="0" bIns="0" rtlCol="0" anchor="t"/>
          <a:lstStyle/>
          <a:p>
            <a:pPr indent="0" marL="0">
              <a:buNone/>
            </a:pPr>
            <a:r>
              <a:rPr lang="en-US" sz="1300" dirty="0">
                <a:solidFill>
                  <a:srgbClr val="0A0A0A"/>
                </a:solidFill>
                <a:latin typeface="Segoe UI Semibold" pitchFamily="34" charset="0"/>
                <a:ea typeface="Segoe UI Semibold" pitchFamily="34" charset="-122"/>
                <a:cs typeface="Segoe UI Semibold" pitchFamily="34" charset="-120"/>
              </a:rPr>
              <a:t>+1 tabel infrastruktur</a:t>
            </a:r>
            <a:endParaRPr lang="en-US" sz="1300" dirty="0"/>
          </a:p>
        </p:txBody>
      </p:sp>
      <p:sp>
        <p:nvSpPr>
          <p:cNvPr id="28" name="Text 26"/>
          <p:cNvSpPr txBox="1"/>
          <p:nvPr/>
        </p:nvSpPr>
        <p:spPr>
          <a:xfrm>
            <a:off x="9052560" y="5239512"/>
            <a:ext cx="2651760" cy="548640"/>
          </a:xfrm>
          <a:prstGeom prst="rect">
            <a:avLst/>
          </a:prstGeom>
          <a:noFill/>
          <a:ln/>
        </p:spPr>
        <p:txBody>
          <a:bodyPr wrap="square" lIns="0" tIns="0" rIns="0" bIns="0" rtlCol="0" anchor="t"/>
          <a:lstStyle/>
          <a:p>
            <a:pPr indent="0" marL="0">
              <a:buNone/>
            </a:pPr>
            <a:r>
              <a:rPr lang="en-US" sz="1150" dirty="0">
                <a:solidFill>
                  <a:srgbClr val="5C5C5C"/>
                </a:solidFill>
                <a:latin typeface="Segoe UI" pitchFamily="34" charset="0"/>
                <a:ea typeface="Segoe UI" pitchFamily="34" charset="-122"/>
                <a:cs typeface="Segoe UI" pitchFamily="34" charset="-120"/>
              </a:rPr>
              <a:t>auth_rate_limits: batas login &amp; asisten AI.</a:t>
            </a:r>
            <a:endParaRPr lang="en-US" sz="1150" dirty="0"/>
          </a:p>
        </p:txBody>
      </p:sp>
      <p:sp>
        <p:nvSpPr>
          <p:cNvPr id="25" name="Slide Number Placeholder 0"/>
          <p:cNvSpPr>
            <a:spLocks noGrp="1"/>
          </p:cNvSpPr>
          <p:nvPr>
            <p:ph type="sldNum" sz="quarter" idx="4294967295"/>
          </p:nvPr>
        </p:nvSpPr>
        <p:spPr>
          <a:xfrm>
            <a:off x="11183112"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C5C5C"/>
                </a:solidFill>
                <a:latin typeface="Segoe UI"/>
                <a:ea typeface="Segoe UI"/>
                <a:cs typeface="Segoe U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548640" y="411480"/>
            <a:ext cx="2785262" cy="292608"/>
          </a:xfrm>
          <a:prstGeom prst="roundRect">
            <a:avLst>
              <a:gd name="adj" fmla="val 50000"/>
            </a:avLst>
          </a:prstGeom>
          <a:solidFill>
            <a:srgbClr val="F3F3F3"/>
          </a:solidFill>
          <a:ln/>
        </p:spPr>
      </p:sp>
      <p:sp>
        <p:nvSpPr>
          <p:cNvPr id="3" name="Text 1"/>
          <p:cNvSpPr txBox="1"/>
          <p:nvPr/>
        </p:nvSpPr>
        <p:spPr>
          <a:xfrm>
            <a:off x="548640" y="411480"/>
            <a:ext cx="2785262" cy="292608"/>
          </a:xfrm>
          <a:prstGeom prst="rect">
            <a:avLst/>
          </a:prstGeom>
          <a:noFill/>
          <a:ln/>
        </p:spPr>
        <p:txBody>
          <a:bodyPr wrap="square" lIns="0" tIns="0" rIns="0" bIns="0" rtlCol="0" anchor="ctr"/>
          <a:lstStyle/>
          <a:p>
            <a:pPr algn="ctr" indent="0" marL="0">
              <a:buNone/>
            </a:pPr>
            <a:r>
              <a:rPr lang="en-US" sz="950" spc="150" kern="0" dirty="0">
                <a:solidFill>
                  <a:srgbClr val="5C5C5C"/>
                </a:solidFill>
                <a:latin typeface="Segoe UI Semibold" pitchFamily="34" charset="0"/>
                <a:ea typeface="Segoe UI Semibold" pitchFamily="34" charset="-122"/>
                <a:cs typeface="Segoe UI Semibold" pitchFamily="34" charset="-120"/>
              </a:rPr>
              <a:t>ENTITY RELATIONSHIP DIAGRAM</a:t>
            </a:r>
            <a:endParaRPr lang="en-US" sz="950" dirty="0"/>
          </a:p>
        </p:txBody>
      </p:sp>
      <p:sp>
        <p:nvSpPr>
          <p:cNvPr id="4" name="Text 1"/>
          <p:cNvSpPr/>
          <p:nvPr>
            <p:ph idx="101" type="title" hasCustomPrompt="1"/>
          </p:nvPr>
        </p:nvSpPr>
        <p:spPr>
          <a:xfrm>
            <a:off x="548640" y="868680"/>
            <a:ext cx="11064240" cy="777240"/>
          </a:xfrm>
          <a:prstGeom prst="rect">
            <a:avLst/>
          </a:prstGeom>
          <a:noFill/>
          <a:ln/>
        </p:spPr>
        <p:txBody>
          <a:bodyPr wrap="square" lIns="0" tIns="0" rIns="0" bIns="0" rtlCol="0" anchor="t"/>
          <a:lstStyle/>
          <a:p>
            <a:pPr algn="l" indent="0" marL="0">
              <a:buNone/>
            </a:pPr>
            <a:r>
              <a:rPr lang="en-US" sz="3000" dirty="0">
                <a:solidFill>
                  <a:srgbClr val="0A0A0A"/>
                </a:solidFill>
                <a:latin typeface="Segoe UI Semibold" pitchFamily="34" charset="0"/>
                <a:ea typeface="Segoe UI Semibold" pitchFamily="34" charset="-122"/>
                <a:cs typeface="Segoe UI Semibold" pitchFamily="34" charset="-120"/>
              </a:rPr>
              <a:t>Relasi antar tabel (ERD)</a:t>
            </a:r>
            <a:endParaRPr lang="en-US" sz="3000" dirty="0"/>
          </a:p>
        </p:txBody>
      </p:sp>
      <p:sp>
        <p:nvSpPr>
          <p:cNvPr id="5" name="Text 3"/>
          <p:cNvSpPr txBox="1"/>
          <p:nvPr/>
        </p:nvSpPr>
        <p:spPr>
          <a:xfrm>
            <a:off x="6720840" y="1024128"/>
            <a:ext cx="384048" cy="274320"/>
          </a:xfrm>
          <a:prstGeom prst="rect">
            <a:avLst/>
          </a:prstGeom>
          <a:noFill/>
          <a:ln/>
        </p:spPr>
        <p:txBody>
          <a:bodyPr wrap="square" lIns="0" tIns="0" rIns="0" bIns="0" rtlCol="0" anchor="t"/>
          <a:lstStyle/>
          <a:p>
            <a:pPr indent="0" marL="0">
              <a:buNone/>
            </a:pPr>
            <a:r>
              <a:rPr lang="en-US" sz="1300" dirty="0">
                <a:solidFill>
                  <a:srgbClr val="0A0A0A"/>
                </a:solidFill>
                <a:latin typeface="Consolas" pitchFamily="34" charset="0"/>
                <a:ea typeface="Consolas" pitchFamily="34" charset="-122"/>
                <a:cs typeface="Consolas" pitchFamily="34" charset="-120"/>
              </a:rPr>
              <a:t>||</a:t>
            </a:r>
            <a:endParaRPr lang="en-US" sz="1300" dirty="0"/>
          </a:p>
        </p:txBody>
      </p:sp>
      <p:sp>
        <p:nvSpPr>
          <p:cNvPr id="6" name="Text 4"/>
          <p:cNvSpPr txBox="1"/>
          <p:nvPr/>
        </p:nvSpPr>
        <p:spPr>
          <a:xfrm>
            <a:off x="7104888" y="1042416"/>
            <a:ext cx="1261872" cy="274320"/>
          </a:xfrm>
          <a:prstGeom prst="rect">
            <a:avLst/>
          </a:prstGeom>
          <a:noFill/>
          <a:ln/>
        </p:spPr>
        <p:txBody>
          <a:bodyPr wrap="square" lIns="0" tIns="0" rIns="0" bIns="0" rtlCol="0" anchor="t"/>
          <a:lstStyle/>
          <a:p>
            <a:pPr indent="0" marL="0">
              <a:buNone/>
            </a:pPr>
            <a:r>
              <a:rPr lang="en-US" sz="1100" dirty="0">
                <a:solidFill>
                  <a:srgbClr val="5C5C5C"/>
                </a:solidFill>
                <a:latin typeface="Segoe UI" pitchFamily="34" charset="0"/>
                <a:ea typeface="Segoe UI" pitchFamily="34" charset="-122"/>
                <a:cs typeface="Segoe UI" pitchFamily="34" charset="-120"/>
              </a:rPr>
              <a:t>tepat satu</a:t>
            </a:r>
            <a:endParaRPr lang="en-US" sz="1100" dirty="0"/>
          </a:p>
        </p:txBody>
      </p:sp>
      <p:sp>
        <p:nvSpPr>
          <p:cNvPr id="7" name="Text 5"/>
          <p:cNvSpPr txBox="1"/>
          <p:nvPr/>
        </p:nvSpPr>
        <p:spPr>
          <a:xfrm>
            <a:off x="8385048" y="1024128"/>
            <a:ext cx="384048" cy="274320"/>
          </a:xfrm>
          <a:prstGeom prst="rect">
            <a:avLst/>
          </a:prstGeom>
          <a:noFill/>
          <a:ln/>
        </p:spPr>
        <p:txBody>
          <a:bodyPr wrap="square" lIns="0" tIns="0" rIns="0" bIns="0" rtlCol="0" anchor="t"/>
          <a:lstStyle/>
          <a:p>
            <a:pPr indent="0" marL="0">
              <a:buNone/>
            </a:pPr>
            <a:r>
              <a:rPr lang="en-US" sz="1300" dirty="0">
                <a:solidFill>
                  <a:srgbClr val="0A0A0A"/>
                </a:solidFill>
                <a:latin typeface="Consolas" pitchFamily="34" charset="0"/>
                <a:ea typeface="Consolas" pitchFamily="34" charset="-122"/>
                <a:cs typeface="Consolas" pitchFamily="34" charset="-120"/>
              </a:rPr>
              <a:t>o|</a:t>
            </a:r>
            <a:endParaRPr lang="en-US" sz="1300" dirty="0"/>
          </a:p>
        </p:txBody>
      </p:sp>
      <p:sp>
        <p:nvSpPr>
          <p:cNvPr id="8" name="Text 6"/>
          <p:cNvSpPr txBox="1"/>
          <p:nvPr/>
        </p:nvSpPr>
        <p:spPr>
          <a:xfrm>
            <a:off x="8769096" y="1042416"/>
            <a:ext cx="1261872" cy="274320"/>
          </a:xfrm>
          <a:prstGeom prst="rect">
            <a:avLst/>
          </a:prstGeom>
          <a:noFill/>
          <a:ln/>
        </p:spPr>
        <p:txBody>
          <a:bodyPr wrap="square" lIns="0" tIns="0" rIns="0" bIns="0" rtlCol="0" anchor="t"/>
          <a:lstStyle/>
          <a:p>
            <a:pPr indent="0" marL="0">
              <a:buNone/>
            </a:pPr>
            <a:r>
              <a:rPr lang="en-US" sz="1100" dirty="0">
                <a:solidFill>
                  <a:srgbClr val="5C5C5C"/>
                </a:solidFill>
                <a:latin typeface="Segoe UI" pitchFamily="34" charset="0"/>
                <a:ea typeface="Segoe UI" pitchFamily="34" charset="-122"/>
                <a:cs typeface="Segoe UI" pitchFamily="34" charset="-120"/>
              </a:rPr>
              <a:t>nol atau satu</a:t>
            </a:r>
            <a:endParaRPr lang="en-US" sz="1100" dirty="0"/>
          </a:p>
        </p:txBody>
      </p:sp>
      <p:sp>
        <p:nvSpPr>
          <p:cNvPr id="9" name="Text 7"/>
          <p:cNvSpPr txBox="1"/>
          <p:nvPr/>
        </p:nvSpPr>
        <p:spPr>
          <a:xfrm>
            <a:off x="10049256" y="1024128"/>
            <a:ext cx="384048" cy="274320"/>
          </a:xfrm>
          <a:prstGeom prst="rect">
            <a:avLst/>
          </a:prstGeom>
          <a:noFill/>
          <a:ln/>
        </p:spPr>
        <p:txBody>
          <a:bodyPr wrap="square" lIns="0" tIns="0" rIns="0" bIns="0" rtlCol="0" anchor="t"/>
          <a:lstStyle/>
          <a:p>
            <a:pPr indent="0" marL="0">
              <a:buNone/>
            </a:pPr>
            <a:r>
              <a:rPr lang="en-US" sz="1300" dirty="0">
                <a:solidFill>
                  <a:srgbClr val="0A0A0A"/>
                </a:solidFill>
                <a:latin typeface="Consolas" pitchFamily="34" charset="0"/>
                <a:ea typeface="Consolas" pitchFamily="34" charset="-122"/>
                <a:cs typeface="Consolas" pitchFamily="34" charset="-120"/>
              </a:rPr>
              <a:t>o&lt;</a:t>
            </a:r>
            <a:endParaRPr lang="en-US" sz="1300" dirty="0"/>
          </a:p>
        </p:txBody>
      </p:sp>
      <p:sp>
        <p:nvSpPr>
          <p:cNvPr id="10" name="Text 8"/>
          <p:cNvSpPr txBox="1"/>
          <p:nvPr/>
        </p:nvSpPr>
        <p:spPr>
          <a:xfrm>
            <a:off x="10433304" y="1042416"/>
            <a:ext cx="1261872" cy="274320"/>
          </a:xfrm>
          <a:prstGeom prst="rect">
            <a:avLst/>
          </a:prstGeom>
          <a:noFill/>
          <a:ln/>
        </p:spPr>
        <p:txBody>
          <a:bodyPr wrap="square" lIns="0" tIns="0" rIns="0" bIns="0" rtlCol="0" anchor="t"/>
          <a:lstStyle/>
          <a:p>
            <a:pPr indent="0" marL="0">
              <a:buNone/>
            </a:pPr>
            <a:r>
              <a:rPr lang="en-US" sz="1100" dirty="0">
                <a:solidFill>
                  <a:srgbClr val="5C5C5C"/>
                </a:solidFill>
                <a:latin typeface="Segoe UI" pitchFamily="34" charset="0"/>
                <a:ea typeface="Segoe UI" pitchFamily="34" charset="-122"/>
                <a:cs typeface="Segoe UI" pitchFamily="34" charset="-120"/>
              </a:rPr>
              <a:t>nol atau banyak</a:t>
            </a:r>
            <a:endParaRPr lang="en-US" sz="1100" dirty="0"/>
          </a:p>
        </p:txBody>
      </p:sp>
      <p:sp>
        <p:nvSpPr>
          <p:cNvPr id="11" name="Text 9"/>
          <p:cNvSpPr txBox="1"/>
          <p:nvPr/>
        </p:nvSpPr>
        <p:spPr>
          <a:xfrm>
            <a:off x="6720840" y="1353312"/>
            <a:ext cx="4937760" cy="256032"/>
          </a:xfrm>
          <a:prstGeom prst="rect">
            <a:avLst/>
          </a:prstGeom>
          <a:noFill/>
          <a:ln/>
        </p:spPr>
        <p:txBody>
          <a:bodyPr wrap="square" lIns="0" tIns="0" rIns="0" bIns="0" rtlCol="0" anchor="t"/>
          <a:lstStyle/>
          <a:p>
            <a:pPr indent="0" marL="0">
              <a:buNone/>
            </a:pPr>
            <a:r>
              <a:rPr lang="en-US" sz="1050" dirty="0">
                <a:solidFill>
                  <a:srgbClr val="5C5C5C"/>
                </a:solidFill>
                <a:latin typeface="Segoe UI" pitchFamily="34" charset="0"/>
                <a:ea typeface="Segoe UI" pitchFamily="34" charset="-122"/>
                <a:cs typeface="Segoe UI" pitchFamily="34" charset="-120"/>
              </a:rPr>
              <a:t>PK kunci utama · FK kunci tamu · UQ unik · kolom lain diringkas</a:t>
            </a:r>
            <a:endParaRPr lang="en-US" sz="1050" dirty="0"/>
          </a:p>
        </p:txBody>
      </p:sp>
      <p:pic>
        <p:nvPicPr>
          <p:cNvPr id="12" name="Image 0" descr="C:\laragon\www\e-commerce\scripts\ppt\aset\erd.png">    </p:cNvPr>
          <p:cNvPicPr>
            <a:picLocks noChangeAspect="1"/>
          </p:cNvPicPr>
          <p:nvPr/>
        </p:nvPicPr>
        <p:blipFill>
          <a:blip r:embed="rId1"/>
          <a:stretch>
            <a:fillRect/>
          </a:stretch>
        </p:blipFill>
        <p:spPr>
          <a:xfrm>
            <a:off x="548640" y="1783080"/>
            <a:ext cx="11091672" cy="4377306"/>
          </a:xfrm>
          <a:prstGeom prst="rect">
            <a:avLst/>
          </a:prstGeom>
        </p:spPr>
      </p:pic>
      <p:sp>
        <p:nvSpPr>
          <p:cNvPr id="25" name="Slide Number Placeholder 0"/>
          <p:cNvSpPr>
            <a:spLocks noGrp="1"/>
          </p:cNvSpPr>
          <p:nvPr>
            <p:ph type="sldNum" sz="quarter" idx="4294967295"/>
          </p:nvPr>
        </p:nvSpPr>
        <p:spPr>
          <a:xfrm>
            <a:off x="11183112"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C5C5C"/>
                </a:solidFill>
                <a:latin typeface="Segoe UI"/>
                <a:ea typeface="Segoe UI"/>
                <a:cs typeface="Segoe U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548640" y="411480"/>
            <a:ext cx="1530706" cy="292608"/>
          </a:xfrm>
          <a:prstGeom prst="roundRect">
            <a:avLst>
              <a:gd name="adj" fmla="val 50000"/>
            </a:avLst>
          </a:prstGeom>
          <a:solidFill>
            <a:srgbClr val="F3F3F3"/>
          </a:solidFill>
          <a:ln/>
        </p:spPr>
      </p:sp>
      <p:sp>
        <p:nvSpPr>
          <p:cNvPr id="3" name="Text 1"/>
          <p:cNvSpPr txBox="1"/>
          <p:nvPr/>
        </p:nvSpPr>
        <p:spPr>
          <a:xfrm>
            <a:off x="548640" y="411480"/>
            <a:ext cx="1530706" cy="292608"/>
          </a:xfrm>
          <a:prstGeom prst="rect">
            <a:avLst/>
          </a:prstGeom>
          <a:noFill/>
          <a:ln/>
        </p:spPr>
        <p:txBody>
          <a:bodyPr wrap="square" lIns="0" tIns="0" rIns="0" bIns="0" rtlCol="0" anchor="ctr"/>
          <a:lstStyle/>
          <a:p>
            <a:pPr algn="ctr" indent="0" marL="0">
              <a:buNone/>
            </a:pPr>
            <a:r>
              <a:rPr lang="en-US" sz="950" spc="150" kern="0" dirty="0">
                <a:solidFill>
                  <a:srgbClr val="5C5C5C"/>
                </a:solidFill>
                <a:latin typeface="Segoe UI Semibold" pitchFamily="34" charset="0"/>
                <a:ea typeface="Segoe UI Semibold" pitchFamily="34" charset="-122"/>
                <a:cs typeface="Segoe UI Semibold" pitchFamily="34" charset="-120"/>
              </a:rPr>
              <a:t>ATURAN BISNIS</a:t>
            </a:r>
            <a:endParaRPr lang="en-US" sz="950" dirty="0"/>
          </a:p>
        </p:txBody>
      </p:sp>
      <p:sp>
        <p:nvSpPr>
          <p:cNvPr id="4" name="Text 1"/>
          <p:cNvSpPr/>
          <p:nvPr>
            <p:ph idx="101" type="title" hasCustomPrompt="1"/>
          </p:nvPr>
        </p:nvSpPr>
        <p:spPr>
          <a:xfrm>
            <a:off x="548640" y="868680"/>
            <a:ext cx="11064240" cy="777240"/>
          </a:xfrm>
          <a:prstGeom prst="rect">
            <a:avLst/>
          </a:prstGeom>
          <a:noFill/>
          <a:ln/>
        </p:spPr>
        <p:txBody>
          <a:bodyPr wrap="square" lIns="0" tIns="0" rIns="0" bIns="0" rtlCol="0" anchor="t"/>
          <a:lstStyle/>
          <a:p>
            <a:pPr algn="l" indent="0" marL="0">
              <a:buNone/>
            </a:pPr>
            <a:r>
              <a:rPr lang="en-US" sz="3000" dirty="0">
                <a:solidFill>
                  <a:srgbClr val="0A0A0A"/>
                </a:solidFill>
                <a:latin typeface="Segoe UI Semibold" pitchFamily="34" charset="0"/>
                <a:ea typeface="Segoe UI Semibold" pitchFamily="34" charset="-122"/>
                <a:cs typeface="Segoe UI Semibold" pitchFamily="34" charset="-120"/>
              </a:rPr>
              <a:t>Alur status pesanan, dari dibuat sampai selesai</a:t>
            </a:r>
            <a:endParaRPr lang="en-US" sz="3000" dirty="0"/>
          </a:p>
        </p:txBody>
      </p:sp>
      <p:sp>
        <p:nvSpPr>
          <p:cNvPr id="5" name="Shape 3"/>
          <p:cNvSpPr/>
          <p:nvPr/>
        </p:nvSpPr>
        <p:spPr>
          <a:xfrm>
            <a:off x="548640" y="1965960"/>
            <a:ext cx="2148840" cy="384048"/>
          </a:xfrm>
          <a:prstGeom prst="roundRect">
            <a:avLst>
              <a:gd name="adj" fmla="val 50000"/>
            </a:avLst>
          </a:prstGeom>
          <a:solidFill>
            <a:srgbClr val="F3F3F3"/>
          </a:solidFill>
          <a:ln/>
        </p:spPr>
      </p:sp>
      <p:sp>
        <p:nvSpPr>
          <p:cNvPr id="6" name="Shape 4"/>
          <p:cNvSpPr/>
          <p:nvPr/>
        </p:nvSpPr>
        <p:spPr>
          <a:xfrm>
            <a:off x="731520" y="2112264"/>
            <a:ext cx="91440" cy="91440"/>
          </a:xfrm>
          <a:prstGeom prst="ellipse">
            <a:avLst/>
          </a:prstGeom>
          <a:solidFill>
            <a:srgbClr val="F59E0B"/>
          </a:solidFill>
          <a:ln/>
        </p:spPr>
      </p:sp>
      <p:sp>
        <p:nvSpPr>
          <p:cNvPr id="7" name="Text 5"/>
          <p:cNvSpPr txBox="1"/>
          <p:nvPr/>
        </p:nvSpPr>
        <p:spPr>
          <a:xfrm>
            <a:off x="896112" y="1965960"/>
            <a:ext cx="1709928" cy="384048"/>
          </a:xfrm>
          <a:prstGeom prst="rect">
            <a:avLst/>
          </a:prstGeom>
          <a:noFill/>
          <a:ln/>
        </p:spPr>
        <p:txBody>
          <a:bodyPr wrap="square" lIns="0" tIns="0" rIns="0" bIns="0" rtlCol="0" anchor="ctr"/>
          <a:lstStyle/>
          <a:p>
            <a:pPr indent="0" marL="0">
              <a:buNone/>
            </a:pPr>
            <a:r>
              <a:rPr lang="en-US" sz="1200" dirty="0">
                <a:solidFill>
                  <a:srgbClr val="0A0A0A"/>
                </a:solidFill>
                <a:latin typeface="Segoe UI Semibold" pitchFamily="34" charset="0"/>
                <a:ea typeface="Segoe UI Semibold" pitchFamily="34" charset="-122"/>
                <a:cs typeface="Segoe UI Semibold" pitchFamily="34" charset="-120"/>
              </a:rPr>
              <a:t>Menunggu Pembayaran</a:t>
            </a:r>
            <a:endParaRPr lang="en-US" sz="1200" dirty="0"/>
          </a:p>
        </p:txBody>
      </p:sp>
      <p:sp>
        <p:nvSpPr>
          <p:cNvPr id="8" name="Text 6"/>
          <p:cNvSpPr txBox="1"/>
          <p:nvPr/>
        </p:nvSpPr>
        <p:spPr>
          <a:xfrm>
            <a:off x="594360" y="2487168"/>
            <a:ext cx="2697480" cy="457200"/>
          </a:xfrm>
          <a:prstGeom prst="rect">
            <a:avLst/>
          </a:prstGeom>
          <a:noFill/>
          <a:ln/>
        </p:spPr>
        <p:txBody>
          <a:bodyPr wrap="square" lIns="0" tIns="0" rIns="0" bIns="0" rtlCol="0" anchor="t"/>
          <a:lstStyle/>
          <a:p>
            <a:pPr indent="0" marL="0">
              <a:buNone/>
            </a:pPr>
            <a:r>
              <a:rPr lang="en-US" sz="1150" dirty="0">
                <a:solidFill>
                  <a:srgbClr val="5C5C5C"/>
                </a:solidFill>
                <a:latin typeface="Segoe UI" pitchFamily="34" charset="0"/>
                <a:ea typeface="Segoe UI" pitchFamily="34" charset="-122"/>
                <a:cs typeface="Segoe UI" pitchFamily="34" charset="-120"/>
              </a:rPr>
              <a:t>Batas bayar 24 jam</a:t>
            </a:r>
            <a:endParaRPr lang="en-US" sz="1150" dirty="0"/>
          </a:p>
        </p:txBody>
      </p:sp>
      <p:sp>
        <p:nvSpPr>
          <p:cNvPr id="9" name="Shape 7"/>
          <p:cNvSpPr/>
          <p:nvPr/>
        </p:nvSpPr>
        <p:spPr>
          <a:xfrm>
            <a:off x="2788920" y="2157984"/>
            <a:ext cx="502920" cy="0"/>
          </a:xfrm>
          <a:prstGeom prst="line">
            <a:avLst/>
          </a:prstGeom>
          <a:noFill/>
          <a:ln w="19050">
            <a:solidFill>
              <a:srgbClr val="5C5C5C"/>
            </a:solidFill>
            <a:prstDash val="solid"/>
            <a:tailEnd type="triangle"/>
          </a:ln>
        </p:spPr>
      </p:sp>
      <p:sp>
        <p:nvSpPr>
          <p:cNvPr id="10" name="Shape 8"/>
          <p:cNvSpPr/>
          <p:nvPr/>
        </p:nvSpPr>
        <p:spPr>
          <a:xfrm>
            <a:off x="3383280" y="1965960"/>
            <a:ext cx="1600200" cy="384048"/>
          </a:xfrm>
          <a:prstGeom prst="roundRect">
            <a:avLst>
              <a:gd name="adj" fmla="val 50000"/>
            </a:avLst>
          </a:prstGeom>
          <a:solidFill>
            <a:srgbClr val="F3F3F3"/>
          </a:solidFill>
          <a:ln/>
        </p:spPr>
      </p:sp>
      <p:sp>
        <p:nvSpPr>
          <p:cNvPr id="11" name="Shape 9"/>
          <p:cNvSpPr/>
          <p:nvPr/>
        </p:nvSpPr>
        <p:spPr>
          <a:xfrm>
            <a:off x="3566160" y="2112264"/>
            <a:ext cx="91440" cy="91440"/>
          </a:xfrm>
          <a:prstGeom prst="ellipse">
            <a:avLst/>
          </a:prstGeom>
          <a:solidFill>
            <a:srgbClr val="3B82F6"/>
          </a:solidFill>
          <a:ln/>
        </p:spPr>
      </p:sp>
      <p:sp>
        <p:nvSpPr>
          <p:cNvPr id="12" name="Text 10"/>
          <p:cNvSpPr txBox="1"/>
          <p:nvPr/>
        </p:nvSpPr>
        <p:spPr>
          <a:xfrm>
            <a:off x="3730752" y="1965960"/>
            <a:ext cx="1161288" cy="384048"/>
          </a:xfrm>
          <a:prstGeom prst="rect">
            <a:avLst/>
          </a:prstGeom>
          <a:noFill/>
          <a:ln/>
        </p:spPr>
        <p:txBody>
          <a:bodyPr wrap="square" lIns="0" tIns="0" rIns="0" bIns="0" rtlCol="0" anchor="ctr"/>
          <a:lstStyle/>
          <a:p>
            <a:pPr indent="0" marL="0">
              <a:buNone/>
            </a:pPr>
            <a:r>
              <a:rPr lang="en-US" sz="1200" dirty="0">
                <a:solidFill>
                  <a:srgbClr val="0A0A0A"/>
                </a:solidFill>
                <a:latin typeface="Segoe UI Semibold" pitchFamily="34" charset="0"/>
                <a:ea typeface="Segoe UI Semibold" pitchFamily="34" charset="-122"/>
                <a:cs typeface="Segoe UI Semibold" pitchFamily="34" charset="-120"/>
              </a:rPr>
              <a:t>Dikonfirmasi</a:t>
            </a:r>
            <a:endParaRPr lang="en-US" sz="1200" dirty="0"/>
          </a:p>
        </p:txBody>
      </p:sp>
      <p:sp>
        <p:nvSpPr>
          <p:cNvPr id="13" name="Text 11"/>
          <p:cNvSpPr txBox="1"/>
          <p:nvPr/>
        </p:nvSpPr>
        <p:spPr>
          <a:xfrm>
            <a:off x="3429000" y="2487168"/>
            <a:ext cx="2148840" cy="457200"/>
          </a:xfrm>
          <a:prstGeom prst="rect">
            <a:avLst/>
          </a:prstGeom>
          <a:noFill/>
          <a:ln/>
        </p:spPr>
        <p:txBody>
          <a:bodyPr wrap="square" lIns="0" tIns="0" rIns="0" bIns="0" rtlCol="0" anchor="t"/>
          <a:lstStyle/>
          <a:p>
            <a:pPr indent="0" marL="0">
              <a:buNone/>
            </a:pPr>
            <a:r>
              <a:rPr lang="en-US" sz="1150" dirty="0">
                <a:solidFill>
                  <a:srgbClr val="5C5C5C"/>
                </a:solidFill>
                <a:latin typeface="Segoe UI" pitchFamily="34" charset="0"/>
                <a:ea typeface="Segoe UI" pitchFamily="34" charset="-122"/>
                <a:cs typeface="Segoe UI" pitchFamily="34" charset="-120"/>
              </a:rPr>
              <a:t>Dibayar atau COD</a:t>
            </a:r>
            <a:endParaRPr lang="en-US" sz="1150" dirty="0"/>
          </a:p>
        </p:txBody>
      </p:sp>
      <p:sp>
        <p:nvSpPr>
          <p:cNvPr id="14" name="Shape 12"/>
          <p:cNvSpPr/>
          <p:nvPr/>
        </p:nvSpPr>
        <p:spPr>
          <a:xfrm>
            <a:off x="5074920" y="2157984"/>
            <a:ext cx="502920" cy="0"/>
          </a:xfrm>
          <a:prstGeom prst="line">
            <a:avLst/>
          </a:prstGeom>
          <a:noFill/>
          <a:ln w="19050">
            <a:solidFill>
              <a:srgbClr val="5C5C5C"/>
            </a:solidFill>
            <a:prstDash val="solid"/>
            <a:tailEnd type="triangle"/>
          </a:ln>
        </p:spPr>
      </p:sp>
      <p:sp>
        <p:nvSpPr>
          <p:cNvPr id="15" name="Shape 13"/>
          <p:cNvSpPr/>
          <p:nvPr/>
        </p:nvSpPr>
        <p:spPr>
          <a:xfrm>
            <a:off x="5669280" y="1965960"/>
            <a:ext cx="1280160" cy="384048"/>
          </a:xfrm>
          <a:prstGeom prst="roundRect">
            <a:avLst>
              <a:gd name="adj" fmla="val 50000"/>
            </a:avLst>
          </a:prstGeom>
          <a:solidFill>
            <a:srgbClr val="F3F3F3"/>
          </a:solidFill>
          <a:ln/>
        </p:spPr>
      </p:sp>
      <p:sp>
        <p:nvSpPr>
          <p:cNvPr id="16" name="Shape 14"/>
          <p:cNvSpPr/>
          <p:nvPr/>
        </p:nvSpPr>
        <p:spPr>
          <a:xfrm>
            <a:off x="5852160" y="2112264"/>
            <a:ext cx="91440" cy="91440"/>
          </a:xfrm>
          <a:prstGeom prst="ellipse">
            <a:avLst/>
          </a:prstGeom>
          <a:solidFill>
            <a:srgbClr val="8B5CF6"/>
          </a:solidFill>
          <a:ln/>
        </p:spPr>
      </p:sp>
      <p:sp>
        <p:nvSpPr>
          <p:cNvPr id="17" name="Text 15"/>
          <p:cNvSpPr txBox="1"/>
          <p:nvPr/>
        </p:nvSpPr>
        <p:spPr>
          <a:xfrm>
            <a:off x="6016752" y="1965960"/>
            <a:ext cx="841248" cy="384048"/>
          </a:xfrm>
          <a:prstGeom prst="rect">
            <a:avLst/>
          </a:prstGeom>
          <a:noFill/>
          <a:ln/>
        </p:spPr>
        <p:txBody>
          <a:bodyPr wrap="square" lIns="0" tIns="0" rIns="0" bIns="0" rtlCol="0" anchor="ctr"/>
          <a:lstStyle/>
          <a:p>
            <a:pPr indent="0" marL="0">
              <a:buNone/>
            </a:pPr>
            <a:r>
              <a:rPr lang="en-US" sz="1200" dirty="0">
                <a:solidFill>
                  <a:srgbClr val="0A0A0A"/>
                </a:solidFill>
                <a:latin typeface="Segoe UI Semibold" pitchFamily="34" charset="0"/>
                <a:ea typeface="Segoe UI Semibold" pitchFamily="34" charset="-122"/>
                <a:cs typeface="Segoe UI Semibold" pitchFamily="34" charset="-120"/>
              </a:rPr>
              <a:t>Dikemas</a:t>
            </a:r>
            <a:endParaRPr lang="en-US" sz="1200" dirty="0"/>
          </a:p>
        </p:txBody>
      </p:sp>
      <p:sp>
        <p:nvSpPr>
          <p:cNvPr id="18" name="Text 16"/>
          <p:cNvSpPr txBox="1"/>
          <p:nvPr/>
        </p:nvSpPr>
        <p:spPr>
          <a:xfrm>
            <a:off x="5715000" y="2487168"/>
            <a:ext cx="1828800" cy="457200"/>
          </a:xfrm>
          <a:prstGeom prst="rect">
            <a:avLst/>
          </a:prstGeom>
          <a:noFill/>
          <a:ln/>
        </p:spPr>
        <p:txBody>
          <a:bodyPr wrap="square" lIns="0" tIns="0" rIns="0" bIns="0" rtlCol="0" anchor="t"/>
          <a:lstStyle/>
          <a:p>
            <a:pPr indent="0" marL="0">
              <a:buNone/>
            </a:pPr>
            <a:r>
              <a:rPr lang="en-US" sz="1150" dirty="0">
                <a:solidFill>
                  <a:srgbClr val="5C5C5C"/>
                </a:solidFill>
                <a:latin typeface="Segoe UI" pitchFamily="34" charset="0"/>
                <a:ea typeface="Segoe UI" pitchFamily="34" charset="-122"/>
                <a:cs typeface="Segoe UI" pitchFamily="34" charset="-120"/>
              </a:rPr>
              <a:t>Admin menyiapkan barang</a:t>
            </a:r>
            <a:endParaRPr lang="en-US" sz="1150" dirty="0"/>
          </a:p>
        </p:txBody>
      </p:sp>
      <p:sp>
        <p:nvSpPr>
          <p:cNvPr id="19" name="Shape 17"/>
          <p:cNvSpPr/>
          <p:nvPr/>
        </p:nvSpPr>
        <p:spPr>
          <a:xfrm>
            <a:off x="7040880" y="2157984"/>
            <a:ext cx="502920" cy="0"/>
          </a:xfrm>
          <a:prstGeom prst="line">
            <a:avLst/>
          </a:prstGeom>
          <a:noFill/>
          <a:ln w="19050">
            <a:solidFill>
              <a:srgbClr val="5C5C5C"/>
            </a:solidFill>
            <a:prstDash val="solid"/>
            <a:tailEnd type="triangle"/>
          </a:ln>
        </p:spPr>
      </p:sp>
      <p:sp>
        <p:nvSpPr>
          <p:cNvPr id="20" name="Shape 18"/>
          <p:cNvSpPr/>
          <p:nvPr/>
        </p:nvSpPr>
        <p:spPr>
          <a:xfrm>
            <a:off x="7635240" y="1965960"/>
            <a:ext cx="1188720" cy="384048"/>
          </a:xfrm>
          <a:prstGeom prst="roundRect">
            <a:avLst>
              <a:gd name="adj" fmla="val 50000"/>
            </a:avLst>
          </a:prstGeom>
          <a:solidFill>
            <a:srgbClr val="F3F3F3"/>
          </a:solidFill>
          <a:ln/>
        </p:spPr>
      </p:sp>
      <p:sp>
        <p:nvSpPr>
          <p:cNvPr id="21" name="Shape 19"/>
          <p:cNvSpPr/>
          <p:nvPr/>
        </p:nvSpPr>
        <p:spPr>
          <a:xfrm>
            <a:off x="7818120" y="2112264"/>
            <a:ext cx="91440" cy="91440"/>
          </a:xfrm>
          <a:prstGeom prst="ellipse">
            <a:avLst/>
          </a:prstGeom>
          <a:solidFill>
            <a:srgbClr val="0EA5E9"/>
          </a:solidFill>
          <a:ln/>
        </p:spPr>
      </p:sp>
      <p:sp>
        <p:nvSpPr>
          <p:cNvPr id="22" name="Text 20"/>
          <p:cNvSpPr txBox="1"/>
          <p:nvPr/>
        </p:nvSpPr>
        <p:spPr>
          <a:xfrm>
            <a:off x="7982712" y="1965960"/>
            <a:ext cx="749808" cy="384048"/>
          </a:xfrm>
          <a:prstGeom prst="rect">
            <a:avLst/>
          </a:prstGeom>
          <a:noFill/>
          <a:ln/>
        </p:spPr>
        <p:txBody>
          <a:bodyPr wrap="square" lIns="0" tIns="0" rIns="0" bIns="0" rtlCol="0" anchor="ctr"/>
          <a:lstStyle/>
          <a:p>
            <a:pPr indent="0" marL="0">
              <a:buNone/>
            </a:pPr>
            <a:r>
              <a:rPr lang="en-US" sz="1200" dirty="0">
                <a:solidFill>
                  <a:srgbClr val="0A0A0A"/>
                </a:solidFill>
                <a:latin typeface="Segoe UI Semibold" pitchFamily="34" charset="0"/>
                <a:ea typeface="Segoe UI Semibold" pitchFamily="34" charset="-122"/>
                <a:cs typeface="Segoe UI Semibold" pitchFamily="34" charset="-120"/>
              </a:rPr>
              <a:t>Dikirim</a:t>
            </a:r>
            <a:endParaRPr lang="en-US" sz="1200" dirty="0"/>
          </a:p>
        </p:txBody>
      </p:sp>
      <p:sp>
        <p:nvSpPr>
          <p:cNvPr id="23" name="Text 21"/>
          <p:cNvSpPr txBox="1"/>
          <p:nvPr/>
        </p:nvSpPr>
        <p:spPr>
          <a:xfrm>
            <a:off x="7680960" y="2487168"/>
            <a:ext cx="1737360" cy="457200"/>
          </a:xfrm>
          <a:prstGeom prst="rect">
            <a:avLst/>
          </a:prstGeom>
          <a:noFill/>
          <a:ln/>
        </p:spPr>
        <p:txBody>
          <a:bodyPr wrap="square" lIns="0" tIns="0" rIns="0" bIns="0" rtlCol="0" anchor="t"/>
          <a:lstStyle/>
          <a:p>
            <a:pPr indent="0" marL="0">
              <a:buNone/>
            </a:pPr>
            <a:r>
              <a:rPr lang="en-US" sz="1150" dirty="0">
                <a:solidFill>
                  <a:srgbClr val="5C5C5C"/>
                </a:solidFill>
                <a:latin typeface="Segoe UI" pitchFamily="34" charset="0"/>
                <a:ea typeface="Segoe UI" pitchFamily="34" charset="-122"/>
                <a:cs typeface="Segoe UI" pitchFamily="34" charset="-120"/>
              </a:rPr>
              <a:t>Admin wajib input resi</a:t>
            </a:r>
            <a:endParaRPr lang="en-US" sz="1150" dirty="0"/>
          </a:p>
        </p:txBody>
      </p:sp>
      <p:sp>
        <p:nvSpPr>
          <p:cNvPr id="24" name="Shape 22"/>
          <p:cNvSpPr/>
          <p:nvPr/>
        </p:nvSpPr>
        <p:spPr>
          <a:xfrm>
            <a:off x="8915400" y="2157984"/>
            <a:ext cx="502920" cy="0"/>
          </a:xfrm>
          <a:prstGeom prst="line">
            <a:avLst/>
          </a:prstGeom>
          <a:noFill/>
          <a:ln w="19050">
            <a:solidFill>
              <a:srgbClr val="5C5C5C"/>
            </a:solidFill>
            <a:prstDash val="solid"/>
            <a:tailEnd type="triangle"/>
          </a:ln>
        </p:spPr>
      </p:sp>
      <p:sp>
        <p:nvSpPr>
          <p:cNvPr id="25" name="Shape 23"/>
          <p:cNvSpPr/>
          <p:nvPr/>
        </p:nvSpPr>
        <p:spPr>
          <a:xfrm>
            <a:off x="9509760" y="1965960"/>
            <a:ext cx="1143000" cy="384048"/>
          </a:xfrm>
          <a:prstGeom prst="roundRect">
            <a:avLst>
              <a:gd name="adj" fmla="val 50000"/>
            </a:avLst>
          </a:prstGeom>
          <a:solidFill>
            <a:srgbClr val="F3F3F3"/>
          </a:solidFill>
          <a:ln/>
        </p:spPr>
      </p:sp>
      <p:sp>
        <p:nvSpPr>
          <p:cNvPr id="26" name="Shape 24"/>
          <p:cNvSpPr/>
          <p:nvPr/>
        </p:nvSpPr>
        <p:spPr>
          <a:xfrm>
            <a:off x="9692640" y="2112264"/>
            <a:ext cx="91440" cy="91440"/>
          </a:xfrm>
          <a:prstGeom prst="ellipse">
            <a:avLst/>
          </a:prstGeom>
          <a:solidFill>
            <a:srgbClr val="10B981"/>
          </a:solidFill>
          <a:ln/>
        </p:spPr>
      </p:sp>
      <p:sp>
        <p:nvSpPr>
          <p:cNvPr id="27" name="Text 25"/>
          <p:cNvSpPr txBox="1"/>
          <p:nvPr/>
        </p:nvSpPr>
        <p:spPr>
          <a:xfrm>
            <a:off x="9857232" y="1965960"/>
            <a:ext cx="704088" cy="384048"/>
          </a:xfrm>
          <a:prstGeom prst="rect">
            <a:avLst/>
          </a:prstGeom>
          <a:noFill/>
          <a:ln/>
        </p:spPr>
        <p:txBody>
          <a:bodyPr wrap="square" lIns="0" tIns="0" rIns="0" bIns="0" rtlCol="0" anchor="ctr"/>
          <a:lstStyle/>
          <a:p>
            <a:pPr indent="0" marL="0">
              <a:buNone/>
            </a:pPr>
            <a:r>
              <a:rPr lang="en-US" sz="1200" dirty="0">
                <a:solidFill>
                  <a:srgbClr val="0A0A0A"/>
                </a:solidFill>
                <a:latin typeface="Segoe UI Semibold" pitchFamily="34" charset="0"/>
                <a:ea typeface="Segoe UI Semibold" pitchFamily="34" charset="-122"/>
                <a:cs typeface="Segoe UI Semibold" pitchFamily="34" charset="-120"/>
              </a:rPr>
              <a:t>Selesai</a:t>
            </a:r>
            <a:endParaRPr lang="en-US" sz="1200" dirty="0"/>
          </a:p>
        </p:txBody>
      </p:sp>
      <p:sp>
        <p:nvSpPr>
          <p:cNvPr id="28" name="Text 26"/>
          <p:cNvSpPr txBox="1"/>
          <p:nvPr/>
        </p:nvSpPr>
        <p:spPr>
          <a:xfrm>
            <a:off x="9555480" y="2487168"/>
            <a:ext cx="1691640" cy="457200"/>
          </a:xfrm>
          <a:prstGeom prst="rect">
            <a:avLst/>
          </a:prstGeom>
          <a:noFill/>
          <a:ln/>
        </p:spPr>
        <p:txBody>
          <a:bodyPr wrap="square" lIns="0" tIns="0" rIns="0" bIns="0" rtlCol="0" anchor="t"/>
          <a:lstStyle/>
          <a:p>
            <a:pPr indent="0" marL="0">
              <a:buNone/>
            </a:pPr>
            <a:r>
              <a:rPr lang="en-US" sz="1150" dirty="0">
                <a:solidFill>
                  <a:srgbClr val="5C5C5C"/>
                </a:solidFill>
                <a:latin typeface="Segoe UI" pitchFamily="34" charset="0"/>
                <a:ea typeface="Segoe UI" pitchFamily="34" charset="-122"/>
                <a:cs typeface="Segoe UI" pitchFamily="34" charset="-120"/>
              </a:rPr>
              <a:t>Pembeli terima / otomatis 7 hari</a:t>
            </a:r>
            <a:endParaRPr lang="en-US" sz="1150" dirty="0"/>
          </a:p>
        </p:txBody>
      </p:sp>
      <p:sp>
        <p:nvSpPr>
          <p:cNvPr id="29" name="Shape 27"/>
          <p:cNvSpPr/>
          <p:nvPr/>
        </p:nvSpPr>
        <p:spPr>
          <a:xfrm>
            <a:off x="548640" y="3200400"/>
            <a:ext cx="1645920" cy="384048"/>
          </a:xfrm>
          <a:prstGeom prst="roundRect">
            <a:avLst>
              <a:gd name="adj" fmla="val 50000"/>
            </a:avLst>
          </a:prstGeom>
          <a:solidFill>
            <a:srgbClr val="F3F3F3"/>
          </a:solidFill>
          <a:ln/>
        </p:spPr>
      </p:sp>
      <p:sp>
        <p:nvSpPr>
          <p:cNvPr id="30" name="Shape 28"/>
          <p:cNvSpPr/>
          <p:nvPr/>
        </p:nvSpPr>
        <p:spPr>
          <a:xfrm>
            <a:off x="731520" y="3346704"/>
            <a:ext cx="91440" cy="91440"/>
          </a:xfrm>
          <a:prstGeom prst="ellipse">
            <a:avLst/>
          </a:prstGeom>
          <a:solidFill>
            <a:srgbClr val="EF4444"/>
          </a:solidFill>
          <a:ln/>
        </p:spPr>
      </p:sp>
      <p:sp>
        <p:nvSpPr>
          <p:cNvPr id="31" name="Text 29"/>
          <p:cNvSpPr txBox="1"/>
          <p:nvPr/>
        </p:nvSpPr>
        <p:spPr>
          <a:xfrm>
            <a:off x="896112" y="3200400"/>
            <a:ext cx="1207008" cy="384048"/>
          </a:xfrm>
          <a:prstGeom prst="rect">
            <a:avLst/>
          </a:prstGeom>
          <a:noFill/>
          <a:ln/>
        </p:spPr>
        <p:txBody>
          <a:bodyPr wrap="square" lIns="0" tIns="0" rIns="0" bIns="0" rtlCol="0" anchor="ctr"/>
          <a:lstStyle/>
          <a:p>
            <a:pPr indent="0" marL="0">
              <a:buNone/>
            </a:pPr>
            <a:r>
              <a:rPr lang="en-US" sz="1200" dirty="0">
                <a:solidFill>
                  <a:srgbClr val="0A0A0A"/>
                </a:solidFill>
                <a:latin typeface="Segoe UI Semibold" pitchFamily="34" charset="0"/>
                <a:ea typeface="Segoe UI Semibold" pitchFamily="34" charset="-122"/>
                <a:cs typeface="Segoe UI Semibold" pitchFamily="34" charset="-120"/>
              </a:rPr>
              <a:t>Dibatalkan</a:t>
            </a:r>
            <a:endParaRPr lang="en-US" sz="1200" dirty="0"/>
          </a:p>
        </p:txBody>
      </p:sp>
      <p:sp>
        <p:nvSpPr>
          <p:cNvPr id="32" name="Text 30"/>
          <p:cNvSpPr txBox="1"/>
          <p:nvPr/>
        </p:nvSpPr>
        <p:spPr>
          <a:xfrm>
            <a:off x="2377440" y="3227832"/>
            <a:ext cx="7772400" cy="548640"/>
          </a:xfrm>
          <a:prstGeom prst="rect">
            <a:avLst/>
          </a:prstGeom>
          <a:noFill/>
          <a:ln/>
        </p:spPr>
        <p:txBody>
          <a:bodyPr wrap="square" lIns="0" tIns="0" rIns="0" bIns="0" rtlCol="0" anchor="t"/>
          <a:lstStyle/>
          <a:p>
            <a:pPr indent="0" marL="0">
              <a:buNone/>
            </a:pPr>
            <a:r>
              <a:rPr lang="en-US" sz="1250" dirty="0">
                <a:solidFill>
                  <a:srgbClr val="5C5C5C"/>
                </a:solidFill>
                <a:latin typeface="Segoe UI" pitchFamily="34" charset="0"/>
                <a:ea typeface="Segoe UI" pitchFamily="34" charset="-122"/>
                <a:cs typeface="Segoe UI" pitchFamily="34" charset="-120"/>
              </a:rPr>
              <a:t>Lewat batas bayar, oleh pembeli sebelum bayar, atau oleh admin (wajib alasan). Stok dan kuota promo selalu dikembalikan.</a:t>
            </a:r>
            <a:endParaRPr lang="en-US" sz="1250" dirty="0"/>
          </a:p>
        </p:txBody>
      </p:sp>
      <p:sp>
        <p:nvSpPr>
          <p:cNvPr id="33" name="Shape 31"/>
          <p:cNvSpPr/>
          <p:nvPr/>
        </p:nvSpPr>
        <p:spPr>
          <a:xfrm>
            <a:off x="548640" y="4160520"/>
            <a:ext cx="3520440" cy="1783080"/>
          </a:xfrm>
          <a:prstGeom prst="roundRect">
            <a:avLst>
              <a:gd name="adj" fmla="val 11282"/>
            </a:avLst>
          </a:prstGeom>
          <a:solidFill>
            <a:srgbClr val="F3F3F3"/>
          </a:solidFill>
          <a:ln/>
        </p:spPr>
      </p:sp>
      <p:sp>
        <p:nvSpPr>
          <p:cNvPr id="34" name="Shape 32"/>
          <p:cNvSpPr/>
          <p:nvPr/>
        </p:nvSpPr>
        <p:spPr>
          <a:xfrm>
            <a:off x="822960" y="4434840"/>
            <a:ext cx="502920" cy="502920"/>
          </a:xfrm>
          <a:prstGeom prst="ellipse">
            <a:avLst/>
          </a:prstGeom>
          <a:solidFill>
            <a:srgbClr val="0A0A0A"/>
          </a:solidFill>
          <a:ln/>
        </p:spPr>
      </p:sp>
      <p:pic>
        <p:nvPicPr>
          <p:cNvPr id="35" name="Image 0" descr="C:\laragon\www\e-commerce\scripts\ppt\aset\ikon-Ban-putih.png">    </p:cNvPr>
          <p:cNvPicPr>
            <a:picLocks noChangeAspect="1"/>
          </p:cNvPicPr>
          <p:nvPr/>
        </p:nvPicPr>
        <p:blipFill>
          <a:blip r:embed="rId1"/>
          <a:stretch>
            <a:fillRect/>
          </a:stretch>
        </p:blipFill>
        <p:spPr>
          <a:xfrm>
            <a:off x="948690" y="4560570"/>
            <a:ext cx="251460" cy="251460"/>
          </a:xfrm>
          <a:prstGeom prst="rect">
            <a:avLst/>
          </a:prstGeom>
        </p:spPr>
      </p:pic>
      <p:sp>
        <p:nvSpPr>
          <p:cNvPr id="36" name="Text 33"/>
          <p:cNvSpPr txBox="1"/>
          <p:nvPr/>
        </p:nvSpPr>
        <p:spPr>
          <a:xfrm>
            <a:off x="1463040" y="4480560"/>
            <a:ext cx="2468880" cy="329184"/>
          </a:xfrm>
          <a:prstGeom prst="rect">
            <a:avLst/>
          </a:prstGeom>
          <a:noFill/>
          <a:ln/>
        </p:spPr>
        <p:txBody>
          <a:bodyPr wrap="square" lIns="0" tIns="0" rIns="0" bIns="0" rtlCol="0" anchor="t"/>
          <a:lstStyle/>
          <a:p>
            <a:pPr indent="0" marL="0">
              <a:buNone/>
            </a:pPr>
            <a:r>
              <a:rPr lang="en-US" sz="1400" dirty="0">
                <a:solidFill>
                  <a:srgbClr val="0A0A0A"/>
                </a:solidFill>
                <a:latin typeface="Segoe UI Semibold" pitchFamily="34" charset="0"/>
                <a:ea typeface="Segoe UI Semibold" pitchFamily="34" charset="-122"/>
                <a:cs typeface="Segoe UI Semibold" pitchFamily="34" charset="-120"/>
              </a:rPr>
              <a:t>Tanpa overselling</a:t>
            </a:r>
            <a:endParaRPr lang="en-US" sz="1400" dirty="0"/>
          </a:p>
        </p:txBody>
      </p:sp>
      <p:sp>
        <p:nvSpPr>
          <p:cNvPr id="37" name="Text 34"/>
          <p:cNvSpPr txBox="1"/>
          <p:nvPr/>
        </p:nvSpPr>
        <p:spPr>
          <a:xfrm>
            <a:off x="822960" y="5074920"/>
            <a:ext cx="3017520" cy="777240"/>
          </a:xfrm>
          <a:prstGeom prst="rect">
            <a:avLst/>
          </a:prstGeom>
          <a:noFill/>
          <a:ln/>
        </p:spPr>
        <p:txBody>
          <a:bodyPr wrap="square" lIns="0" tIns="0" rIns="0" bIns="0" rtlCol="0" anchor="t"/>
          <a:lstStyle/>
          <a:p>
            <a:pPr indent="0" marL="0">
              <a:buNone/>
            </a:pPr>
            <a:r>
              <a:rPr lang="en-US" sz="1150" dirty="0">
                <a:solidFill>
                  <a:srgbClr val="5C5C5C"/>
                </a:solidFill>
                <a:latin typeface="Segoe UI" pitchFamily="34" charset="0"/>
                <a:ea typeface="Segoe UI" pitchFamily="34" charset="-122"/>
                <a:cs typeface="Segoe UI" pitchFamily="34" charset="-120"/>
              </a:rPr>
              <a:t>Stok dikurangi dalam satu transaksi, hanya jika stok cukup; diuji dua pembeli berebut stok terakhir.</a:t>
            </a:r>
            <a:endParaRPr lang="en-US" sz="1150" dirty="0"/>
          </a:p>
        </p:txBody>
      </p:sp>
      <p:sp>
        <p:nvSpPr>
          <p:cNvPr id="38" name="Shape 35"/>
          <p:cNvSpPr/>
          <p:nvPr/>
        </p:nvSpPr>
        <p:spPr>
          <a:xfrm>
            <a:off x="4343400" y="4160520"/>
            <a:ext cx="3520440" cy="1783080"/>
          </a:xfrm>
          <a:prstGeom prst="roundRect">
            <a:avLst>
              <a:gd name="adj" fmla="val 11282"/>
            </a:avLst>
          </a:prstGeom>
          <a:solidFill>
            <a:srgbClr val="F3F3F3"/>
          </a:solidFill>
          <a:ln/>
        </p:spPr>
      </p:sp>
      <p:sp>
        <p:nvSpPr>
          <p:cNvPr id="39" name="Shape 36"/>
          <p:cNvSpPr/>
          <p:nvPr/>
        </p:nvSpPr>
        <p:spPr>
          <a:xfrm>
            <a:off x="4617720" y="4434840"/>
            <a:ext cx="502920" cy="502920"/>
          </a:xfrm>
          <a:prstGeom prst="ellipse">
            <a:avLst/>
          </a:prstGeom>
          <a:solidFill>
            <a:srgbClr val="0A0A0A"/>
          </a:solidFill>
          <a:ln/>
        </p:spPr>
      </p:sp>
      <p:pic>
        <p:nvPicPr>
          <p:cNvPr id="40" name="Image 1" descr="C:\laragon\www\e-commerce\scripts\ppt\aset\ikon-Scale-putih.png">    </p:cNvPr>
          <p:cNvPicPr>
            <a:picLocks noChangeAspect="1"/>
          </p:cNvPicPr>
          <p:nvPr/>
        </p:nvPicPr>
        <p:blipFill>
          <a:blip r:embed="rId2"/>
          <a:stretch>
            <a:fillRect/>
          </a:stretch>
        </p:blipFill>
        <p:spPr>
          <a:xfrm>
            <a:off x="4743450" y="4560570"/>
            <a:ext cx="251460" cy="251460"/>
          </a:xfrm>
          <a:prstGeom prst="rect">
            <a:avLst/>
          </a:prstGeom>
        </p:spPr>
      </p:pic>
      <p:sp>
        <p:nvSpPr>
          <p:cNvPr id="41" name="Text 37"/>
          <p:cNvSpPr txBox="1"/>
          <p:nvPr/>
        </p:nvSpPr>
        <p:spPr>
          <a:xfrm>
            <a:off x="5257800" y="4480560"/>
            <a:ext cx="2468880" cy="329184"/>
          </a:xfrm>
          <a:prstGeom prst="rect">
            <a:avLst/>
          </a:prstGeom>
          <a:noFill/>
          <a:ln/>
        </p:spPr>
        <p:txBody>
          <a:bodyPr wrap="square" lIns="0" tIns="0" rIns="0" bIns="0" rtlCol="0" anchor="t"/>
          <a:lstStyle/>
          <a:p>
            <a:pPr indent="0" marL="0">
              <a:buNone/>
            </a:pPr>
            <a:r>
              <a:rPr lang="en-US" sz="1400" dirty="0">
                <a:solidFill>
                  <a:srgbClr val="0A0A0A"/>
                </a:solidFill>
                <a:latin typeface="Segoe UI Semibold" pitchFamily="34" charset="0"/>
                <a:ea typeface="Segoe UI Semibold" pitchFamily="34" charset="-122"/>
                <a:cs typeface="Segoe UI Semibold" pitchFamily="34" charset="-120"/>
              </a:rPr>
              <a:t>Harga dari server</a:t>
            </a:r>
            <a:endParaRPr lang="en-US" sz="1400" dirty="0"/>
          </a:p>
        </p:txBody>
      </p:sp>
      <p:sp>
        <p:nvSpPr>
          <p:cNvPr id="42" name="Text 38"/>
          <p:cNvSpPr txBox="1"/>
          <p:nvPr/>
        </p:nvSpPr>
        <p:spPr>
          <a:xfrm>
            <a:off x="4617720" y="5074920"/>
            <a:ext cx="3017520" cy="777240"/>
          </a:xfrm>
          <a:prstGeom prst="rect">
            <a:avLst/>
          </a:prstGeom>
          <a:noFill/>
          <a:ln/>
        </p:spPr>
        <p:txBody>
          <a:bodyPr wrap="square" lIns="0" tIns="0" rIns="0" bIns="0" rtlCol="0" anchor="t"/>
          <a:lstStyle/>
          <a:p>
            <a:pPr indent="0" marL="0">
              <a:buNone/>
            </a:pPr>
            <a:r>
              <a:rPr lang="en-US" sz="1150" dirty="0">
                <a:solidFill>
                  <a:srgbClr val="5C5C5C"/>
                </a:solidFill>
                <a:latin typeface="Segoe UI" pitchFamily="34" charset="0"/>
                <a:ea typeface="Segoe UI" pitchFamily="34" charset="-122"/>
                <a:cs typeface="Segoe UI" pitchFamily="34" charset="-120"/>
              </a:rPr>
              <a:t>Harga, berat, ongkir, dan diskon selalu dihitung ulang dari database.</a:t>
            </a:r>
            <a:endParaRPr lang="en-US" sz="1150" dirty="0"/>
          </a:p>
        </p:txBody>
      </p:sp>
      <p:sp>
        <p:nvSpPr>
          <p:cNvPr id="43" name="Shape 39"/>
          <p:cNvSpPr/>
          <p:nvPr/>
        </p:nvSpPr>
        <p:spPr>
          <a:xfrm>
            <a:off x="8138160" y="4160520"/>
            <a:ext cx="3520440" cy="1783080"/>
          </a:xfrm>
          <a:prstGeom prst="roundRect">
            <a:avLst>
              <a:gd name="adj" fmla="val 11282"/>
            </a:avLst>
          </a:prstGeom>
          <a:solidFill>
            <a:srgbClr val="F3F3F3"/>
          </a:solidFill>
          <a:ln/>
        </p:spPr>
      </p:sp>
      <p:sp>
        <p:nvSpPr>
          <p:cNvPr id="44" name="Shape 40"/>
          <p:cNvSpPr/>
          <p:nvPr/>
        </p:nvSpPr>
        <p:spPr>
          <a:xfrm>
            <a:off x="8412480" y="4434840"/>
            <a:ext cx="502920" cy="502920"/>
          </a:xfrm>
          <a:prstGeom prst="ellipse">
            <a:avLst/>
          </a:prstGeom>
          <a:solidFill>
            <a:srgbClr val="0A0A0A"/>
          </a:solidFill>
          <a:ln/>
        </p:spPr>
      </p:sp>
      <p:pic>
        <p:nvPicPr>
          <p:cNvPr id="45" name="Image 2" descr="C:\laragon\www\e-commerce\scripts\ppt\aset\ikon-ListChecks-putih.png">    </p:cNvPr>
          <p:cNvPicPr>
            <a:picLocks noChangeAspect="1"/>
          </p:cNvPicPr>
          <p:nvPr/>
        </p:nvPicPr>
        <p:blipFill>
          <a:blip r:embed="rId3"/>
          <a:stretch>
            <a:fillRect/>
          </a:stretch>
        </p:blipFill>
        <p:spPr>
          <a:xfrm>
            <a:off x="8538210" y="4560570"/>
            <a:ext cx="251460" cy="251460"/>
          </a:xfrm>
          <a:prstGeom prst="rect">
            <a:avLst/>
          </a:prstGeom>
        </p:spPr>
      </p:pic>
      <p:sp>
        <p:nvSpPr>
          <p:cNvPr id="46" name="Text 41"/>
          <p:cNvSpPr txBox="1"/>
          <p:nvPr/>
        </p:nvSpPr>
        <p:spPr>
          <a:xfrm>
            <a:off x="9052560" y="4480560"/>
            <a:ext cx="2468880" cy="329184"/>
          </a:xfrm>
          <a:prstGeom prst="rect">
            <a:avLst/>
          </a:prstGeom>
          <a:noFill/>
          <a:ln/>
        </p:spPr>
        <p:txBody>
          <a:bodyPr wrap="square" lIns="0" tIns="0" rIns="0" bIns="0" rtlCol="0" anchor="t"/>
          <a:lstStyle/>
          <a:p>
            <a:pPr indent="0" marL="0">
              <a:buNone/>
            </a:pPr>
            <a:r>
              <a:rPr lang="en-US" sz="1400" dirty="0">
                <a:solidFill>
                  <a:srgbClr val="0A0A0A"/>
                </a:solidFill>
                <a:latin typeface="Segoe UI Semibold" pitchFamily="34" charset="0"/>
                <a:ea typeface="Segoe UI Semibold" pitchFamily="34" charset="-122"/>
                <a:cs typeface="Segoe UI Semibold" pitchFamily="34" charset="-120"/>
              </a:rPr>
              <a:t>Jejak status</a:t>
            </a:r>
            <a:endParaRPr lang="en-US" sz="1400" dirty="0"/>
          </a:p>
        </p:txBody>
      </p:sp>
      <p:sp>
        <p:nvSpPr>
          <p:cNvPr id="47" name="Text 42"/>
          <p:cNvSpPr txBox="1"/>
          <p:nvPr/>
        </p:nvSpPr>
        <p:spPr>
          <a:xfrm>
            <a:off x="8412480" y="5074920"/>
            <a:ext cx="3017520" cy="777240"/>
          </a:xfrm>
          <a:prstGeom prst="rect">
            <a:avLst/>
          </a:prstGeom>
          <a:noFill/>
          <a:ln/>
        </p:spPr>
        <p:txBody>
          <a:bodyPr wrap="square" lIns="0" tIns="0" rIns="0" bIns="0" rtlCol="0" anchor="t"/>
          <a:lstStyle/>
          <a:p>
            <a:pPr indent="0" marL="0">
              <a:buNone/>
            </a:pPr>
            <a:r>
              <a:rPr lang="en-US" sz="1150" dirty="0">
                <a:solidFill>
                  <a:srgbClr val="5C5C5C"/>
                </a:solidFill>
                <a:latin typeface="Segoe UI" pitchFamily="34" charset="0"/>
                <a:ea typeface="Segoe UI" pitchFamily="34" charset="-122"/>
                <a:cs typeface="Segoe UI" pitchFamily="34" charset="-120"/>
              </a:rPr>
              <a:t>Setiap perubahan dicatat di order_status_logs untuk timeline pesanan.</a:t>
            </a:r>
            <a:endParaRPr lang="en-US" sz="1150" dirty="0"/>
          </a:p>
        </p:txBody>
      </p:sp>
      <p:sp>
        <p:nvSpPr>
          <p:cNvPr id="25" name="Slide Number Placeholder 0"/>
          <p:cNvSpPr>
            <a:spLocks noGrp="1"/>
          </p:cNvSpPr>
          <p:nvPr>
            <p:ph type="sldNum" sz="quarter" idx="4294967295"/>
          </p:nvPr>
        </p:nvSpPr>
        <p:spPr>
          <a:xfrm>
            <a:off x="11183112"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C5C5C"/>
                </a:solidFill>
                <a:latin typeface="Segoe UI"/>
                <a:ea typeface="Segoe UI"/>
                <a:cs typeface="Segoe U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548640" y="411480"/>
            <a:ext cx="1978762" cy="292608"/>
          </a:xfrm>
          <a:prstGeom prst="roundRect">
            <a:avLst>
              <a:gd name="adj" fmla="val 50000"/>
            </a:avLst>
          </a:prstGeom>
          <a:solidFill>
            <a:srgbClr val="F3F3F3"/>
          </a:solidFill>
          <a:ln/>
        </p:spPr>
      </p:sp>
      <p:sp>
        <p:nvSpPr>
          <p:cNvPr id="3" name="Text 1"/>
          <p:cNvSpPr txBox="1"/>
          <p:nvPr/>
        </p:nvSpPr>
        <p:spPr>
          <a:xfrm>
            <a:off x="548640" y="411480"/>
            <a:ext cx="1978762" cy="292608"/>
          </a:xfrm>
          <a:prstGeom prst="rect">
            <a:avLst/>
          </a:prstGeom>
          <a:noFill/>
          <a:ln/>
        </p:spPr>
        <p:txBody>
          <a:bodyPr wrap="square" lIns="0" tIns="0" rIns="0" bIns="0" rtlCol="0" anchor="ctr"/>
          <a:lstStyle/>
          <a:p>
            <a:pPr algn="ctr" indent="0" marL="0">
              <a:buNone/>
            </a:pPr>
            <a:r>
              <a:rPr lang="en-US" sz="950" spc="150" kern="0" dirty="0">
                <a:solidFill>
                  <a:srgbClr val="5C5C5C"/>
                </a:solidFill>
                <a:latin typeface="Segoe UI Semibold" pitchFamily="34" charset="0"/>
                <a:ea typeface="Segoe UI Semibold" pitchFamily="34" charset="-122"/>
                <a:cs typeface="Segoe UI Semibold" pitchFamily="34" charset="-120"/>
              </a:rPr>
              <a:t>TAMPILAN · BERANDA</a:t>
            </a:r>
            <a:endParaRPr lang="en-US" sz="950" dirty="0"/>
          </a:p>
        </p:txBody>
      </p:sp>
      <p:sp>
        <p:nvSpPr>
          <p:cNvPr id="4" name="Text 1"/>
          <p:cNvSpPr/>
          <p:nvPr>
            <p:ph idx="101" type="title" hasCustomPrompt="1"/>
          </p:nvPr>
        </p:nvSpPr>
        <p:spPr>
          <a:xfrm>
            <a:off x="548640" y="868680"/>
            <a:ext cx="11064240" cy="777240"/>
          </a:xfrm>
          <a:prstGeom prst="rect">
            <a:avLst/>
          </a:prstGeom>
          <a:noFill/>
          <a:ln/>
        </p:spPr>
        <p:txBody>
          <a:bodyPr wrap="square" lIns="0" tIns="0" rIns="0" bIns="0" rtlCol="0" anchor="t"/>
          <a:lstStyle/>
          <a:p>
            <a:pPr algn="l" indent="0" marL="0">
              <a:buNone/>
            </a:pPr>
            <a:r>
              <a:rPr lang="en-US" sz="3000" dirty="0">
                <a:solidFill>
                  <a:srgbClr val="0A0A0A"/>
                </a:solidFill>
                <a:latin typeface="Segoe UI Semibold" pitchFamily="34" charset="0"/>
                <a:ea typeface="Segoe UI Semibold" pitchFamily="34" charset="-122"/>
                <a:cs typeface="Segoe UI Semibold" pitchFamily="34" charset="-120"/>
              </a:rPr>
              <a:t>Beranda bergaya modern, nyaman di HP</a:t>
            </a:r>
            <a:endParaRPr lang="en-US" sz="3000" dirty="0"/>
          </a:p>
        </p:txBody>
      </p:sp>
      <p:pic>
        <p:nvPicPr>
          <p:cNvPr id="5" name="Image 0" descr="C:\laragon\www\e-commerce\scripts\ppt\aset\beranda.png">    </p:cNvPr>
          <p:cNvPicPr>
            <a:picLocks noChangeAspect="1"/>
          </p:cNvPicPr>
          <p:nvPr/>
        </p:nvPicPr>
        <p:blipFill>
          <a:blip r:embed="rId1"/>
          <a:stretch>
            <a:fillRect/>
          </a:stretch>
        </p:blipFill>
        <p:spPr>
          <a:xfrm>
            <a:off x="548640" y="1874520"/>
            <a:ext cx="7178040" cy="4039641"/>
          </a:xfrm>
          <a:prstGeom prst="rect">
            <a:avLst/>
          </a:prstGeom>
        </p:spPr>
      </p:pic>
      <p:sp>
        <p:nvSpPr>
          <p:cNvPr id="6" name="Shape 3"/>
          <p:cNvSpPr/>
          <p:nvPr/>
        </p:nvSpPr>
        <p:spPr>
          <a:xfrm>
            <a:off x="8046720" y="1965960"/>
            <a:ext cx="384048" cy="384048"/>
          </a:xfrm>
          <a:prstGeom prst="ellipse">
            <a:avLst/>
          </a:prstGeom>
          <a:solidFill>
            <a:srgbClr val="0A0A0A"/>
          </a:solidFill>
          <a:ln/>
        </p:spPr>
      </p:sp>
      <p:sp>
        <p:nvSpPr>
          <p:cNvPr id="7" name="Text 4"/>
          <p:cNvSpPr txBox="1"/>
          <p:nvPr/>
        </p:nvSpPr>
        <p:spPr>
          <a:xfrm>
            <a:off x="8046720" y="1965960"/>
            <a:ext cx="384048" cy="384048"/>
          </a:xfrm>
          <a:prstGeom prst="rect">
            <a:avLst/>
          </a:prstGeom>
          <a:noFill/>
          <a:ln/>
        </p:spPr>
        <p:txBody>
          <a:bodyPr wrap="square" lIns="0" tIns="0" rIns="0" bIns="0" rtlCol="0" anchor="ctr"/>
          <a:lstStyle/>
          <a:p>
            <a:pPr algn="ctr" indent="0" marL="0">
              <a:buNone/>
            </a:pPr>
            <a:r>
              <a:rPr lang="en-US" sz="1200" dirty="0">
                <a:solidFill>
                  <a:srgbClr val="FFFFFF"/>
                </a:solidFill>
                <a:latin typeface="Segoe UI Semibold" pitchFamily="34" charset="0"/>
                <a:ea typeface="Segoe UI Semibold" pitchFamily="34" charset="-122"/>
                <a:cs typeface="Segoe UI Semibold" pitchFamily="34" charset="-120"/>
              </a:rPr>
              <a:t>1</a:t>
            </a:r>
            <a:endParaRPr lang="en-US" sz="1200" dirty="0"/>
          </a:p>
        </p:txBody>
      </p:sp>
      <p:sp>
        <p:nvSpPr>
          <p:cNvPr id="8" name="Text 5"/>
          <p:cNvSpPr txBox="1"/>
          <p:nvPr/>
        </p:nvSpPr>
        <p:spPr>
          <a:xfrm>
            <a:off x="8613648" y="1947672"/>
            <a:ext cx="3044952" cy="310896"/>
          </a:xfrm>
          <a:prstGeom prst="rect">
            <a:avLst/>
          </a:prstGeom>
          <a:noFill/>
          <a:ln/>
        </p:spPr>
        <p:txBody>
          <a:bodyPr wrap="square" lIns="0" tIns="0" rIns="0" bIns="0" rtlCol="0" anchor="t"/>
          <a:lstStyle/>
          <a:p>
            <a:pPr indent="0" marL="0">
              <a:buNone/>
            </a:pPr>
            <a:r>
              <a:rPr lang="en-US" sz="1500" dirty="0">
                <a:solidFill>
                  <a:srgbClr val="0A0A0A"/>
                </a:solidFill>
                <a:latin typeface="Segoe UI Semibold" pitchFamily="34" charset="0"/>
                <a:ea typeface="Segoe UI Semibold" pitchFamily="34" charset="-122"/>
                <a:cs typeface="Segoe UI Semibold" pitchFamily="34" charset="-120"/>
              </a:rPr>
              <a:t>Hero foto penuh</a:t>
            </a:r>
            <a:endParaRPr lang="en-US" sz="1500" dirty="0"/>
          </a:p>
        </p:txBody>
      </p:sp>
      <p:sp>
        <p:nvSpPr>
          <p:cNvPr id="9" name="Text 6"/>
          <p:cNvSpPr txBox="1"/>
          <p:nvPr/>
        </p:nvSpPr>
        <p:spPr>
          <a:xfrm>
            <a:off x="8613648" y="2276856"/>
            <a:ext cx="3044952" cy="566928"/>
          </a:xfrm>
          <a:prstGeom prst="rect">
            <a:avLst/>
          </a:prstGeom>
          <a:noFill/>
          <a:ln/>
        </p:spPr>
        <p:txBody>
          <a:bodyPr wrap="square" lIns="0" tIns="0" rIns="0" bIns="0" rtlCol="0" anchor="t"/>
          <a:lstStyle/>
          <a:p>
            <a:pPr indent="0" marL="0">
              <a:buNone/>
            </a:pPr>
            <a:r>
              <a:rPr lang="en-US" sz="1200" dirty="0">
                <a:solidFill>
                  <a:srgbClr val="5C5C5C"/>
                </a:solidFill>
                <a:latin typeface="Segoe UI" pitchFamily="34" charset="0"/>
                <a:ea typeface="Segoe UI" pitchFamily="34" charset="-122"/>
                <a:cs typeface="Segoe UI" pitchFamily="34" charset="-120"/>
              </a:rPr>
              <a:t>Promo geser yang dikelola admin.</a:t>
            </a:r>
            <a:endParaRPr lang="en-US" sz="1200" dirty="0"/>
          </a:p>
        </p:txBody>
      </p:sp>
      <p:sp>
        <p:nvSpPr>
          <p:cNvPr id="10" name="Shape 7"/>
          <p:cNvSpPr/>
          <p:nvPr/>
        </p:nvSpPr>
        <p:spPr>
          <a:xfrm>
            <a:off x="8046720" y="2990088"/>
            <a:ext cx="384048" cy="384048"/>
          </a:xfrm>
          <a:prstGeom prst="ellipse">
            <a:avLst/>
          </a:prstGeom>
          <a:solidFill>
            <a:srgbClr val="0A0A0A"/>
          </a:solidFill>
          <a:ln/>
        </p:spPr>
      </p:sp>
      <p:sp>
        <p:nvSpPr>
          <p:cNvPr id="11" name="Text 8"/>
          <p:cNvSpPr txBox="1"/>
          <p:nvPr/>
        </p:nvSpPr>
        <p:spPr>
          <a:xfrm>
            <a:off x="8046720" y="2990088"/>
            <a:ext cx="384048" cy="384048"/>
          </a:xfrm>
          <a:prstGeom prst="rect">
            <a:avLst/>
          </a:prstGeom>
          <a:noFill/>
          <a:ln/>
        </p:spPr>
        <p:txBody>
          <a:bodyPr wrap="square" lIns="0" tIns="0" rIns="0" bIns="0" rtlCol="0" anchor="ctr"/>
          <a:lstStyle/>
          <a:p>
            <a:pPr algn="ctr" indent="0" marL="0">
              <a:buNone/>
            </a:pPr>
            <a:r>
              <a:rPr lang="en-US" sz="1200" dirty="0">
                <a:solidFill>
                  <a:srgbClr val="FFFFFF"/>
                </a:solidFill>
                <a:latin typeface="Segoe UI Semibold" pitchFamily="34" charset="0"/>
                <a:ea typeface="Segoe UI Semibold" pitchFamily="34" charset="-122"/>
                <a:cs typeface="Segoe UI Semibold" pitchFamily="34" charset="-120"/>
              </a:rPr>
              <a:t>2</a:t>
            </a:r>
            <a:endParaRPr lang="en-US" sz="1200" dirty="0"/>
          </a:p>
        </p:txBody>
      </p:sp>
      <p:sp>
        <p:nvSpPr>
          <p:cNvPr id="12" name="Text 9"/>
          <p:cNvSpPr txBox="1"/>
          <p:nvPr/>
        </p:nvSpPr>
        <p:spPr>
          <a:xfrm>
            <a:off x="8613648" y="2971800"/>
            <a:ext cx="3044952" cy="310896"/>
          </a:xfrm>
          <a:prstGeom prst="rect">
            <a:avLst/>
          </a:prstGeom>
          <a:noFill/>
          <a:ln/>
        </p:spPr>
        <p:txBody>
          <a:bodyPr wrap="square" lIns="0" tIns="0" rIns="0" bIns="0" rtlCol="0" anchor="t"/>
          <a:lstStyle/>
          <a:p>
            <a:pPr indent="0" marL="0">
              <a:buNone/>
            </a:pPr>
            <a:r>
              <a:rPr lang="en-US" sz="1500" dirty="0">
                <a:solidFill>
                  <a:srgbClr val="0A0A0A"/>
                </a:solidFill>
                <a:latin typeface="Segoe UI Semibold" pitchFamily="34" charset="0"/>
                <a:ea typeface="Segoe UI Semibold" pitchFamily="34" charset="-122"/>
                <a:cs typeface="Segoe UI Semibold" pitchFamily="34" charset="-120"/>
              </a:rPr>
              <a:t>Pencarian cerdas</a:t>
            </a:r>
            <a:endParaRPr lang="en-US" sz="1500" dirty="0"/>
          </a:p>
        </p:txBody>
      </p:sp>
      <p:sp>
        <p:nvSpPr>
          <p:cNvPr id="13" name="Text 10"/>
          <p:cNvSpPr txBox="1"/>
          <p:nvPr/>
        </p:nvSpPr>
        <p:spPr>
          <a:xfrm>
            <a:off x="8613648" y="3300984"/>
            <a:ext cx="3044952" cy="566928"/>
          </a:xfrm>
          <a:prstGeom prst="rect">
            <a:avLst/>
          </a:prstGeom>
          <a:noFill/>
          <a:ln/>
        </p:spPr>
        <p:txBody>
          <a:bodyPr wrap="square" lIns="0" tIns="0" rIns="0" bIns="0" rtlCol="0" anchor="t"/>
          <a:lstStyle/>
          <a:p>
            <a:pPr indent="0" marL="0">
              <a:buNone/>
            </a:pPr>
            <a:r>
              <a:rPr lang="en-US" sz="1200" dirty="0">
                <a:solidFill>
                  <a:srgbClr val="5C5C5C"/>
                </a:solidFill>
                <a:latin typeface="Segoe UI" pitchFamily="34" charset="0"/>
                <a:ea typeface="Segoe UI" pitchFamily="34" charset="-122"/>
                <a:cs typeface="Segoe UI" pitchFamily="34" charset="-120"/>
              </a:rPr>
              <a:t>Saran produk muncul setelah 2 huruf.</a:t>
            </a:r>
            <a:endParaRPr lang="en-US" sz="1200" dirty="0"/>
          </a:p>
        </p:txBody>
      </p:sp>
      <p:sp>
        <p:nvSpPr>
          <p:cNvPr id="14" name="Shape 11"/>
          <p:cNvSpPr/>
          <p:nvPr/>
        </p:nvSpPr>
        <p:spPr>
          <a:xfrm>
            <a:off x="8046720" y="4014216"/>
            <a:ext cx="384048" cy="384048"/>
          </a:xfrm>
          <a:prstGeom prst="ellipse">
            <a:avLst/>
          </a:prstGeom>
          <a:solidFill>
            <a:srgbClr val="0A0A0A"/>
          </a:solidFill>
          <a:ln/>
        </p:spPr>
      </p:sp>
      <p:sp>
        <p:nvSpPr>
          <p:cNvPr id="15" name="Text 12"/>
          <p:cNvSpPr txBox="1"/>
          <p:nvPr/>
        </p:nvSpPr>
        <p:spPr>
          <a:xfrm>
            <a:off x="8046720" y="4014216"/>
            <a:ext cx="384048" cy="384048"/>
          </a:xfrm>
          <a:prstGeom prst="rect">
            <a:avLst/>
          </a:prstGeom>
          <a:noFill/>
          <a:ln/>
        </p:spPr>
        <p:txBody>
          <a:bodyPr wrap="square" lIns="0" tIns="0" rIns="0" bIns="0" rtlCol="0" anchor="ctr"/>
          <a:lstStyle/>
          <a:p>
            <a:pPr algn="ctr" indent="0" marL="0">
              <a:buNone/>
            </a:pPr>
            <a:r>
              <a:rPr lang="en-US" sz="1200" dirty="0">
                <a:solidFill>
                  <a:srgbClr val="FFFFFF"/>
                </a:solidFill>
                <a:latin typeface="Segoe UI Semibold" pitchFamily="34" charset="0"/>
                <a:ea typeface="Segoe UI Semibold" pitchFamily="34" charset="-122"/>
                <a:cs typeface="Segoe UI Semibold" pitchFamily="34" charset="-120"/>
              </a:rPr>
              <a:t>3</a:t>
            </a:r>
            <a:endParaRPr lang="en-US" sz="1200" dirty="0"/>
          </a:p>
        </p:txBody>
      </p:sp>
      <p:sp>
        <p:nvSpPr>
          <p:cNvPr id="16" name="Text 13"/>
          <p:cNvSpPr txBox="1"/>
          <p:nvPr/>
        </p:nvSpPr>
        <p:spPr>
          <a:xfrm>
            <a:off x="8613648" y="3995928"/>
            <a:ext cx="3044952" cy="310896"/>
          </a:xfrm>
          <a:prstGeom prst="rect">
            <a:avLst/>
          </a:prstGeom>
          <a:noFill/>
          <a:ln/>
        </p:spPr>
        <p:txBody>
          <a:bodyPr wrap="square" lIns="0" tIns="0" rIns="0" bIns="0" rtlCol="0" anchor="t"/>
          <a:lstStyle/>
          <a:p>
            <a:pPr indent="0" marL="0">
              <a:buNone/>
            </a:pPr>
            <a:r>
              <a:rPr lang="en-US" sz="1500" dirty="0">
                <a:solidFill>
                  <a:srgbClr val="0A0A0A"/>
                </a:solidFill>
                <a:latin typeface="Segoe UI Semibold" pitchFamily="34" charset="0"/>
                <a:ea typeface="Segoe UI Semibold" pitchFamily="34" charset="-122"/>
                <a:cs typeface="Segoe UI Semibold" pitchFamily="34" charset="-120"/>
              </a:rPr>
              <a:t>Ubin kategori berfoto</a:t>
            </a:r>
            <a:endParaRPr lang="en-US" sz="1500" dirty="0"/>
          </a:p>
        </p:txBody>
      </p:sp>
      <p:sp>
        <p:nvSpPr>
          <p:cNvPr id="17" name="Text 14"/>
          <p:cNvSpPr txBox="1"/>
          <p:nvPr/>
        </p:nvSpPr>
        <p:spPr>
          <a:xfrm>
            <a:off x="8613648" y="4325112"/>
            <a:ext cx="3044952" cy="566928"/>
          </a:xfrm>
          <a:prstGeom prst="rect">
            <a:avLst/>
          </a:prstGeom>
          <a:noFill/>
          <a:ln/>
        </p:spPr>
        <p:txBody>
          <a:bodyPr wrap="square" lIns="0" tIns="0" rIns="0" bIns="0" rtlCol="0" anchor="t"/>
          <a:lstStyle/>
          <a:p>
            <a:pPr indent="0" marL="0">
              <a:buNone/>
            </a:pPr>
            <a:r>
              <a:rPr lang="en-US" sz="1200" dirty="0">
                <a:solidFill>
                  <a:srgbClr val="5C5C5C"/>
                </a:solidFill>
                <a:latin typeface="Segoe UI" pitchFamily="34" charset="0"/>
                <a:ea typeface="Segoe UI" pitchFamily="34" charset="-122"/>
                <a:cs typeface="Segoe UI" pitchFamily="34" charset="-120"/>
              </a:rPr>
              <a:t>Besar dan mudah disentuh.</a:t>
            </a:r>
            <a:endParaRPr lang="en-US" sz="1200" dirty="0"/>
          </a:p>
        </p:txBody>
      </p:sp>
      <p:sp>
        <p:nvSpPr>
          <p:cNvPr id="18" name="Shape 15"/>
          <p:cNvSpPr/>
          <p:nvPr/>
        </p:nvSpPr>
        <p:spPr>
          <a:xfrm>
            <a:off x="8046720" y="5038344"/>
            <a:ext cx="384048" cy="384048"/>
          </a:xfrm>
          <a:prstGeom prst="ellipse">
            <a:avLst/>
          </a:prstGeom>
          <a:solidFill>
            <a:srgbClr val="0A0A0A"/>
          </a:solidFill>
          <a:ln/>
        </p:spPr>
      </p:sp>
      <p:sp>
        <p:nvSpPr>
          <p:cNvPr id="19" name="Text 16"/>
          <p:cNvSpPr txBox="1"/>
          <p:nvPr/>
        </p:nvSpPr>
        <p:spPr>
          <a:xfrm>
            <a:off x="8046720" y="5038344"/>
            <a:ext cx="384048" cy="384048"/>
          </a:xfrm>
          <a:prstGeom prst="rect">
            <a:avLst/>
          </a:prstGeom>
          <a:noFill/>
          <a:ln/>
        </p:spPr>
        <p:txBody>
          <a:bodyPr wrap="square" lIns="0" tIns="0" rIns="0" bIns="0" rtlCol="0" anchor="ctr"/>
          <a:lstStyle/>
          <a:p>
            <a:pPr algn="ctr" indent="0" marL="0">
              <a:buNone/>
            </a:pPr>
            <a:r>
              <a:rPr lang="en-US" sz="1200" dirty="0">
                <a:solidFill>
                  <a:srgbClr val="FFFFFF"/>
                </a:solidFill>
                <a:latin typeface="Segoe UI Semibold" pitchFamily="34" charset="0"/>
                <a:ea typeface="Segoe UI Semibold" pitchFamily="34" charset="-122"/>
                <a:cs typeface="Segoe UI Semibold" pitchFamily="34" charset="-120"/>
              </a:rPr>
              <a:t>4</a:t>
            </a:r>
            <a:endParaRPr lang="en-US" sz="1200" dirty="0"/>
          </a:p>
        </p:txBody>
      </p:sp>
      <p:sp>
        <p:nvSpPr>
          <p:cNvPr id="20" name="Text 17"/>
          <p:cNvSpPr txBox="1"/>
          <p:nvPr/>
        </p:nvSpPr>
        <p:spPr>
          <a:xfrm>
            <a:off x="8613648" y="5020056"/>
            <a:ext cx="3044952" cy="310896"/>
          </a:xfrm>
          <a:prstGeom prst="rect">
            <a:avLst/>
          </a:prstGeom>
          <a:noFill/>
          <a:ln/>
        </p:spPr>
        <p:txBody>
          <a:bodyPr wrap="square" lIns="0" tIns="0" rIns="0" bIns="0" rtlCol="0" anchor="t"/>
          <a:lstStyle/>
          <a:p>
            <a:pPr indent="0" marL="0">
              <a:buNone/>
            </a:pPr>
            <a:r>
              <a:rPr lang="en-US" sz="1500" dirty="0">
                <a:solidFill>
                  <a:srgbClr val="0A0A0A"/>
                </a:solidFill>
                <a:latin typeface="Segoe UI Semibold" pitchFamily="34" charset="0"/>
                <a:ea typeface="Segoe UI Semibold" pitchFamily="34" charset="-122"/>
                <a:cs typeface="Segoe UI Semibold" pitchFamily="34" charset="-120"/>
              </a:rPr>
              <a:t>Mode terang &amp; gelap</a:t>
            </a:r>
            <a:endParaRPr lang="en-US" sz="1500" dirty="0"/>
          </a:p>
        </p:txBody>
      </p:sp>
      <p:sp>
        <p:nvSpPr>
          <p:cNvPr id="21" name="Text 18"/>
          <p:cNvSpPr txBox="1"/>
          <p:nvPr/>
        </p:nvSpPr>
        <p:spPr>
          <a:xfrm>
            <a:off x="8613648" y="5349240"/>
            <a:ext cx="3044952" cy="566928"/>
          </a:xfrm>
          <a:prstGeom prst="rect">
            <a:avLst/>
          </a:prstGeom>
          <a:noFill/>
          <a:ln/>
        </p:spPr>
        <p:txBody>
          <a:bodyPr wrap="square" lIns="0" tIns="0" rIns="0" bIns="0" rtlCol="0" anchor="t"/>
          <a:lstStyle/>
          <a:p>
            <a:pPr indent="0" marL="0">
              <a:buNone/>
            </a:pPr>
            <a:r>
              <a:rPr lang="en-US" sz="1200" dirty="0">
                <a:solidFill>
                  <a:srgbClr val="5C5C5C"/>
                </a:solidFill>
                <a:latin typeface="Segoe UI" pitchFamily="34" charset="0"/>
                <a:ea typeface="Segoe UI" pitchFamily="34" charset="-122"/>
                <a:cs typeface="Segoe UI" pitchFamily="34" charset="-120"/>
              </a:rPr>
              <a:t>Tombol bulan/matahari, tanpa kedip.</a:t>
            </a:r>
            <a:endParaRPr lang="en-US" sz="1200" dirty="0"/>
          </a:p>
        </p:txBody>
      </p:sp>
      <p:sp>
        <p:nvSpPr>
          <p:cNvPr id="25" name="Slide Number Placeholder 0"/>
          <p:cNvSpPr>
            <a:spLocks noGrp="1"/>
          </p:cNvSpPr>
          <p:nvPr>
            <p:ph type="sldNum" sz="quarter" idx="4294967295"/>
          </p:nvPr>
        </p:nvSpPr>
        <p:spPr>
          <a:xfrm>
            <a:off x="11183112"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C5C5C"/>
                </a:solidFill>
                <a:latin typeface="Segoe UI"/>
                <a:ea typeface="Segoe UI"/>
                <a:cs typeface="Segoe U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548640" y="411480"/>
            <a:ext cx="1978762" cy="292608"/>
          </a:xfrm>
          <a:prstGeom prst="roundRect">
            <a:avLst>
              <a:gd name="adj" fmla="val 50000"/>
            </a:avLst>
          </a:prstGeom>
          <a:solidFill>
            <a:srgbClr val="F3F3F3"/>
          </a:solidFill>
          <a:ln/>
        </p:spPr>
      </p:sp>
      <p:sp>
        <p:nvSpPr>
          <p:cNvPr id="3" name="Text 1"/>
          <p:cNvSpPr txBox="1"/>
          <p:nvPr/>
        </p:nvSpPr>
        <p:spPr>
          <a:xfrm>
            <a:off x="548640" y="411480"/>
            <a:ext cx="1978762" cy="292608"/>
          </a:xfrm>
          <a:prstGeom prst="rect">
            <a:avLst/>
          </a:prstGeom>
          <a:noFill/>
          <a:ln/>
        </p:spPr>
        <p:txBody>
          <a:bodyPr wrap="square" lIns="0" tIns="0" rIns="0" bIns="0" rtlCol="0" anchor="ctr"/>
          <a:lstStyle/>
          <a:p>
            <a:pPr algn="ctr" indent="0" marL="0">
              <a:buNone/>
            </a:pPr>
            <a:r>
              <a:rPr lang="en-US" sz="950" spc="150" kern="0" dirty="0">
                <a:solidFill>
                  <a:srgbClr val="5C5C5C"/>
                </a:solidFill>
                <a:latin typeface="Segoe UI Semibold" pitchFamily="34" charset="0"/>
                <a:ea typeface="Segoe UI Semibold" pitchFamily="34" charset="-122"/>
                <a:cs typeface="Segoe UI Semibold" pitchFamily="34" charset="-120"/>
              </a:rPr>
              <a:t>TAMPILAN · KATALOG</a:t>
            </a:r>
            <a:endParaRPr lang="en-US" sz="950" dirty="0"/>
          </a:p>
        </p:txBody>
      </p:sp>
      <p:sp>
        <p:nvSpPr>
          <p:cNvPr id="4" name="Text 1"/>
          <p:cNvSpPr/>
          <p:nvPr>
            <p:ph idx="101" type="title" hasCustomPrompt="1"/>
          </p:nvPr>
        </p:nvSpPr>
        <p:spPr>
          <a:xfrm>
            <a:off x="548640" y="868680"/>
            <a:ext cx="11064240" cy="777240"/>
          </a:xfrm>
          <a:prstGeom prst="rect">
            <a:avLst/>
          </a:prstGeom>
          <a:noFill/>
          <a:ln/>
        </p:spPr>
        <p:txBody>
          <a:bodyPr wrap="square" lIns="0" tIns="0" rIns="0" bIns="0" rtlCol="0" anchor="t"/>
          <a:lstStyle/>
          <a:p>
            <a:pPr algn="l" indent="0" marL="0">
              <a:buNone/>
            </a:pPr>
            <a:r>
              <a:rPr lang="en-US" sz="3000" dirty="0">
                <a:solidFill>
                  <a:srgbClr val="0A0A0A"/>
                </a:solidFill>
                <a:latin typeface="Segoe UI Semibold" pitchFamily="34" charset="0"/>
                <a:ea typeface="Segoe UI Semibold" pitchFamily="34" charset="-122"/>
                <a:cs typeface="Segoe UI Semibold" pitchFamily="34" charset="-120"/>
              </a:rPr>
              <a:t>Katalog dengan filter yang bisa dicari</a:t>
            </a:r>
            <a:endParaRPr lang="en-US" sz="3000" dirty="0"/>
          </a:p>
        </p:txBody>
      </p:sp>
      <p:pic>
        <p:nvPicPr>
          <p:cNvPr id="5" name="Image 0" descr="C:\laragon\www\e-commerce\scripts\ppt\aset\katalog.png">    </p:cNvPr>
          <p:cNvPicPr>
            <a:picLocks noChangeAspect="1"/>
          </p:cNvPicPr>
          <p:nvPr/>
        </p:nvPicPr>
        <p:blipFill>
          <a:blip r:embed="rId1"/>
          <a:stretch>
            <a:fillRect/>
          </a:stretch>
        </p:blipFill>
        <p:spPr>
          <a:xfrm>
            <a:off x="4465015" y="1874520"/>
            <a:ext cx="7178040" cy="4039641"/>
          </a:xfrm>
          <a:prstGeom prst="rect">
            <a:avLst/>
          </a:prstGeom>
        </p:spPr>
      </p:pic>
      <p:sp>
        <p:nvSpPr>
          <p:cNvPr id="6" name="Shape 3"/>
          <p:cNvSpPr/>
          <p:nvPr/>
        </p:nvSpPr>
        <p:spPr>
          <a:xfrm>
            <a:off x="548640" y="1965960"/>
            <a:ext cx="384048" cy="384048"/>
          </a:xfrm>
          <a:prstGeom prst="ellipse">
            <a:avLst/>
          </a:prstGeom>
          <a:solidFill>
            <a:srgbClr val="0A0A0A"/>
          </a:solidFill>
          <a:ln/>
        </p:spPr>
      </p:sp>
      <p:sp>
        <p:nvSpPr>
          <p:cNvPr id="7" name="Text 4"/>
          <p:cNvSpPr txBox="1"/>
          <p:nvPr/>
        </p:nvSpPr>
        <p:spPr>
          <a:xfrm>
            <a:off x="548640" y="1965960"/>
            <a:ext cx="384048" cy="384048"/>
          </a:xfrm>
          <a:prstGeom prst="rect">
            <a:avLst/>
          </a:prstGeom>
          <a:noFill/>
          <a:ln/>
        </p:spPr>
        <p:txBody>
          <a:bodyPr wrap="square" lIns="0" tIns="0" rIns="0" bIns="0" rtlCol="0" anchor="ctr"/>
          <a:lstStyle/>
          <a:p>
            <a:pPr algn="ctr" indent="0" marL="0">
              <a:buNone/>
            </a:pPr>
            <a:r>
              <a:rPr lang="en-US" sz="1200" dirty="0">
                <a:solidFill>
                  <a:srgbClr val="FFFFFF"/>
                </a:solidFill>
                <a:latin typeface="Segoe UI Semibold" pitchFamily="34" charset="0"/>
                <a:ea typeface="Segoe UI Semibold" pitchFamily="34" charset="-122"/>
                <a:cs typeface="Segoe UI Semibold" pitchFamily="34" charset="-120"/>
              </a:rPr>
              <a:t>1</a:t>
            </a:r>
            <a:endParaRPr lang="en-US" sz="1200" dirty="0"/>
          </a:p>
        </p:txBody>
      </p:sp>
      <p:sp>
        <p:nvSpPr>
          <p:cNvPr id="8" name="Text 5"/>
          <p:cNvSpPr txBox="1"/>
          <p:nvPr/>
        </p:nvSpPr>
        <p:spPr>
          <a:xfrm>
            <a:off x="1115568" y="1947672"/>
            <a:ext cx="3044952" cy="310896"/>
          </a:xfrm>
          <a:prstGeom prst="rect">
            <a:avLst/>
          </a:prstGeom>
          <a:noFill/>
          <a:ln/>
        </p:spPr>
        <p:txBody>
          <a:bodyPr wrap="square" lIns="0" tIns="0" rIns="0" bIns="0" rtlCol="0" anchor="t"/>
          <a:lstStyle/>
          <a:p>
            <a:pPr indent="0" marL="0">
              <a:buNone/>
            </a:pPr>
            <a:r>
              <a:rPr lang="en-US" sz="1500" dirty="0">
                <a:solidFill>
                  <a:srgbClr val="0A0A0A"/>
                </a:solidFill>
                <a:latin typeface="Segoe UI Semibold" pitchFamily="34" charset="0"/>
                <a:ea typeface="Segoe UI Semibold" pitchFamily="34" charset="-122"/>
                <a:cs typeface="Segoe UI Semibold" pitchFamily="34" charset="-120"/>
              </a:rPr>
              <a:t>Filter lengkap</a:t>
            </a:r>
            <a:endParaRPr lang="en-US" sz="1500" dirty="0"/>
          </a:p>
        </p:txBody>
      </p:sp>
      <p:sp>
        <p:nvSpPr>
          <p:cNvPr id="9" name="Text 6"/>
          <p:cNvSpPr txBox="1"/>
          <p:nvPr/>
        </p:nvSpPr>
        <p:spPr>
          <a:xfrm>
            <a:off x="1115568" y="2276856"/>
            <a:ext cx="3044952" cy="566928"/>
          </a:xfrm>
          <a:prstGeom prst="rect">
            <a:avLst/>
          </a:prstGeom>
          <a:noFill/>
          <a:ln/>
        </p:spPr>
        <p:txBody>
          <a:bodyPr wrap="square" lIns="0" tIns="0" rIns="0" bIns="0" rtlCol="0" anchor="t"/>
          <a:lstStyle/>
          <a:p>
            <a:pPr indent="0" marL="0">
              <a:buNone/>
            </a:pPr>
            <a:r>
              <a:rPr lang="en-US" sz="1200" dirty="0">
                <a:solidFill>
                  <a:srgbClr val="5C5C5C"/>
                </a:solidFill>
                <a:latin typeface="Segoe UI" pitchFamily="34" charset="0"/>
                <a:ea typeface="Segoe UI" pitchFamily="34" charset="-122"/>
                <a:cs typeface="Segoe UI" pitchFamily="34" charset="-120"/>
              </a:rPr>
              <a:t>Kategori, harga, rating, merek, urutan.</a:t>
            </a:r>
            <a:endParaRPr lang="en-US" sz="1200" dirty="0"/>
          </a:p>
        </p:txBody>
      </p:sp>
      <p:sp>
        <p:nvSpPr>
          <p:cNvPr id="10" name="Shape 7"/>
          <p:cNvSpPr/>
          <p:nvPr/>
        </p:nvSpPr>
        <p:spPr>
          <a:xfrm>
            <a:off x="548640" y="2990088"/>
            <a:ext cx="384048" cy="384048"/>
          </a:xfrm>
          <a:prstGeom prst="ellipse">
            <a:avLst/>
          </a:prstGeom>
          <a:solidFill>
            <a:srgbClr val="0A0A0A"/>
          </a:solidFill>
          <a:ln/>
        </p:spPr>
      </p:sp>
      <p:sp>
        <p:nvSpPr>
          <p:cNvPr id="11" name="Text 8"/>
          <p:cNvSpPr txBox="1"/>
          <p:nvPr/>
        </p:nvSpPr>
        <p:spPr>
          <a:xfrm>
            <a:off x="548640" y="2990088"/>
            <a:ext cx="384048" cy="384048"/>
          </a:xfrm>
          <a:prstGeom prst="rect">
            <a:avLst/>
          </a:prstGeom>
          <a:noFill/>
          <a:ln/>
        </p:spPr>
        <p:txBody>
          <a:bodyPr wrap="square" lIns="0" tIns="0" rIns="0" bIns="0" rtlCol="0" anchor="ctr"/>
          <a:lstStyle/>
          <a:p>
            <a:pPr algn="ctr" indent="0" marL="0">
              <a:buNone/>
            </a:pPr>
            <a:r>
              <a:rPr lang="en-US" sz="1200" dirty="0">
                <a:solidFill>
                  <a:srgbClr val="FFFFFF"/>
                </a:solidFill>
                <a:latin typeface="Segoe UI Semibold" pitchFamily="34" charset="0"/>
                <a:ea typeface="Segoe UI Semibold" pitchFamily="34" charset="-122"/>
                <a:cs typeface="Segoe UI Semibold" pitchFamily="34" charset="-120"/>
              </a:rPr>
              <a:t>2</a:t>
            </a:r>
            <a:endParaRPr lang="en-US" sz="1200" dirty="0"/>
          </a:p>
        </p:txBody>
      </p:sp>
      <p:sp>
        <p:nvSpPr>
          <p:cNvPr id="12" name="Text 9"/>
          <p:cNvSpPr txBox="1"/>
          <p:nvPr/>
        </p:nvSpPr>
        <p:spPr>
          <a:xfrm>
            <a:off x="1115568" y="2971800"/>
            <a:ext cx="3044952" cy="310896"/>
          </a:xfrm>
          <a:prstGeom prst="rect">
            <a:avLst/>
          </a:prstGeom>
          <a:noFill/>
          <a:ln/>
        </p:spPr>
        <p:txBody>
          <a:bodyPr wrap="square" lIns="0" tIns="0" rIns="0" bIns="0" rtlCol="0" anchor="t"/>
          <a:lstStyle/>
          <a:p>
            <a:pPr indent="0" marL="0">
              <a:buNone/>
            </a:pPr>
            <a:r>
              <a:rPr lang="en-US" sz="1500" dirty="0">
                <a:solidFill>
                  <a:srgbClr val="0A0A0A"/>
                </a:solidFill>
                <a:latin typeface="Segoe UI Semibold" pitchFamily="34" charset="0"/>
                <a:ea typeface="Segoe UI Semibold" pitchFamily="34" charset="-122"/>
                <a:cs typeface="Segoe UI Semibold" pitchFamily="34" charset="-120"/>
              </a:rPr>
              <a:t>Pilihan bisa dicari</a:t>
            </a:r>
            <a:endParaRPr lang="en-US" sz="1500" dirty="0"/>
          </a:p>
        </p:txBody>
      </p:sp>
      <p:sp>
        <p:nvSpPr>
          <p:cNvPr id="13" name="Text 10"/>
          <p:cNvSpPr txBox="1"/>
          <p:nvPr/>
        </p:nvSpPr>
        <p:spPr>
          <a:xfrm>
            <a:off x="1115568" y="3300984"/>
            <a:ext cx="3044952" cy="566928"/>
          </a:xfrm>
          <a:prstGeom prst="rect">
            <a:avLst/>
          </a:prstGeom>
          <a:noFill/>
          <a:ln/>
        </p:spPr>
        <p:txBody>
          <a:bodyPr wrap="square" lIns="0" tIns="0" rIns="0" bIns="0" rtlCol="0" anchor="t"/>
          <a:lstStyle/>
          <a:p>
            <a:pPr indent="0" marL="0">
              <a:buNone/>
            </a:pPr>
            <a:r>
              <a:rPr lang="en-US" sz="1200" dirty="0">
                <a:solidFill>
                  <a:srgbClr val="5C5C5C"/>
                </a:solidFill>
                <a:latin typeface="Segoe UI" pitchFamily="34" charset="0"/>
                <a:ea typeface="Segoe UI" pitchFamily="34" charset="-122"/>
                <a:cs typeface="Segoe UI" pitchFamily="34" charset="-120"/>
              </a:rPr>
              <a:t>Ketik "fa" → Fashion Pria/Wanita.</a:t>
            </a:r>
            <a:endParaRPr lang="en-US" sz="1200" dirty="0"/>
          </a:p>
        </p:txBody>
      </p:sp>
      <p:sp>
        <p:nvSpPr>
          <p:cNvPr id="14" name="Shape 11"/>
          <p:cNvSpPr/>
          <p:nvPr/>
        </p:nvSpPr>
        <p:spPr>
          <a:xfrm>
            <a:off x="548640" y="4014216"/>
            <a:ext cx="384048" cy="384048"/>
          </a:xfrm>
          <a:prstGeom prst="ellipse">
            <a:avLst/>
          </a:prstGeom>
          <a:solidFill>
            <a:srgbClr val="0A0A0A"/>
          </a:solidFill>
          <a:ln/>
        </p:spPr>
      </p:sp>
      <p:sp>
        <p:nvSpPr>
          <p:cNvPr id="15" name="Text 12"/>
          <p:cNvSpPr txBox="1"/>
          <p:nvPr/>
        </p:nvSpPr>
        <p:spPr>
          <a:xfrm>
            <a:off x="548640" y="4014216"/>
            <a:ext cx="384048" cy="384048"/>
          </a:xfrm>
          <a:prstGeom prst="rect">
            <a:avLst/>
          </a:prstGeom>
          <a:noFill/>
          <a:ln/>
        </p:spPr>
        <p:txBody>
          <a:bodyPr wrap="square" lIns="0" tIns="0" rIns="0" bIns="0" rtlCol="0" anchor="ctr"/>
          <a:lstStyle/>
          <a:p>
            <a:pPr algn="ctr" indent="0" marL="0">
              <a:buNone/>
            </a:pPr>
            <a:r>
              <a:rPr lang="en-US" sz="1200" dirty="0">
                <a:solidFill>
                  <a:srgbClr val="FFFFFF"/>
                </a:solidFill>
                <a:latin typeface="Segoe UI Semibold" pitchFamily="34" charset="0"/>
                <a:ea typeface="Segoe UI Semibold" pitchFamily="34" charset="-122"/>
                <a:cs typeface="Segoe UI Semibold" pitchFamily="34" charset="-120"/>
              </a:rPr>
              <a:t>3</a:t>
            </a:r>
            <a:endParaRPr lang="en-US" sz="1200" dirty="0"/>
          </a:p>
        </p:txBody>
      </p:sp>
      <p:sp>
        <p:nvSpPr>
          <p:cNvPr id="16" name="Text 13"/>
          <p:cNvSpPr txBox="1"/>
          <p:nvPr/>
        </p:nvSpPr>
        <p:spPr>
          <a:xfrm>
            <a:off x="1115568" y="3995928"/>
            <a:ext cx="3044952" cy="310896"/>
          </a:xfrm>
          <a:prstGeom prst="rect">
            <a:avLst/>
          </a:prstGeom>
          <a:noFill/>
          <a:ln/>
        </p:spPr>
        <p:txBody>
          <a:bodyPr wrap="square" lIns="0" tIns="0" rIns="0" bIns="0" rtlCol="0" anchor="t"/>
          <a:lstStyle/>
          <a:p>
            <a:pPr indent="0" marL="0">
              <a:buNone/>
            </a:pPr>
            <a:r>
              <a:rPr lang="en-US" sz="1500" dirty="0">
                <a:solidFill>
                  <a:srgbClr val="0A0A0A"/>
                </a:solidFill>
                <a:latin typeface="Segoe UI Semibold" pitchFamily="34" charset="0"/>
                <a:ea typeface="Segoe UI Semibold" pitchFamily="34" charset="-122"/>
                <a:cs typeface="Segoe UI Semibold" pitchFamily="34" charset="-120"/>
              </a:rPr>
              <a:t>Kartu produk bersih</a:t>
            </a:r>
            <a:endParaRPr lang="en-US" sz="1500" dirty="0"/>
          </a:p>
        </p:txBody>
      </p:sp>
      <p:sp>
        <p:nvSpPr>
          <p:cNvPr id="17" name="Text 14"/>
          <p:cNvSpPr txBox="1"/>
          <p:nvPr/>
        </p:nvSpPr>
        <p:spPr>
          <a:xfrm>
            <a:off x="1115568" y="4325112"/>
            <a:ext cx="3044952" cy="566928"/>
          </a:xfrm>
          <a:prstGeom prst="rect">
            <a:avLst/>
          </a:prstGeom>
          <a:noFill/>
          <a:ln/>
        </p:spPr>
        <p:txBody>
          <a:bodyPr wrap="square" lIns="0" tIns="0" rIns="0" bIns="0" rtlCol="0" anchor="t"/>
          <a:lstStyle/>
          <a:p>
            <a:pPr indent="0" marL="0">
              <a:buNone/>
            </a:pPr>
            <a:r>
              <a:rPr lang="en-US" sz="1200" dirty="0">
                <a:solidFill>
                  <a:srgbClr val="5C5C5C"/>
                </a:solidFill>
                <a:latin typeface="Segoe UI" pitchFamily="34" charset="0"/>
                <a:ea typeface="Segoe UI" pitchFamily="34" charset="-122"/>
                <a:cs typeface="Segoe UI" pitchFamily="34" charset="-120"/>
              </a:rPr>
              <a:t>Label diskon, rating, harga coret.</a:t>
            </a:r>
            <a:endParaRPr lang="en-US" sz="1200" dirty="0"/>
          </a:p>
        </p:txBody>
      </p:sp>
      <p:sp>
        <p:nvSpPr>
          <p:cNvPr id="18" name="Shape 15"/>
          <p:cNvSpPr/>
          <p:nvPr/>
        </p:nvSpPr>
        <p:spPr>
          <a:xfrm>
            <a:off x="548640" y="5038344"/>
            <a:ext cx="384048" cy="384048"/>
          </a:xfrm>
          <a:prstGeom prst="ellipse">
            <a:avLst/>
          </a:prstGeom>
          <a:solidFill>
            <a:srgbClr val="0A0A0A"/>
          </a:solidFill>
          <a:ln/>
        </p:spPr>
      </p:sp>
      <p:sp>
        <p:nvSpPr>
          <p:cNvPr id="19" name="Text 16"/>
          <p:cNvSpPr txBox="1"/>
          <p:nvPr/>
        </p:nvSpPr>
        <p:spPr>
          <a:xfrm>
            <a:off x="548640" y="5038344"/>
            <a:ext cx="384048" cy="384048"/>
          </a:xfrm>
          <a:prstGeom prst="rect">
            <a:avLst/>
          </a:prstGeom>
          <a:noFill/>
          <a:ln/>
        </p:spPr>
        <p:txBody>
          <a:bodyPr wrap="square" lIns="0" tIns="0" rIns="0" bIns="0" rtlCol="0" anchor="ctr"/>
          <a:lstStyle/>
          <a:p>
            <a:pPr algn="ctr" indent="0" marL="0">
              <a:buNone/>
            </a:pPr>
            <a:r>
              <a:rPr lang="en-US" sz="1200" dirty="0">
                <a:solidFill>
                  <a:srgbClr val="FFFFFF"/>
                </a:solidFill>
                <a:latin typeface="Segoe UI Semibold" pitchFamily="34" charset="0"/>
                <a:ea typeface="Segoe UI Semibold" pitchFamily="34" charset="-122"/>
                <a:cs typeface="Segoe UI Semibold" pitchFamily="34" charset="-120"/>
              </a:rPr>
              <a:t>4</a:t>
            </a:r>
            <a:endParaRPr lang="en-US" sz="1200" dirty="0"/>
          </a:p>
        </p:txBody>
      </p:sp>
      <p:sp>
        <p:nvSpPr>
          <p:cNvPr id="20" name="Text 17"/>
          <p:cNvSpPr txBox="1"/>
          <p:nvPr/>
        </p:nvSpPr>
        <p:spPr>
          <a:xfrm>
            <a:off x="1115568" y="5020056"/>
            <a:ext cx="3044952" cy="310896"/>
          </a:xfrm>
          <a:prstGeom prst="rect">
            <a:avLst/>
          </a:prstGeom>
          <a:noFill/>
          <a:ln/>
        </p:spPr>
        <p:txBody>
          <a:bodyPr wrap="square" lIns="0" tIns="0" rIns="0" bIns="0" rtlCol="0" anchor="t"/>
          <a:lstStyle/>
          <a:p>
            <a:pPr indent="0" marL="0">
              <a:buNone/>
            </a:pPr>
            <a:r>
              <a:rPr lang="en-US" sz="1500" dirty="0">
                <a:solidFill>
                  <a:srgbClr val="0A0A0A"/>
                </a:solidFill>
                <a:latin typeface="Segoe UI Semibold" pitchFamily="34" charset="0"/>
                <a:ea typeface="Segoe UI Semibold" pitchFamily="34" charset="-122"/>
                <a:cs typeface="Segoe UI Semibold" pitchFamily="34" charset="-120"/>
              </a:rPr>
              <a:t>Grid atau daftar</a:t>
            </a:r>
            <a:endParaRPr lang="en-US" sz="1500" dirty="0"/>
          </a:p>
        </p:txBody>
      </p:sp>
      <p:sp>
        <p:nvSpPr>
          <p:cNvPr id="21" name="Text 18"/>
          <p:cNvSpPr txBox="1"/>
          <p:nvPr/>
        </p:nvSpPr>
        <p:spPr>
          <a:xfrm>
            <a:off x="1115568" y="5349240"/>
            <a:ext cx="3044952" cy="566928"/>
          </a:xfrm>
          <a:prstGeom prst="rect">
            <a:avLst/>
          </a:prstGeom>
          <a:noFill/>
          <a:ln/>
        </p:spPr>
        <p:txBody>
          <a:bodyPr wrap="square" lIns="0" tIns="0" rIns="0" bIns="0" rtlCol="0" anchor="t"/>
          <a:lstStyle/>
          <a:p>
            <a:pPr indent="0" marL="0">
              <a:buNone/>
            </a:pPr>
            <a:r>
              <a:rPr lang="en-US" sz="1200" dirty="0">
                <a:solidFill>
                  <a:srgbClr val="5C5C5C"/>
                </a:solidFill>
                <a:latin typeface="Segoe UI" pitchFamily="34" charset="0"/>
                <a:ea typeface="Segoe UI" pitchFamily="34" charset="-122"/>
                <a:cs typeface="Segoe UI" pitchFamily="34" charset="-120"/>
              </a:rPr>
              <a:t>Dengan pagination dan hasil kosong.</a:t>
            </a:r>
            <a:endParaRPr lang="en-US" sz="1200" dirty="0"/>
          </a:p>
        </p:txBody>
      </p:sp>
      <p:sp>
        <p:nvSpPr>
          <p:cNvPr id="25" name="Slide Number Placeholder 0"/>
          <p:cNvSpPr>
            <a:spLocks noGrp="1"/>
          </p:cNvSpPr>
          <p:nvPr>
            <p:ph type="sldNum" sz="quarter" idx="4294967295"/>
          </p:nvPr>
        </p:nvSpPr>
        <p:spPr>
          <a:xfrm>
            <a:off x="11183112"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C5C5C"/>
                </a:solidFill>
                <a:latin typeface="Segoe UI"/>
                <a:ea typeface="Segoe UI"/>
                <a:cs typeface="Segoe U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548640" y="411480"/>
            <a:ext cx="2516429" cy="292608"/>
          </a:xfrm>
          <a:prstGeom prst="roundRect">
            <a:avLst>
              <a:gd name="adj" fmla="val 50000"/>
            </a:avLst>
          </a:prstGeom>
          <a:solidFill>
            <a:srgbClr val="F3F3F3"/>
          </a:solidFill>
          <a:ln/>
        </p:spPr>
      </p:sp>
      <p:sp>
        <p:nvSpPr>
          <p:cNvPr id="3" name="Text 1"/>
          <p:cNvSpPr txBox="1"/>
          <p:nvPr/>
        </p:nvSpPr>
        <p:spPr>
          <a:xfrm>
            <a:off x="548640" y="411480"/>
            <a:ext cx="2516429" cy="292608"/>
          </a:xfrm>
          <a:prstGeom prst="rect">
            <a:avLst/>
          </a:prstGeom>
          <a:noFill/>
          <a:ln/>
        </p:spPr>
        <p:txBody>
          <a:bodyPr wrap="square" lIns="0" tIns="0" rIns="0" bIns="0" rtlCol="0" anchor="ctr"/>
          <a:lstStyle/>
          <a:p>
            <a:pPr algn="ctr" indent="0" marL="0">
              <a:buNone/>
            </a:pPr>
            <a:r>
              <a:rPr lang="en-US" sz="950" spc="150" kern="0" dirty="0">
                <a:solidFill>
                  <a:srgbClr val="5C5C5C"/>
                </a:solidFill>
                <a:latin typeface="Segoe UI Semibold" pitchFamily="34" charset="0"/>
                <a:ea typeface="Segoe UI Semibold" pitchFamily="34" charset="-122"/>
                <a:cs typeface="Segoe UI Semibold" pitchFamily="34" charset="-120"/>
              </a:rPr>
              <a:t>TAMPILAN · DETAIL PRODUK</a:t>
            </a:r>
            <a:endParaRPr lang="en-US" sz="950" dirty="0"/>
          </a:p>
        </p:txBody>
      </p:sp>
      <p:sp>
        <p:nvSpPr>
          <p:cNvPr id="4" name="Text 1"/>
          <p:cNvSpPr/>
          <p:nvPr>
            <p:ph idx="101" type="title" hasCustomPrompt="1"/>
          </p:nvPr>
        </p:nvSpPr>
        <p:spPr>
          <a:xfrm>
            <a:off x="548640" y="868680"/>
            <a:ext cx="11064240" cy="777240"/>
          </a:xfrm>
          <a:prstGeom prst="rect">
            <a:avLst/>
          </a:prstGeom>
          <a:noFill/>
          <a:ln/>
        </p:spPr>
        <p:txBody>
          <a:bodyPr wrap="square" lIns="0" tIns="0" rIns="0" bIns="0" rtlCol="0" anchor="t"/>
          <a:lstStyle/>
          <a:p>
            <a:pPr algn="l" indent="0" marL="0">
              <a:buNone/>
            </a:pPr>
            <a:r>
              <a:rPr lang="en-US" sz="3000" dirty="0">
                <a:solidFill>
                  <a:srgbClr val="0A0A0A"/>
                </a:solidFill>
                <a:latin typeface="Segoe UI Semibold" pitchFamily="34" charset="0"/>
                <a:ea typeface="Segoe UI Semibold" pitchFamily="34" charset="-122"/>
                <a:cs typeface="Segoe UI Semibold" pitchFamily="34" charset="-120"/>
              </a:rPr>
              <a:t>Detail produk yang transparan</a:t>
            </a:r>
            <a:endParaRPr lang="en-US" sz="3000" dirty="0"/>
          </a:p>
        </p:txBody>
      </p:sp>
      <p:pic>
        <p:nvPicPr>
          <p:cNvPr id="5" name="Image 0" descr="C:\laragon\www\e-commerce\scripts\ppt\aset\detail.png">    </p:cNvPr>
          <p:cNvPicPr>
            <a:picLocks noChangeAspect="1"/>
          </p:cNvPicPr>
          <p:nvPr/>
        </p:nvPicPr>
        <p:blipFill>
          <a:blip r:embed="rId1"/>
          <a:stretch>
            <a:fillRect/>
          </a:stretch>
        </p:blipFill>
        <p:spPr>
          <a:xfrm>
            <a:off x="548640" y="1874520"/>
            <a:ext cx="7178040" cy="4039641"/>
          </a:xfrm>
          <a:prstGeom prst="rect">
            <a:avLst/>
          </a:prstGeom>
        </p:spPr>
      </p:pic>
      <p:sp>
        <p:nvSpPr>
          <p:cNvPr id="6" name="Shape 3"/>
          <p:cNvSpPr/>
          <p:nvPr/>
        </p:nvSpPr>
        <p:spPr>
          <a:xfrm>
            <a:off x="8046720" y="1965960"/>
            <a:ext cx="384048" cy="384048"/>
          </a:xfrm>
          <a:prstGeom prst="ellipse">
            <a:avLst/>
          </a:prstGeom>
          <a:solidFill>
            <a:srgbClr val="0A0A0A"/>
          </a:solidFill>
          <a:ln/>
        </p:spPr>
      </p:sp>
      <p:sp>
        <p:nvSpPr>
          <p:cNvPr id="7" name="Text 4"/>
          <p:cNvSpPr txBox="1"/>
          <p:nvPr/>
        </p:nvSpPr>
        <p:spPr>
          <a:xfrm>
            <a:off x="8046720" y="1965960"/>
            <a:ext cx="384048" cy="384048"/>
          </a:xfrm>
          <a:prstGeom prst="rect">
            <a:avLst/>
          </a:prstGeom>
          <a:noFill/>
          <a:ln/>
        </p:spPr>
        <p:txBody>
          <a:bodyPr wrap="square" lIns="0" tIns="0" rIns="0" bIns="0" rtlCol="0" anchor="ctr"/>
          <a:lstStyle/>
          <a:p>
            <a:pPr algn="ctr" indent="0" marL="0">
              <a:buNone/>
            </a:pPr>
            <a:r>
              <a:rPr lang="en-US" sz="1200" dirty="0">
                <a:solidFill>
                  <a:srgbClr val="FFFFFF"/>
                </a:solidFill>
                <a:latin typeface="Segoe UI Semibold" pitchFamily="34" charset="0"/>
                <a:ea typeface="Segoe UI Semibold" pitchFamily="34" charset="-122"/>
                <a:cs typeface="Segoe UI Semibold" pitchFamily="34" charset="-120"/>
              </a:rPr>
              <a:t>1</a:t>
            </a:r>
            <a:endParaRPr lang="en-US" sz="1200" dirty="0"/>
          </a:p>
        </p:txBody>
      </p:sp>
      <p:sp>
        <p:nvSpPr>
          <p:cNvPr id="8" name="Text 5"/>
          <p:cNvSpPr txBox="1"/>
          <p:nvPr/>
        </p:nvSpPr>
        <p:spPr>
          <a:xfrm>
            <a:off x="8613648" y="1947672"/>
            <a:ext cx="3044952" cy="310896"/>
          </a:xfrm>
          <a:prstGeom prst="rect">
            <a:avLst/>
          </a:prstGeom>
          <a:noFill/>
          <a:ln/>
        </p:spPr>
        <p:txBody>
          <a:bodyPr wrap="square" lIns="0" tIns="0" rIns="0" bIns="0" rtlCol="0" anchor="t"/>
          <a:lstStyle/>
          <a:p>
            <a:pPr indent="0" marL="0">
              <a:buNone/>
            </a:pPr>
            <a:r>
              <a:rPr lang="en-US" sz="1500" dirty="0">
                <a:solidFill>
                  <a:srgbClr val="0A0A0A"/>
                </a:solidFill>
                <a:latin typeface="Segoe UI Semibold" pitchFamily="34" charset="0"/>
                <a:ea typeface="Segoe UI Semibold" pitchFamily="34" charset="-122"/>
                <a:cs typeface="Segoe UI Semibold" pitchFamily="34" charset="-120"/>
              </a:rPr>
              <a:t>Galeri zoom</a:t>
            </a:r>
            <a:endParaRPr lang="en-US" sz="1500" dirty="0"/>
          </a:p>
        </p:txBody>
      </p:sp>
      <p:sp>
        <p:nvSpPr>
          <p:cNvPr id="9" name="Text 6"/>
          <p:cNvSpPr txBox="1"/>
          <p:nvPr/>
        </p:nvSpPr>
        <p:spPr>
          <a:xfrm>
            <a:off x="8613648" y="2276856"/>
            <a:ext cx="3044952" cy="566928"/>
          </a:xfrm>
          <a:prstGeom prst="rect">
            <a:avLst/>
          </a:prstGeom>
          <a:noFill/>
          <a:ln/>
        </p:spPr>
        <p:txBody>
          <a:bodyPr wrap="square" lIns="0" tIns="0" rIns="0" bIns="0" rtlCol="0" anchor="t"/>
          <a:lstStyle/>
          <a:p>
            <a:pPr indent="0" marL="0">
              <a:buNone/>
            </a:pPr>
            <a:r>
              <a:rPr lang="en-US" sz="1200" dirty="0">
                <a:solidFill>
                  <a:srgbClr val="5C5C5C"/>
                </a:solidFill>
                <a:latin typeface="Segoe UI" pitchFamily="34" charset="0"/>
                <a:ea typeface="Segoe UI" pitchFamily="34" charset="-122"/>
                <a:cs typeface="Segoe UI" pitchFamily="34" charset="-120"/>
              </a:rPr>
              <a:t>Foto dari beberapa sudut, bisa diperbesar.</a:t>
            </a:r>
            <a:endParaRPr lang="en-US" sz="1200" dirty="0"/>
          </a:p>
        </p:txBody>
      </p:sp>
      <p:sp>
        <p:nvSpPr>
          <p:cNvPr id="10" name="Shape 7"/>
          <p:cNvSpPr/>
          <p:nvPr/>
        </p:nvSpPr>
        <p:spPr>
          <a:xfrm>
            <a:off x="8046720" y="2990088"/>
            <a:ext cx="384048" cy="384048"/>
          </a:xfrm>
          <a:prstGeom prst="ellipse">
            <a:avLst/>
          </a:prstGeom>
          <a:solidFill>
            <a:srgbClr val="0A0A0A"/>
          </a:solidFill>
          <a:ln/>
        </p:spPr>
      </p:sp>
      <p:sp>
        <p:nvSpPr>
          <p:cNvPr id="11" name="Text 8"/>
          <p:cNvSpPr txBox="1"/>
          <p:nvPr/>
        </p:nvSpPr>
        <p:spPr>
          <a:xfrm>
            <a:off x="8046720" y="2990088"/>
            <a:ext cx="384048" cy="384048"/>
          </a:xfrm>
          <a:prstGeom prst="rect">
            <a:avLst/>
          </a:prstGeom>
          <a:noFill/>
          <a:ln/>
        </p:spPr>
        <p:txBody>
          <a:bodyPr wrap="square" lIns="0" tIns="0" rIns="0" bIns="0" rtlCol="0" anchor="ctr"/>
          <a:lstStyle/>
          <a:p>
            <a:pPr algn="ctr" indent="0" marL="0">
              <a:buNone/>
            </a:pPr>
            <a:r>
              <a:rPr lang="en-US" sz="1200" dirty="0">
                <a:solidFill>
                  <a:srgbClr val="FFFFFF"/>
                </a:solidFill>
                <a:latin typeface="Segoe UI Semibold" pitchFamily="34" charset="0"/>
                <a:ea typeface="Segoe UI Semibold" pitchFamily="34" charset="-122"/>
                <a:cs typeface="Segoe UI Semibold" pitchFamily="34" charset="-120"/>
              </a:rPr>
              <a:t>2</a:t>
            </a:r>
            <a:endParaRPr lang="en-US" sz="1200" dirty="0"/>
          </a:p>
        </p:txBody>
      </p:sp>
      <p:sp>
        <p:nvSpPr>
          <p:cNvPr id="12" name="Text 9"/>
          <p:cNvSpPr txBox="1"/>
          <p:nvPr/>
        </p:nvSpPr>
        <p:spPr>
          <a:xfrm>
            <a:off x="8613648" y="2971800"/>
            <a:ext cx="3044952" cy="310896"/>
          </a:xfrm>
          <a:prstGeom prst="rect">
            <a:avLst/>
          </a:prstGeom>
          <a:noFill/>
          <a:ln/>
        </p:spPr>
        <p:txBody>
          <a:bodyPr wrap="square" lIns="0" tIns="0" rIns="0" bIns="0" rtlCol="0" anchor="t"/>
          <a:lstStyle/>
          <a:p>
            <a:pPr indent="0" marL="0">
              <a:buNone/>
            </a:pPr>
            <a:r>
              <a:rPr lang="en-US" sz="1500" dirty="0">
                <a:solidFill>
                  <a:srgbClr val="0A0A0A"/>
                </a:solidFill>
                <a:latin typeface="Segoe UI Semibold" pitchFamily="34" charset="0"/>
                <a:ea typeface="Segoe UI Semibold" pitchFamily="34" charset="-122"/>
                <a:cs typeface="Segoe UI Semibold" pitchFamily="34" charset="-120"/>
              </a:rPr>
              <a:t>Varian interaktif</a:t>
            </a:r>
            <a:endParaRPr lang="en-US" sz="1500" dirty="0"/>
          </a:p>
        </p:txBody>
      </p:sp>
      <p:sp>
        <p:nvSpPr>
          <p:cNvPr id="13" name="Text 10"/>
          <p:cNvSpPr txBox="1"/>
          <p:nvPr/>
        </p:nvSpPr>
        <p:spPr>
          <a:xfrm>
            <a:off x="8613648" y="3300984"/>
            <a:ext cx="3044952" cy="566928"/>
          </a:xfrm>
          <a:prstGeom prst="rect">
            <a:avLst/>
          </a:prstGeom>
          <a:noFill/>
          <a:ln/>
        </p:spPr>
        <p:txBody>
          <a:bodyPr wrap="square" lIns="0" tIns="0" rIns="0" bIns="0" rtlCol="0" anchor="t"/>
          <a:lstStyle/>
          <a:p>
            <a:pPr indent="0" marL="0">
              <a:buNone/>
            </a:pPr>
            <a:r>
              <a:rPr lang="en-US" sz="1200" dirty="0">
                <a:solidFill>
                  <a:srgbClr val="5C5C5C"/>
                </a:solidFill>
                <a:latin typeface="Segoe UI" pitchFamily="34" charset="0"/>
                <a:ea typeface="Segoe UI" pitchFamily="34" charset="-122"/>
                <a:cs typeface="Segoe UI" pitchFamily="34" charset="-120"/>
              </a:rPr>
              <a:t>Stok ikut berubah; varian habis terkunci.</a:t>
            </a:r>
            <a:endParaRPr lang="en-US" sz="1200" dirty="0"/>
          </a:p>
        </p:txBody>
      </p:sp>
      <p:sp>
        <p:nvSpPr>
          <p:cNvPr id="14" name="Shape 11"/>
          <p:cNvSpPr/>
          <p:nvPr/>
        </p:nvSpPr>
        <p:spPr>
          <a:xfrm>
            <a:off x="8046720" y="4014216"/>
            <a:ext cx="384048" cy="384048"/>
          </a:xfrm>
          <a:prstGeom prst="ellipse">
            <a:avLst/>
          </a:prstGeom>
          <a:solidFill>
            <a:srgbClr val="0A0A0A"/>
          </a:solidFill>
          <a:ln/>
        </p:spPr>
      </p:sp>
      <p:sp>
        <p:nvSpPr>
          <p:cNvPr id="15" name="Text 12"/>
          <p:cNvSpPr txBox="1"/>
          <p:nvPr/>
        </p:nvSpPr>
        <p:spPr>
          <a:xfrm>
            <a:off x="8046720" y="4014216"/>
            <a:ext cx="384048" cy="384048"/>
          </a:xfrm>
          <a:prstGeom prst="rect">
            <a:avLst/>
          </a:prstGeom>
          <a:noFill/>
          <a:ln/>
        </p:spPr>
        <p:txBody>
          <a:bodyPr wrap="square" lIns="0" tIns="0" rIns="0" bIns="0" rtlCol="0" anchor="ctr"/>
          <a:lstStyle/>
          <a:p>
            <a:pPr algn="ctr" indent="0" marL="0">
              <a:buNone/>
            </a:pPr>
            <a:r>
              <a:rPr lang="en-US" sz="1200" dirty="0">
                <a:solidFill>
                  <a:srgbClr val="FFFFFF"/>
                </a:solidFill>
                <a:latin typeface="Segoe UI Semibold" pitchFamily="34" charset="0"/>
                <a:ea typeface="Segoe UI Semibold" pitchFamily="34" charset="-122"/>
                <a:cs typeface="Segoe UI Semibold" pitchFamily="34" charset="-120"/>
              </a:rPr>
              <a:t>3</a:t>
            </a:r>
            <a:endParaRPr lang="en-US" sz="1200" dirty="0"/>
          </a:p>
        </p:txBody>
      </p:sp>
      <p:sp>
        <p:nvSpPr>
          <p:cNvPr id="16" name="Text 13"/>
          <p:cNvSpPr txBox="1"/>
          <p:nvPr/>
        </p:nvSpPr>
        <p:spPr>
          <a:xfrm>
            <a:off x="8613648" y="3995928"/>
            <a:ext cx="3044952" cy="310896"/>
          </a:xfrm>
          <a:prstGeom prst="rect">
            <a:avLst/>
          </a:prstGeom>
          <a:noFill/>
          <a:ln/>
        </p:spPr>
        <p:txBody>
          <a:bodyPr wrap="square" lIns="0" tIns="0" rIns="0" bIns="0" rtlCol="0" anchor="t"/>
          <a:lstStyle/>
          <a:p>
            <a:pPr indent="0" marL="0">
              <a:buNone/>
            </a:pPr>
            <a:r>
              <a:rPr lang="en-US" sz="1500" dirty="0">
                <a:solidFill>
                  <a:srgbClr val="0A0A0A"/>
                </a:solidFill>
                <a:latin typeface="Segoe UI Semibold" pitchFamily="34" charset="0"/>
                <a:ea typeface="Segoe UI Semibold" pitchFamily="34" charset="-122"/>
                <a:cs typeface="Segoe UI Semibold" pitchFamily="34" charset="-120"/>
              </a:rPr>
              <a:t>Harga jelas</a:t>
            </a:r>
            <a:endParaRPr lang="en-US" sz="1500" dirty="0"/>
          </a:p>
        </p:txBody>
      </p:sp>
      <p:sp>
        <p:nvSpPr>
          <p:cNvPr id="17" name="Text 14"/>
          <p:cNvSpPr txBox="1"/>
          <p:nvPr/>
        </p:nvSpPr>
        <p:spPr>
          <a:xfrm>
            <a:off x="8613648" y="4325112"/>
            <a:ext cx="3044952" cy="566928"/>
          </a:xfrm>
          <a:prstGeom prst="rect">
            <a:avLst/>
          </a:prstGeom>
          <a:noFill/>
          <a:ln/>
        </p:spPr>
        <p:txBody>
          <a:bodyPr wrap="square" lIns="0" tIns="0" rIns="0" bIns="0" rtlCol="0" anchor="t"/>
          <a:lstStyle/>
          <a:p>
            <a:pPr indent="0" marL="0">
              <a:buNone/>
            </a:pPr>
            <a:r>
              <a:rPr lang="en-US" sz="1200" dirty="0">
                <a:solidFill>
                  <a:srgbClr val="5C5C5C"/>
                </a:solidFill>
                <a:latin typeface="Segoe UI" pitchFamily="34" charset="0"/>
                <a:ea typeface="Segoe UI" pitchFamily="34" charset="-122"/>
                <a:cs typeface="Segoe UI" pitchFamily="34" charset="-120"/>
              </a:rPr>
              <a:t>Harga coret, persentase hemat, PPN 11%.</a:t>
            </a:r>
            <a:endParaRPr lang="en-US" sz="1200" dirty="0"/>
          </a:p>
        </p:txBody>
      </p:sp>
      <p:sp>
        <p:nvSpPr>
          <p:cNvPr id="18" name="Shape 15"/>
          <p:cNvSpPr/>
          <p:nvPr/>
        </p:nvSpPr>
        <p:spPr>
          <a:xfrm>
            <a:off x="8046720" y="5038344"/>
            <a:ext cx="384048" cy="384048"/>
          </a:xfrm>
          <a:prstGeom prst="ellipse">
            <a:avLst/>
          </a:prstGeom>
          <a:solidFill>
            <a:srgbClr val="0A0A0A"/>
          </a:solidFill>
          <a:ln/>
        </p:spPr>
      </p:sp>
      <p:sp>
        <p:nvSpPr>
          <p:cNvPr id="19" name="Text 16"/>
          <p:cNvSpPr txBox="1"/>
          <p:nvPr/>
        </p:nvSpPr>
        <p:spPr>
          <a:xfrm>
            <a:off x="8046720" y="5038344"/>
            <a:ext cx="384048" cy="384048"/>
          </a:xfrm>
          <a:prstGeom prst="rect">
            <a:avLst/>
          </a:prstGeom>
          <a:noFill/>
          <a:ln/>
        </p:spPr>
        <p:txBody>
          <a:bodyPr wrap="square" lIns="0" tIns="0" rIns="0" bIns="0" rtlCol="0" anchor="ctr"/>
          <a:lstStyle/>
          <a:p>
            <a:pPr algn="ctr" indent="0" marL="0">
              <a:buNone/>
            </a:pPr>
            <a:r>
              <a:rPr lang="en-US" sz="1200" dirty="0">
                <a:solidFill>
                  <a:srgbClr val="FFFFFF"/>
                </a:solidFill>
                <a:latin typeface="Segoe UI Semibold" pitchFamily="34" charset="0"/>
                <a:ea typeface="Segoe UI Semibold" pitchFamily="34" charset="-122"/>
                <a:cs typeface="Segoe UI Semibold" pitchFamily="34" charset="-120"/>
              </a:rPr>
              <a:t>4</a:t>
            </a:r>
            <a:endParaRPr lang="en-US" sz="1200" dirty="0"/>
          </a:p>
        </p:txBody>
      </p:sp>
      <p:sp>
        <p:nvSpPr>
          <p:cNvPr id="20" name="Text 17"/>
          <p:cNvSpPr txBox="1"/>
          <p:nvPr/>
        </p:nvSpPr>
        <p:spPr>
          <a:xfrm>
            <a:off x="8613648" y="5020056"/>
            <a:ext cx="3044952" cy="310896"/>
          </a:xfrm>
          <a:prstGeom prst="rect">
            <a:avLst/>
          </a:prstGeom>
          <a:noFill/>
          <a:ln/>
        </p:spPr>
        <p:txBody>
          <a:bodyPr wrap="square" lIns="0" tIns="0" rIns="0" bIns="0" rtlCol="0" anchor="t"/>
          <a:lstStyle/>
          <a:p>
            <a:pPr indent="0" marL="0">
              <a:buNone/>
            </a:pPr>
            <a:r>
              <a:rPr lang="en-US" sz="1500" dirty="0">
                <a:solidFill>
                  <a:srgbClr val="0A0A0A"/>
                </a:solidFill>
                <a:latin typeface="Segoe UI Semibold" pitchFamily="34" charset="0"/>
                <a:ea typeface="Segoe UI Semibold" pitchFamily="34" charset="-122"/>
                <a:cs typeface="Segoe UI Semibold" pitchFamily="34" charset="-120"/>
              </a:rPr>
              <a:t>Ulasan terverifikasi</a:t>
            </a:r>
            <a:endParaRPr lang="en-US" sz="1500" dirty="0"/>
          </a:p>
        </p:txBody>
      </p:sp>
      <p:sp>
        <p:nvSpPr>
          <p:cNvPr id="21" name="Text 18"/>
          <p:cNvSpPr txBox="1"/>
          <p:nvPr/>
        </p:nvSpPr>
        <p:spPr>
          <a:xfrm>
            <a:off x="8613648" y="5349240"/>
            <a:ext cx="3044952" cy="566928"/>
          </a:xfrm>
          <a:prstGeom prst="rect">
            <a:avLst/>
          </a:prstGeom>
          <a:noFill/>
          <a:ln/>
        </p:spPr>
        <p:txBody>
          <a:bodyPr wrap="square" lIns="0" tIns="0" rIns="0" bIns="0" rtlCol="0" anchor="t"/>
          <a:lstStyle/>
          <a:p>
            <a:pPr indent="0" marL="0">
              <a:buNone/>
            </a:pPr>
            <a:r>
              <a:rPr lang="en-US" sz="1200" dirty="0">
                <a:solidFill>
                  <a:srgbClr val="5C5C5C"/>
                </a:solidFill>
                <a:latin typeface="Segoe UI" pitchFamily="34" charset="0"/>
                <a:ea typeface="Segoe UI" pitchFamily="34" charset="-122"/>
                <a:cs typeface="Segoe UI" pitchFamily="34" charset="-120"/>
              </a:rPr>
              <a:t>Hanya dari pembeli yang pesanannya selesai.</a:t>
            </a:r>
            <a:endParaRPr lang="en-US" sz="1200" dirty="0"/>
          </a:p>
        </p:txBody>
      </p:sp>
      <p:sp>
        <p:nvSpPr>
          <p:cNvPr id="25" name="Slide Number Placeholder 0"/>
          <p:cNvSpPr>
            <a:spLocks noGrp="1"/>
          </p:cNvSpPr>
          <p:nvPr>
            <p:ph type="sldNum" sz="quarter" idx="4294967295"/>
          </p:nvPr>
        </p:nvSpPr>
        <p:spPr>
          <a:xfrm>
            <a:off x="11183112"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C5C5C"/>
                </a:solidFill>
                <a:latin typeface="Segoe UI"/>
                <a:ea typeface="Segoe UI"/>
                <a:cs typeface="Segoe U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548640" y="411480"/>
            <a:ext cx="2068373" cy="292608"/>
          </a:xfrm>
          <a:prstGeom prst="roundRect">
            <a:avLst>
              <a:gd name="adj" fmla="val 50000"/>
            </a:avLst>
          </a:prstGeom>
          <a:solidFill>
            <a:srgbClr val="F3F3F3"/>
          </a:solidFill>
          <a:ln/>
        </p:spPr>
      </p:sp>
      <p:sp>
        <p:nvSpPr>
          <p:cNvPr id="3" name="Text 1"/>
          <p:cNvSpPr txBox="1"/>
          <p:nvPr/>
        </p:nvSpPr>
        <p:spPr>
          <a:xfrm>
            <a:off x="548640" y="411480"/>
            <a:ext cx="2068373" cy="292608"/>
          </a:xfrm>
          <a:prstGeom prst="rect">
            <a:avLst/>
          </a:prstGeom>
          <a:noFill/>
          <a:ln/>
        </p:spPr>
        <p:txBody>
          <a:bodyPr wrap="square" lIns="0" tIns="0" rIns="0" bIns="0" rtlCol="0" anchor="ctr"/>
          <a:lstStyle/>
          <a:p>
            <a:pPr algn="ctr" indent="0" marL="0">
              <a:buNone/>
            </a:pPr>
            <a:r>
              <a:rPr lang="en-US" sz="950" spc="150" kern="0" dirty="0">
                <a:solidFill>
                  <a:srgbClr val="5C5C5C"/>
                </a:solidFill>
                <a:latin typeface="Segoe UI Semibold" pitchFamily="34" charset="0"/>
                <a:ea typeface="Segoe UI Semibold" pitchFamily="34" charset="-122"/>
                <a:cs typeface="Segoe UI Semibold" pitchFamily="34" charset="-120"/>
              </a:rPr>
              <a:t>TAMPILAN · CHECKOUT</a:t>
            </a:r>
            <a:endParaRPr lang="en-US" sz="950" dirty="0"/>
          </a:p>
        </p:txBody>
      </p:sp>
      <p:sp>
        <p:nvSpPr>
          <p:cNvPr id="4" name="Text 1"/>
          <p:cNvSpPr/>
          <p:nvPr>
            <p:ph idx="101" type="title" hasCustomPrompt="1"/>
          </p:nvPr>
        </p:nvSpPr>
        <p:spPr>
          <a:xfrm>
            <a:off x="548640" y="868680"/>
            <a:ext cx="11064240" cy="777240"/>
          </a:xfrm>
          <a:prstGeom prst="rect">
            <a:avLst/>
          </a:prstGeom>
          <a:noFill/>
          <a:ln/>
        </p:spPr>
        <p:txBody>
          <a:bodyPr wrap="square" lIns="0" tIns="0" rIns="0" bIns="0" rtlCol="0" anchor="t"/>
          <a:lstStyle/>
          <a:p>
            <a:pPr algn="l" indent="0" marL="0">
              <a:buNone/>
            </a:pPr>
            <a:r>
              <a:rPr lang="en-US" sz="3000" dirty="0">
                <a:solidFill>
                  <a:srgbClr val="0A0A0A"/>
                </a:solidFill>
                <a:latin typeface="Segoe UI Semibold" pitchFamily="34" charset="0"/>
                <a:ea typeface="Segoe UI Semibold" pitchFamily="34" charset="-122"/>
                <a:cs typeface="Segoe UI Semibold" pitchFamily="34" charset="-120"/>
              </a:rPr>
              <a:t>Checkout 4 langkah, ongkir sesuai berat</a:t>
            </a:r>
            <a:endParaRPr lang="en-US" sz="3000" dirty="0"/>
          </a:p>
        </p:txBody>
      </p:sp>
      <p:pic>
        <p:nvPicPr>
          <p:cNvPr id="5" name="Image 0" descr="C:\laragon\www\e-commerce\scripts\ppt\aset\checkout.png">    </p:cNvPr>
          <p:cNvPicPr>
            <a:picLocks noChangeAspect="1"/>
          </p:cNvPicPr>
          <p:nvPr/>
        </p:nvPicPr>
        <p:blipFill>
          <a:blip r:embed="rId1"/>
          <a:stretch>
            <a:fillRect/>
          </a:stretch>
        </p:blipFill>
        <p:spPr>
          <a:xfrm>
            <a:off x="4465015" y="1874520"/>
            <a:ext cx="7178040" cy="4039641"/>
          </a:xfrm>
          <a:prstGeom prst="rect">
            <a:avLst/>
          </a:prstGeom>
        </p:spPr>
      </p:pic>
      <p:sp>
        <p:nvSpPr>
          <p:cNvPr id="6" name="Shape 3"/>
          <p:cNvSpPr/>
          <p:nvPr/>
        </p:nvSpPr>
        <p:spPr>
          <a:xfrm>
            <a:off x="548640" y="1965960"/>
            <a:ext cx="384048" cy="384048"/>
          </a:xfrm>
          <a:prstGeom prst="ellipse">
            <a:avLst/>
          </a:prstGeom>
          <a:solidFill>
            <a:srgbClr val="0A0A0A"/>
          </a:solidFill>
          <a:ln/>
        </p:spPr>
      </p:sp>
      <p:sp>
        <p:nvSpPr>
          <p:cNvPr id="7" name="Text 4"/>
          <p:cNvSpPr txBox="1"/>
          <p:nvPr/>
        </p:nvSpPr>
        <p:spPr>
          <a:xfrm>
            <a:off x="548640" y="1965960"/>
            <a:ext cx="384048" cy="384048"/>
          </a:xfrm>
          <a:prstGeom prst="rect">
            <a:avLst/>
          </a:prstGeom>
          <a:noFill/>
          <a:ln/>
        </p:spPr>
        <p:txBody>
          <a:bodyPr wrap="square" lIns="0" tIns="0" rIns="0" bIns="0" rtlCol="0" anchor="ctr"/>
          <a:lstStyle/>
          <a:p>
            <a:pPr algn="ctr" indent="0" marL="0">
              <a:buNone/>
            </a:pPr>
            <a:r>
              <a:rPr lang="en-US" sz="1200" dirty="0">
                <a:solidFill>
                  <a:srgbClr val="FFFFFF"/>
                </a:solidFill>
                <a:latin typeface="Segoe UI Semibold" pitchFamily="34" charset="0"/>
                <a:ea typeface="Segoe UI Semibold" pitchFamily="34" charset="-122"/>
                <a:cs typeface="Segoe UI Semibold" pitchFamily="34" charset="-120"/>
              </a:rPr>
              <a:t>1</a:t>
            </a:r>
            <a:endParaRPr lang="en-US" sz="1200" dirty="0"/>
          </a:p>
        </p:txBody>
      </p:sp>
      <p:sp>
        <p:nvSpPr>
          <p:cNvPr id="8" name="Text 5"/>
          <p:cNvSpPr txBox="1"/>
          <p:nvPr/>
        </p:nvSpPr>
        <p:spPr>
          <a:xfrm>
            <a:off x="1115568" y="1947672"/>
            <a:ext cx="3044952" cy="310896"/>
          </a:xfrm>
          <a:prstGeom prst="rect">
            <a:avLst/>
          </a:prstGeom>
          <a:noFill/>
          <a:ln/>
        </p:spPr>
        <p:txBody>
          <a:bodyPr wrap="square" lIns="0" tIns="0" rIns="0" bIns="0" rtlCol="0" anchor="t"/>
          <a:lstStyle/>
          <a:p>
            <a:pPr indent="0" marL="0">
              <a:buNone/>
            </a:pPr>
            <a:r>
              <a:rPr lang="en-US" sz="1500" dirty="0">
                <a:solidFill>
                  <a:srgbClr val="0A0A0A"/>
                </a:solidFill>
                <a:latin typeface="Segoe UI Semibold" pitchFamily="34" charset="0"/>
                <a:ea typeface="Segoe UI Semibold" pitchFamily="34" charset="-122"/>
                <a:cs typeface="Segoe UI Semibold" pitchFamily="34" charset="-120"/>
              </a:rPr>
              <a:t>Pelacak langkah</a:t>
            </a:r>
            <a:endParaRPr lang="en-US" sz="1500" dirty="0"/>
          </a:p>
        </p:txBody>
      </p:sp>
      <p:sp>
        <p:nvSpPr>
          <p:cNvPr id="9" name="Text 6"/>
          <p:cNvSpPr txBox="1"/>
          <p:nvPr/>
        </p:nvSpPr>
        <p:spPr>
          <a:xfrm>
            <a:off x="1115568" y="2276856"/>
            <a:ext cx="3044952" cy="566928"/>
          </a:xfrm>
          <a:prstGeom prst="rect">
            <a:avLst/>
          </a:prstGeom>
          <a:noFill/>
          <a:ln/>
        </p:spPr>
        <p:txBody>
          <a:bodyPr wrap="square" lIns="0" tIns="0" rIns="0" bIns="0" rtlCol="0" anchor="t"/>
          <a:lstStyle/>
          <a:p>
            <a:pPr indent="0" marL="0">
              <a:buNone/>
            </a:pPr>
            <a:r>
              <a:rPr lang="en-US" sz="1200" dirty="0">
                <a:solidFill>
                  <a:srgbClr val="5C5C5C"/>
                </a:solidFill>
                <a:latin typeface="Segoe UI" pitchFamily="34" charset="0"/>
                <a:ea typeface="Segoe UI" pitchFamily="34" charset="-122"/>
                <a:cs typeface="Segoe UI" pitchFamily="34" charset="-120"/>
              </a:rPr>
              <a:t>Alamat → Pengiriman → Pembayaran → Konfirmasi.</a:t>
            </a:r>
            <a:endParaRPr lang="en-US" sz="1200" dirty="0"/>
          </a:p>
        </p:txBody>
      </p:sp>
      <p:sp>
        <p:nvSpPr>
          <p:cNvPr id="10" name="Shape 7"/>
          <p:cNvSpPr/>
          <p:nvPr/>
        </p:nvSpPr>
        <p:spPr>
          <a:xfrm>
            <a:off x="548640" y="2990088"/>
            <a:ext cx="384048" cy="384048"/>
          </a:xfrm>
          <a:prstGeom prst="ellipse">
            <a:avLst/>
          </a:prstGeom>
          <a:solidFill>
            <a:srgbClr val="0A0A0A"/>
          </a:solidFill>
          <a:ln/>
        </p:spPr>
      </p:sp>
      <p:sp>
        <p:nvSpPr>
          <p:cNvPr id="11" name="Text 8"/>
          <p:cNvSpPr txBox="1"/>
          <p:nvPr/>
        </p:nvSpPr>
        <p:spPr>
          <a:xfrm>
            <a:off x="548640" y="2990088"/>
            <a:ext cx="384048" cy="384048"/>
          </a:xfrm>
          <a:prstGeom prst="rect">
            <a:avLst/>
          </a:prstGeom>
          <a:noFill/>
          <a:ln/>
        </p:spPr>
        <p:txBody>
          <a:bodyPr wrap="square" lIns="0" tIns="0" rIns="0" bIns="0" rtlCol="0" anchor="ctr"/>
          <a:lstStyle/>
          <a:p>
            <a:pPr algn="ctr" indent="0" marL="0">
              <a:buNone/>
            </a:pPr>
            <a:r>
              <a:rPr lang="en-US" sz="1200" dirty="0">
                <a:solidFill>
                  <a:srgbClr val="FFFFFF"/>
                </a:solidFill>
                <a:latin typeface="Segoe UI Semibold" pitchFamily="34" charset="0"/>
                <a:ea typeface="Segoe UI Semibold" pitchFamily="34" charset="-122"/>
                <a:cs typeface="Segoe UI Semibold" pitchFamily="34" charset="-120"/>
              </a:rPr>
              <a:t>2</a:t>
            </a:r>
            <a:endParaRPr lang="en-US" sz="1200" dirty="0"/>
          </a:p>
        </p:txBody>
      </p:sp>
      <p:sp>
        <p:nvSpPr>
          <p:cNvPr id="12" name="Text 9"/>
          <p:cNvSpPr txBox="1"/>
          <p:nvPr/>
        </p:nvSpPr>
        <p:spPr>
          <a:xfrm>
            <a:off x="1115568" y="2971800"/>
            <a:ext cx="3044952" cy="310896"/>
          </a:xfrm>
          <a:prstGeom prst="rect">
            <a:avLst/>
          </a:prstGeom>
          <a:noFill/>
          <a:ln/>
        </p:spPr>
        <p:txBody>
          <a:bodyPr wrap="square" lIns="0" tIns="0" rIns="0" bIns="0" rtlCol="0" anchor="t"/>
          <a:lstStyle/>
          <a:p>
            <a:pPr indent="0" marL="0">
              <a:buNone/>
            </a:pPr>
            <a:r>
              <a:rPr lang="en-US" sz="1500" dirty="0">
                <a:solidFill>
                  <a:srgbClr val="0A0A0A"/>
                </a:solidFill>
                <a:latin typeface="Segoe UI Semibold" pitchFamily="34" charset="0"/>
                <a:ea typeface="Segoe UI Semibold" pitchFamily="34" charset="-122"/>
                <a:cs typeface="Segoe UI Semibold" pitchFamily="34" charset="-120"/>
              </a:rPr>
              <a:t>Buku alamat</a:t>
            </a:r>
            <a:endParaRPr lang="en-US" sz="1500" dirty="0"/>
          </a:p>
        </p:txBody>
      </p:sp>
      <p:sp>
        <p:nvSpPr>
          <p:cNvPr id="13" name="Text 10"/>
          <p:cNvSpPr txBox="1"/>
          <p:nvPr/>
        </p:nvSpPr>
        <p:spPr>
          <a:xfrm>
            <a:off x="1115568" y="3300984"/>
            <a:ext cx="3044952" cy="566928"/>
          </a:xfrm>
          <a:prstGeom prst="rect">
            <a:avLst/>
          </a:prstGeom>
          <a:noFill/>
          <a:ln/>
        </p:spPr>
        <p:txBody>
          <a:bodyPr wrap="square" lIns="0" tIns="0" rIns="0" bIns="0" rtlCol="0" anchor="t"/>
          <a:lstStyle/>
          <a:p>
            <a:pPr indent="0" marL="0">
              <a:buNone/>
            </a:pPr>
            <a:r>
              <a:rPr lang="en-US" sz="1200" dirty="0">
                <a:solidFill>
                  <a:srgbClr val="5C5C5C"/>
                </a:solidFill>
                <a:latin typeface="Segoe UI" pitchFamily="34" charset="0"/>
                <a:ea typeface="Segoe UI" pitchFamily="34" charset="-122"/>
                <a:cs typeface="Segoe UI" pitchFamily="34" charset="-120"/>
              </a:rPr>
              <a:t>Pilih alamat tersimpan atau tambah baru.</a:t>
            </a:r>
            <a:endParaRPr lang="en-US" sz="1200" dirty="0"/>
          </a:p>
        </p:txBody>
      </p:sp>
      <p:sp>
        <p:nvSpPr>
          <p:cNvPr id="14" name="Shape 11"/>
          <p:cNvSpPr/>
          <p:nvPr/>
        </p:nvSpPr>
        <p:spPr>
          <a:xfrm>
            <a:off x="548640" y="4014216"/>
            <a:ext cx="384048" cy="384048"/>
          </a:xfrm>
          <a:prstGeom prst="ellipse">
            <a:avLst/>
          </a:prstGeom>
          <a:solidFill>
            <a:srgbClr val="0A0A0A"/>
          </a:solidFill>
          <a:ln/>
        </p:spPr>
      </p:sp>
      <p:sp>
        <p:nvSpPr>
          <p:cNvPr id="15" name="Text 12"/>
          <p:cNvSpPr txBox="1"/>
          <p:nvPr/>
        </p:nvSpPr>
        <p:spPr>
          <a:xfrm>
            <a:off x="548640" y="4014216"/>
            <a:ext cx="384048" cy="384048"/>
          </a:xfrm>
          <a:prstGeom prst="rect">
            <a:avLst/>
          </a:prstGeom>
          <a:noFill/>
          <a:ln/>
        </p:spPr>
        <p:txBody>
          <a:bodyPr wrap="square" lIns="0" tIns="0" rIns="0" bIns="0" rtlCol="0" anchor="ctr"/>
          <a:lstStyle/>
          <a:p>
            <a:pPr algn="ctr" indent="0" marL="0">
              <a:buNone/>
            </a:pPr>
            <a:r>
              <a:rPr lang="en-US" sz="1200" dirty="0">
                <a:solidFill>
                  <a:srgbClr val="FFFFFF"/>
                </a:solidFill>
                <a:latin typeface="Segoe UI Semibold" pitchFamily="34" charset="0"/>
                <a:ea typeface="Segoe UI Semibold" pitchFamily="34" charset="-122"/>
                <a:cs typeface="Segoe UI Semibold" pitchFamily="34" charset="-120"/>
              </a:rPr>
              <a:t>3</a:t>
            </a:r>
            <a:endParaRPr lang="en-US" sz="1200" dirty="0"/>
          </a:p>
        </p:txBody>
      </p:sp>
      <p:sp>
        <p:nvSpPr>
          <p:cNvPr id="16" name="Text 13"/>
          <p:cNvSpPr txBox="1"/>
          <p:nvPr/>
        </p:nvSpPr>
        <p:spPr>
          <a:xfrm>
            <a:off x="1115568" y="3995928"/>
            <a:ext cx="3044952" cy="310896"/>
          </a:xfrm>
          <a:prstGeom prst="rect">
            <a:avLst/>
          </a:prstGeom>
          <a:noFill/>
          <a:ln/>
        </p:spPr>
        <p:txBody>
          <a:bodyPr wrap="square" lIns="0" tIns="0" rIns="0" bIns="0" rtlCol="0" anchor="t"/>
          <a:lstStyle/>
          <a:p>
            <a:pPr indent="0" marL="0">
              <a:buNone/>
            </a:pPr>
            <a:r>
              <a:rPr lang="en-US" sz="1500" dirty="0">
                <a:solidFill>
                  <a:srgbClr val="0A0A0A"/>
                </a:solidFill>
                <a:latin typeface="Segoe UI Semibold" pitchFamily="34" charset="0"/>
                <a:ea typeface="Segoe UI Semibold" pitchFamily="34" charset="-122"/>
                <a:cs typeface="Segoe UI Semibold" pitchFamily="34" charset="-120"/>
              </a:rPr>
              <a:t>Ongkir otomatis</a:t>
            </a:r>
            <a:endParaRPr lang="en-US" sz="1500" dirty="0"/>
          </a:p>
        </p:txBody>
      </p:sp>
      <p:sp>
        <p:nvSpPr>
          <p:cNvPr id="17" name="Text 14"/>
          <p:cNvSpPr txBox="1"/>
          <p:nvPr/>
        </p:nvSpPr>
        <p:spPr>
          <a:xfrm>
            <a:off x="1115568" y="4325112"/>
            <a:ext cx="3044952" cy="566928"/>
          </a:xfrm>
          <a:prstGeom prst="rect">
            <a:avLst/>
          </a:prstGeom>
          <a:noFill/>
          <a:ln/>
        </p:spPr>
        <p:txBody>
          <a:bodyPr wrap="square" lIns="0" tIns="0" rIns="0" bIns="0" rtlCol="0" anchor="t"/>
          <a:lstStyle/>
          <a:p>
            <a:pPr indent="0" marL="0">
              <a:buNone/>
            </a:pPr>
            <a:r>
              <a:rPr lang="en-US" sz="1200" dirty="0">
                <a:solidFill>
                  <a:srgbClr val="5C5C5C"/>
                </a:solidFill>
                <a:latin typeface="Segoe UI" pitchFamily="34" charset="0"/>
                <a:ea typeface="Segoe UI" pitchFamily="34" charset="-122"/>
                <a:cs typeface="Segoe UI" pitchFamily="34" charset="-120"/>
              </a:rPr>
              <a:t>Dari total berat dan zona provinsi tujuan.</a:t>
            </a:r>
            <a:endParaRPr lang="en-US" sz="1200" dirty="0"/>
          </a:p>
        </p:txBody>
      </p:sp>
      <p:sp>
        <p:nvSpPr>
          <p:cNvPr id="18" name="Shape 15"/>
          <p:cNvSpPr/>
          <p:nvPr/>
        </p:nvSpPr>
        <p:spPr>
          <a:xfrm>
            <a:off x="548640" y="5038344"/>
            <a:ext cx="384048" cy="384048"/>
          </a:xfrm>
          <a:prstGeom prst="ellipse">
            <a:avLst/>
          </a:prstGeom>
          <a:solidFill>
            <a:srgbClr val="0A0A0A"/>
          </a:solidFill>
          <a:ln/>
        </p:spPr>
      </p:sp>
      <p:sp>
        <p:nvSpPr>
          <p:cNvPr id="19" name="Text 16"/>
          <p:cNvSpPr txBox="1"/>
          <p:nvPr/>
        </p:nvSpPr>
        <p:spPr>
          <a:xfrm>
            <a:off x="548640" y="5038344"/>
            <a:ext cx="384048" cy="384048"/>
          </a:xfrm>
          <a:prstGeom prst="rect">
            <a:avLst/>
          </a:prstGeom>
          <a:noFill/>
          <a:ln/>
        </p:spPr>
        <p:txBody>
          <a:bodyPr wrap="square" lIns="0" tIns="0" rIns="0" bIns="0" rtlCol="0" anchor="ctr"/>
          <a:lstStyle/>
          <a:p>
            <a:pPr algn="ctr" indent="0" marL="0">
              <a:buNone/>
            </a:pPr>
            <a:r>
              <a:rPr lang="en-US" sz="1200" dirty="0">
                <a:solidFill>
                  <a:srgbClr val="FFFFFF"/>
                </a:solidFill>
                <a:latin typeface="Segoe UI Semibold" pitchFamily="34" charset="0"/>
                <a:ea typeface="Segoe UI Semibold" pitchFamily="34" charset="-122"/>
                <a:cs typeface="Segoe UI Semibold" pitchFamily="34" charset="-120"/>
              </a:rPr>
              <a:t>4</a:t>
            </a:r>
            <a:endParaRPr lang="en-US" sz="1200" dirty="0"/>
          </a:p>
        </p:txBody>
      </p:sp>
      <p:sp>
        <p:nvSpPr>
          <p:cNvPr id="20" name="Text 17"/>
          <p:cNvSpPr txBox="1"/>
          <p:nvPr/>
        </p:nvSpPr>
        <p:spPr>
          <a:xfrm>
            <a:off x="1115568" y="5020056"/>
            <a:ext cx="3044952" cy="310896"/>
          </a:xfrm>
          <a:prstGeom prst="rect">
            <a:avLst/>
          </a:prstGeom>
          <a:noFill/>
          <a:ln/>
        </p:spPr>
        <p:txBody>
          <a:bodyPr wrap="square" lIns="0" tIns="0" rIns="0" bIns="0" rtlCol="0" anchor="t"/>
          <a:lstStyle/>
          <a:p>
            <a:pPr indent="0" marL="0">
              <a:buNone/>
            </a:pPr>
            <a:r>
              <a:rPr lang="en-US" sz="1500" dirty="0">
                <a:solidFill>
                  <a:srgbClr val="0A0A0A"/>
                </a:solidFill>
                <a:latin typeface="Segoe UI Semibold" pitchFamily="34" charset="0"/>
                <a:ea typeface="Segoe UI Semibold" pitchFamily="34" charset="-122"/>
                <a:cs typeface="Segoe UI Semibold" pitchFamily="34" charset="-120"/>
              </a:rPr>
              <a:t>Ringkasan jelas</a:t>
            </a:r>
            <a:endParaRPr lang="en-US" sz="1500" dirty="0"/>
          </a:p>
        </p:txBody>
      </p:sp>
      <p:sp>
        <p:nvSpPr>
          <p:cNvPr id="21" name="Text 18"/>
          <p:cNvSpPr txBox="1"/>
          <p:nvPr/>
        </p:nvSpPr>
        <p:spPr>
          <a:xfrm>
            <a:off x="1115568" y="5349240"/>
            <a:ext cx="3044952" cy="566928"/>
          </a:xfrm>
          <a:prstGeom prst="rect">
            <a:avLst/>
          </a:prstGeom>
          <a:noFill/>
          <a:ln/>
        </p:spPr>
        <p:txBody>
          <a:bodyPr wrap="square" lIns="0" tIns="0" rIns="0" bIns="0" rtlCol="0" anchor="t"/>
          <a:lstStyle/>
          <a:p>
            <a:pPr indent="0" marL="0">
              <a:buNone/>
            </a:pPr>
            <a:r>
              <a:rPr lang="en-US" sz="1200" dirty="0">
                <a:solidFill>
                  <a:srgbClr val="5C5C5C"/>
                </a:solidFill>
                <a:latin typeface="Segoe UI" pitchFamily="34" charset="0"/>
                <a:ea typeface="Segoe UI" pitchFamily="34" charset="-122"/>
                <a:cs typeface="Segoe UI" pitchFamily="34" charset="-120"/>
              </a:rPr>
              <a:t>Promo dan total akhir sebelum memesan.</a:t>
            </a:r>
            <a:endParaRPr lang="en-US" sz="1200" dirty="0"/>
          </a:p>
        </p:txBody>
      </p:sp>
      <p:sp>
        <p:nvSpPr>
          <p:cNvPr id="25" name="Slide Number Placeholder 0"/>
          <p:cNvSpPr>
            <a:spLocks noGrp="1"/>
          </p:cNvSpPr>
          <p:nvPr>
            <p:ph type="sldNum" sz="quarter" idx="4294967295"/>
          </p:nvPr>
        </p:nvSpPr>
        <p:spPr>
          <a:xfrm>
            <a:off x="11183112"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C5C5C"/>
                </a:solidFill>
                <a:latin typeface="Segoe UI"/>
                <a:ea typeface="Segoe UI"/>
                <a:cs typeface="Segoe U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548640" y="411480"/>
            <a:ext cx="2337206" cy="292608"/>
          </a:xfrm>
          <a:prstGeom prst="roundRect">
            <a:avLst>
              <a:gd name="adj" fmla="val 50000"/>
            </a:avLst>
          </a:prstGeom>
          <a:solidFill>
            <a:srgbClr val="F3F3F3"/>
          </a:solidFill>
          <a:ln/>
        </p:spPr>
      </p:sp>
      <p:sp>
        <p:nvSpPr>
          <p:cNvPr id="3" name="Text 1"/>
          <p:cNvSpPr txBox="1"/>
          <p:nvPr/>
        </p:nvSpPr>
        <p:spPr>
          <a:xfrm>
            <a:off x="548640" y="411480"/>
            <a:ext cx="2337206" cy="292608"/>
          </a:xfrm>
          <a:prstGeom prst="rect">
            <a:avLst/>
          </a:prstGeom>
          <a:noFill/>
          <a:ln/>
        </p:spPr>
        <p:txBody>
          <a:bodyPr wrap="square" lIns="0" tIns="0" rIns="0" bIns="0" rtlCol="0" anchor="ctr"/>
          <a:lstStyle/>
          <a:p>
            <a:pPr algn="ctr" indent="0" marL="0">
              <a:buNone/>
            </a:pPr>
            <a:r>
              <a:rPr lang="en-US" sz="950" spc="150" kern="0" dirty="0">
                <a:solidFill>
                  <a:srgbClr val="5C5C5C"/>
                </a:solidFill>
                <a:latin typeface="Segoe UI Semibold" pitchFamily="34" charset="0"/>
                <a:ea typeface="Segoe UI Semibold" pitchFamily="34" charset="-122"/>
                <a:cs typeface="Segoe UI Semibold" pitchFamily="34" charset="-120"/>
              </a:rPr>
              <a:t>TAMPILAN · PANEL ADMIN</a:t>
            </a:r>
            <a:endParaRPr lang="en-US" sz="950" dirty="0"/>
          </a:p>
        </p:txBody>
      </p:sp>
      <p:sp>
        <p:nvSpPr>
          <p:cNvPr id="4" name="Text 1"/>
          <p:cNvSpPr/>
          <p:nvPr>
            <p:ph idx="101" type="title" hasCustomPrompt="1"/>
          </p:nvPr>
        </p:nvSpPr>
        <p:spPr>
          <a:xfrm>
            <a:off x="548640" y="868680"/>
            <a:ext cx="11064240" cy="777240"/>
          </a:xfrm>
          <a:prstGeom prst="rect">
            <a:avLst/>
          </a:prstGeom>
          <a:noFill/>
          <a:ln/>
        </p:spPr>
        <p:txBody>
          <a:bodyPr wrap="square" lIns="0" tIns="0" rIns="0" bIns="0" rtlCol="0" anchor="t"/>
          <a:lstStyle/>
          <a:p>
            <a:pPr algn="l" indent="0" marL="0">
              <a:buNone/>
            </a:pPr>
            <a:r>
              <a:rPr lang="en-US" sz="3000" dirty="0">
                <a:solidFill>
                  <a:srgbClr val="0A0A0A"/>
                </a:solidFill>
                <a:latin typeface="Segoe UI Semibold" pitchFamily="34" charset="0"/>
                <a:ea typeface="Segoe UI Semibold" pitchFamily="34" charset="-122"/>
                <a:cs typeface="Segoe UI Semibold" pitchFamily="34" charset="-120"/>
              </a:rPr>
              <a:t>Panel admin satu gaya dengan toko</a:t>
            </a:r>
            <a:endParaRPr lang="en-US" sz="3000" dirty="0"/>
          </a:p>
        </p:txBody>
      </p:sp>
      <p:pic>
        <p:nvPicPr>
          <p:cNvPr id="5" name="Image 0" descr="C:\laragon\www\e-commerce\scripts\ppt\aset\admin-gelap.png">    </p:cNvPr>
          <p:cNvPicPr>
            <a:picLocks noChangeAspect="1"/>
          </p:cNvPicPr>
          <p:nvPr/>
        </p:nvPicPr>
        <p:blipFill>
          <a:blip r:embed="rId1"/>
          <a:stretch>
            <a:fillRect/>
          </a:stretch>
        </p:blipFill>
        <p:spPr>
          <a:xfrm>
            <a:off x="548640" y="1874520"/>
            <a:ext cx="7178040" cy="4039641"/>
          </a:xfrm>
          <a:prstGeom prst="rect">
            <a:avLst/>
          </a:prstGeom>
        </p:spPr>
      </p:pic>
      <p:pic>
        <p:nvPicPr>
          <p:cNvPr id="6" name="Image 1" descr="C:\laragon\www\e-commerce\scripts\ppt\aset\admin-modal-potong.png">    </p:cNvPr>
          <p:cNvPicPr>
            <a:picLocks noChangeAspect="1"/>
          </p:cNvPicPr>
          <p:nvPr/>
        </p:nvPicPr>
        <p:blipFill>
          <a:blip r:embed="rId2"/>
          <a:stretch>
            <a:fillRect/>
          </a:stretch>
        </p:blipFill>
        <p:spPr>
          <a:xfrm>
            <a:off x="4892040" y="3017520"/>
            <a:ext cx="2971800" cy="2579688"/>
          </a:xfrm>
          <a:prstGeom prst="rect">
            <a:avLst/>
          </a:prstGeom>
        </p:spPr>
      </p:pic>
      <p:sp>
        <p:nvSpPr>
          <p:cNvPr id="7" name="Shape 3"/>
          <p:cNvSpPr/>
          <p:nvPr/>
        </p:nvSpPr>
        <p:spPr>
          <a:xfrm>
            <a:off x="8046720" y="1965960"/>
            <a:ext cx="384048" cy="384048"/>
          </a:xfrm>
          <a:prstGeom prst="ellipse">
            <a:avLst/>
          </a:prstGeom>
          <a:solidFill>
            <a:srgbClr val="0A0A0A"/>
          </a:solidFill>
          <a:ln/>
        </p:spPr>
      </p:sp>
      <p:sp>
        <p:nvSpPr>
          <p:cNvPr id="8" name="Text 4"/>
          <p:cNvSpPr txBox="1"/>
          <p:nvPr/>
        </p:nvSpPr>
        <p:spPr>
          <a:xfrm>
            <a:off x="8046720" y="1965960"/>
            <a:ext cx="384048" cy="384048"/>
          </a:xfrm>
          <a:prstGeom prst="rect">
            <a:avLst/>
          </a:prstGeom>
          <a:noFill/>
          <a:ln/>
        </p:spPr>
        <p:txBody>
          <a:bodyPr wrap="square" lIns="0" tIns="0" rIns="0" bIns="0" rtlCol="0" anchor="ctr"/>
          <a:lstStyle/>
          <a:p>
            <a:pPr algn="ctr" indent="0" marL="0">
              <a:buNone/>
            </a:pPr>
            <a:r>
              <a:rPr lang="en-US" sz="1200" dirty="0">
                <a:solidFill>
                  <a:srgbClr val="FFFFFF"/>
                </a:solidFill>
                <a:latin typeface="Segoe UI Semibold" pitchFamily="34" charset="0"/>
                <a:ea typeface="Segoe UI Semibold" pitchFamily="34" charset="-122"/>
                <a:cs typeface="Segoe UI Semibold" pitchFamily="34" charset="-120"/>
              </a:rPr>
              <a:t>1</a:t>
            </a:r>
            <a:endParaRPr lang="en-US" sz="1200" dirty="0"/>
          </a:p>
        </p:txBody>
      </p:sp>
      <p:sp>
        <p:nvSpPr>
          <p:cNvPr id="9" name="Text 5"/>
          <p:cNvSpPr txBox="1"/>
          <p:nvPr/>
        </p:nvSpPr>
        <p:spPr>
          <a:xfrm>
            <a:off x="8613648" y="1947672"/>
            <a:ext cx="3044952" cy="310896"/>
          </a:xfrm>
          <a:prstGeom prst="rect">
            <a:avLst/>
          </a:prstGeom>
          <a:noFill/>
          <a:ln/>
        </p:spPr>
        <p:txBody>
          <a:bodyPr wrap="square" lIns="0" tIns="0" rIns="0" bIns="0" rtlCol="0" anchor="t"/>
          <a:lstStyle/>
          <a:p>
            <a:pPr indent="0" marL="0">
              <a:buNone/>
            </a:pPr>
            <a:r>
              <a:rPr lang="en-US" sz="1500" dirty="0">
                <a:solidFill>
                  <a:srgbClr val="0A0A0A"/>
                </a:solidFill>
                <a:latin typeface="Segoe UI Semibold" pitchFamily="34" charset="0"/>
                <a:ea typeface="Segoe UI Semibold" pitchFamily="34" charset="-122"/>
                <a:cs typeface="Segoe UI Semibold" pitchFamily="34" charset="-120"/>
              </a:rPr>
              <a:t>Ringkasan harian</a:t>
            </a:r>
            <a:endParaRPr lang="en-US" sz="1500" dirty="0"/>
          </a:p>
        </p:txBody>
      </p:sp>
      <p:sp>
        <p:nvSpPr>
          <p:cNvPr id="10" name="Text 6"/>
          <p:cNvSpPr txBox="1"/>
          <p:nvPr/>
        </p:nvSpPr>
        <p:spPr>
          <a:xfrm>
            <a:off x="8613648" y="2276856"/>
            <a:ext cx="3044952" cy="566928"/>
          </a:xfrm>
          <a:prstGeom prst="rect">
            <a:avLst/>
          </a:prstGeom>
          <a:noFill/>
          <a:ln/>
        </p:spPr>
        <p:txBody>
          <a:bodyPr wrap="square" lIns="0" tIns="0" rIns="0" bIns="0" rtlCol="0" anchor="t"/>
          <a:lstStyle/>
          <a:p>
            <a:pPr indent="0" marL="0">
              <a:buNone/>
            </a:pPr>
            <a:r>
              <a:rPr lang="en-US" sz="1200" dirty="0">
                <a:solidFill>
                  <a:srgbClr val="5C5C5C"/>
                </a:solidFill>
                <a:latin typeface="Segoe UI" pitchFamily="34" charset="0"/>
                <a:ea typeface="Segoe UI" pitchFamily="34" charset="-122"/>
                <a:cs typeface="Segoe UI" pitchFamily="34" charset="-120"/>
              </a:rPr>
              <a:t>Pesanan hari ini, omzet 7 dan 30 hari.</a:t>
            </a:r>
            <a:endParaRPr lang="en-US" sz="1200" dirty="0"/>
          </a:p>
        </p:txBody>
      </p:sp>
      <p:sp>
        <p:nvSpPr>
          <p:cNvPr id="11" name="Shape 7"/>
          <p:cNvSpPr/>
          <p:nvPr/>
        </p:nvSpPr>
        <p:spPr>
          <a:xfrm>
            <a:off x="8046720" y="2990088"/>
            <a:ext cx="384048" cy="384048"/>
          </a:xfrm>
          <a:prstGeom prst="ellipse">
            <a:avLst/>
          </a:prstGeom>
          <a:solidFill>
            <a:srgbClr val="0A0A0A"/>
          </a:solidFill>
          <a:ln/>
        </p:spPr>
      </p:sp>
      <p:sp>
        <p:nvSpPr>
          <p:cNvPr id="12" name="Text 8"/>
          <p:cNvSpPr txBox="1"/>
          <p:nvPr/>
        </p:nvSpPr>
        <p:spPr>
          <a:xfrm>
            <a:off x="8046720" y="2990088"/>
            <a:ext cx="384048" cy="384048"/>
          </a:xfrm>
          <a:prstGeom prst="rect">
            <a:avLst/>
          </a:prstGeom>
          <a:noFill/>
          <a:ln/>
        </p:spPr>
        <p:txBody>
          <a:bodyPr wrap="square" lIns="0" tIns="0" rIns="0" bIns="0" rtlCol="0" anchor="ctr"/>
          <a:lstStyle/>
          <a:p>
            <a:pPr algn="ctr" indent="0" marL="0">
              <a:buNone/>
            </a:pPr>
            <a:r>
              <a:rPr lang="en-US" sz="1200" dirty="0">
                <a:solidFill>
                  <a:srgbClr val="FFFFFF"/>
                </a:solidFill>
                <a:latin typeface="Segoe UI Semibold" pitchFamily="34" charset="0"/>
                <a:ea typeface="Segoe UI Semibold" pitchFamily="34" charset="-122"/>
                <a:cs typeface="Segoe UI Semibold" pitchFamily="34" charset="-120"/>
              </a:rPr>
              <a:t>2</a:t>
            </a:r>
            <a:endParaRPr lang="en-US" sz="1200" dirty="0"/>
          </a:p>
        </p:txBody>
      </p:sp>
      <p:sp>
        <p:nvSpPr>
          <p:cNvPr id="13" name="Text 9"/>
          <p:cNvSpPr txBox="1"/>
          <p:nvPr/>
        </p:nvSpPr>
        <p:spPr>
          <a:xfrm>
            <a:off x="8613648" y="2971800"/>
            <a:ext cx="3044952" cy="310896"/>
          </a:xfrm>
          <a:prstGeom prst="rect">
            <a:avLst/>
          </a:prstGeom>
          <a:noFill/>
          <a:ln/>
        </p:spPr>
        <p:txBody>
          <a:bodyPr wrap="square" lIns="0" tIns="0" rIns="0" bIns="0" rtlCol="0" anchor="t"/>
          <a:lstStyle/>
          <a:p>
            <a:pPr indent="0" marL="0">
              <a:buNone/>
            </a:pPr>
            <a:r>
              <a:rPr lang="en-US" sz="1500" dirty="0">
                <a:solidFill>
                  <a:srgbClr val="0A0A0A"/>
                </a:solidFill>
                <a:latin typeface="Segoe UI Semibold" pitchFamily="34" charset="0"/>
                <a:ea typeface="Segoe UI Semibold" pitchFamily="34" charset="-122"/>
                <a:cs typeface="Segoe UI Semibold" pitchFamily="34" charset="-120"/>
              </a:rPr>
              <a:t>Peringatan stok</a:t>
            </a:r>
            <a:endParaRPr lang="en-US" sz="1500" dirty="0"/>
          </a:p>
        </p:txBody>
      </p:sp>
      <p:sp>
        <p:nvSpPr>
          <p:cNvPr id="14" name="Text 10"/>
          <p:cNvSpPr txBox="1"/>
          <p:nvPr/>
        </p:nvSpPr>
        <p:spPr>
          <a:xfrm>
            <a:off x="8613648" y="3300984"/>
            <a:ext cx="3044952" cy="566928"/>
          </a:xfrm>
          <a:prstGeom prst="rect">
            <a:avLst/>
          </a:prstGeom>
          <a:noFill/>
          <a:ln/>
        </p:spPr>
        <p:txBody>
          <a:bodyPr wrap="square" lIns="0" tIns="0" rIns="0" bIns="0" rtlCol="0" anchor="t"/>
          <a:lstStyle/>
          <a:p>
            <a:pPr indent="0" marL="0">
              <a:buNone/>
            </a:pPr>
            <a:r>
              <a:rPr lang="en-US" sz="1200" dirty="0">
                <a:solidFill>
                  <a:srgbClr val="5C5C5C"/>
                </a:solidFill>
                <a:latin typeface="Segoe UI" pitchFamily="34" charset="0"/>
                <a:ea typeface="Segoe UI" pitchFamily="34" charset="-122"/>
                <a:cs typeface="Segoe UI" pitchFamily="34" charset="-120"/>
              </a:rPr>
              <a:t>Produk dengan stok ≤ 5 ditandai.</a:t>
            </a:r>
            <a:endParaRPr lang="en-US" sz="1200" dirty="0"/>
          </a:p>
        </p:txBody>
      </p:sp>
      <p:sp>
        <p:nvSpPr>
          <p:cNvPr id="15" name="Shape 11"/>
          <p:cNvSpPr/>
          <p:nvPr/>
        </p:nvSpPr>
        <p:spPr>
          <a:xfrm>
            <a:off x="8046720" y="4014216"/>
            <a:ext cx="384048" cy="384048"/>
          </a:xfrm>
          <a:prstGeom prst="ellipse">
            <a:avLst/>
          </a:prstGeom>
          <a:solidFill>
            <a:srgbClr val="0A0A0A"/>
          </a:solidFill>
          <a:ln/>
        </p:spPr>
      </p:sp>
      <p:sp>
        <p:nvSpPr>
          <p:cNvPr id="16" name="Text 12"/>
          <p:cNvSpPr txBox="1"/>
          <p:nvPr/>
        </p:nvSpPr>
        <p:spPr>
          <a:xfrm>
            <a:off x="8046720" y="4014216"/>
            <a:ext cx="384048" cy="384048"/>
          </a:xfrm>
          <a:prstGeom prst="rect">
            <a:avLst/>
          </a:prstGeom>
          <a:noFill/>
          <a:ln/>
        </p:spPr>
        <p:txBody>
          <a:bodyPr wrap="square" lIns="0" tIns="0" rIns="0" bIns="0" rtlCol="0" anchor="ctr"/>
          <a:lstStyle/>
          <a:p>
            <a:pPr algn="ctr" indent="0" marL="0">
              <a:buNone/>
            </a:pPr>
            <a:r>
              <a:rPr lang="en-US" sz="1200" dirty="0">
                <a:solidFill>
                  <a:srgbClr val="FFFFFF"/>
                </a:solidFill>
                <a:latin typeface="Segoe UI Semibold" pitchFamily="34" charset="0"/>
                <a:ea typeface="Segoe UI Semibold" pitchFamily="34" charset="-122"/>
                <a:cs typeface="Segoe UI Semibold" pitchFamily="34" charset="-120"/>
              </a:rPr>
              <a:t>3</a:t>
            </a:r>
            <a:endParaRPr lang="en-US" sz="1200" dirty="0"/>
          </a:p>
        </p:txBody>
      </p:sp>
      <p:sp>
        <p:nvSpPr>
          <p:cNvPr id="17" name="Text 13"/>
          <p:cNvSpPr txBox="1"/>
          <p:nvPr/>
        </p:nvSpPr>
        <p:spPr>
          <a:xfrm>
            <a:off x="8613648" y="3995928"/>
            <a:ext cx="3044952" cy="310896"/>
          </a:xfrm>
          <a:prstGeom prst="rect">
            <a:avLst/>
          </a:prstGeom>
          <a:noFill/>
          <a:ln/>
        </p:spPr>
        <p:txBody>
          <a:bodyPr wrap="square" lIns="0" tIns="0" rIns="0" bIns="0" rtlCol="0" anchor="t"/>
          <a:lstStyle/>
          <a:p>
            <a:pPr indent="0" marL="0">
              <a:buNone/>
            </a:pPr>
            <a:r>
              <a:rPr lang="en-US" sz="1500" dirty="0">
                <a:solidFill>
                  <a:srgbClr val="0A0A0A"/>
                </a:solidFill>
                <a:latin typeface="Segoe UI Semibold" pitchFamily="34" charset="0"/>
                <a:ea typeface="Segoe UI Semibold" pitchFamily="34" charset="-122"/>
                <a:cs typeface="Segoe UI Semibold" pitchFamily="34" charset="-120"/>
              </a:rPr>
              <a:t>Tambah &amp; edit di modal</a:t>
            </a:r>
            <a:endParaRPr lang="en-US" sz="1500" dirty="0"/>
          </a:p>
        </p:txBody>
      </p:sp>
      <p:sp>
        <p:nvSpPr>
          <p:cNvPr id="18" name="Text 14"/>
          <p:cNvSpPr txBox="1"/>
          <p:nvPr/>
        </p:nvSpPr>
        <p:spPr>
          <a:xfrm>
            <a:off x="8613648" y="4325112"/>
            <a:ext cx="3044952" cy="566928"/>
          </a:xfrm>
          <a:prstGeom prst="rect">
            <a:avLst/>
          </a:prstGeom>
          <a:noFill/>
          <a:ln/>
        </p:spPr>
        <p:txBody>
          <a:bodyPr wrap="square" lIns="0" tIns="0" rIns="0" bIns="0" rtlCol="0" anchor="t"/>
          <a:lstStyle/>
          <a:p>
            <a:pPr indent="0" marL="0">
              <a:buNone/>
            </a:pPr>
            <a:r>
              <a:rPr lang="en-US" sz="1200" dirty="0">
                <a:solidFill>
                  <a:srgbClr val="5C5C5C"/>
                </a:solidFill>
                <a:latin typeface="Segoe UI" pitchFamily="34" charset="0"/>
                <a:ea typeface="Segoe UI" pitchFamily="34" charset="-122"/>
                <a:cs typeface="Segoe UI" pitchFamily="34" charset="-120"/>
              </a:rPr>
              <a:t>Form tampil di atas daftar.</a:t>
            </a:r>
            <a:endParaRPr lang="en-US" sz="1200" dirty="0"/>
          </a:p>
        </p:txBody>
      </p:sp>
      <p:sp>
        <p:nvSpPr>
          <p:cNvPr id="19" name="Shape 15"/>
          <p:cNvSpPr/>
          <p:nvPr/>
        </p:nvSpPr>
        <p:spPr>
          <a:xfrm>
            <a:off x="8046720" y="5038344"/>
            <a:ext cx="384048" cy="384048"/>
          </a:xfrm>
          <a:prstGeom prst="ellipse">
            <a:avLst/>
          </a:prstGeom>
          <a:solidFill>
            <a:srgbClr val="0A0A0A"/>
          </a:solidFill>
          <a:ln/>
        </p:spPr>
      </p:sp>
      <p:sp>
        <p:nvSpPr>
          <p:cNvPr id="20" name="Text 16"/>
          <p:cNvSpPr txBox="1"/>
          <p:nvPr/>
        </p:nvSpPr>
        <p:spPr>
          <a:xfrm>
            <a:off x="8046720" y="5038344"/>
            <a:ext cx="384048" cy="384048"/>
          </a:xfrm>
          <a:prstGeom prst="rect">
            <a:avLst/>
          </a:prstGeom>
          <a:noFill/>
          <a:ln/>
        </p:spPr>
        <p:txBody>
          <a:bodyPr wrap="square" lIns="0" tIns="0" rIns="0" bIns="0" rtlCol="0" anchor="ctr"/>
          <a:lstStyle/>
          <a:p>
            <a:pPr algn="ctr" indent="0" marL="0">
              <a:buNone/>
            </a:pPr>
            <a:r>
              <a:rPr lang="en-US" sz="1200" dirty="0">
                <a:solidFill>
                  <a:srgbClr val="FFFFFF"/>
                </a:solidFill>
                <a:latin typeface="Segoe UI Semibold" pitchFamily="34" charset="0"/>
                <a:ea typeface="Segoe UI Semibold" pitchFamily="34" charset="-122"/>
                <a:cs typeface="Segoe UI Semibold" pitchFamily="34" charset="-120"/>
              </a:rPr>
              <a:t>4</a:t>
            </a:r>
            <a:endParaRPr lang="en-US" sz="1200" dirty="0"/>
          </a:p>
        </p:txBody>
      </p:sp>
      <p:sp>
        <p:nvSpPr>
          <p:cNvPr id="21" name="Text 17"/>
          <p:cNvSpPr txBox="1"/>
          <p:nvPr/>
        </p:nvSpPr>
        <p:spPr>
          <a:xfrm>
            <a:off x="8613648" y="5020056"/>
            <a:ext cx="3044952" cy="310896"/>
          </a:xfrm>
          <a:prstGeom prst="rect">
            <a:avLst/>
          </a:prstGeom>
          <a:noFill/>
          <a:ln/>
        </p:spPr>
        <p:txBody>
          <a:bodyPr wrap="square" lIns="0" tIns="0" rIns="0" bIns="0" rtlCol="0" anchor="t"/>
          <a:lstStyle/>
          <a:p>
            <a:pPr indent="0" marL="0">
              <a:buNone/>
            </a:pPr>
            <a:r>
              <a:rPr lang="en-US" sz="1500" dirty="0">
                <a:solidFill>
                  <a:srgbClr val="0A0A0A"/>
                </a:solidFill>
                <a:latin typeface="Segoe UI Semibold" pitchFamily="34" charset="0"/>
                <a:ea typeface="Segoe UI Semibold" pitchFamily="34" charset="-122"/>
                <a:cs typeface="Segoe UI Semibold" pitchFamily="34" charset="-120"/>
              </a:rPr>
              <a:t>Lencana status</a:t>
            </a:r>
            <a:endParaRPr lang="en-US" sz="1500" dirty="0"/>
          </a:p>
        </p:txBody>
      </p:sp>
      <p:sp>
        <p:nvSpPr>
          <p:cNvPr id="22" name="Text 18"/>
          <p:cNvSpPr txBox="1"/>
          <p:nvPr/>
        </p:nvSpPr>
        <p:spPr>
          <a:xfrm>
            <a:off x="8613648" y="5349240"/>
            <a:ext cx="3044952" cy="566928"/>
          </a:xfrm>
          <a:prstGeom prst="rect">
            <a:avLst/>
          </a:prstGeom>
          <a:noFill/>
          <a:ln/>
        </p:spPr>
        <p:txBody>
          <a:bodyPr wrap="square" lIns="0" tIns="0" rIns="0" bIns="0" rtlCol="0" anchor="t"/>
          <a:lstStyle/>
          <a:p>
            <a:pPr indent="0" marL="0">
              <a:buNone/>
            </a:pPr>
            <a:r>
              <a:rPr lang="en-US" sz="1200" dirty="0">
                <a:solidFill>
                  <a:srgbClr val="5C5C5C"/>
                </a:solidFill>
                <a:latin typeface="Segoe UI" pitchFamily="34" charset="0"/>
                <a:ea typeface="Segoe UI" pitchFamily="34" charset="-122"/>
                <a:cs typeface="Segoe UI" pitchFamily="34" charset="-120"/>
              </a:rPr>
              <a:t>Pil netral dengan titik warna.</a:t>
            </a:r>
            <a:endParaRPr lang="en-US" sz="1200" dirty="0"/>
          </a:p>
        </p:txBody>
      </p:sp>
      <p:sp>
        <p:nvSpPr>
          <p:cNvPr id="25" name="Slide Number Placeholder 0"/>
          <p:cNvSpPr>
            <a:spLocks noGrp="1"/>
          </p:cNvSpPr>
          <p:nvPr>
            <p:ph type="sldNum" sz="quarter" idx="4294967295"/>
          </p:nvPr>
        </p:nvSpPr>
        <p:spPr>
          <a:xfrm>
            <a:off x="11183112"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C5C5C"/>
                </a:solidFill>
                <a:latin typeface="Segoe UI"/>
                <a:ea typeface="Segoe UI"/>
                <a:cs typeface="Segoe U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548640" y="411480"/>
            <a:ext cx="993038" cy="292608"/>
          </a:xfrm>
          <a:prstGeom prst="roundRect">
            <a:avLst>
              <a:gd name="adj" fmla="val 50000"/>
            </a:avLst>
          </a:prstGeom>
          <a:solidFill>
            <a:srgbClr val="262626"/>
          </a:solidFill>
          <a:ln/>
        </p:spPr>
      </p:sp>
      <p:sp>
        <p:nvSpPr>
          <p:cNvPr id="3" name="Text 1"/>
          <p:cNvSpPr txBox="1"/>
          <p:nvPr/>
        </p:nvSpPr>
        <p:spPr>
          <a:xfrm>
            <a:off x="548640" y="411480"/>
            <a:ext cx="993038" cy="292608"/>
          </a:xfrm>
          <a:prstGeom prst="rect">
            <a:avLst/>
          </a:prstGeom>
          <a:noFill/>
          <a:ln/>
        </p:spPr>
        <p:txBody>
          <a:bodyPr wrap="square" lIns="0" tIns="0" rIns="0" bIns="0" rtlCol="0" anchor="ctr"/>
          <a:lstStyle/>
          <a:p>
            <a:pPr algn="ctr" indent="0" marL="0">
              <a:buNone/>
            </a:pPr>
            <a:r>
              <a:rPr lang="en-US" sz="950" spc="150" kern="0" dirty="0">
                <a:solidFill>
                  <a:srgbClr val="D4D4D4"/>
                </a:solidFill>
                <a:latin typeface="Segoe UI Semibold" pitchFamily="34" charset="0"/>
                <a:ea typeface="Segoe UI Semibold" pitchFamily="34" charset="-122"/>
                <a:cs typeface="Segoe UI Semibold" pitchFamily="34" charset="-120"/>
              </a:rPr>
              <a:t>SOROTAN</a:t>
            </a:r>
            <a:endParaRPr lang="en-US" sz="950" dirty="0"/>
          </a:p>
        </p:txBody>
      </p:sp>
      <p:sp>
        <p:nvSpPr>
          <p:cNvPr id="4" name="Text 0"/>
          <p:cNvSpPr/>
          <p:nvPr>
            <p:ph idx="100" type="title" hasCustomPrompt="1"/>
          </p:nvPr>
        </p:nvSpPr>
        <p:spPr>
          <a:xfrm>
            <a:off x="548640" y="868680"/>
            <a:ext cx="11064240" cy="777240"/>
          </a:xfrm>
          <a:prstGeom prst="rect">
            <a:avLst/>
          </a:prstGeom>
          <a:noFill/>
          <a:ln/>
        </p:spPr>
        <p:txBody>
          <a:bodyPr wrap="square" lIns="0" tIns="0" rIns="0" bIns="0" rtlCol="0" anchor="t"/>
          <a:lstStyle/>
          <a:p>
            <a:pPr algn="l" indent="0" marL="0">
              <a:buNone/>
            </a:pPr>
            <a:r>
              <a:rPr lang="en-US" sz="3000" dirty="0">
                <a:solidFill>
                  <a:srgbClr val="FFFFFF"/>
                </a:solidFill>
                <a:latin typeface="Segoe UI Semibold" pitchFamily="34" charset="0"/>
                <a:ea typeface="Segoe UI Semibold" pitchFamily="34" charset="-122"/>
                <a:cs typeface="Segoe UI Semibold" pitchFamily="34" charset="-120"/>
              </a:rPr>
              <a:t>Mode gelap dan asisten "Tanya AI"</a:t>
            </a:r>
            <a:endParaRPr lang="en-US" sz="3000" dirty="0"/>
          </a:p>
        </p:txBody>
      </p:sp>
      <p:pic>
        <p:nvPicPr>
          <p:cNvPr id="5" name="Image 0" descr="C:\laragon\www\e-commerce\scripts\ppt\aset\hp-gelap.png">    </p:cNvPr>
          <p:cNvPicPr>
            <a:picLocks noChangeAspect="1"/>
          </p:cNvPicPr>
          <p:nvPr/>
        </p:nvPicPr>
        <p:blipFill>
          <a:blip r:embed="rId1"/>
          <a:stretch>
            <a:fillRect/>
          </a:stretch>
        </p:blipFill>
        <p:spPr>
          <a:xfrm>
            <a:off x="548640" y="1874520"/>
            <a:ext cx="1943642" cy="4206240"/>
          </a:xfrm>
          <a:prstGeom prst="rect">
            <a:avLst/>
          </a:prstGeom>
        </p:spPr>
      </p:pic>
      <p:pic>
        <p:nvPicPr>
          <p:cNvPr id="6" name="Image 1" descr="C:\laragon\www\e-commerce\scripts\ppt\aset\asisten-panel.png">    </p:cNvPr>
          <p:cNvPicPr>
            <a:picLocks noChangeAspect="1"/>
          </p:cNvPicPr>
          <p:nvPr/>
        </p:nvPicPr>
        <p:blipFill>
          <a:blip r:embed="rId2"/>
          <a:stretch>
            <a:fillRect/>
          </a:stretch>
        </p:blipFill>
        <p:spPr>
          <a:xfrm>
            <a:off x="2788920" y="1874520"/>
            <a:ext cx="2677928" cy="4206240"/>
          </a:xfrm>
          <a:prstGeom prst="rect">
            <a:avLst/>
          </a:prstGeom>
        </p:spPr>
      </p:pic>
      <p:sp>
        <p:nvSpPr>
          <p:cNvPr id="7" name="Text 3"/>
          <p:cNvSpPr txBox="1"/>
          <p:nvPr/>
        </p:nvSpPr>
        <p:spPr>
          <a:xfrm>
            <a:off x="5897880" y="1920240"/>
            <a:ext cx="5760720" cy="411480"/>
          </a:xfrm>
          <a:prstGeom prst="rect">
            <a:avLst/>
          </a:prstGeom>
          <a:noFill/>
          <a:ln/>
        </p:spPr>
        <p:txBody>
          <a:bodyPr wrap="square" lIns="0" tIns="0" rIns="0" bIns="0" rtlCol="0" anchor="t"/>
          <a:lstStyle/>
          <a:p>
            <a:pPr indent="0" marL="0">
              <a:buNone/>
            </a:pPr>
            <a:r>
              <a:rPr lang="en-US" sz="1600" dirty="0">
                <a:solidFill>
                  <a:srgbClr val="FFFFFF"/>
                </a:solidFill>
                <a:latin typeface="Segoe UI Semibold" pitchFamily="34" charset="0"/>
                <a:ea typeface="Segoe UI Semibold" pitchFamily="34" charset="-122"/>
                <a:cs typeface="Segoe UI Semibold" pitchFamily="34" charset="-120"/>
              </a:rPr>
              <a:t>Asisten belanja, bukan chatbot serba bisa</a:t>
            </a:r>
            <a:endParaRPr lang="en-US" sz="1600" dirty="0"/>
          </a:p>
        </p:txBody>
      </p:sp>
      <p:sp>
        <p:nvSpPr>
          <p:cNvPr id="8" name="Text 4"/>
          <p:cNvSpPr txBox="1"/>
          <p:nvPr/>
        </p:nvSpPr>
        <p:spPr>
          <a:xfrm>
            <a:off x="5897880" y="2560320"/>
            <a:ext cx="5486400" cy="3291840"/>
          </a:xfrm>
          <a:prstGeom prst="rect">
            <a:avLst/>
          </a:prstGeom>
          <a:noFill/>
          <a:ln/>
        </p:spPr>
        <p:txBody>
          <a:bodyPr wrap="square" lIns="0" tIns="0" rIns="0" bIns="0" rtlCol="0" anchor="t"/>
          <a:lstStyle/>
          <a:p>
            <a:pPr marL="342900" indent="-342900">
              <a:spcAft>
                <a:spcPts val="1000"/>
              </a:spcAft>
              <a:buSzPct val="100000"/>
              <a:buChar char="•"/>
            </a:pPr>
            <a:r>
              <a:rPr lang="en-US" sz="1400" dirty="0">
                <a:solidFill>
                  <a:srgbClr val="D4D4D4"/>
                </a:solidFill>
                <a:latin typeface="Segoe UI" pitchFamily="34" charset="0"/>
                <a:ea typeface="Segoe UI" pitchFamily="34" charset="-122"/>
                <a:cs typeface="Segoe UI" pitchFamily="34" charset="-120"/>
              </a:rPr>
              <a:t>Rekomendasi produk sesuai kebutuhan dan anggaran, tampil sebagai kartu dengan harga terbaru dari database.</a:t>
            </a:r>
            <a:endParaRPr lang="en-US" sz="1400" dirty="0"/>
          </a:p>
          <a:p>
            <a:pPr marL="342900" indent="-342900">
              <a:spcAft>
                <a:spcPts val="1000"/>
              </a:spcAft>
              <a:buSzPct val="100000"/>
              <a:buChar char="•"/>
            </a:pPr>
            <a:r>
              <a:rPr lang="en-US" sz="1400" dirty="0">
                <a:solidFill>
                  <a:srgbClr val="D4D4D4"/>
                </a:solidFill>
                <a:latin typeface="Segoe UI" pitchFamily="34" charset="0"/>
                <a:ea typeface="Segoe UI" pitchFamily="34" charset="-122"/>
                <a:cs typeface="Segoe UI" pitchFamily="34" charset="-120"/>
              </a:rPr>
              <a:t>Membantu belanja: tambah ke keranjang, lanjut checkout, pilih kurir dan pembayaran, isi formulir alamat. Semua lewat tombol yang ditekan pembeli.</a:t>
            </a:r>
            <a:endParaRPr lang="en-US" sz="1400" dirty="0"/>
          </a:p>
          <a:p>
            <a:pPr marL="342900" indent="-342900">
              <a:spcAft>
                <a:spcPts val="1000"/>
              </a:spcAft>
              <a:buSzPct val="100000"/>
              <a:buChar char="•"/>
            </a:pPr>
            <a:r>
              <a:rPr lang="en-US" sz="1400" dirty="0">
                <a:solidFill>
                  <a:srgbClr val="D4D4D4"/>
                </a:solidFill>
                <a:latin typeface="Segoe UI" pitchFamily="34" charset="0"/>
                <a:ea typeface="Segoe UI" pitchFamily="34" charset="-122"/>
                <a:cs typeface="Segoe UI" pitchFamily="34" charset="-120"/>
              </a:rPr>
              <a:t>Menolak coding, PR, puisi, SQL, dan jailbreak: 16/16 uji ditolak.</a:t>
            </a:r>
            <a:endParaRPr lang="en-US" sz="1400" dirty="0"/>
          </a:p>
          <a:p>
            <a:pPr marL="342900" indent="-342900">
              <a:spcAft>
                <a:spcPts val="1000"/>
              </a:spcAft>
              <a:buSzPct val="100000"/>
              <a:buChar char="•"/>
            </a:pPr>
            <a:r>
              <a:rPr lang="en-US" sz="1400" dirty="0">
                <a:solidFill>
                  <a:srgbClr val="D4D4D4"/>
                </a:solidFill>
                <a:latin typeface="Segoe UI" pitchFamily="34" charset="0"/>
                <a:ea typeface="Segoe UI" pitchFamily="34" charset="-122"/>
                <a:cs typeface="Segoe UI" pitchFamily="34" charset="-120"/>
              </a:rPr>
              <a:t>Tanpa akses database atau alat; nomor HP, kartu, NIK, password disamarkan.</a:t>
            </a:r>
            <a:endParaRPr lang="en-US" sz="1400" dirty="0"/>
          </a:p>
          <a:p>
            <a:pPr marL="342900" indent="-342900">
              <a:spcAft>
                <a:spcPts val="1000"/>
              </a:spcAft>
              <a:buSzPct val="100000"/>
              <a:buChar char="•"/>
            </a:pPr>
            <a:r>
              <a:rPr lang="en-US" sz="1400" dirty="0">
                <a:solidFill>
                  <a:srgbClr val="D4D4D4"/>
                </a:solidFill>
                <a:latin typeface="Segoe UI" pitchFamily="34" charset="0"/>
                <a:ea typeface="Segoe UI" pitchFamily="34" charset="-122"/>
                <a:cs typeface="Segoe UI" pitchFamily="34" charset="-120"/>
              </a:rPr>
              <a:t>Dibatasi per pengguna/IP, harian, dan global.</a:t>
            </a:r>
            <a:endParaRPr lang="en-US" sz="1400" dirty="0"/>
          </a:p>
        </p:txBody>
      </p:sp>
      <p:sp>
        <p:nvSpPr>
          <p:cNvPr id="25" name="Slide Number Placeholder 0"/>
          <p:cNvSpPr>
            <a:spLocks noGrp="1"/>
          </p:cNvSpPr>
          <p:nvPr>
            <p:ph type="sldNum" sz="quarter" idx="4294967295"/>
          </p:nvPr>
        </p:nvSpPr>
        <p:spPr>
          <a:xfrm>
            <a:off x="11183112"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3A3A3"/>
                </a:solidFill>
                <a:latin typeface="Segoe UI"/>
                <a:ea typeface="Segoe UI"/>
                <a:cs typeface="Segoe U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548640" y="411480"/>
            <a:ext cx="1441094" cy="292608"/>
          </a:xfrm>
          <a:prstGeom prst="roundRect">
            <a:avLst>
              <a:gd name="adj" fmla="val 50000"/>
            </a:avLst>
          </a:prstGeom>
          <a:solidFill>
            <a:srgbClr val="F3F3F3"/>
          </a:solidFill>
          <a:ln/>
        </p:spPr>
      </p:sp>
      <p:sp>
        <p:nvSpPr>
          <p:cNvPr id="3" name="Text 1"/>
          <p:cNvSpPr txBox="1"/>
          <p:nvPr/>
        </p:nvSpPr>
        <p:spPr>
          <a:xfrm>
            <a:off x="548640" y="411480"/>
            <a:ext cx="1441094" cy="292608"/>
          </a:xfrm>
          <a:prstGeom prst="rect">
            <a:avLst/>
          </a:prstGeom>
          <a:noFill/>
          <a:ln/>
        </p:spPr>
        <p:txBody>
          <a:bodyPr wrap="square" lIns="0" tIns="0" rIns="0" bIns="0" rtlCol="0" anchor="ctr"/>
          <a:lstStyle/>
          <a:p>
            <a:pPr algn="ctr" indent="0" marL="0">
              <a:buNone/>
            </a:pPr>
            <a:r>
              <a:rPr lang="en-US" sz="950" spc="150" kern="0" dirty="0">
                <a:solidFill>
                  <a:srgbClr val="5C5C5C"/>
                </a:solidFill>
                <a:latin typeface="Segoe UI Semibold" pitchFamily="34" charset="0"/>
                <a:ea typeface="Segoe UI Semibold" pitchFamily="34" charset="-122"/>
                <a:cs typeface="Segoe UI Semibold" pitchFamily="34" charset="-120"/>
              </a:rPr>
              <a:t>STRUKTUR TIM</a:t>
            </a:r>
            <a:endParaRPr lang="en-US" sz="950" dirty="0"/>
          </a:p>
        </p:txBody>
      </p:sp>
      <p:sp>
        <p:nvSpPr>
          <p:cNvPr id="4" name="Text 1"/>
          <p:cNvSpPr/>
          <p:nvPr>
            <p:ph idx="101" type="title" hasCustomPrompt="1"/>
          </p:nvPr>
        </p:nvSpPr>
        <p:spPr>
          <a:xfrm>
            <a:off x="548640" y="868680"/>
            <a:ext cx="11064240" cy="777240"/>
          </a:xfrm>
          <a:prstGeom prst="rect">
            <a:avLst/>
          </a:prstGeom>
          <a:noFill/>
          <a:ln/>
        </p:spPr>
        <p:txBody>
          <a:bodyPr wrap="square" lIns="0" tIns="0" rIns="0" bIns="0" rtlCol="0" anchor="t"/>
          <a:lstStyle/>
          <a:p>
            <a:pPr algn="l" indent="0" marL="0">
              <a:buNone/>
            </a:pPr>
            <a:r>
              <a:rPr lang="en-US" sz="3000" dirty="0">
                <a:solidFill>
                  <a:srgbClr val="0A0A0A"/>
                </a:solidFill>
                <a:latin typeface="Segoe UI Semibold" pitchFamily="34" charset="0"/>
                <a:ea typeface="Segoe UI Semibold" pitchFamily="34" charset="-122"/>
                <a:cs typeface="Segoe UI Semibold" pitchFamily="34" charset="-120"/>
              </a:rPr>
              <a:t>Pembagian modul kerja tim</a:t>
            </a:r>
            <a:endParaRPr lang="en-US" sz="3000" dirty="0"/>
          </a:p>
        </p:txBody>
      </p:sp>
      <p:sp>
        <p:nvSpPr>
          <p:cNvPr id="5" name="Shape 3"/>
          <p:cNvSpPr/>
          <p:nvPr/>
        </p:nvSpPr>
        <p:spPr>
          <a:xfrm>
            <a:off x="548640" y="1874520"/>
            <a:ext cx="2103120" cy="4114800"/>
          </a:xfrm>
          <a:prstGeom prst="roundRect">
            <a:avLst>
              <a:gd name="adj" fmla="val 9565"/>
            </a:avLst>
          </a:prstGeom>
          <a:solidFill>
            <a:srgbClr val="F3F3F3"/>
          </a:solidFill>
          <a:ln/>
        </p:spPr>
      </p:sp>
      <p:sp>
        <p:nvSpPr>
          <p:cNvPr id="6" name="Text 4"/>
          <p:cNvSpPr txBox="1"/>
          <p:nvPr/>
        </p:nvSpPr>
        <p:spPr>
          <a:xfrm>
            <a:off x="804672" y="2103120"/>
            <a:ext cx="914400" cy="457200"/>
          </a:xfrm>
          <a:prstGeom prst="rect">
            <a:avLst/>
          </a:prstGeom>
          <a:noFill/>
          <a:ln/>
        </p:spPr>
        <p:txBody>
          <a:bodyPr wrap="square" lIns="0" tIns="0" rIns="0" bIns="0" rtlCol="0" anchor="t"/>
          <a:lstStyle/>
          <a:p>
            <a:pPr indent="0" marL="0">
              <a:buNone/>
            </a:pPr>
            <a:r>
              <a:rPr lang="en-US" sz="2400" dirty="0">
                <a:solidFill>
                  <a:srgbClr val="5C5C5C"/>
                </a:solidFill>
                <a:latin typeface="Segoe UI Semibold" pitchFamily="34" charset="0"/>
                <a:ea typeface="Segoe UI Semibold" pitchFamily="34" charset="-122"/>
                <a:cs typeface="Segoe UI Semibold" pitchFamily="34" charset="-120"/>
              </a:rPr>
              <a:t>01</a:t>
            </a:r>
            <a:endParaRPr lang="en-US" sz="2400" dirty="0"/>
          </a:p>
        </p:txBody>
      </p:sp>
      <p:sp>
        <p:nvSpPr>
          <p:cNvPr id="7" name="Text 5"/>
          <p:cNvSpPr txBox="1"/>
          <p:nvPr/>
        </p:nvSpPr>
        <p:spPr>
          <a:xfrm>
            <a:off x="804672" y="2743200"/>
            <a:ext cx="1691640" cy="640080"/>
          </a:xfrm>
          <a:prstGeom prst="rect">
            <a:avLst/>
          </a:prstGeom>
          <a:noFill/>
          <a:ln/>
        </p:spPr>
        <p:txBody>
          <a:bodyPr wrap="square" lIns="0" tIns="0" rIns="0" bIns="0" rtlCol="0" anchor="t"/>
          <a:lstStyle/>
          <a:p>
            <a:pPr indent="0" marL="0">
              <a:buNone/>
            </a:pPr>
            <a:r>
              <a:rPr lang="en-US" sz="1500" dirty="0">
                <a:solidFill>
                  <a:srgbClr val="0A0A0A"/>
                </a:solidFill>
                <a:latin typeface="Segoe UI Semibold" pitchFamily="34" charset="0"/>
                <a:ea typeface="Segoe UI Semibold" pitchFamily="34" charset="-122"/>
                <a:cs typeface="Segoe UI Semibold" pitchFamily="34" charset="-120"/>
              </a:rPr>
              <a:t>Arsitektur &amp; data</a:t>
            </a:r>
            <a:endParaRPr lang="en-US" sz="1500" dirty="0"/>
          </a:p>
        </p:txBody>
      </p:sp>
      <p:sp>
        <p:nvSpPr>
          <p:cNvPr id="8" name="Text 6"/>
          <p:cNvSpPr txBox="1"/>
          <p:nvPr/>
        </p:nvSpPr>
        <p:spPr>
          <a:xfrm>
            <a:off x="804672" y="3520440"/>
            <a:ext cx="1691640" cy="2194560"/>
          </a:xfrm>
          <a:prstGeom prst="rect">
            <a:avLst/>
          </a:prstGeom>
          <a:noFill/>
          <a:ln/>
        </p:spPr>
        <p:txBody>
          <a:bodyPr wrap="square" lIns="0" tIns="0" rIns="0" bIns="0" rtlCol="0" anchor="t"/>
          <a:lstStyle/>
          <a:p>
            <a:pPr marL="342900" indent="-342900">
              <a:spcAft>
                <a:spcPts val="600"/>
              </a:spcAft>
              <a:buSzPct val="100000"/>
              <a:buChar char="•"/>
            </a:pPr>
            <a:r>
              <a:rPr lang="en-US" sz="1150" dirty="0">
                <a:solidFill>
                  <a:srgbClr val="5C5C5C"/>
                </a:solidFill>
                <a:latin typeface="Segoe UI" pitchFamily="34" charset="0"/>
                <a:ea typeface="Segoe UI" pitchFamily="34" charset="-122"/>
                <a:cs typeface="Segoe UI" pitchFamily="34" charset="-120"/>
              </a:rPr>
              <a:t>Skema database &amp; Prisma</a:t>
            </a:r>
            <a:endParaRPr lang="en-US" sz="1150" dirty="0"/>
          </a:p>
          <a:p>
            <a:pPr marL="342900" indent="-342900">
              <a:spcAft>
                <a:spcPts val="600"/>
              </a:spcAft>
              <a:buSzPct val="100000"/>
              <a:buChar char="•"/>
            </a:pPr>
            <a:r>
              <a:rPr lang="en-US" sz="1150" dirty="0">
                <a:solidFill>
                  <a:srgbClr val="5C5C5C"/>
                </a:solidFill>
                <a:latin typeface="Segoe UI" pitchFamily="34" charset="0"/>
                <a:ea typeface="Segoe UI" pitchFamily="34" charset="-122"/>
                <a:cs typeface="Segoe UI" pitchFamily="34" charset="-120"/>
              </a:rPr>
              <a:t>Login &amp; keamanan</a:t>
            </a:r>
            <a:endParaRPr lang="en-US" sz="1150" dirty="0"/>
          </a:p>
          <a:p>
            <a:pPr marL="342900" indent="-342900">
              <a:spcAft>
                <a:spcPts val="600"/>
              </a:spcAft>
              <a:buSzPct val="100000"/>
              <a:buChar char="•"/>
            </a:pPr>
            <a:r>
              <a:rPr lang="en-US" sz="1150" dirty="0">
                <a:solidFill>
                  <a:srgbClr val="5C5C5C"/>
                </a:solidFill>
                <a:latin typeface="Segoe UI" pitchFamily="34" charset="0"/>
                <a:ea typeface="Segoe UI" pitchFamily="34" charset="-122"/>
                <a:cs typeface="Segoe UI" pitchFamily="34" charset="-120"/>
              </a:rPr>
              <a:t>Review Pull Request</a:t>
            </a:r>
            <a:endParaRPr lang="en-US" sz="1150" dirty="0"/>
          </a:p>
        </p:txBody>
      </p:sp>
      <p:sp>
        <p:nvSpPr>
          <p:cNvPr id="9" name="Shape 7"/>
          <p:cNvSpPr/>
          <p:nvPr/>
        </p:nvSpPr>
        <p:spPr>
          <a:xfrm>
            <a:off x="2816352" y="1874520"/>
            <a:ext cx="2103120" cy="4114800"/>
          </a:xfrm>
          <a:prstGeom prst="roundRect">
            <a:avLst>
              <a:gd name="adj" fmla="val 9565"/>
            </a:avLst>
          </a:prstGeom>
          <a:solidFill>
            <a:srgbClr val="F3F3F3"/>
          </a:solidFill>
          <a:ln/>
        </p:spPr>
      </p:sp>
      <p:sp>
        <p:nvSpPr>
          <p:cNvPr id="10" name="Text 8"/>
          <p:cNvSpPr txBox="1"/>
          <p:nvPr/>
        </p:nvSpPr>
        <p:spPr>
          <a:xfrm>
            <a:off x="3072384" y="2103120"/>
            <a:ext cx="914400" cy="457200"/>
          </a:xfrm>
          <a:prstGeom prst="rect">
            <a:avLst/>
          </a:prstGeom>
          <a:noFill/>
          <a:ln/>
        </p:spPr>
        <p:txBody>
          <a:bodyPr wrap="square" lIns="0" tIns="0" rIns="0" bIns="0" rtlCol="0" anchor="t"/>
          <a:lstStyle/>
          <a:p>
            <a:pPr indent="0" marL="0">
              <a:buNone/>
            </a:pPr>
            <a:r>
              <a:rPr lang="en-US" sz="2400" dirty="0">
                <a:solidFill>
                  <a:srgbClr val="5C5C5C"/>
                </a:solidFill>
                <a:latin typeface="Segoe UI Semibold" pitchFamily="34" charset="0"/>
                <a:ea typeface="Segoe UI Semibold" pitchFamily="34" charset="-122"/>
                <a:cs typeface="Segoe UI Semibold" pitchFamily="34" charset="-120"/>
              </a:rPr>
              <a:t>02</a:t>
            </a:r>
            <a:endParaRPr lang="en-US" sz="2400" dirty="0"/>
          </a:p>
        </p:txBody>
      </p:sp>
      <p:sp>
        <p:nvSpPr>
          <p:cNvPr id="11" name="Text 9"/>
          <p:cNvSpPr txBox="1"/>
          <p:nvPr/>
        </p:nvSpPr>
        <p:spPr>
          <a:xfrm>
            <a:off x="3072384" y="2743200"/>
            <a:ext cx="1691640" cy="640080"/>
          </a:xfrm>
          <a:prstGeom prst="rect">
            <a:avLst/>
          </a:prstGeom>
          <a:noFill/>
          <a:ln/>
        </p:spPr>
        <p:txBody>
          <a:bodyPr wrap="square" lIns="0" tIns="0" rIns="0" bIns="0" rtlCol="0" anchor="t"/>
          <a:lstStyle/>
          <a:p>
            <a:pPr indent="0" marL="0">
              <a:buNone/>
            </a:pPr>
            <a:r>
              <a:rPr lang="en-US" sz="1500" dirty="0">
                <a:solidFill>
                  <a:srgbClr val="0A0A0A"/>
                </a:solidFill>
                <a:latin typeface="Segoe UI Semibold" pitchFamily="34" charset="0"/>
                <a:ea typeface="Segoe UI Semibold" pitchFamily="34" charset="-122"/>
                <a:cs typeface="Segoe UI Semibold" pitchFamily="34" charset="-120"/>
              </a:rPr>
              <a:t>Frontend katalog</a:t>
            </a:r>
            <a:endParaRPr lang="en-US" sz="1500" dirty="0"/>
          </a:p>
        </p:txBody>
      </p:sp>
      <p:sp>
        <p:nvSpPr>
          <p:cNvPr id="12" name="Text 10"/>
          <p:cNvSpPr txBox="1"/>
          <p:nvPr/>
        </p:nvSpPr>
        <p:spPr>
          <a:xfrm>
            <a:off x="3072384" y="3520440"/>
            <a:ext cx="1691640" cy="2194560"/>
          </a:xfrm>
          <a:prstGeom prst="rect">
            <a:avLst/>
          </a:prstGeom>
          <a:noFill/>
          <a:ln/>
        </p:spPr>
        <p:txBody>
          <a:bodyPr wrap="square" lIns="0" tIns="0" rIns="0" bIns="0" rtlCol="0" anchor="t"/>
          <a:lstStyle/>
          <a:p>
            <a:pPr marL="342900" indent="-342900">
              <a:spcAft>
                <a:spcPts val="600"/>
              </a:spcAft>
              <a:buSzPct val="100000"/>
              <a:buChar char="•"/>
            </a:pPr>
            <a:r>
              <a:rPr lang="en-US" sz="1150" dirty="0">
                <a:solidFill>
                  <a:srgbClr val="5C5C5C"/>
                </a:solidFill>
                <a:latin typeface="Segoe UI" pitchFamily="34" charset="0"/>
                <a:ea typeface="Segoe UI" pitchFamily="34" charset="-122"/>
                <a:cs typeface="Segoe UI" pitchFamily="34" charset="-120"/>
              </a:rPr>
              <a:t>Beranda &amp; banner</a:t>
            </a:r>
            <a:endParaRPr lang="en-US" sz="1150" dirty="0"/>
          </a:p>
          <a:p>
            <a:pPr marL="342900" indent="-342900">
              <a:spcAft>
                <a:spcPts val="600"/>
              </a:spcAft>
              <a:buSzPct val="100000"/>
              <a:buChar char="•"/>
            </a:pPr>
            <a:r>
              <a:rPr lang="en-US" sz="1150" dirty="0">
                <a:solidFill>
                  <a:srgbClr val="5C5C5C"/>
                </a:solidFill>
                <a:latin typeface="Segoe UI" pitchFamily="34" charset="0"/>
                <a:ea typeface="Segoe UI" pitchFamily="34" charset="-122"/>
                <a:cs typeface="Segoe UI" pitchFamily="34" charset="-120"/>
              </a:rPr>
              <a:t>Pencarian &amp; filter</a:t>
            </a:r>
            <a:endParaRPr lang="en-US" sz="1150" dirty="0"/>
          </a:p>
          <a:p>
            <a:pPr marL="342900" indent="-342900">
              <a:spcAft>
                <a:spcPts val="600"/>
              </a:spcAft>
              <a:buSzPct val="100000"/>
              <a:buChar char="•"/>
            </a:pPr>
            <a:r>
              <a:rPr lang="en-US" sz="1150" dirty="0">
                <a:solidFill>
                  <a:srgbClr val="5C5C5C"/>
                </a:solidFill>
                <a:latin typeface="Segoe UI" pitchFamily="34" charset="0"/>
                <a:ea typeface="Segoe UI" pitchFamily="34" charset="-122"/>
                <a:cs typeface="Segoe UI" pitchFamily="34" charset="-120"/>
              </a:rPr>
              <a:t>Halaman detail produk</a:t>
            </a:r>
            <a:endParaRPr lang="en-US" sz="1150" dirty="0"/>
          </a:p>
        </p:txBody>
      </p:sp>
      <p:sp>
        <p:nvSpPr>
          <p:cNvPr id="13" name="Shape 11"/>
          <p:cNvSpPr/>
          <p:nvPr/>
        </p:nvSpPr>
        <p:spPr>
          <a:xfrm>
            <a:off x="5084064" y="1874520"/>
            <a:ext cx="2103120" cy="4114800"/>
          </a:xfrm>
          <a:prstGeom prst="roundRect">
            <a:avLst>
              <a:gd name="adj" fmla="val 9565"/>
            </a:avLst>
          </a:prstGeom>
          <a:solidFill>
            <a:srgbClr val="F3F3F3"/>
          </a:solidFill>
          <a:ln/>
        </p:spPr>
      </p:sp>
      <p:sp>
        <p:nvSpPr>
          <p:cNvPr id="14" name="Text 12"/>
          <p:cNvSpPr txBox="1"/>
          <p:nvPr/>
        </p:nvSpPr>
        <p:spPr>
          <a:xfrm>
            <a:off x="5340096" y="2103120"/>
            <a:ext cx="914400" cy="457200"/>
          </a:xfrm>
          <a:prstGeom prst="rect">
            <a:avLst/>
          </a:prstGeom>
          <a:noFill/>
          <a:ln/>
        </p:spPr>
        <p:txBody>
          <a:bodyPr wrap="square" lIns="0" tIns="0" rIns="0" bIns="0" rtlCol="0" anchor="t"/>
          <a:lstStyle/>
          <a:p>
            <a:pPr indent="0" marL="0">
              <a:buNone/>
            </a:pPr>
            <a:r>
              <a:rPr lang="en-US" sz="2400" dirty="0">
                <a:solidFill>
                  <a:srgbClr val="5C5C5C"/>
                </a:solidFill>
                <a:latin typeface="Segoe UI Semibold" pitchFamily="34" charset="0"/>
                <a:ea typeface="Segoe UI Semibold" pitchFamily="34" charset="-122"/>
                <a:cs typeface="Segoe UI Semibold" pitchFamily="34" charset="-120"/>
              </a:rPr>
              <a:t>03</a:t>
            </a:r>
            <a:endParaRPr lang="en-US" sz="2400" dirty="0"/>
          </a:p>
        </p:txBody>
      </p:sp>
      <p:sp>
        <p:nvSpPr>
          <p:cNvPr id="15" name="Text 13"/>
          <p:cNvSpPr txBox="1"/>
          <p:nvPr/>
        </p:nvSpPr>
        <p:spPr>
          <a:xfrm>
            <a:off x="5340096" y="2743200"/>
            <a:ext cx="1691640" cy="640080"/>
          </a:xfrm>
          <a:prstGeom prst="rect">
            <a:avLst/>
          </a:prstGeom>
          <a:noFill/>
          <a:ln/>
        </p:spPr>
        <p:txBody>
          <a:bodyPr wrap="square" lIns="0" tIns="0" rIns="0" bIns="0" rtlCol="0" anchor="t"/>
          <a:lstStyle/>
          <a:p>
            <a:pPr indent="0" marL="0">
              <a:buNone/>
            </a:pPr>
            <a:r>
              <a:rPr lang="en-US" sz="1500" dirty="0">
                <a:solidFill>
                  <a:srgbClr val="0A0A0A"/>
                </a:solidFill>
                <a:latin typeface="Segoe UI Semibold" pitchFamily="34" charset="0"/>
                <a:ea typeface="Segoe UI Semibold" pitchFamily="34" charset="-122"/>
                <a:cs typeface="Segoe UI Semibold" pitchFamily="34" charset="-120"/>
              </a:rPr>
              <a:t>Frontend transaksi</a:t>
            </a:r>
            <a:endParaRPr lang="en-US" sz="1500" dirty="0"/>
          </a:p>
        </p:txBody>
      </p:sp>
      <p:sp>
        <p:nvSpPr>
          <p:cNvPr id="16" name="Text 14"/>
          <p:cNvSpPr txBox="1"/>
          <p:nvPr/>
        </p:nvSpPr>
        <p:spPr>
          <a:xfrm>
            <a:off x="5340096" y="3520440"/>
            <a:ext cx="1691640" cy="2194560"/>
          </a:xfrm>
          <a:prstGeom prst="rect">
            <a:avLst/>
          </a:prstGeom>
          <a:noFill/>
          <a:ln/>
        </p:spPr>
        <p:txBody>
          <a:bodyPr wrap="square" lIns="0" tIns="0" rIns="0" bIns="0" rtlCol="0" anchor="t"/>
          <a:lstStyle/>
          <a:p>
            <a:pPr marL="342900" indent="-342900">
              <a:spcAft>
                <a:spcPts val="600"/>
              </a:spcAft>
              <a:buSzPct val="100000"/>
              <a:buChar char="•"/>
            </a:pPr>
            <a:r>
              <a:rPr lang="en-US" sz="1150" dirty="0">
                <a:solidFill>
                  <a:srgbClr val="5C5C5C"/>
                </a:solidFill>
                <a:latin typeface="Segoe UI" pitchFamily="34" charset="0"/>
                <a:ea typeface="Segoe UI" pitchFamily="34" charset="-122"/>
                <a:cs typeface="Segoe UI" pitchFamily="34" charset="-120"/>
              </a:rPr>
              <a:t>Keranjang (drawer)</a:t>
            </a:r>
            <a:endParaRPr lang="en-US" sz="1150" dirty="0"/>
          </a:p>
          <a:p>
            <a:pPr marL="342900" indent="-342900">
              <a:spcAft>
                <a:spcPts val="600"/>
              </a:spcAft>
              <a:buSzPct val="100000"/>
              <a:buChar char="•"/>
            </a:pPr>
            <a:r>
              <a:rPr lang="en-US" sz="1150" dirty="0">
                <a:solidFill>
                  <a:srgbClr val="5C5C5C"/>
                </a:solidFill>
                <a:latin typeface="Segoe UI" pitchFamily="34" charset="0"/>
                <a:ea typeface="Segoe UI" pitchFamily="34" charset="-122"/>
                <a:cs typeface="Segoe UI" pitchFamily="34" charset="-120"/>
              </a:rPr>
              <a:t>Buku alamat</a:t>
            </a:r>
            <a:endParaRPr lang="en-US" sz="1150" dirty="0"/>
          </a:p>
          <a:p>
            <a:pPr marL="342900" indent="-342900">
              <a:spcAft>
                <a:spcPts val="600"/>
              </a:spcAft>
              <a:buSzPct val="100000"/>
              <a:buChar char="•"/>
            </a:pPr>
            <a:r>
              <a:rPr lang="en-US" sz="1150" dirty="0">
                <a:solidFill>
                  <a:srgbClr val="5C5C5C"/>
                </a:solidFill>
                <a:latin typeface="Segoe UI" pitchFamily="34" charset="0"/>
                <a:ea typeface="Segoe UI" pitchFamily="34" charset="-122"/>
                <a:cs typeface="Segoe UI" pitchFamily="34" charset="-120"/>
              </a:rPr>
              <a:t>Checkout 4 langkah</a:t>
            </a:r>
            <a:endParaRPr lang="en-US" sz="1150" dirty="0"/>
          </a:p>
        </p:txBody>
      </p:sp>
      <p:sp>
        <p:nvSpPr>
          <p:cNvPr id="17" name="Shape 15"/>
          <p:cNvSpPr/>
          <p:nvPr/>
        </p:nvSpPr>
        <p:spPr>
          <a:xfrm>
            <a:off x="7351776" y="1874520"/>
            <a:ext cx="2103120" cy="4114800"/>
          </a:xfrm>
          <a:prstGeom prst="roundRect">
            <a:avLst>
              <a:gd name="adj" fmla="val 9565"/>
            </a:avLst>
          </a:prstGeom>
          <a:solidFill>
            <a:srgbClr val="F3F3F3"/>
          </a:solidFill>
          <a:ln/>
        </p:spPr>
      </p:sp>
      <p:sp>
        <p:nvSpPr>
          <p:cNvPr id="18" name="Text 16"/>
          <p:cNvSpPr txBox="1"/>
          <p:nvPr/>
        </p:nvSpPr>
        <p:spPr>
          <a:xfrm>
            <a:off x="7607808" y="2103120"/>
            <a:ext cx="914400" cy="457200"/>
          </a:xfrm>
          <a:prstGeom prst="rect">
            <a:avLst/>
          </a:prstGeom>
          <a:noFill/>
          <a:ln/>
        </p:spPr>
        <p:txBody>
          <a:bodyPr wrap="square" lIns="0" tIns="0" rIns="0" bIns="0" rtlCol="0" anchor="t"/>
          <a:lstStyle/>
          <a:p>
            <a:pPr indent="0" marL="0">
              <a:buNone/>
            </a:pPr>
            <a:r>
              <a:rPr lang="en-US" sz="2400" dirty="0">
                <a:solidFill>
                  <a:srgbClr val="5C5C5C"/>
                </a:solidFill>
                <a:latin typeface="Segoe UI Semibold" pitchFamily="34" charset="0"/>
                <a:ea typeface="Segoe UI Semibold" pitchFamily="34" charset="-122"/>
                <a:cs typeface="Segoe UI Semibold" pitchFamily="34" charset="-120"/>
              </a:rPr>
              <a:t>04</a:t>
            </a:r>
            <a:endParaRPr lang="en-US" sz="2400" dirty="0"/>
          </a:p>
        </p:txBody>
      </p:sp>
      <p:sp>
        <p:nvSpPr>
          <p:cNvPr id="19" name="Text 17"/>
          <p:cNvSpPr txBox="1"/>
          <p:nvPr/>
        </p:nvSpPr>
        <p:spPr>
          <a:xfrm>
            <a:off x="7607808" y="2743200"/>
            <a:ext cx="1691640" cy="640080"/>
          </a:xfrm>
          <a:prstGeom prst="rect">
            <a:avLst/>
          </a:prstGeom>
          <a:noFill/>
          <a:ln/>
        </p:spPr>
        <p:txBody>
          <a:bodyPr wrap="square" lIns="0" tIns="0" rIns="0" bIns="0" rtlCol="0" anchor="t"/>
          <a:lstStyle/>
          <a:p>
            <a:pPr indent="0" marL="0">
              <a:buNone/>
            </a:pPr>
            <a:r>
              <a:rPr lang="en-US" sz="1500" dirty="0">
                <a:solidFill>
                  <a:srgbClr val="0A0A0A"/>
                </a:solidFill>
                <a:latin typeface="Segoe UI Semibold" pitchFamily="34" charset="0"/>
                <a:ea typeface="Segoe UI Semibold" pitchFamily="34" charset="-122"/>
                <a:cs typeface="Segoe UI Semibold" pitchFamily="34" charset="-120"/>
              </a:rPr>
              <a:t>Backend pesanan</a:t>
            </a:r>
            <a:endParaRPr lang="en-US" sz="1500" dirty="0"/>
          </a:p>
        </p:txBody>
      </p:sp>
      <p:sp>
        <p:nvSpPr>
          <p:cNvPr id="20" name="Text 18"/>
          <p:cNvSpPr txBox="1"/>
          <p:nvPr/>
        </p:nvSpPr>
        <p:spPr>
          <a:xfrm>
            <a:off x="7607808" y="3520440"/>
            <a:ext cx="1691640" cy="2194560"/>
          </a:xfrm>
          <a:prstGeom prst="rect">
            <a:avLst/>
          </a:prstGeom>
          <a:noFill/>
          <a:ln/>
        </p:spPr>
        <p:txBody>
          <a:bodyPr wrap="square" lIns="0" tIns="0" rIns="0" bIns="0" rtlCol="0" anchor="t"/>
          <a:lstStyle/>
          <a:p>
            <a:pPr marL="342900" indent="-342900">
              <a:spcAft>
                <a:spcPts val="600"/>
              </a:spcAft>
              <a:buSzPct val="100000"/>
              <a:buChar char="•"/>
            </a:pPr>
            <a:r>
              <a:rPr lang="en-US" sz="1150" dirty="0">
                <a:solidFill>
                  <a:srgbClr val="5C5C5C"/>
                </a:solidFill>
                <a:latin typeface="Segoe UI" pitchFamily="34" charset="0"/>
                <a:ea typeface="Segoe UI" pitchFamily="34" charset="-122"/>
                <a:cs typeface="Segoe UI" pitchFamily="34" charset="-120"/>
              </a:rPr>
              <a:t>Ongkir &amp; kode promo</a:t>
            </a:r>
            <a:endParaRPr lang="en-US" sz="1150" dirty="0"/>
          </a:p>
          <a:p>
            <a:pPr marL="342900" indent="-342900">
              <a:spcAft>
                <a:spcPts val="600"/>
              </a:spcAft>
              <a:buSzPct val="100000"/>
              <a:buChar char="•"/>
            </a:pPr>
            <a:r>
              <a:rPr lang="en-US" sz="1150" dirty="0">
                <a:solidFill>
                  <a:srgbClr val="5C5C5C"/>
                </a:solidFill>
                <a:latin typeface="Segoe UI" pitchFamily="34" charset="0"/>
                <a:ea typeface="Segoe UI" pitchFamily="34" charset="-122"/>
                <a:cs typeface="Segoe UI" pitchFamily="34" charset="-120"/>
              </a:rPr>
              <a:t>Email notifikasi</a:t>
            </a:r>
            <a:endParaRPr lang="en-US" sz="1150" dirty="0"/>
          </a:p>
          <a:p>
            <a:pPr marL="342900" indent="-342900">
              <a:spcAft>
                <a:spcPts val="600"/>
              </a:spcAft>
              <a:buSzPct val="100000"/>
              <a:buChar char="•"/>
            </a:pPr>
            <a:r>
              <a:rPr lang="en-US" sz="1150" dirty="0">
                <a:solidFill>
                  <a:srgbClr val="5C5C5C"/>
                </a:solidFill>
                <a:latin typeface="Segoe UI" pitchFamily="34" charset="0"/>
                <a:ea typeface="Segoe UI" pitchFamily="34" charset="-122"/>
                <a:cs typeface="Segoe UI" pitchFamily="34" charset="-120"/>
              </a:rPr>
              <a:t>Batal otomatis 24 jam</a:t>
            </a:r>
            <a:endParaRPr lang="en-US" sz="1150" dirty="0"/>
          </a:p>
        </p:txBody>
      </p:sp>
      <p:sp>
        <p:nvSpPr>
          <p:cNvPr id="21" name="Shape 19"/>
          <p:cNvSpPr/>
          <p:nvPr/>
        </p:nvSpPr>
        <p:spPr>
          <a:xfrm>
            <a:off x="9619488" y="1874520"/>
            <a:ext cx="2103120" cy="4114800"/>
          </a:xfrm>
          <a:prstGeom prst="roundRect">
            <a:avLst>
              <a:gd name="adj" fmla="val 9565"/>
            </a:avLst>
          </a:prstGeom>
          <a:solidFill>
            <a:srgbClr val="F3F3F3"/>
          </a:solidFill>
          <a:ln/>
        </p:spPr>
      </p:sp>
      <p:sp>
        <p:nvSpPr>
          <p:cNvPr id="22" name="Text 20"/>
          <p:cNvSpPr txBox="1"/>
          <p:nvPr/>
        </p:nvSpPr>
        <p:spPr>
          <a:xfrm>
            <a:off x="9875520" y="2103120"/>
            <a:ext cx="914400" cy="457200"/>
          </a:xfrm>
          <a:prstGeom prst="rect">
            <a:avLst/>
          </a:prstGeom>
          <a:noFill/>
          <a:ln/>
        </p:spPr>
        <p:txBody>
          <a:bodyPr wrap="square" lIns="0" tIns="0" rIns="0" bIns="0" rtlCol="0" anchor="t"/>
          <a:lstStyle/>
          <a:p>
            <a:pPr indent="0" marL="0">
              <a:buNone/>
            </a:pPr>
            <a:r>
              <a:rPr lang="en-US" sz="2400" dirty="0">
                <a:solidFill>
                  <a:srgbClr val="5C5C5C"/>
                </a:solidFill>
                <a:latin typeface="Segoe UI Semibold" pitchFamily="34" charset="0"/>
                <a:ea typeface="Segoe UI Semibold" pitchFamily="34" charset="-122"/>
                <a:cs typeface="Segoe UI Semibold" pitchFamily="34" charset="-120"/>
              </a:rPr>
              <a:t>05</a:t>
            </a:r>
            <a:endParaRPr lang="en-US" sz="2400" dirty="0"/>
          </a:p>
        </p:txBody>
      </p:sp>
      <p:sp>
        <p:nvSpPr>
          <p:cNvPr id="23" name="Text 21"/>
          <p:cNvSpPr txBox="1"/>
          <p:nvPr/>
        </p:nvSpPr>
        <p:spPr>
          <a:xfrm>
            <a:off x="9875520" y="2743200"/>
            <a:ext cx="1691640" cy="640080"/>
          </a:xfrm>
          <a:prstGeom prst="rect">
            <a:avLst/>
          </a:prstGeom>
          <a:noFill/>
          <a:ln/>
        </p:spPr>
        <p:txBody>
          <a:bodyPr wrap="square" lIns="0" tIns="0" rIns="0" bIns="0" rtlCol="0" anchor="t"/>
          <a:lstStyle/>
          <a:p>
            <a:pPr indent="0" marL="0">
              <a:buNone/>
            </a:pPr>
            <a:r>
              <a:rPr lang="en-US" sz="1500" dirty="0">
                <a:solidFill>
                  <a:srgbClr val="0A0A0A"/>
                </a:solidFill>
                <a:latin typeface="Segoe UI Semibold" pitchFamily="34" charset="0"/>
                <a:ea typeface="Segoe UI Semibold" pitchFamily="34" charset="-122"/>
                <a:cs typeface="Segoe UI Semibold" pitchFamily="34" charset="-120"/>
              </a:rPr>
              <a:t>Admin panel &amp; QA</a:t>
            </a:r>
            <a:endParaRPr lang="en-US" sz="1500" dirty="0"/>
          </a:p>
        </p:txBody>
      </p:sp>
      <p:sp>
        <p:nvSpPr>
          <p:cNvPr id="24" name="Text 22"/>
          <p:cNvSpPr txBox="1"/>
          <p:nvPr/>
        </p:nvSpPr>
        <p:spPr>
          <a:xfrm>
            <a:off x="9875520" y="3520440"/>
            <a:ext cx="1691640" cy="2194560"/>
          </a:xfrm>
          <a:prstGeom prst="rect">
            <a:avLst/>
          </a:prstGeom>
          <a:noFill/>
          <a:ln/>
        </p:spPr>
        <p:txBody>
          <a:bodyPr wrap="square" lIns="0" tIns="0" rIns="0" bIns="0" rtlCol="0" anchor="t"/>
          <a:lstStyle/>
          <a:p>
            <a:pPr marL="342900" indent="-342900">
              <a:spcAft>
                <a:spcPts val="600"/>
              </a:spcAft>
              <a:buSzPct val="100000"/>
              <a:buChar char="•"/>
            </a:pPr>
            <a:r>
              <a:rPr lang="en-US" sz="1150" dirty="0">
                <a:solidFill>
                  <a:srgbClr val="5C5C5C"/>
                </a:solidFill>
                <a:latin typeface="Segoe UI" pitchFamily="34" charset="0"/>
                <a:ea typeface="Segoe UI" pitchFamily="34" charset="-122"/>
                <a:cs typeface="Segoe UI" pitchFamily="34" charset="-120"/>
              </a:rPr>
              <a:t>Dashboard &amp; stok menipis</a:t>
            </a:r>
            <a:endParaRPr lang="en-US" sz="1150" dirty="0"/>
          </a:p>
          <a:p>
            <a:pPr marL="342900" indent="-342900">
              <a:spcAft>
                <a:spcPts val="600"/>
              </a:spcAft>
              <a:buSzPct val="100000"/>
              <a:buChar char="•"/>
            </a:pPr>
            <a:r>
              <a:rPr lang="en-US" sz="1150" dirty="0">
                <a:solidFill>
                  <a:srgbClr val="5C5C5C"/>
                </a:solidFill>
                <a:latin typeface="Segoe UI" pitchFamily="34" charset="0"/>
                <a:ea typeface="Segoe UI" pitchFamily="34" charset="-122"/>
                <a:cs typeface="Segoe UI" pitchFamily="34" charset="-120"/>
              </a:rPr>
              <a:t>Status pesanan &amp; resi</a:t>
            </a:r>
            <a:endParaRPr lang="en-US" sz="1150" dirty="0"/>
          </a:p>
          <a:p>
            <a:pPr marL="342900" indent="-342900">
              <a:spcAft>
                <a:spcPts val="600"/>
              </a:spcAft>
              <a:buSzPct val="100000"/>
              <a:buChar char="•"/>
            </a:pPr>
            <a:r>
              <a:rPr lang="en-US" sz="1150" dirty="0">
                <a:solidFill>
                  <a:srgbClr val="5C5C5C"/>
                </a:solidFill>
                <a:latin typeface="Segoe UI" pitchFamily="34" charset="0"/>
                <a:ea typeface="Segoe UI" pitchFamily="34" charset="-122"/>
                <a:cs typeface="Segoe UI" pitchFamily="34" charset="-120"/>
              </a:rPr>
              <a:t>Uji di berbagai HP</a:t>
            </a:r>
            <a:endParaRPr lang="en-US" sz="1150" dirty="0"/>
          </a:p>
        </p:txBody>
      </p:sp>
      <p:sp>
        <p:nvSpPr>
          <p:cNvPr id="25" name="Slide Number Placeholder 0"/>
          <p:cNvSpPr>
            <a:spLocks noGrp="1"/>
          </p:cNvSpPr>
          <p:nvPr>
            <p:ph type="sldNum" sz="quarter" idx="4294967295"/>
          </p:nvPr>
        </p:nvSpPr>
        <p:spPr>
          <a:xfrm>
            <a:off x="11183112"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C5C5C"/>
                </a:solidFill>
                <a:latin typeface="Segoe UI"/>
                <a:ea typeface="Segoe UI"/>
                <a:cs typeface="Segoe U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548640" y="411480"/>
            <a:ext cx="1620317" cy="292608"/>
          </a:xfrm>
          <a:prstGeom prst="roundRect">
            <a:avLst>
              <a:gd name="adj" fmla="val 50000"/>
            </a:avLst>
          </a:prstGeom>
          <a:solidFill>
            <a:srgbClr val="F3F3F3"/>
          </a:solidFill>
          <a:ln/>
        </p:spPr>
      </p:sp>
      <p:sp>
        <p:nvSpPr>
          <p:cNvPr id="3" name="Text 1"/>
          <p:cNvSpPr txBox="1"/>
          <p:nvPr/>
        </p:nvSpPr>
        <p:spPr>
          <a:xfrm>
            <a:off x="548640" y="411480"/>
            <a:ext cx="1620317" cy="292608"/>
          </a:xfrm>
          <a:prstGeom prst="rect">
            <a:avLst/>
          </a:prstGeom>
          <a:noFill/>
          <a:ln/>
        </p:spPr>
        <p:txBody>
          <a:bodyPr wrap="square" lIns="0" tIns="0" rIns="0" bIns="0" rtlCol="0" anchor="ctr"/>
          <a:lstStyle/>
          <a:p>
            <a:pPr algn="ctr" indent="0" marL="0">
              <a:buNone/>
            </a:pPr>
            <a:r>
              <a:rPr lang="en-US" sz="950" spc="150" kern="0" dirty="0">
                <a:solidFill>
                  <a:srgbClr val="5C5C5C"/>
                </a:solidFill>
                <a:latin typeface="Segoe UI Semibold" pitchFamily="34" charset="0"/>
                <a:ea typeface="Segoe UI Semibold" pitchFamily="34" charset="-122"/>
                <a:cs typeface="Segoe UI Semibold" pitchFamily="34" charset="-120"/>
              </a:rPr>
              <a:t>ALUR KERJA TIM</a:t>
            </a:r>
            <a:endParaRPr lang="en-US" sz="950" dirty="0"/>
          </a:p>
        </p:txBody>
      </p:sp>
      <p:sp>
        <p:nvSpPr>
          <p:cNvPr id="4" name="Text 1"/>
          <p:cNvSpPr/>
          <p:nvPr>
            <p:ph idx="101" type="title" hasCustomPrompt="1"/>
          </p:nvPr>
        </p:nvSpPr>
        <p:spPr>
          <a:xfrm>
            <a:off x="548640" y="868680"/>
            <a:ext cx="11064240" cy="777240"/>
          </a:xfrm>
          <a:prstGeom prst="rect">
            <a:avLst/>
          </a:prstGeom>
          <a:noFill/>
          <a:ln/>
        </p:spPr>
        <p:txBody>
          <a:bodyPr wrap="square" lIns="0" tIns="0" rIns="0" bIns="0" rtlCol="0" anchor="t"/>
          <a:lstStyle/>
          <a:p>
            <a:pPr algn="l" indent="0" marL="0">
              <a:buNone/>
            </a:pPr>
            <a:r>
              <a:rPr lang="en-US" sz="3000" dirty="0">
                <a:solidFill>
                  <a:srgbClr val="0A0A0A"/>
                </a:solidFill>
                <a:latin typeface="Segoe UI Semibold" pitchFamily="34" charset="0"/>
                <a:ea typeface="Segoe UI Semibold" pitchFamily="34" charset="-122"/>
                <a:cs typeface="Segoe UI Semibold" pitchFamily="34" charset="-120"/>
              </a:rPr>
              <a:t>Cara 5 orang bekerja tanpa kode bertabrakan</a:t>
            </a:r>
            <a:endParaRPr lang="en-US" sz="3000" dirty="0"/>
          </a:p>
        </p:txBody>
      </p:sp>
      <p:sp>
        <p:nvSpPr>
          <p:cNvPr id="5" name="Text 3"/>
          <p:cNvSpPr txBox="1"/>
          <p:nvPr/>
        </p:nvSpPr>
        <p:spPr>
          <a:xfrm>
            <a:off x="548640" y="1920240"/>
            <a:ext cx="4572000" cy="228600"/>
          </a:xfrm>
          <a:prstGeom prst="rect">
            <a:avLst/>
          </a:prstGeom>
          <a:noFill/>
          <a:ln/>
        </p:spPr>
        <p:txBody>
          <a:bodyPr wrap="square" lIns="0" tIns="0" rIns="0" bIns="0" rtlCol="0" anchor="t"/>
          <a:lstStyle/>
          <a:p>
            <a:pPr indent="0" marL="0">
              <a:buNone/>
            </a:pPr>
            <a:r>
              <a:rPr lang="en-US" sz="950" spc="150" kern="0" dirty="0">
                <a:solidFill>
                  <a:srgbClr val="5C5C5C"/>
                </a:solidFill>
                <a:latin typeface="Segoe UI Semibold" pitchFamily="34" charset="0"/>
                <a:ea typeface="Segoe UI Semibold" pitchFamily="34" charset="-122"/>
                <a:cs typeface="Segoe UI Semibold" pitchFamily="34" charset="-120"/>
              </a:rPr>
              <a:t>ALUR GIT &amp; GITHUB</a:t>
            </a:r>
            <a:endParaRPr lang="en-US" sz="950" dirty="0"/>
          </a:p>
        </p:txBody>
      </p:sp>
      <p:sp>
        <p:nvSpPr>
          <p:cNvPr id="6" name="Shape 4"/>
          <p:cNvSpPr/>
          <p:nvPr/>
        </p:nvSpPr>
        <p:spPr>
          <a:xfrm>
            <a:off x="548640" y="2286000"/>
            <a:ext cx="384048" cy="384048"/>
          </a:xfrm>
          <a:prstGeom prst="ellipse">
            <a:avLst/>
          </a:prstGeom>
          <a:solidFill>
            <a:srgbClr val="0A0A0A"/>
          </a:solidFill>
          <a:ln/>
        </p:spPr>
      </p:sp>
      <p:sp>
        <p:nvSpPr>
          <p:cNvPr id="7" name="Text 5"/>
          <p:cNvSpPr txBox="1"/>
          <p:nvPr/>
        </p:nvSpPr>
        <p:spPr>
          <a:xfrm>
            <a:off x="548640" y="2286000"/>
            <a:ext cx="384048" cy="384048"/>
          </a:xfrm>
          <a:prstGeom prst="rect">
            <a:avLst/>
          </a:prstGeom>
          <a:noFill/>
          <a:ln/>
        </p:spPr>
        <p:txBody>
          <a:bodyPr wrap="square" lIns="0" tIns="0" rIns="0" bIns="0" rtlCol="0" anchor="ctr"/>
          <a:lstStyle/>
          <a:p>
            <a:pPr algn="ctr" indent="0" marL="0">
              <a:buNone/>
            </a:pPr>
            <a:r>
              <a:rPr lang="en-US" sz="1200" dirty="0">
                <a:solidFill>
                  <a:srgbClr val="FFFFFF"/>
                </a:solidFill>
                <a:latin typeface="Segoe UI Semibold" pitchFamily="34" charset="0"/>
                <a:ea typeface="Segoe UI Semibold" pitchFamily="34" charset="-122"/>
                <a:cs typeface="Segoe UI Semibold" pitchFamily="34" charset="-120"/>
              </a:rPr>
              <a:t>1</a:t>
            </a:r>
            <a:endParaRPr lang="en-US" sz="1200" dirty="0"/>
          </a:p>
        </p:txBody>
      </p:sp>
      <p:sp>
        <p:nvSpPr>
          <p:cNvPr id="8" name="Text 6"/>
          <p:cNvSpPr txBox="1"/>
          <p:nvPr/>
        </p:nvSpPr>
        <p:spPr>
          <a:xfrm>
            <a:off x="1115568" y="2267712"/>
            <a:ext cx="4114800" cy="274320"/>
          </a:xfrm>
          <a:prstGeom prst="rect">
            <a:avLst/>
          </a:prstGeom>
          <a:noFill/>
          <a:ln/>
        </p:spPr>
        <p:txBody>
          <a:bodyPr wrap="square" lIns="0" tIns="0" rIns="0" bIns="0" rtlCol="0" anchor="t"/>
          <a:lstStyle/>
          <a:p>
            <a:pPr indent="0" marL="0">
              <a:buNone/>
            </a:pPr>
            <a:r>
              <a:rPr lang="en-US" sz="1400" dirty="0">
                <a:solidFill>
                  <a:srgbClr val="0A0A0A"/>
                </a:solidFill>
                <a:latin typeface="Segoe UI Semibold" pitchFamily="34" charset="0"/>
                <a:ea typeface="Segoe UI Semibold" pitchFamily="34" charset="-122"/>
                <a:cs typeface="Segoe UI Semibold" pitchFamily="34" charset="-120"/>
              </a:rPr>
              <a:t>Branch fitur</a:t>
            </a:r>
            <a:endParaRPr lang="en-US" sz="1400" dirty="0"/>
          </a:p>
        </p:txBody>
      </p:sp>
      <p:sp>
        <p:nvSpPr>
          <p:cNvPr id="9" name="Text 7"/>
          <p:cNvSpPr txBox="1"/>
          <p:nvPr/>
        </p:nvSpPr>
        <p:spPr>
          <a:xfrm>
            <a:off x="1115568" y="2542032"/>
            <a:ext cx="4114800" cy="274320"/>
          </a:xfrm>
          <a:prstGeom prst="rect">
            <a:avLst/>
          </a:prstGeom>
          <a:noFill/>
          <a:ln/>
        </p:spPr>
        <p:txBody>
          <a:bodyPr wrap="square" lIns="0" tIns="0" rIns="0" bIns="0" rtlCol="0" anchor="t"/>
          <a:lstStyle/>
          <a:p>
            <a:pPr indent="0" marL="0">
              <a:buNone/>
            </a:pPr>
            <a:r>
              <a:rPr lang="en-US" sz="1150" dirty="0">
                <a:solidFill>
                  <a:srgbClr val="5C5C5C"/>
                </a:solidFill>
                <a:latin typeface="Segoe UI" pitchFamily="34" charset="0"/>
                <a:ea typeface="Segoe UI" pitchFamily="34" charset="-122"/>
                <a:cs typeface="Segoe UI" pitchFamily="34" charset="-120"/>
              </a:rPr>
              <a:t>feat/… atau fix/… dari develop</a:t>
            </a:r>
            <a:endParaRPr lang="en-US" sz="1150" dirty="0"/>
          </a:p>
        </p:txBody>
      </p:sp>
      <p:sp>
        <p:nvSpPr>
          <p:cNvPr id="10" name="Shape 8"/>
          <p:cNvSpPr/>
          <p:nvPr/>
        </p:nvSpPr>
        <p:spPr>
          <a:xfrm>
            <a:off x="548640" y="3035808"/>
            <a:ext cx="384048" cy="384048"/>
          </a:xfrm>
          <a:prstGeom prst="ellipse">
            <a:avLst/>
          </a:prstGeom>
          <a:solidFill>
            <a:srgbClr val="0A0A0A"/>
          </a:solidFill>
          <a:ln/>
        </p:spPr>
      </p:sp>
      <p:sp>
        <p:nvSpPr>
          <p:cNvPr id="11" name="Text 9"/>
          <p:cNvSpPr txBox="1"/>
          <p:nvPr/>
        </p:nvSpPr>
        <p:spPr>
          <a:xfrm>
            <a:off x="548640" y="3035808"/>
            <a:ext cx="384048" cy="384048"/>
          </a:xfrm>
          <a:prstGeom prst="rect">
            <a:avLst/>
          </a:prstGeom>
          <a:noFill/>
          <a:ln/>
        </p:spPr>
        <p:txBody>
          <a:bodyPr wrap="square" lIns="0" tIns="0" rIns="0" bIns="0" rtlCol="0" anchor="ctr"/>
          <a:lstStyle/>
          <a:p>
            <a:pPr algn="ctr" indent="0" marL="0">
              <a:buNone/>
            </a:pPr>
            <a:r>
              <a:rPr lang="en-US" sz="1200" dirty="0">
                <a:solidFill>
                  <a:srgbClr val="FFFFFF"/>
                </a:solidFill>
                <a:latin typeface="Segoe UI Semibold" pitchFamily="34" charset="0"/>
                <a:ea typeface="Segoe UI Semibold" pitchFamily="34" charset="-122"/>
                <a:cs typeface="Segoe UI Semibold" pitchFamily="34" charset="-120"/>
              </a:rPr>
              <a:t>2</a:t>
            </a:r>
            <a:endParaRPr lang="en-US" sz="1200" dirty="0"/>
          </a:p>
        </p:txBody>
      </p:sp>
      <p:sp>
        <p:nvSpPr>
          <p:cNvPr id="12" name="Text 10"/>
          <p:cNvSpPr txBox="1"/>
          <p:nvPr/>
        </p:nvSpPr>
        <p:spPr>
          <a:xfrm>
            <a:off x="1115568" y="3017520"/>
            <a:ext cx="4114800" cy="274320"/>
          </a:xfrm>
          <a:prstGeom prst="rect">
            <a:avLst/>
          </a:prstGeom>
          <a:noFill/>
          <a:ln/>
        </p:spPr>
        <p:txBody>
          <a:bodyPr wrap="square" lIns="0" tIns="0" rIns="0" bIns="0" rtlCol="0" anchor="t"/>
          <a:lstStyle/>
          <a:p>
            <a:pPr indent="0" marL="0">
              <a:buNone/>
            </a:pPr>
            <a:r>
              <a:rPr lang="en-US" sz="1400" dirty="0">
                <a:solidFill>
                  <a:srgbClr val="0A0A0A"/>
                </a:solidFill>
                <a:latin typeface="Segoe UI Semibold" pitchFamily="34" charset="0"/>
                <a:ea typeface="Segoe UI Semibold" pitchFamily="34" charset="-122"/>
                <a:cs typeface="Segoe UI Semibold" pitchFamily="34" charset="-120"/>
              </a:rPr>
              <a:t>Commit kecil</a:t>
            </a:r>
            <a:endParaRPr lang="en-US" sz="1400" dirty="0"/>
          </a:p>
        </p:txBody>
      </p:sp>
      <p:sp>
        <p:nvSpPr>
          <p:cNvPr id="13" name="Text 11"/>
          <p:cNvSpPr txBox="1"/>
          <p:nvPr/>
        </p:nvSpPr>
        <p:spPr>
          <a:xfrm>
            <a:off x="1115568" y="3291840"/>
            <a:ext cx="4114800" cy="274320"/>
          </a:xfrm>
          <a:prstGeom prst="rect">
            <a:avLst/>
          </a:prstGeom>
          <a:noFill/>
          <a:ln/>
        </p:spPr>
        <p:txBody>
          <a:bodyPr wrap="square" lIns="0" tIns="0" rIns="0" bIns="0" rtlCol="0" anchor="t"/>
          <a:lstStyle/>
          <a:p>
            <a:pPr indent="0" marL="0">
              <a:buNone/>
            </a:pPr>
            <a:r>
              <a:rPr lang="en-US" sz="1150" dirty="0">
                <a:solidFill>
                  <a:srgbClr val="5C5C5C"/>
                </a:solidFill>
                <a:latin typeface="Segoe UI" pitchFamily="34" charset="0"/>
                <a:ea typeface="Segoe UI" pitchFamily="34" charset="-122"/>
                <a:cs typeface="Segoe UI" pitchFamily="34" charset="-120"/>
              </a:rPr>
              <a:t>Satu commit untuk satu perubahan</a:t>
            </a:r>
            <a:endParaRPr lang="en-US" sz="1150" dirty="0"/>
          </a:p>
        </p:txBody>
      </p:sp>
      <p:sp>
        <p:nvSpPr>
          <p:cNvPr id="14" name="Shape 12"/>
          <p:cNvSpPr/>
          <p:nvPr/>
        </p:nvSpPr>
        <p:spPr>
          <a:xfrm>
            <a:off x="548640" y="3785616"/>
            <a:ext cx="384048" cy="384048"/>
          </a:xfrm>
          <a:prstGeom prst="ellipse">
            <a:avLst/>
          </a:prstGeom>
          <a:solidFill>
            <a:srgbClr val="0A0A0A"/>
          </a:solidFill>
          <a:ln/>
        </p:spPr>
      </p:sp>
      <p:sp>
        <p:nvSpPr>
          <p:cNvPr id="15" name="Text 13"/>
          <p:cNvSpPr txBox="1"/>
          <p:nvPr/>
        </p:nvSpPr>
        <p:spPr>
          <a:xfrm>
            <a:off x="548640" y="3785616"/>
            <a:ext cx="384048" cy="384048"/>
          </a:xfrm>
          <a:prstGeom prst="rect">
            <a:avLst/>
          </a:prstGeom>
          <a:noFill/>
          <a:ln/>
        </p:spPr>
        <p:txBody>
          <a:bodyPr wrap="square" lIns="0" tIns="0" rIns="0" bIns="0" rtlCol="0" anchor="ctr"/>
          <a:lstStyle/>
          <a:p>
            <a:pPr algn="ctr" indent="0" marL="0">
              <a:buNone/>
            </a:pPr>
            <a:r>
              <a:rPr lang="en-US" sz="1200" dirty="0">
                <a:solidFill>
                  <a:srgbClr val="FFFFFF"/>
                </a:solidFill>
                <a:latin typeface="Segoe UI Semibold" pitchFamily="34" charset="0"/>
                <a:ea typeface="Segoe UI Semibold" pitchFamily="34" charset="-122"/>
                <a:cs typeface="Segoe UI Semibold" pitchFamily="34" charset="-120"/>
              </a:rPr>
              <a:t>3</a:t>
            </a:r>
            <a:endParaRPr lang="en-US" sz="1200" dirty="0"/>
          </a:p>
        </p:txBody>
      </p:sp>
      <p:sp>
        <p:nvSpPr>
          <p:cNvPr id="16" name="Text 14"/>
          <p:cNvSpPr txBox="1"/>
          <p:nvPr/>
        </p:nvSpPr>
        <p:spPr>
          <a:xfrm>
            <a:off x="1115568" y="3767328"/>
            <a:ext cx="4114800" cy="274320"/>
          </a:xfrm>
          <a:prstGeom prst="rect">
            <a:avLst/>
          </a:prstGeom>
          <a:noFill/>
          <a:ln/>
        </p:spPr>
        <p:txBody>
          <a:bodyPr wrap="square" lIns="0" tIns="0" rIns="0" bIns="0" rtlCol="0" anchor="t"/>
          <a:lstStyle/>
          <a:p>
            <a:pPr indent="0" marL="0">
              <a:buNone/>
            </a:pPr>
            <a:r>
              <a:rPr lang="en-US" sz="1400" dirty="0">
                <a:solidFill>
                  <a:srgbClr val="0A0A0A"/>
                </a:solidFill>
                <a:latin typeface="Segoe UI Semibold" pitchFamily="34" charset="0"/>
                <a:ea typeface="Segoe UI Semibold" pitchFamily="34" charset="-122"/>
                <a:cs typeface="Segoe UI Semibold" pitchFamily="34" charset="-120"/>
              </a:rPr>
              <a:t>Pull Request</a:t>
            </a:r>
            <a:endParaRPr lang="en-US" sz="1400" dirty="0"/>
          </a:p>
        </p:txBody>
      </p:sp>
      <p:sp>
        <p:nvSpPr>
          <p:cNvPr id="17" name="Text 15"/>
          <p:cNvSpPr txBox="1"/>
          <p:nvPr/>
        </p:nvSpPr>
        <p:spPr>
          <a:xfrm>
            <a:off x="1115568" y="4041648"/>
            <a:ext cx="4114800" cy="274320"/>
          </a:xfrm>
          <a:prstGeom prst="rect">
            <a:avLst/>
          </a:prstGeom>
          <a:noFill/>
          <a:ln/>
        </p:spPr>
        <p:txBody>
          <a:bodyPr wrap="square" lIns="0" tIns="0" rIns="0" bIns="0" rtlCol="0" anchor="t"/>
          <a:lstStyle/>
          <a:p>
            <a:pPr indent="0" marL="0">
              <a:buNone/>
            </a:pPr>
            <a:r>
              <a:rPr lang="en-US" sz="1150" dirty="0">
                <a:solidFill>
                  <a:srgbClr val="5C5C5C"/>
                </a:solidFill>
                <a:latin typeface="Segoe UI" pitchFamily="34" charset="0"/>
                <a:ea typeface="Segoe UI" pitchFamily="34" charset="-122"/>
                <a:cs typeface="Segoe UI" pitchFamily="34" charset="-120"/>
              </a:rPr>
              <a:t>Deskripsi + tangkapan layar</a:t>
            </a:r>
            <a:endParaRPr lang="en-US" sz="1150" dirty="0"/>
          </a:p>
        </p:txBody>
      </p:sp>
      <p:sp>
        <p:nvSpPr>
          <p:cNvPr id="18" name="Shape 16"/>
          <p:cNvSpPr/>
          <p:nvPr/>
        </p:nvSpPr>
        <p:spPr>
          <a:xfrm>
            <a:off x="548640" y="4535424"/>
            <a:ext cx="384048" cy="384048"/>
          </a:xfrm>
          <a:prstGeom prst="ellipse">
            <a:avLst/>
          </a:prstGeom>
          <a:solidFill>
            <a:srgbClr val="0A0A0A"/>
          </a:solidFill>
          <a:ln/>
        </p:spPr>
      </p:sp>
      <p:sp>
        <p:nvSpPr>
          <p:cNvPr id="19" name="Text 17"/>
          <p:cNvSpPr txBox="1"/>
          <p:nvPr/>
        </p:nvSpPr>
        <p:spPr>
          <a:xfrm>
            <a:off x="548640" y="4535424"/>
            <a:ext cx="384048" cy="384048"/>
          </a:xfrm>
          <a:prstGeom prst="rect">
            <a:avLst/>
          </a:prstGeom>
          <a:noFill/>
          <a:ln/>
        </p:spPr>
        <p:txBody>
          <a:bodyPr wrap="square" lIns="0" tIns="0" rIns="0" bIns="0" rtlCol="0" anchor="ctr"/>
          <a:lstStyle/>
          <a:p>
            <a:pPr algn="ctr" indent="0" marL="0">
              <a:buNone/>
            </a:pPr>
            <a:r>
              <a:rPr lang="en-US" sz="1200" dirty="0">
                <a:solidFill>
                  <a:srgbClr val="FFFFFF"/>
                </a:solidFill>
                <a:latin typeface="Segoe UI Semibold" pitchFamily="34" charset="0"/>
                <a:ea typeface="Segoe UI Semibold" pitchFamily="34" charset="-122"/>
                <a:cs typeface="Segoe UI Semibold" pitchFamily="34" charset="-120"/>
              </a:rPr>
              <a:t>4</a:t>
            </a:r>
            <a:endParaRPr lang="en-US" sz="1200" dirty="0"/>
          </a:p>
        </p:txBody>
      </p:sp>
      <p:sp>
        <p:nvSpPr>
          <p:cNvPr id="20" name="Text 18"/>
          <p:cNvSpPr txBox="1"/>
          <p:nvPr/>
        </p:nvSpPr>
        <p:spPr>
          <a:xfrm>
            <a:off x="1115568" y="4517136"/>
            <a:ext cx="4114800" cy="274320"/>
          </a:xfrm>
          <a:prstGeom prst="rect">
            <a:avLst/>
          </a:prstGeom>
          <a:noFill/>
          <a:ln/>
        </p:spPr>
        <p:txBody>
          <a:bodyPr wrap="square" lIns="0" tIns="0" rIns="0" bIns="0" rtlCol="0" anchor="t"/>
          <a:lstStyle/>
          <a:p>
            <a:pPr indent="0" marL="0">
              <a:buNone/>
            </a:pPr>
            <a:r>
              <a:rPr lang="en-US" sz="1400" dirty="0">
                <a:solidFill>
                  <a:srgbClr val="0A0A0A"/>
                </a:solidFill>
                <a:latin typeface="Segoe UI Semibold" pitchFamily="34" charset="0"/>
                <a:ea typeface="Segoe UI Semibold" pitchFamily="34" charset="-122"/>
                <a:cs typeface="Segoe UI Semibold" pitchFamily="34" charset="-120"/>
              </a:rPr>
              <a:t>CI otomatis</a:t>
            </a:r>
            <a:endParaRPr lang="en-US" sz="1400" dirty="0"/>
          </a:p>
        </p:txBody>
      </p:sp>
      <p:sp>
        <p:nvSpPr>
          <p:cNvPr id="21" name="Text 19"/>
          <p:cNvSpPr txBox="1"/>
          <p:nvPr/>
        </p:nvSpPr>
        <p:spPr>
          <a:xfrm>
            <a:off x="1115568" y="4791456"/>
            <a:ext cx="4114800" cy="274320"/>
          </a:xfrm>
          <a:prstGeom prst="rect">
            <a:avLst/>
          </a:prstGeom>
          <a:noFill/>
          <a:ln/>
        </p:spPr>
        <p:txBody>
          <a:bodyPr wrap="square" lIns="0" tIns="0" rIns="0" bIns="0" rtlCol="0" anchor="t"/>
          <a:lstStyle/>
          <a:p>
            <a:pPr indent="0" marL="0">
              <a:buNone/>
            </a:pPr>
            <a:r>
              <a:rPr lang="en-US" sz="1150" dirty="0">
                <a:solidFill>
                  <a:srgbClr val="5C5C5C"/>
                </a:solidFill>
                <a:latin typeface="Segoe UI" pitchFamily="34" charset="0"/>
                <a:ea typeface="Segoe UI" pitchFamily="34" charset="-122"/>
                <a:cs typeface="Segoe UI" pitchFamily="34" charset="-120"/>
              </a:rPr>
              <a:t>Typecheck, lint, test, build, MySQL</a:t>
            </a:r>
            <a:endParaRPr lang="en-US" sz="1150" dirty="0"/>
          </a:p>
        </p:txBody>
      </p:sp>
      <p:sp>
        <p:nvSpPr>
          <p:cNvPr id="22" name="Shape 20"/>
          <p:cNvSpPr/>
          <p:nvPr/>
        </p:nvSpPr>
        <p:spPr>
          <a:xfrm>
            <a:off x="548640" y="5285232"/>
            <a:ext cx="384048" cy="384048"/>
          </a:xfrm>
          <a:prstGeom prst="ellipse">
            <a:avLst/>
          </a:prstGeom>
          <a:solidFill>
            <a:srgbClr val="0A0A0A"/>
          </a:solidFill>
          <a:ln/>
        </p:spPr>
      </p:sp>
      <p:sp>
        <p:nvSpPr>
          <p:cNvPr id="23" name="Text 21"/>
          <p:cNvSpPr txBox="1"/>
          <p:nvPr/>
        </p:nvSpPr>
        <p:spPr>
          <a:xfrm>
            <a:off x="548640" y="5285232"/>
            <a:ext cx="384048" cy="384048"/>
          </a:xfrm>
          <a:prstGeom prst="rect">
            <a:avLst/>
          </a:prstGeom>
          <a:noFill/>
          <a:ln/>
        </p:spPr>
        <p:txBody>
          <a:bodyPr wrap="square" lIns="0" tIns="0" rIns="0" bIns="0" rtlCol="0" anchor="ctr"/>
          <a:lstStyle/>
          <a:p>
            <a:pPr algn="ctr" indent="0" marL="0">
              <a:buNone/>
            </a:pPr>
            <a:r>
              <a:rPr lang="en-US" sz="1200" dirty="0">
                <a:solidFill>
                  <a:srgbClr val="FFFFFF"/>
                </a:solidFill>
                <a:latin typeface="Segoe UI Semibold" pitchFamily="34" charset="0"/>
                <a:ea typeface="Segoe UI Semibold" pitchFamily="34" charset="-122"/>
                <a:cs typeface="Segoe UI Semibold" pitchFamily="34" charset="-120"/>
              </a:rPr>
              <a:t>5</a:t>
            </a:r>
            <a:endParaRPr lang="en-US" sz="1200" dirty="0"/>
          </a:p>
        </p:txBody>
      </p:sp>
      <p:sp>
        <p:nvSpPr>
          <p:cNvPr id="24" name="Text 22"/>
          <p:cNvSpPr txBox="1"/>
          <p:nvPr/>
        </p:nvSpPr>
        <p:spPr>
          <a:xfrm>
            <a:off x="1115568" y="5266944"/>
            <a:ext cx="4114800" cy="274320"/>
          </a:xfrm>
          <a:prstGeom prst="rect">
            <a:avLst/>
          </a:prstGeom>
          <a:noFill/>
          <a:ln/>
        </p:spPr>
        <p:txBody>
          <a:bodyPr wrap="square" lIns="0" tIns="0" rIns="0" bIns="0" rtlCol="0" anchor="t"/>
          <a:lstStyle/>
          <a:p>
            <a:pPr indent="0" marL="0">
              <a:buNone/>
            </a:pPr>
            <a:r>
              <a:rPr lang="en-US" sz="1400" dirty="0">
                <a:solidFill>
                  <a:srgbClr val="0A0A0A"/>
                </a:solidFill>
                <a:latin typeface="Segoe UI Semibold" pitchFamily="34" charset="0"/>
                <a:ea typeface="Segoe UI Semibold" pitchFamily="34" charset="-122"/>
                <a:cs typeface="Segoe UI Semibold" pitchFamily="34" charset="-120"/>
              </a:rPr>
              <a:t>Review &amp; merge</a:t>
            </a:r>
            <a:endParaRPr lang="en-US" sz="1400" dirty="0"/>
          </a:p>
        </p:txBody>
      </p:sp>
      <p:sp>
        <p:nvSpPr>
          <p:cNvPr id="25" name="Text 23"/>
          <p:cNvSpPr txBox="1"/>
          <p:nvPr/>
        </p:nvSpPr>
        <p:spPr>
          <a:xfrm>
            <a:off x="1115568" y="5541264"/>
            <a:ext cx="4114800" cy="274320"/>
          </a:xfrm>
          <a:prstGeom prst="rect">
            <a:avLst/>
          </a:prstGeom>
          <a:noFill/>
          <a:ln/>
        </p:spPr>
        <p:txBody>
          <a:bodyPr wrap="square" lIns="0" tIns="0" rIns="0" bIns="0" rtlCol="0" anchor="t"/>
          <a:lstStyle/>
          <a:p>
            <a:pPr indent="0" marL="0">
              <a:buNone/>
            </a:pPr>
            <a:r>
              <a:rPr lang="en-US" sz="1150" dirty="0">
                <a:solidFill>
                  <a:srgbClr val="5C5C5C"/>
                </a:solidFill>
                <a:latin typeface="Segoe UI" pitchFamily="34" charset="0"/>
                <a:ea typeface="Segoe UI" pitchFamily="34" charset="-122"/>
                <a:cs typeface="Segoe UI" pitchFamily="34" charset="-120"/>
              </a:rPr>
              <a:t>Ke develop; develop → main per tahap</a:t>
            </a:r>
            <a:endParaRPr lang="en-US" sz="1150" dirty="0"/>
          </a:p>
        </p:txBody>
      </p:sp>
      <p:sp>
        <p:nvSpPr>
          <p:cNvPr id="26" name="Text 24"/>
          <p:cNvSpPr txBox="1"/>
          <p:nvPr/>
        </p:nvSpPr>
        <p:spPr>
          <a:xfrm>
            <a:off x="6199632" y="1920240"/>
            <a:ext cx="4572000" cy="228600"/>
          </a:xfrm>
          <a:prstGeom prst="rect">
            <a:avLst/>
          </a:prstGeom>
          <a:noFill/>
          <a:ln/>
        </p:spPr>
        <p:txBody>
          <a:bodyPr wrap="square" lIns="0" tIns="0" rIns="0" bIns="0" rtlCol="0" anchor="t"/>
          <a:lstStyle/>
          <a:p>
            <a:pPr indent="0" marL="0">
              <a:buNone/>
            </a:pPr>
            <a:r>
              <a:rPr lang="en-US" sz="950" spc="150" kern="0" dirty="0">
                <a:solidFill>
                  <a:srgbClr val="5C5C5C"/>
                </a:solidFill>
                <a:latin typeface="Segoe UI Semibold" pitchFamily="34" charset="0"/>
                <a:ea typeface="Segoe UI Semibold" pitchFamily="34" charset="-122"/>
                <a:cs typeface="Segoe UI Semibold" pitchFamily="34" charset="-120"/>
              </a:rPr>
              <a:t>PAPAN TUGAS TRELLO</a:t>
            </a:r>
            <a:endParaRPr lang="en-US" sz="950" dirty="0"/>
          </a:p>
        </p:txBody>
      </p:sp>
      <p:sp>
        <p:nvSpPr>
          <p:cNvPr id="27" name="Shape 25"/>
          <p:cNvSpPr/>
          <p:nvPr/>
        </p:nvSpPr>
        <p:spPr>
          <a:xfrm>
            <a:off x="6199632" y="2286000"/>
            <a:ext cx="1261872" cy="1737360"/>
          </a:xfrm>
          <a:prstGeom prst="roundRect">
            <a:avLst>
              <a:gd name="adj" fmla="val 15942"/>
            </a:avLst>
          </a:prstGeom>
          <a:solidFill>
            <a:srgbClr val="F3F3F3"/>
          </a:solidFill>
          <a:ln/>
        </p:spPr>
      </p:sp>
      <p:sp>
        <p:nvSpPr>
          <p:cNvPr id="28" name="Text 26"/>
          <p:cNvSpPr txBox="1"/>
          <p:nvPr/>
        </p:nvSpPr>
        <p:spPr>
          <a:xfrm>
            <a:off x="6336792" y="2423160"/>
            <a:ext cx="1005840" cy="274320"/>
          </a:xfrm>
          <a:prstGeom prst="rect">
            <a:avLst/>
          </a:prstGeom>
          <a:noFill/>
          <a:ln/>
        </p:spPr>
        <p:txBody>
          <a:bodyPr wrap="square" lIns="0" tIns="0" rIns="0" bIns="0" rtlCol="0" anchor="t"/>
          <a:lstStyle/>
          <a:p>
            <a:pPr indent="0" marL="0">
              <a:buNone/>
            </a:pPr>
            <a:r>
              <a:rPr lang="en-US" sz="1200" dirty="0">
                <a:solidFill>
                  <a:srgbClr val="0A0A0A"/>
                </a:solidFill>
                <a:latin typeface="Segoe UI Semibold" pitchFamily="34" charset="0"/>
                <a:ea typeface="Segoe UI Semibold" pitchFamily="34" charset="-122"/>
                <a:cs typeface="Segoe UI Semibold" pitchFamily="34" charset="-120"/>
              </a:rPr>
              <a:t>Rencana</a:t>
            </a:r>
            <a:endParaRPr lang="en-US" sz="1200" dirty="0"/>
          </a:p>
        </p:txBody>
      </p:sp>
      <p:sp>
        <p:nvSpPr>
          <p:cNvPr id="29" name="Shape 27"/>
          <p:cNvSpPr/>
          <p:nvPr/>
        </p:nvSpPr>
        <p:spPr>
          <a:xfrm>
            <a:off x="6336792" y="2834640"/>
            <a:ext cx="987552" cy="384048"/>
          </a:xfrm>
          <a:prstGeom prst="roundRect">
            <a:avLst>
              <a:gd name="adj" fmla="val 19048"/>
            </a:avLst>
          </a:prstGeom>
          <a:solidFill>
            <a:srgbClr val="FFFFFF"/>
          </a:solidFill>
          <a:ln/>
        </p:spPr>
      </p:sp>
      <p:sp>
        <p:nvSpPr>
          <p:cNvPr id="30" name="Shape 28"/>
          <p:cNvSpPr/>
          <p:nvPr/>
        </p:nvSpPr>
        <p:spPr>
          <a:xfrm>
            <a:off x="6336792" y="3337560"/>
            <a:ext cx="987552" cy="384048"/>
          </a:xfrm>
          <a:prstGeom prst="roundRect">
            <a:avLst>
              <a:gd name="adj" fmla="val 19048"/>
            </a:avLst>
          </a:prstGeom>
          <a:solidFill>
            <a:srgbClr val="FFFFFF"/>
          </a:solidFill>
          <a:ln/>
        </p:spPr>
      </p:sp>
      <p:sp>
        <p:nvSpPr>
          <p:cNvPr id="31" name="Shape 29"/>
          <p:cNvSpPr/>
          <p:nvPr/>
        </p:nvSpPr>
        <p:spPr>
          <a:xfrm>
            <a:off x="7571232" y="2286000"/>
            <a:ext cx="1261872" cy="1737360"/>
          </a:xfrm>
          <a:prstGeom prst="roundRect">
            <a:avLst>
              <a:gd name="adj" fmla="val 15942"/>
            </a:avLst>
          </a:prstGeom>
          <a:solidFill>
            <a:srgbClr val="F3F3F3"/>
          </a:solidFill>
          <a:ln/>
        </p:spPr>
      </p:sp>
      <p:sp>
        <p:nvSpPr>
          <p:cNvPr id="32" name="Text 30"/>
          <p:cNvSpPr txBox="1"/>
          <p:nvPr/>
        </p:nvSpPr>
        <p:spPr>
          <a:xfrm>
            <a:off x="7708392" y="2423160"/>
            <a:ext cx="1005840" cy="274320"/>
          </a:xfrm>
          <a:prstGeom prst="rect">
            <a:avLst/>
          </a:prstGeom>
          <a:noFill/>
          <a:ln/>
        </p:spPr>
        <p:txBody>
          <a:bodyPr wrap="square" lIns="0" tIns="0" rIns="0" bIns="0" rtlCol="0" anchor="t"/>
          <a:lstStyle/>
          <a:p>
            <a:pPr indent="0" marL="0">
              <a:buNone/>
            </a:pPr>
            <a:r>
              <a:rPr lang="en-US" sz="1200" dirty="0">
                <a:solidFill>
                  <a:srgbClr val="0A0A0A"/>
                </a:solidFill>
                <a:latin typeface="Segoe UI Semibold" pitchFamily="34" charset="0"/>
                <a:ea typeface="Segoe UI Semibold" pitchFamily="34" charset="-122"/>
                <a:cs typeface="Segoe UI Semibold" pitchFamily="34" charset="-120"/>
              </a:rPr>
              <a:t>Dikerjakan</a:t>
            </a:r>
            <a:endParaRPr lang="en-US" sz="1200" dirty="0"/>
          </a:p>
        </p:txBody>
      </p:sp>
      <p:sp>
        <p:nvSpPr>
          <p:cNvPr id="33" name="Shape 31"/>
          <p:cNvSpPr/>
          <p:nvPr/>
        </p:nvSpPr>
        <p:spPr>
          <a:xfrm>
            <a:off x="7708392" y="2834640"/>
            <a:ext cx="987552" cy="384048"/>
          </a:xfrm>
          <a:prstGeom prst="roundRect">
            <a:avLst>
              <a:gd name="adj" fmla="val 19048"/>
            </a:avLst>
          </a:prstGeom>
          <a:solidFill>
            <a:srgbClr val="FFFFFF"/>
          </a:solidFill>
          <a:ln/>
        </p:spPr>
      </p:sp>
      <p:sp>
        <p:nvSpPr>
          <p:cNvPr id="34" name="Shape 32"/>
          <p:cNvSpPr/>
          <p:nvPr/>
        </p:nvSpPr>
        <p:spPr>
          <a:xfrm>
            <a:off x="7708392" y="3337560"/>
            <a:ext cx="987552" cy="384048"/>
          </a:xfrm>
          <a:prstGeom prst="roundRect">
            <a:avLst>
              <a:gd name="adj" fmla="val 19048"/>
            </a:avLst>
          </a:prstGeom>
          <a:solidFill>
            <a:srgbClr val="FFFFFF"/>
          </a:solidFill>
          <a:ln/>
        </p:spPr>
      </p:sp>
      <p:sp>
        <p:nvSpPr>
          <p:cNvPr id="35" name="Shape 33"/>
          <p:cNvSpPr/>
          <p:nvPr/>
        </p:nvSpPr>
        <p:spPr>
          <a:xfrm>
            <a:off x="8942832" y="2286000"/>
            <a:ext cx="1261872" cy="1737360"/>
          </a:xfrm>
          <a:prstGeom prst="roundRect">
            <a:avLst>
              <a:gd name="adj" fmla="val 15942"/>
            </a:avLst>
          </a:prstGeom>
          <a:solidFill>
            <a:srgbClr val="F3F3F3"/>
          </a:solidFill>
          <a:ln/>
        </p:spPr>
      </p:sp>
      <p:sp>
        <p:nvSpPr>
          <p:cNvPr id="36" name="Text 34"/>
          <p:cNvSpPr txBox="1"/>
          <p:nvPr/>
        </p:nvSpPr>
        <p:spPr>
          <a:xfrm>
            <a:off x="9079992" y="2423160"/>
            <a:ext cx="1005840" cy="274320"/>
          </a:xfrm>
          <a:prstGeom prst="rect">
            <a:avLst/>
          </a:prstGeom>
          <a:noFill/>
          <a:ln/>
        </p:spPr>
        <p:txBody>
          <a:bodyPr wrap="square" lIns="0" tIns="0" rIns="0" bIns="0" rtlCol="0" anchor="t"/>
          <a:lstStyle/>
          <a:p>
            <a:pPr indent="0" marL="0">
              <a:buNone/>
            </a:pPr>
            <a:r>
              <a:rPr lang="en-US" sz="1200" dirty="0">
                <a:solidFill>
                  <a:srgbClr val="0A0A0A"/>
                </a:solidFill>
                <a:latin typeface="Segoe UI Semibold" pitchFamily="34" charset="0"/>
                <a:ea typeface="Segoe UI Semibold" pitchFamily="34" charset="-122"/>
                <a:cs typeface="Segoe UI Semibold" pitchFamily="34" charset="-120"/>
              </a:rPr>
              <a:t>Uji coba</a:t>
            </a:r>
            <a:endParaRPr lang="en-US" sz="1200" dirty="0"/>
          </a:p>
        </p:txBody>
      </p:sp>
      <p:sp>
        <p:nvSpPr>
          <p:cNvPr id="37" name="Shape 35"/>
          <p:cNvSpPr/>
          <p:nvPr/>
        </p:nvSpPr>
        <p:spPr>
          <a:xfrm>
            <a:off x="9079992" y="2834640"/>
            <a:ext cx="987552" cy="384048"/>
          </a:xfrm>
          <a:prstGeom prst="roundRect">
            <a:avLst>
              <a:gd name="adj" fmla="val 19048"/>
            </a:avLst>
          </a:prstGeom>
          <a:solidFill>
            <a:srgbClr val="FFFFFF"/>
          </a:solidFill>
          <a:ln/>
        </p:spPr>
      </p:sp>
      <p:sp>
        <p:nvSpPr>
          <p:cNvPr id="38" name="Shape 36"/>
          <p:cNvSpPr/>
          <p:nvPr/>
        </p:nvSpPr>
        <p:spPr>
          <a:xfrm>
            <a:off x="9079992" y="3337560"/>
            <a:ext cx="987552" cy="384048"/>
          </a:xfrm>
          <a:prstGeom prst="roundRect">
            <a:avLst>
              <a:gd name="adj" fmla="val 19048"/>
            </a:avLst>
          </a:prstGeom>
          <a:solidFill>
            <a:srgbClr val="FFFFFF"/>
          </a:solidFill>
          <a:ln/>
        </p:spPr>
      </p:sp>
      <p:sp>
        <p:nvSpPr>
          <p:cNvPr id="39" name="Shape 37"/>
          <p:cNvSpPr/>
          <p:nvPr/>
        </p:nvSpPr>
        <p:spPr>
          <a:xfrm>
            <a:off x="10314432" y="2286000"/>
            <a:ext cx="1261872" cy="1737360"/>
          </a:xfrm>
          <a:prstGeom prst="roundRect">
            <a:avLst>
              <a:gd name="adj" fmla="val 15942"/>
            </a:avLst>
          </a:prstGeom>
          <a:solidFill>
            <a:srgbClr val="F3F3F3"/>
          </a:solidFill>
          <a:ln/>
        </p:spPr>
      </p:sp>
      <p:sp>
        <p:nvSpPr>
          <p:cNvPr id="40" name="Text 38"/>
          <p:cNvSpPr txBox="1"/>
          <p:nvPr/>
        </p:nvSpPr>
        <p:spPr>
          <a:xfrm>
            <a:off x="10451592" y="2423160"/>
            <a:ext cx="1005840" cy="274320"/>
          </a:xfrm>
          <a:prstGeom prst="rect">
            <a:avLst/>
          </a:prstGeom>
          <a:noFill/>
          <a:ln/>
        </p:spPr>
        <p:txBody>
          <a:bodyPr wrap="square" lIns="0" tIns="0" rIns="0" bIns="0" rtlCol="0" anchor="t"/>
          <a:lstStyle/>
          <a:p>
            <a:pPr indent="0" marL="0">
              <a:buNone/>
            </a:pPr>
            <a:r>
              <a:rPr lang="en-US" sz="1200" dirty="0">
                <a:solidFill>
                  <a:srgbClr val="0A0A0A"/>
                </a:solidFill>
                <a:latin typeface="Segoe UI Semibold" pitchFamily="34" charset="0"/>
                <a:ea typeface="Segoe UI Semibold" pitchFamily="34" charset="-122"/>
                <a:cs typeface="Segoe UI Semibold" pitchFamily="34" charset="-120"/>
              </a:rPr>
              <a:t>Selesai</a:t>
            </a:r>
            <a:endParaRPr lang="en-US" sz="1200" dirty="0"/>
          </a:p>
        </p:txBody>
      </p:sp>
      <p:sp>
        <p:nvSpPr>
          <p:cNvPr id="41" name="Shape 39"/>
          <p:cNvSpPr/>
          <p:nvPr/>
        </p:nvSpPr>
        <p:spPr>
          <a:xfrm>
            <a:off x="10451592" y="2834640"/>
            <a:ext cx="987552" cy="384048"/>
          </a:xfrm>
          <a:prstGeom prst="roundRect">
            <a:avLst>
              <a:gd name="adj" fmla="val 19048"/>
            </a:avLst>
          </a:prstGeom>
          <a:solidFill>
            <a:srgbClr val="FFFFFF"/>
          </a:solidFill>
          <a:ln/>
        </p:spPr>
      </p:sp>
      <p:sp>
        <p:nvSpPr>
          <p:cNvPr id="42" name="Shape 40"/>
          <p:cNvSpPr/>
          <p:nvPr/>
        </p:nvSpPr>
        <p:spPr>
          <a:xfrm>
            <a:off x="10451592" y="3337560"/>
            <a:ext cx="987552" cy="384048"/>
          </a:xfrm>
          <a:prstGeom prst="roundRect">
            <a:avLst>
              <a:gd name="adj" fmla="val 19048"/>
            </a:avLst>
          </a:prstGeom>
          <a:solidFill>
            <a:srgbClr val="FFFFFF"/>
          </a:solidFill>
          <a:ln/>
        </p:spPr>
      </p:sp>
      <p:sp>
        <p:nvSpPr>
          <p:cNvPr id="43" name="Shape 41"/>
          <p:cNvSpPr/>
          <p:nvPr/>
        </p:nvSpPr>
        <p:spPr>
          <a:xfrm>
            <a:off x="6199632" y="4297680"/>
            <a:ext cx="438912" cy="438912"/>
          </a:xfrm>
          <a:prstGeom prst="ellipse">
            <a:avLst/>
          </a:prstGeom>
          <a:solidFill>
            <a:srgbClr val="0A0A0A"/>
          </a:solidFill>
          <a:ln/>
        </p:spPr>
      </p:sp>
      <p:pic>
        <p:nvPicPr>
          <p:cNvPr id="44" name="Image 0" descr="C:\laragon\www\e-commerce\scripts\ppt\aset\ikon-Users-putih.png">    </p:cNvPr>
          <p:cNvPicPr>
            <a:picLocks noChangeAspect="1"/>
          </p:cNvPicPr>
          <p:nvPr/>
        </p:nvPicPr>
        <p:blipFill>
          <a:blip r:embed="rId1"/>
          <a:stretch>
            <a:fillRect/>
          </a:stretch>
        </p:blipFill>
        <p:spPr>
          <a:xfrm>
            <a:off x="6309360" y="4407408"/>
            <a:ext cx="219456" cy="219456"/>
          </a:xfrm>
          <a:prstGeom prst="rect">
            <a:avLst/>
          </a:prstGeom>
        </p:spPr>
      </p:pic>
      <p:sp>
        <p:nvSpPr>
          <p:cNvPr id="45" name="Text 42"/>
          <p:cNvSpPr txBox="1"/>
          <p:nvPr/>
        </p:nvSpPr>
        <p:spPr>
          <a:xfrm>
            <a:off x="6766560" y="4297680"/>
            <a:ext cx="4846320" cy="256032"/>
          </a:xfrm>
          <a:prstGeom prst="rect">
            <a:avLst/>
          </a:prstGeom>
          <a:noFill/>
          <a:ln/>
        </p:spPr>
        <p:txBody>
          <a:bodyPr wrap="square" lIns="0" tIns="0" rIns="0" bIns="0" rtlCol="0" anchor="t"/>
          <a:lstStyle/>
          <a:p>
            <a:pPr indent="0" marL="0">
              <a:buNone/>
            </a:pPr>
            <a:r>
              <a:rPr lang="en-US" sz="1250" dirty="0">
                <a:solidFill>
                  <a:srgbClr val="0A0A0A"/>
                </a:solidFill>
                <a:latin typeface="Segoe UI Semibold" pitchFamily="34" charset="0"/>
                <a:ea typeface="Segoe UI Semibold" pitchFamily="34" charset="-122"/>
                <a:cs typeface="Segoe UI Semibold" pitchFamily="34" charset="-120"/>
              </a:rPr>
              <a:t>Sinkronisasi 20 menit</a:t>
            </a:r>
            <a:endParaRPr lang="en-US" sz="1250" dirty="0"/>
          </a:p>
        </p:txBody>
      </p:sp>
      <p:sp>
        <p:nvSpPr>
          <p:cNvPr id="46" name="Text 43"/>
          <p:cNvSpPr txBox="1"/>
          <p:nvPr/>
        </p:nvSpPr>
        <p:spPr>
          <a:xfrm>
            <a:off x="6766560" y="4544568"/>
            <a:ext cx="4846320" cy="274320"/>
          </a:xfrm>
          <a:prstGeom prst="rect">
            <a:avLst/>
          </a:prstGeom>
          <a:noFill/>
          <a:ln/>
        </p:spPr>
        <p:txBody>
          <a:bodyPr wrap="square" lIns="0" tIns="0" rIns="0" bIns="0" rtlCol="0" anchor="t"/>
          <a:lstStyle/>
          <a:p>
            <a:pPr indent="0" marL="0">
              <a:buNone/>
            </a:pPr>
            <a:r>
              <a:rPr lang="en-US" sz="1100" dirty="0">
                <a:solidFill>
                  <a:srgbClr val="5C5C5C"/>
                </a:solidFill>
                <a:latin typeface="Segoe UI" pitchFamily="34" charset="0"/>
                <a:ea typeface="Segoe UI" pitchFamily="34" charset="-122"/>
                <a:cs typeface="Segoe UI" pitchFamily="34" charset="-120"/>
              </a:rPr>
              <a:t>Awal pekan, cek progres; kartu tertahan &gt; 2 hari dibahas.</a:t>
            </a:r>
            <a:endParaRPr lang="en-US" sz="1100" dirty="0"/>
          </a:p>
        </p:txBody>
      </p:sp>
      <p:sp>
        <p:nvSpPr>
          <p:cNvPr id="47" name="Shape 44"/>
          <p:cNvSpPr/>
          <p:nvPr/>
        </p:nvSpPr>
        <p:spPr>
          <a:xfrm>
            <a:off x="6199632" y="4901184"/>
            <a:ext cx="438912" cy="438912"/>
          </a:xfrm>
          <a:prstGeom prst="ellipse">
            <a:avLst/>
          </a:prstGeom>
          <a:solidFill>
            <a:srgbClr val="0A0A0A"/>
          </a:solidFill>
          <a:ln/>
        </p:spPr>
      </p:sp>
      <p:pic>
        <p:nvPicPr>
          <p:cNvPr id="48" name="Image 1" descr="C:\laragon\www\e-commerce\scripts\ppt\aset\ikon-GitBranch-putih.png">    </p:cNvPr>
          <p:cNvPicPr>
            <a:picLocks noChangeAspect="1"/>
          </p:cNvPicPr>
          <p:nvPr/>
        </p:nvPicPr>
        <p:blipFill>
          <a:blip r:embed="rId2"/>
          <a:stretch>
            <a:fillRect/>
          </a:stretch>
        </p:blipFill>
        <p:spPr>
          <a:xfrm>
            <a:off x="6309360" y="5010912"/>
            <a:ext cx="219456" cy="219456"/>
          </a:xfrm>
          <a:prstGeom prst="rect">
            <a:avLst/>
          </a:prstGeom>
        </p:spPr>
      </p:pic>
      <p:sp>
        <p:nvSpPr>
          <p:cNvPr id="49" name="Text 45"/>
          <p:cNvSpPr txBox="1"/>
          <p:nvPr/>
        </p:nvSpPr>
        <p:spPr>
          <a:xfrm>
            <a:off x="6766560" y="4901184"/>
            <a:ext cx="4846320" cy="256032"/>
          </a:xfrm>
          <a:prstGeom prst="rect">
            <a:avLst/>
          </a:prstGeom>
          <a:noFill/>
          <a:ln/>
        </p:spPr>
        <p:txBody>
          <a:bodyPr wrap="square" lIns="0" tIns="0" rIns="0" bIns="0" rtlCol="0" anchor="t"/>
          <a:lstStyle/>
          <a:p>
            <a:pPr indent="0" marL="0">
              <a:buNone/>
            </a:pPr>
            <a:r>
              <a:rPr lang="en-US" sz="1250" dirty="0">
                <a:solidFill>
                  <a:srgbClr val="0A0A0A"/>
                </a:solidFill>
                <a:latin typeface="Segoe UI Semibold" pitchFamily="34" charset="0"/>
                <a:ea typeface="Segoe UI Semibold" pitchFamily="34" charset="-122"/>
                <a:cs typeface="Segoe UI Semibold" pitchFamily="34" charset="-120"/>
              </a:rPr>
              <a:t>Berpasangan FE–BE</a:t>
            </a:r>
            <a:endParaRPr lang="en-US" sz="1250" dirty="0"/>
          </a:p>
        </p:txBody>
      </p:sp>
      <p:sp>
        <p:nvSpPr>
          <p:cNvPr id="50" name="Text 46"/>
          <p:cNvSpPr txBox="1"/>
          <p:nvPr/>
        </p:nvSpPr>
        <p:spPr>
          <a:xfrm>
            <a:off x="6766560" y="5148072"/>
            <a:ext cx="4846320" cy="274320"/>
          </a:xfrm>
          <a:prstGeom prst="rect">
            <a:avLst/>
          </a:prstGeom>
          <a:noFill/>
          <a:ln/>
        </p:spPr>
        <p:txBody>
          <a:bodyPr wrap="square" lIns="0" tIns="0" rIns="0" bIns="0" rtlCol="0" anchor="t"/>
          <a:lstStyle/>
          <a:p>
            <a:pPr indent="0" marL="0">
              <a:buNone/>
            </a:pPr>
            <a:r>
              <a:rPr lang="en-US" sz="1100" dirty="0">
                <a:solidFill>
                  <a:srgbClr val="5C5C5C"/>
                </a:solidFill>
                <a:latin typeface="Segoe UI" pitchFamily="34" charset="0"/>
                <a:ea typeface="Segoe UI" pitchFamily="34" charset="-122"/>
                <a:cs typeface="Segoe UI" pitchFamily="34" charset="-120"/>
              </a:rPr>
              <a:t>Frontend &amp; backend satu modul selalu berkoordinasi.</a:t>
            </a:r>
            <a:endParaRPr lang="en-US" sz="1100" dirty="0"/>
          </a:p>
        </p:txBody>
      </p:sp>
      <p:sp>
        <p:nvSpPr>
          <p:cNvPr id="51" name="Shape 47"/>
          <p:cNvSpPr/>
          <p:nvPr/>
        </p:nvSpPr>
        <p:spPr>
          <a:xfrm>
            <a:off x="6199632" y="5504688"/>
            <a:ext cx="438912" cy="438912"/>
          </a:xfrm>
          <a:prstGeom prst="ellipse">
            <a:avLst/>
          </a:prstGeom>
          <a:solidFill>
            <a:srgbClr val="0A0A0A"/>
          </a:solidFill>
          <a:ln/>
        </p:spPr>
      </p:sp>
      <p:pic>
        <p:nvPicPr>
          <p:cNvPr id="52" name="Image 2" descr="C:\laragon\www\e-commerce\scripts\ppt\aset\ikon-BadgeCheck-putih.png">    </p:cNvPr>
          <p:cNvPicPr>
            <a:picLocks noChangeAspect="1"/>
          </p:cNvPicPr>
          <p:nvPr/>
        </p:nvPicPr>
        <p:blipFill>
          <a:blip r:embed="rId3"/>
          <a:stretch>
            <a:fillRect/>
          </a:stretch>
        </p:blipFill>
        <p:spPr>
          <a:xfrm>
            <a:off x="6309360" y="5614416"/>
            <a:ext cx="219456" cy="219456"/>
          </a:xfrm>
          <a:prstGeom prst="rect">
            <a:avLst/>
          </a:prstGeom>
        </p:spPr>
      </p:pic>
      <p:sp>
        <p:nvSpPr>
          <p:cNvPr id="53" name="Text 48"/>
          <p:cNvSpPr txBox="1"/>
          <p:nvPr/>
        </p:nvSpPr>
        <p:spPr>
          <a:xfrm>
            <a:off x="6766560" y="5504688"/>
            <a:ext cx="4846320" cy="256032"/>
          </a:xfrm>
          <a:prstGeom prst="rect">
            <a:avLst/>
          </a:prstGeom>
          <a:noFill/>
          <a:ln/>
        </p:spPr>
        <p:txBody>
          <a:bodyPr wrap="square" lIns="0" tIns="0" rIns="0" bIns="0" rtlCol="0" anchor="t"/>
          <a:lstStyle/>
          <a:p>
            <a:pPr indent="0" marL="0">
              <a:buNone/>
            </a:pPr>
            <a:r>
              <a:rPr lang="en-US" sz="1250" dirty="0">
                <a:solidFill>
                  <a:srgbClr val="0A0A0A"/>
                </a:solidFill>
                <a:latin typeface="Segoe UI Semibold" pitchFamily="34" charset="0"/>
                <a:ea typeface="Segoe UI Semibold" pitchFamily="34" charset="-122"/>
                <a:cs typeface="Segoe UI Semibold" pitchFamily="34" charset="-120"/>
              </a:rPr>
              <a:t>Dokumentasi rutin</a:t>
            </a:r>
            <a:endParaRPr lang="en-US" sz="1250" dirty="0"/>
          </a:p>
        </p:txBody>
      </p:sp>
      <p:sp>
        <p:nvSpPr>
          <p:cNvPr id="54" name="Text 49"/>
          <p:cNvSpPr txBox="1"/>
          <p:nvPr/>
        </p:nvSpPr>
        <p:spPr>
          <a:xfrm>
            <a:off x="6766560" y="5751576"/>
            <a:ext cx="4846320" cy="274320"/>
          </a:xfrm>
          <a:prstGeom prst="rect">
            <a:avLst/>
          </a:prstGeom>
          <a:noFill/>
          <a:ln/>
        </p:spPr>
        <p:txBody>
          <a:bodyPr wrap="square" lIns="0" tIns="0" rIns="0" bIns="0" rtlCol="0" anchor="t"/>
          <a:lstStyle/>
          <a:p>
            <a:pPr indent="0" marL="0">
              <a:buNone/>
            </a:pPr>
            <a:r>
              <a:rPr lang="en-US" sz="1100" dirty="0">
                <a:solidFill>
                  <a:srgbClr val="5C5C5C"/>
                </a:solidFill>
                <a:latin typeface="Segoe UI" pitchFamily="34" charset="0"/>
                <a:ea typeface="Segoe UI" pitchFamily="34" charset="-122"/>
                <a:cs typeface="Segoe UI" pitchFamily="34" charset="-120"/>
              </a:rPr>
              <a:t>Status, progres, dan keputusan dicatat di docs/.</a:t>
            </a:r>
            <a:endParaRPr lang="en-US" sz="1100" dirty="0"/>
          </a:p>
        </p:txBody>
      </p:sp>
      <p:sp>
        <p:nvSpPr>
          <p:cNvPr id="25" name="Slide Number Placeholder 0"/>
          <p:cNvSpPr>
            <a:spLocks noGrp="1"/>
          </p:cNvSpPr>
          <p:nvPr>
            <p:ph type="sldNum" sz="quarter" idx="4294967295"/>
          </p:nvPr>
        </p:nvSpPr>
        <p:spPr>
          <a:xfrm>
            <a:off x="11183112"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C5C5C"/>
                </a:solidFill>
                <a:latin typeface="Segoe UI"/>
                <a:ea typeface="Segoe UI"/>
                <a:cs typeface="Segoe U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548640" y="411480"/>
            <a:ext cx="1799539" cy="292608"/>
          </a:xfrm>
          <a:prstGeom prst="roundRect">
            <a:avLst>
              <a:gd name="adj" fmla="val 50000"/>
            </a:avLst>
          </a:prstGeom>
          <a:solidFill>
            <a:srgbClr val="F3F3F3"/>
          </a:solidFill>
          <a:ln/>
        </p:spPr>
      </p:sp>
      <p:sp>
        <p:nvSpPr>
          <p:cNvPr id="3" name="Text 1"/>
          <p:cNvSpPr txBox="1"/>
          <p:nvPr/>
        </p:nvSpPr>
        <p:spPr>
          <a:xfrm>
            <a:off x="548640" y="411480"/>
            <a:ext cx="1799539" cy="292608"/>
          </a:xfrm>
          <a:prstGeom prst="rect">
            <a:avLst/>
          </a:prstGeom>
          <a:noFill/>
          <a:ln/>
        </p:spPr>
        <p:txBody>
          <a:bodyPr wrap="square" lIns="0" tIns="0" rIns="0" bIns="0" rtlCol="0" anchor="ctr"/>
          <a:lstStyle/>
          <a:p>
            <a:pPr algn="ctr" indent="0" marL="0">
              <a:buNone/>
            </a:pPr>
            <a:r>
              <a:rPr lang="en-US" sz="950" spc="150" kern="0" dirty="0">
                <a:solidFill>
                  <a:srgbClr val="5C5C5C"/>
                </a:solidFill>
                <a:latin typeface="Segoe UI Semibold" pitchFamily="34" charset="0"/>
                <a:ea typeface="Segoe UI Semibold" pitchFamily="34" charset="-122"/>
                <a:cs typeface="Segoe UI Semibold" pitchFamily="34" charset="-120"/>
              </a:rPr>
              <a:t>STANDAR KUALITAS</a:t>
            </a:r>
            <a:endParaRPr lang="en-US" sz="950" dirty="0"/>
          </a:p>
        </p:txBody>
      </p:sp>
      <p:sp>
        <p:nvSpPr>
          <p:cNvPr id="4" name="Text 1"/>
          <p:cNvSpPr/>
          <p:nvPr>
            <p:ph idx="101" type="title" hasCustomPrompt="1"/>
          </p:nvPr>
        </p:nvSpPr>
        <p:spPr>
          <a:xfrm>
            <a:off x="548640" y="868680"/>
            <a:ext cx="11064240" cy="777240"/>
          </a:xfrm>
          <a:prstGeom prst="rect">
            <a:avLst/>
          </a:prstGeom>
          <a:noFill/>
          <a:ln/>
        </p:spPr>
        <p:txBody>
          <a:bodyPr wrap="square" lIns="0" tIns="0" rIns="0" bIns="0" rtlCol="0" anchor="t"/>
          <a:lstStyle/>
          <a:p>
            <a:pPr algn="l" indent="0" marL="0">
              <a:buNone/>
            </a:pPr>
            <a:r>
              <a:rPr lang="en-US" sz="3000" dirty="0">
                <a:solidFill>
                  <a:srgbClr val="0A0A0A"/>
                </a:solidFill>
                <a:latin typeface="Segoe UI Semibold" pitchFamily="34" charset="0"/>
                <a:ea typeface="Segoe UI Semibold" pitchFamily="34" charset="-122"/>
                <a:cs typeface="Segoe UI Semibold" pitchFamily="34" charset="-120"/>
              </a:rPr>
              <a:t>Hasil uji yang terukur, 3 Oktober 2026</a:t>
            </a:r>
            <a:endParaRPr lang="en-US" sz="3000" dirty="0"/>
          </a:p>
        </p:txBody>
      </p:sp>
      <p:sp>
        <p:nvSpPr>
          <p:cNvPr id="5" name="Shape 3"/>
          <p:cNvSpPr/>
          <p:nvPr/>
        </p:nvSpPr>
        <p:spPr>
          <a:xfrm>
            <a:off x="548640" y="1874520"/>
            <a:ext cx="2651760" cy="2103120"/>
          </a:xfrm>
          <a:prstGeom prst="roundRect">
            <a:avLst>
              <a:gd name="adj" fmla="val 9565"/>
            </a:avLst>
          </a:prstGeom>
          <a:solidFill>
            <a:srgbClr val="0A0A0A"/>
          </a:solidFill>
          <a:ln/>
        </p:spPr>
      </p:sp>
      <p:sp>
        <p:nvSpPr>
          <p:cNvPr id="6" name="Text 4"/>
          <p:cNvSpPr txBox="1"/>
          <p:nvPr/>
        </p:nvSpPr>
        <p:spPr>
          <a:xfrm>
            <a:off x="822960" y="2057400"/>
            <a:ext cx="2194560" cy="868680"/>
          </a:xfrm>
          <a:prstGeom prst="rect">
            <a:avLst/>
          </a:prstGeom>
          <a:noFill/>
          <a:ln/>
        </p:spPr>
        <p:txBody>
          <a:bodyPr wrap="square" lIns="0" tIns="0" rIns="0" bIns="0" rtlCol="0" anchor="t"/>
          <a:lstStyle/>
          <a:p>
            <a:pPr indent="0" marL="0">
              <a:buNone/>
            </a:pPr>
            <a:r>
              <a:rPr lang="en-US" sz="4800" dirty="0">
                <a:solidFill>
                  <a:srgbClr val="FFFFFF"/>
                </a:solidFill>
                <a:latin typeface="Segoe UI Semibold" pitchFamily="34" charset="0"/>
                <a:ea typeface="Segoe UI Semibold" pitchFamily="34" charset="-122"/>
                <a:cs typeface="Segoe UI Semibold" pitchFamily="34" charset="-120"/>
              </a:rPr>
              <a:t>98</a:t>
            </a:r>
            <a:endParaRPr lang="en-US" sz="4800" dirty="0"/>
          </a:p>
        </p:txBody>
      </p:sp>
      <p:sp>
        <p:nvSpPr>
          <p:cNvPr id="7" name="Text 5"/>
          <p:cNvSpPr txBox="1"/>
          <p:nvPr/>
        </p:nvSpPr>
        <p:spPr>
          <a:xfrm>
            <a:off x="822960" y="2999232"/>
            <a:ext cx="2194560" cy="502920"/>
          </a:xfrm>
          <a:prstGeom prst="rect">
            <a:avLst/>
          </a:prstGeom>
          <a:noFill/>
          <a:ln/>
        </p:spPr>
        <p:txBody>
          <a:bodyPr wrap="square" lIns="0" tIns="0" rIns="0" bIns="0" rtlCol="0" anchor="t"/>
          <a:lstStyle/>
          <a:p>
            <a:pPr indent="0" marL="0">
              <a:buNone/>
            </a:pPr>
            <a:r>
              <a:rPr lang="en-US" sz="1300" dirty="0">
                <a:solidFill>
                  <a:srgbClr val="FFFFFF"/>
                </a:solidFill>
                <a:latin typeface="Segoe UI Semibold" pitchFamily="34" charset="0"/>
                <a:ea typeface="Segoe UI Semibold" pitchFamily="34" charset="-122"/>
                <a:cs typeface="Segoe UI Semibold" pitchFamily="34" charset="-120"/>
              </a:rPr>
              <a:t>Lighthouse beranda HP</a:t>
            </a:r>
            <a:endParaRPr lang="en-US" sz="1300" dirty="0"/>
          </a:p>
        </p:txBody>
      </p:sp>
      <p:sp>
        <p:nvSpPr>
          <p:cNvPr id="8" name="Text 6"/>
          <p:cNvSpPr txBox="1"/>
          <p:nvPr/>
        </p:nvSpPr>
        <p:spPr>
          <a:xfrm>
            <a:off x="822960" y="3493008"/>
            <a:ext cx="2194560" cy="320040"/>
          </a:xfrm>
          <a:prstGeom prst="rect">
            <a:avLst/>
          </a:prstGeom>
          <a:noFill/>
          <a:ln/>
        </p:spPr>
        <p:txBody>
          <a:bodyPr wrap="square" lIns="0" tIns="0" rIns="0" bIns="0" rtlCol="0" anchor="t"/>
          <a:lstStyle/>
          <a:p>
            <a:pPr indent="0" marL="0">
              <a:buNone/>
            </a:pPr>
            <a:r>
              <a:rPr lang="en-US" sz="1100" dirty="0">
                <a:solidFill>
                  <a:srgbClr val="A3A3A3"/>
                </a:solidFill>
                <a:latin typeface="Segoe UI" pitchFamily="34" charset="0"/>
                <a:ea typeface="Segoe UI" pitchFamily="34" charset="-122"/>
                <a:cs typeface="Segoe UI" pitchFamily="34" charset="-120"/>
              </a:rPr>
              <a:t>Situs online, LCP 1,7 dtk</a:t>
            </a:r>
            <a:endParaRPr lang="en-US" sz="1100" dirty="0"/>
          </a:p>
        </p:txBody>
      </p:sp>
      <p:sp>
        <p:nvSpPr>
          <p:cNvPr id="9" name="Shape 7"/>
          <p:cNvSpPr/>
          <p:nvPr/>
        </p:nvSpPr>
        <p:spPr>
          <a:xfrm>
            <a:off x="3383280" y="1874520"/>
            <a:ext cx="2651760" cy="2103120"/>
          </a:xfrm>
          <a:prstGeom prst="roundRect">
            <a:avLst>
              <a:gd name="adj" fmla="val 9565"/>
            </a:avLst>
          </a:prstGeom>
          <a:solidFill>
            <a:srgbClr val="F3F3F3"/>
          </a:solidFill>
          <a:ln/>
        </p:spPr>
      </p:sp>
      <p:sp>
        <p:nvSpPr>
          <p:cNvPr id="10" name="Text 8"/>
          <p:cNvSpPr txBox="1"/>
          <p:nvPr/>
        </p:nvSpPr>
        <p:spPr>
          <a:xfrm>
            <a:off x="3657600" y="2057400"/>
            <a:ext cx="2194560" cy="868680"/>
          </a:xfrm>
          <a:prstGeom prst="rect">
            <a:avLst/>
          </a:prstGeom>
          <a:noFill/>
          <a:ln/>
        </p:spPr>
        <p:txBody>
          <a:bodyPr wrap="square" lIns="0" tIns="0" rIns="0" bIns="0" rtlCol="0" anchor="t"/>
          <a:lstStyle/>
          <a:p>
            <a:pPr indent="0" marL="0">
              <a:buNone/>
            </a:pPr>
            <a:r>
              <a:rPr lang="en-US" sz="4800" dirty="0">
                <a:solidFill>
                  <a:srgbClr val="0A0A0A"/>
                </a:solidFill>
                <a:latin typeface="Segoe UI Semibold" pitchFamily="34" charset="0"/>
                <a:ea typeface="Segoe UI Semibold" pitchFamily="34" charset="-122"/>
                <a:cs typeface="Segoe UI Semibold" pitchFamily="34" charset="-120"/>
              </a:rPr>
              <a:t>587</a:t>
            </a:r>
            <a:endParaRPr lang="en-US" sz="4800" dirty="0"/>
          </a:p>
        </p:txBody>
      </p:sp>
      <p:sp>
        <p:nvSpPr>
          <p:cNvPr id="11" name="Text 9"/>
          <p:cNvSpPr txBox="1"/>
          <p:nvPr/>
        </p:nvSpPr>
        <p:spPr>
          <a:xfrm>
            <a:off x="3657600" y="2999232"/>
            <a:ext cx="2194560" cy="502920"/>
          </a:xfrm>
          <a:prstGeom prst="rect">
            <a:avLst/>
          </a:prstGeom>
          <a:noFill/>
          <a:ln/>
        </p:spPr>
        <p:txBody>
          <a:bodyPr wrap="square" lIns="0" tIns="0" rIns="0" bIns="0" rtlCol="0" anchor="t"/>
          <a:lstStyle/>
          <a:p>
            <a:pPr indent="0" marL="0">
              <a:buNone/>
            </a:pPr>
            <a:r>
              <a:rPr lang="en-US" sz="1300" dirty="0">
                <a:solidFill>
                  <a:srgbClr val="0A0A0A"/>
                </a:solidFill>
                <a:latin typeface="Segoe UI Semibold" pitchFamily="34" charset="0"/>
                <a:ea typeface="Segoe UI Semibold" pitchFamily="34" charset="-122"/>
                <a:cs typeface="Segoe UI Semibold" pitchFamily="34" charset="-120"/>
              </a:rPr>
              <a:t>Unit test lulus</a:t>
            </a:r>
            <a:endParaRPr lang="en-US" sz="1300" dirty="0"/>
          </a:p>
        </p:txBody>
      </p:sp>
      <p:sp>
        <p:nvSpPr>
          <p:cNvPr id="12" name="Text 10"/>
          <p:cNvSpPr txBox="1"/>
          <p:nvPr/>
        </p:nvSpPr>
        <p:spPr>
          <a:xfrm>
            <a:off x="3657600" y="3493008"/>
            <a:ext cx="2194560" cy="320040"/>
          </a:xfrm>
          <a:prstGeom prst="rect">
            <a:avLst/>
          </a:prstGeom>
          <a:noFill/>
          <a:ln/>
        </p:spPr>
        <p:txBody>
          <a:bodyPr wrap="square" lIns="0" tIns="0" rIns="0" bIns="0" rtlCol="0" anchor="t"/>
          <a:lstStyle/>
          <a:p>
            <a:pPr indent="0" marL="0">
              <a:buNone/>
            </a:pPr>
            <a:r>
              <a:rPr lang="en-US" sz="1100" dirty="0">
                <a:solidFill>
                  <a:srgbClr val="5C5C5C"/>
                </a:solidFill>
                <a:latin typeface="Segoe UI" pitchFamily="34" charset="0"/>
                <a:ea typeface="Segoe UI" pitchFamily="34" charset="-122"/>
                <a:cs typeface="Segoe UI" pitchFamily="34" charset="-120"/>
              </a:rPr>
              <a:t>+ 34 tes integrasi MySQL</a:t>
            </a:r>
            <a:endParaRPr lang="en-US" sz="1100" dirty="0"/>
          </a:p>
        </p:txBody>
      </p:sp>
      <p:sp>
        <p:nvSpPr>
          <p:cNvPr id="13" name="Shape 11"/>
          <p:cNvSpPr/>
          <p:nvPr/>
        </p:nvSpPr>
        <p:spPr>
          <a:xfrm>
            <a:off x="6217920" y="1874520"/>
            <a:ext cx="2651760" cy="2103120"/>
          </a:xfrm>
          <a:prstGeom prst="roundRect">
            <a:avLst>
              <a:gd name="adj" fmla="val 9565"/>
            </a:avLst>
          </a:prstGeom>
          <a:solidFill>
            <a:srgbClr val="F3F3F3"/>
          </a:solidFill>
          <a:ln/>
        </p:spPr>
      </p:sp>
      <p:sp>
        <p:nvSpPr>
          <p:cNvPr id="14" name="Text 12"/>
          <p:cNvSpPr txBox="1"/>
          <p:nvPr/>
        </p:nvSpPr>
        <p:spPr>
          <a:xfrm>
            <a:off x="6492240" y="2057400"/>
            <a:ext cx="2194560" cy="868680"/>
          </a:xfrm>
          <a:prstGeom prst="rect">
            <a:avLst/>
          </a:prstGeom>
          <a:noFill/>
          <a:ln/>
        </p:spPr>
        <p:txBody>
          <a:bodyPr wrap="square" lIns="0" tIns="0" rIns="0" bIns="0" rtlCol="0" anchor="t"/>
          <a:lstStyle/>
          <a:p>
            <a:pPr indent="0" marL="0">
              <a:buNone/>
            </a:pPr>
            <a:r>
              <a:rPr lang="en-US" sz="4800" dirty="0">
                <a:solidFill>
                  <a:srgbClr val="0A0A0A"/>
                </a:solidFill>
                <a:latin typeface="Segoe UI Semibold" pitchFamily="34" charset="0"/>
                <a:ea typeface="Segoe UI Semibold" pitchFamily="34" charset="-122"/>
                <a:cs typeface="Segoe UI Semibold" pitchFamily="34" charset="-120"/>
              </a:rPr>
              <a:t>88</a:t>
            </a:r>
            <a:endParaRPr lang="en-US" sz="4800" dirty="0"/>
          </a:p>
        </p:txBody>
      </p:sp>
      <p:sp>
        <p:nvSpPr>
          <p:cNvPr id="15" name="Text 13"/>
          <p:cNvSpPr txBox="1"/>
          <p:nvPr/>
        </p:nvSpPr>
        <p:spPr>
          <a:xfrm>
            <a:off x="6492240" y="2999232"/>
            <a:ext cx="2194560" cy="502920"/>
          </a:xfrm>
          <a:prstGeom prst="rect">
            <a:avLst/>
          </a:prstGeom>
          <a:noFill/>
          <a:ln/>
        </p:spPr>
        <p:txBody>
          <a:bodyPr wrap="square" lIns="0" tIns="0" rIns="0" bIns="0" rtlCol="0" anchor="t"/>
          <a:lstStyle/>
          <a:p>
            <a:pPr indent="0" marL="0">
              <a:buNone/>
            </a:pPr>
            <a:r>
              <a:rPr lang="en-US" sz="1300" dirty="0">
                <a:solidFill>
                  <a:srgbClr val="0A0A0A"/>
                </a:solidFill>
                <a:latin typeface="Segoe UI Semibold" pitchFamily="34" charset="0"/>
                <a:ea typeface="Segoe UI Semibold" pitchFamily="34" charset="-122"/>
                <a:cs typeface="Segoe UI Semibold" pitchFamily="34" charset="-120"/>
              </a:rPr>
              <a:t>Tes E2E browser lulus</a:t>
            </a:r>
            <a:endParaRPr lang="en-US" sz="1300" dirty="0"/>
          </a:p>
        </p:txBody>
      </p:sp>
      <p:sp>
        <p:nvSpPr>
          <p:cNvPr id="16" name="Text 14"/>
          <p:cNvSpPr txBox="1"/>
          <p:nvPr/>
        </p:nvSpPr>
        <p:spPr>
          <a:xfrm>
            <a:off x="6492240" y="3493008"/>
            <a:ext cx="2194560" cy="320040"/>
          </a:xfrm>
          <a:prstGeom prst="rect">
            <a:avLst/>
          </a:prstGeom>
          <a:noFill/>
          <a:ln/>
        </p:spPr>
        <p:txBody>
          <a:bodyPr wrap="square" lIns="0" tIns="0" rIns="0" bIns="0" rtlCol="0" anchor="t"/>
          <a:lstStyle/>
          <a:p>
            <a:pPr indent="0" marL="0">
              <a:buNone/>
            </a:pPr>
            <a:r>
              <a:rPr lang="en-US" sz="1100" dirty="0">
                <a:solidFill>
                  <a:srgbClr val="5C5C5C"/>
                </a:solidFill>
                <a:latin typeface="Segoe UI" pitchFamily="34" charset="0"/>
                <a:ea typeface="Segoe UI" pitchFamily="34" charset="-122"/>
                <a:cs typeface="Segoe UI" pitchFamily="34" charset="-120"/>
              </a:rPr>
              <a:t>Alur pembeli &amp; admin nyata</a:t>
            </a:r>
            <a:endParaRPr lang="en-US" sz="1100" dirty="0"/>
          </a:p>
        </p:txBody>
      </p:sp>
      <p:sp>
        <p:nvSpPr>
          <p:cNvPr id="17" name="Shape 15"/>
          <p:cNvSpPr/>
          <p:nvPr/>
        </p:nvSpPr>
        <p:spPr>
          <a:xfrm>
            <a:off x="9052560" y="1874520"/>
            <a:ext cx="2651760" cy="2103120"/>
          </a:xfrm>
          <a:prstGeom prst="roundRect">
            <a:avLst>
              <a:gd name="adj" fmla="val 9565"/>
            </a:avLst>
          </a:prstGeom>
          <a:solidFill>
            <a:srgbClr val="F3F3F3"/>
          </a:solidFill>
          <a:ln/>
        </p:spPr>
      </p:sp>
      <p:sp>
        <p:nvSpPr>
          <p:cNvPr id="18" name="Text 16"/>
          <p:cNvSpPr txBox="1"/>
          <p:nvPr/>
        </p:nvSpPr>
        <p:spPr>
          <a:xfrm>
            <a:off x="9326880" y="2057400"/>
            <a:ext cx="2194560" cy="868680"/>
          </a:xfrm>
          <a:prstGeom prst="rect">
            <a:avLst/>
          </a:prstGeom>
          <a:noFill/>
          <a:ln/>
        </p:spPr>
        <p:txBody>
          <a:bodyPr wrap="square" lIns="0" tIns="0" rIns="0" bIns="0" rtlCol="0" anchor="t"/>
          <a:lstStyle/>
          <a:p>
            <a:pPr indent="0" marL="0">
              <a:buNone/>
            </a:pPr>
            <a:r>
              <a:rPr lang="en-US" sz="4800" dirty="0">
                <a:solidFill>
                  <a:srgbClr val="0A0A0A"/>
                </a:solidFill>
                <a:latin typeface="Segoe UI Semibold" pitchFamily="34" charset="0"/>
                <a:ea typeface="Segoe UI Semibold" pitchFamily="34" charset="-122"/>
                <a:cs typeface="Segoe UI Semibold" pitchFamily="34" charset="-120"/>
              </a:rPr>
              <a:t>0</a:t>
            </a:r>
            <a:endParaRPr lang="en-US" sz="4800" dirty="0"/>
          </a:p>
        </p:txBody>
      </p:sp>
      <p:sp>
        <p:nvSpPr>
          <p:cNvPr id="19" name="Text 17"/>
          <p:cNvSpPr txBox="1"/>
          <p:nvPr/>
        </p:nvSpPr>
        <p:spPr>
          <a:xfrm>
            <a:off x="9326880" y="2999232"/>
            <a:ext cx="2194560" cy="502920"/>
          </a:xfrm>
          <a:prstGeom prst="rect">
            <a:avLst/>
          </a:prstGeom>
          <a:noFill/>
          <a:ln/>
        </p:spPr>
        <p:txBody>
          <a:bodyPr wrap="square" lIns="0" tIns="0" rIns="0" bIns="0" rtlCol="0" anchor="t"/>
          <a:lstStyle/>
          <a:p>
            <a:pPr indent="0" marL="0">
              <a:buNone/>
            </a:pPr>
            <a:r>
              <a:rPr lang="en-US" sz="1300" dirty="0">
                <a:solidFill>
                  <a:srgbClr val="0A0A0A"/>
                </a:solidFill>
                <a:latin typeface="Segoe UI Semibold" pitchFamily="34" charset="0"/>
                <a:ea typeface="Segoe UI Semibold" pitchFamily="34" charset="-122"/>
                <a:cs typeface="Segoe UI Semibold" pitchFamily="34" charset="-120"/>
              </a:rPr>
              <a:t>Pelanggaran aksesibilitas serius</a:t>
            </a:r>
            <a:endParaRPr lang="en-US" sz="1300" dirty="0"/>
          </a:p>
        </p:txBody>
      </p:sp>
      <p:sp>
        <p:nvSpPr>
          <p:cNvPr id="20" name="Text 18"/>
          <p:cNvSpPr txBox="1"/>
          <p:nvPr/>
        </p:nvSpPr>
        <p:spPr>
          <a:xfrm>
            <a:off x="9326880" y="3493008"/>
            <a:ext cx="2194560" cy="320040"/>
          </a:xfrm>
          <a:prstGeom prst="rect">
            <a:avLst/>
          </a:prstGeom>
          <a:noFill/>
          <a:ln/>
        </p:spPr>
        <p:txBody>
          <a:bodyPr wrap="square" lIns="0" tIns="0" rIns="0" bIns="0" rtlCol="0" anchor="t"/>
          <a:lstStyle/>
          <a:p>
            <a:pPr indent="0" marL="0">
              <a:buNone/>
            </a:pPr>
            <a:r>
              <a:rPr lang="en-US" sz="1100" dirty="0">
                <a:solidFill>
                  <a:srgbClr val="5C5C5C"/>
                </a:solidFill>
                <a:latin typeface="Segoe UI" pitchFamily="34" charset="0"/>
                <a:ea typeface="Segoe UI" pitchFamily="34" charset="-122"/>
                <a:cs typeface="Segoe UI" pitchFamily="34" charset="-120"/>
              </a:rPr>
              <a:t>axe, mode terang &amp; gelap</a:t>
            </a:r>
            <a:endParaRPr lang="en-US" sz="1100" dirty="0"/>
          </a:p>
        </p:txBody>
      </p:sp>
      <p:sp>
        <p:nvSpPr>
          <p:cNvPr id="21" name="Text 19"/>
          <p:cNvSpPr txBox="1"/>
          <p:nvPr/>
        </p:nvSpPr>
        <p:spPr>
          <a:xfrm>
            <a:off x="548640" y="4297680"/>
            <a:ext cx="3657600" cy="228600"/>
          </a:xfrm>
          <a:prstGeom prst="rect">
            <a:avLst/>
          </a:prstGeom>
          <a:noFill/>
          <a:ln/>
        </p:spPr>
        <p:txBody>
          <a:bodyPr wrap="square" lIns="0" tIns="0" rIns="0" bIns="0" rtlCol="0" anchor="t"/>
          <a:lstStyle/>
          <a:p>
            <a:pPr indent="0" marL="0">
              <a:buNone/>
            </a:pPr>
            <a:r>
              <a:rPr lang="en-US" sz="950" spc="150" kern="0" dirty="0">
                <a:solidFill>
                  <a:srgbClr val="5C5C5C"/>
                </a:solidFill>
                <a:latin typeface="Segoe UI Semibold" pitchFamily="34" charset="0"/>
                <a:ea typeface="Segoe UI Semibold" pitchFamily="34" charset="-122"/>
                <a:cs typeface="Segoe UI Semibold" pitchFamily="34" charset="-120"/>
              </a:rPr>
              <a:t>TARGET PRD</a:t>
            </a:r>
            <a:endParaRPr lang="en-US" sz="950" dirty="0"/>
          </a:p>
        </p:txBody>
      </p:sp>
      <p:sp>
        <p:nvSpPr>
          <p:cNvPr id="22" name="Text 20"/>
          <p:cNvSpPr txBox="1"/>
          <p:nvPr/>
        </p:nvSpPr>
        <p:spPr>
          <a:xfrm>
            <a:off x="548640" y="4617720"/>
            <a:ext cx="5394960" cy="274320"/>
          </a:xfrm>
          <a:prstGeom prst="rect">
            <a:avLst/>
          </a:prstGeom>
          <a:noFill/>
          <a:ln/>
        </p:spPr>
        <p:txBody>
          <a:bodyPr wrap="square" lIns="0" tIns="0" rIns="0" bIns="0" rtlCol="0" anchor="t"/>
          <a:lstStyle/>
          <a:p>
            <a:pPr indent="0" marL="0">
              <a:buNone/>
            </a:pPr>
            <a:r>
              <a:rPr lang="en-US" sz="1250" dirty="0">
                <a:solidFill>
                  <a:srgbClr val="0A0A0A"/>
                </a:solidFill>
                <a:latin typeface="Segoe UI Semibold" pitchFamily="34" charset="0"/>
                <a:ea typeface="Segoe UI Semibold" pitchFamily="34" charset="-122"/>
                <a:cs typeface="Segoe UI Semibold" pitchFamily="34" charset="-120"/>
              </a:rPr>
              <a:t>Muat halaman &lt; 2,5 dtk di 4G</a:t>
            </a:r>
            <a:endParaRPr lang="en-US" sz="1250" dirty="0"/>
          </a:p>
        </p:txBody>
      </p:sp>
      <p:sp>
        <p:nvSpPr>
          <p:cNvPr id="23" name="Text 21"/>
          <p:cNvSpPr txBox="1"/>
          <p:nvPr/>
        </p:nvSpPr>
        <p:spPr>
          <a:xfrm>
            <a:off x="548640" y="4892040"/>
            <a:ext cx="5394960" cy="320040"/>
          </a:xfrm>
          <a:prstGeom prst="rect">
            <a:avLst/>
          </a:prstGeom>
          <a:noFill/>
          <a:ln/>
        </p:spPr>
        <p:txBody>
          <a:bodyPr wrap="square" lIns="0" tIns="0" rIns="0" bIns="0" rtlCol="0" anchor="t"/>
          <a:lstStyle/>
          <a:p>
            <a:pPr indent="0" marL="0">
              <a:buNone/>
            </a:pPr>
            <a:r>
              <a:rPr lang="en-US" sz="1100" dirty="0">
                <a:solidFill>
                  <a:srgbClr val="5C5C5C"/>
                </a:solidFill>
                <a:latin typeface="Segoe UI" pitchFamily="34" charset="0"/>
                <a:ea typeface="Segoe UI" pitchFamily="34" charset="-122"/>
                <a:cs typeface="Segoe UI" pitchFamily="34" charset="-120"/>
              </a:rPr>
              <a:t>Beranda 1,7 · katalog 2,3 · detail 2,2 dtk (HP diperlambat) ✓</a:t>
            </a:r>
            <a:endParaRPr lang="en-US" sz="1100" dirty="0"/>
          </a:p>
        </p:txBody>
      </p:sp>
      <p:sp>
        <p:nvSpPr>
          <p:cNvPr id="24" name="Text 22"/>
          <p:cNvSpPr txBox="1"/>
          <p:nvPr/>
        </p:nvSpPr>
        <p:spPr>
          <a:xfrm>
            <a:off x="6199632" y="4617720"/>
            <a:ext cx="5394960" cy="274320"/>
          </a:xfrm>
          <a:prstGeom prst="rect">
            <a:avLst/>
          </a:prstGeom>
          <a:noFill/>
          <a:ln/>
        </p:spPr>
        <p:txBody>
          <a:bodyPr wrap="square" lIns="0" tIns="0" rIns="0" bIns="0" rtlCol="0" anchor="t"/>
          <a:lstStyle/>
          <a:p>
            <a:pPr indent="0" marL="0">
              <a:buNone/>
            </a:pPr>
            <a:r>
              <a:rPr lang="en-US" sz="1250" dirty="0">
                <a:solidFill>
                  <a:srgbClr val="0A0A0A"/>
                </a:solidFill>
                <a:latin typeface="Segoe UI Semibold" pitchFamily="34" charset="0"/>
                <a:ea typeface="Segoe UI Semibold" pitchFamily="34" charset="-122"/>
                <a:cs typeface="Segoe UI Semibold" pitchFamily="34" charset="-120"/>
              </a:rPr>
              <a:t>Checkout &lt; 3 menit</a:t>
            </a:r>
            <a:endParaRPr lang="en-US" sz="1250" dirty="0"/>
          </a:p>
        </p:txBody>
      </p:sp>
      <p:sp>
        <p:nvSpPr>
          <p:cNvPr id="25" name="Text 23"/>
          <p:cNvSpPr txBox="1"/>
          <p:nvPr/>
        </p:nvSpPr>
        <p:spPr>
          <a:xfrm>
            <a:off x="6199632" y="4892040"/>
            <a:ext cx="5394960" cy="320040"/>
          </a:xfrm>
          <a:prstGeom prst="rect">
            <a:avLst/>
          </a:prstGeom>
          <a:noFill/>
          <a:ln/>
        </p:spPr>
        <p:txBody>
          <a:bodyPr wrap="square" lIns="0" tIns="0" rIns="0" bIns="0" rtlCol="0" anchor="t"/>
          <a:lstStyle/>
          <a:p>
            <a:pPr indent="0" marL="0">
              <a:buNone/>
            </a:pPr>
            <a:r>
              <a:rPr lang="en-US" sz="1100" dirty="0">
                <a:solidFill>
                  <a:srgbClr val="5C5C5C"/>
                </a:solidFill>
                <a:latin typeface="Segoe UI" pitchFamily="34" charset="0"/>
                <a:ea typeface="Segoe UI" pitchFamily="34" charset="-122"/>
                <a:cs typeface="Segoe UI" pitchFamily="34" charset="-120"/>
              </a:rPr>
              <a:t>Empat langkah; latihan demo otomatis 30 dtk ✓</a:t>
            </a:r>
            <a:endParaRPr lang="en-US" sz="1100" dirty="0"/>
          </a:p>
        </p:txBody>
      </p:sp>
      <p:sp>
        <p:nvSpPr>
          <p:cNvPr id="26" name="Text 24"/>
          <p:cNvSpPr txBox="1"/>
          <p:nvPr/>
        </p:nvSpPr>
        <p:spPr>
          <a:xfrm>
            <a:off x="548640" y="5330952"/>
            <a:ext cx="5394960" cy="274320"/>
          </a:xfrm>
          <a:prstGeom prst="rect">
            <a:avLst/>
          </a:prstGeom>
          <a:noFill/>
          <a:ln/>
        </p:spPr>
        <p:txBody>
          <a:bodyPr wrap="square" lIns="0" tIns="0" rIns="0" bIns="0" rtlCol="0" anchor="t"/>
          <a:lstStyle/>
          <a:p>
            <a:pPr indent="0" marL="0">
              <a:buNone/>
            </a:pPr>
            <a:r>
              <a:rPr lang="en-US" sz="1250" dirty="0">
                <a:solidFill>
                  <a:srgbClr val="0A0A0A"/>
                </a:solidFill>
                <a:latin typeface="Segoe UI Semibold" pitchFamily="34" charset="0"/>
                <a:ea typeface="Segoe UI Semibold" pitchFamily="34" charset="-122"/>
                <a:cs typeface="Segoe UI Semibold" pitchFamily="34" charset="-120"/>
              </a:rPr>
              <a:t>Tanpa overselling</a:t>
            </a:r>
            <a:endParaRPr lang="en-US" sz="1250" dirty="0"/>
          </a:p>
        </p:txBody>
      </p:sp>
      <p:sp>
        <p:nvSpPr>
          <p:cNvPr id="27" name="Text 25"/>
          <p:cNvSpPr txBox="1"/>
          <p:nvPr/>
        </p:nvSpPr>
        <p:spPr>
          <a:xfrm>
            <a:off x="548640" y="5605272"/>
            <a:ext cx="5394960" cy="320040"/>
          </a:xfrm>
          <a:prstGeom prst="rect">
            <a:avLst/>
          </a:prstGeom>
          <a:noFill/>
          <a:ln/>
        </p:spPr>
        <p:txBody>
          <a:bodyPr wrap="square" lIns="0" tIns="0" rIns="0" bIns="0" rtlCol="0" anchor="t"/>
          <a:lstStyle/>
          <a:p>
            <a:pPr indent="0" marL="0">
              <a:buNone/>
            </a:pPr>
            <a:r>
              <a:rPr lang="en-US" sz="1100" dirty="0">
                <a:solidFill>
                  <a:srgbClr val="5C5C5C"/>
                </a:solidFill>
                <a:latin typeface="Segoe UI" pitchFamily="34" charset="0"/>
                <a:ea typeface="Segoe UI" pitchFamily="34" charset="-122"/>
                <a:cs typeface="Segoe UI" pitchFamily="34" charset="-120"/>
              </a:rPr>
              <a:t>Dua pembeli berebut stok terakhir: hanya satu berhasil ✓</a:t>
            </a:r>
            <a:endParaRPr lang="en-US" sz="1100" dirty="0"/>
          </a:p>
        </p:txBody>
      </p:sp>
      <p:sp>
        <p:nvSpPr>
          <p:cNvPr id="28" name="Text 26"/>
          <p:cNvSpPr txBox="1"/>
          <p:nvPr/>
        </p:nvSpPr>
        <p:spPr>
          <a:xfrm>
            <a:off x="6199632" y="5330952"/>
            <a:ext cx="5394960" cy="274320"/>
          </a:xfrm>
          <a:prstGeom prst="rect">
            <a:avLst/>
          </a:prstGeom>
          <a:noFill/>
          <a:ln/>
        </p:spPr>
        <p:txBody>
          <a:bodyPr wrap="square" lIns="0" tIns="0" rIns="0" bIns="0" rtlCol="0" anchor="t"/>
          <a:lstStyle/>
          <a:p>
            <a:pPr indent="0" marL="0">
              <a:buNone/>
            </a:pPr>
            <a:r>
              <a:rPr lang="en-US" sz="1250" dirty="0">
                <a:solidFill>
                  <a:srgbClr val="0A0A0A"/>
                </a:solidFill>
                <a:latin typeface="Segoe UI Semibold" pitchFamily="34" charset="0"/>
                <a:ea typeface="Segoe UI Semibold" pitchFamily="34" charset="-122"/>
                <a:cs typeface="Segoe UI Semibold" pitchFamily="34" charset="-120"/>
              </a:rPr>
              <a:t>Layar mulai 360 px</a:t>
            </a:r>
            <a:endParaRPr lang="en-US" sz="1250" dirty="0"/>
          </a:p>
        </p:txBody>
      </p:sp>
      <p:sp>
        <p:nvSpPr>
          <p:cNvPr id="29" name="Text 27"/>
          <p:cNvSpPr txBox="1"/>
          <p:nvPr/>
        </p:nvSpPr>
        <p:spPr>
          <a:xfrm>
            <a:off x="6199632" y="5605272"/>
            <a:ext cx="5394960" cy="320040"/>
          </a:xfrm>
          <a:prstGeom prst="rect">
            <a:avLst/>
          </a:prstGeom>
          <a:noFill/>
          <a:ln/>
        </p:spPr>
        <p:txBody>
          <a:bodyPr wrap="square" lIns="0" tIns="0" rIns="0" bIns="0" rtlCol="0" anchor="t"/>
          <a:lstStyle/>
          <a:p>
            <a:pPr indent="0" marL="0">
              <a:buNone/>
            </a:pPr>
            <a:r>
              <a:rPr lang="en-US" sz="1100" dirty="0">
                <a:solidFill>
                  <a:srgbClr val="5C5C5C"/>
                </a:solidFill>
                <a:latin typeface="Segoe UI" pitchFamily="34" charset="0"/>
                <a:ea typeface="Segoe UI" pitchFamily="34" charset="-122"/>
                <a:cs typeface="Segoe UI" pitchFamily="34" charset="-120"/>
              </a:rPr>
              <a:t>Tanpa gulir mendatar, tombol ≥ 44 px ✓</a:t>
            </a:r>
            <a:endParaRPr lang="en-US" sz="1100" dirty="0"/>
          </a:p>
        </p:txBody>
      </p:sp>
      <p:sp>
        <p:nvSpPr>
          <p:cNvPr id="25" name="Slide Number Placeholder 0"/>
          <p:cNvSpPr>
            <a:spLocks noGrp="1"/>
          </p:cNvSpPr>
          <p:nvPr>
            <p:ph type="sldNum" sz="quarter" idx="4294967295"/>
          </p:nvPr>
        </p:nvSpPr>
        <p:spPr>
          <a:xfrm>
            <a:off x="11183112"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C5C5C"/>
                </a:solidFill>
                <a:latin typeface="Segoe UI"/>
                <a:ea typeface="Segoe UI"/>
                <a:cs typeface="Segoe UI"/>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Shape 0"/>
          <p:cNvSpPr/>
          <p:nvPr/>
        </p:nvSpPr>
        <p:spPr>
          <a:xfrm>
            <a:off x="548640" y="411480"/>
            <a:ext cx="2068373" cy="292608"/>
          </a:xfrm>
          <a:prstGeom prst="roundRect">
            <a:avLst>
              <a:gd name="adj" fmla="val 50000"/>
            </a:avLst>
          </a:prstGeom>
          <a:solidFill>
            <a:srgbClr val="F3F3F3"/>
          </a:solidFill>
          <a:ln/>
        </p:spPr>
      </p:sp>
      <p:sp>
        <p:nvSpPr>
          <p:cNvPr id="3" name="Text 1"/>
          <p:cNvSpPr txBox="1"/>
          <p:nvPr/>
        </p:nvSpPr>
        <p:spPr>
          <a:xfrm>
            <a:off x="548640" y="411480"/>
            <a:ext cx="2068373" cy="292608"/>
          </a:xfrm>
          <a:prstGeom prst="rect">
            <a:avLst/>
          </a:prstGeom>
          <a:noFill/>
          <a:ln/>
        </p:spPr>
        <p:txBody>
          <a:bodyPr wrap="square" lIns="0" tIns="0" rIns="0" bIns="0" rtlCol="0" anchor="ctr"/>
          <a:lstStyle/>
          <a:p>
            <a:pPr algn="ctr" indent="0" marL="0">
              <a:buNone/>
            </a:pPr>
            <a:r>
              <a:rPr lang="en-US" sz="950" spc="150" kern="0" dirty="0">
                <a:solidFill>
                  <a:srgbClr val="5C5C5C"/>
                </a:solidFill>
                <a:latin typeface="Segoe UI Semibold" pitchFamily="34" charset="0"/>
                <a:ea typeface="Segoe UI Semibold" pitchFamily="34" charset="-122"/>
                <a:cs typeface="Segoe UI Semibold" pitchFamily="34" charset="-120"/>
              </a:rPr>
              <a:t>KEAMANAN &amp; REGULASI</a:t>
            </a:r>
            <a:endParaRPr lang="en-US" sz="950" dirty="0"/>
          </a:p>
        </p:txBody>
      </p:sp>
      <p:sp>
        <p:nvSpPr>
          <p:cNvPr id="4" name="Text 1"/>
          <p:cNvSpPr/>
          <p:nvPr>
            <p:ph idx="101" type="title" hasCustomPrompt="1"/>
          </p:nvPr>
        </p:nvSpPr>
        <p:spPr>
          <a:xfrm>
            <a:off x="548640" y="868680"/>
            <a:ext cx="11064240" cy="777240"/>
          </a:xfrm>
          <a:prstGeom prst="rect">
            <a:avLst/>
          </a:prstGeom>
          <a:noFill/>
          <a:ln/>
        </p:spPr>
        <p:txBody>
          <a:bodyPr wrap="square" lIns="0" tIns="0" rIns="0" bIns="0" rtlCol="0" anchor="t"/>
          <a:lstStyle/>
          <a:p>
            <a:pPr algn="l" indent="0" marL="0">
              <a:buNone/>
            </a:pPr>
            <a:r>
              <a:rPr lang="en-US" sz="3000" dirty="0">
                <a:solidFill>
                  <a:srgbClr val="0A0A0A"/>
                </a:solidFill>
                <a:latin typeface="Segoe UI Semibold" pitchFamily="34" charset="0"/>
                <a:ea typeface="Segoe UI Semibold" pitchFamily="34" charset="-122"/>
                <a:cs typeface="Segoe UI Semibold" pitchFamily="34" charset="-120"/>
              </a:rPr>
              <a:t>Melindungi data pembeli dan transaksi toko</a:t>
            </a:r>
            <a:endParaRPr lang="en-US" sz="3000" dirty="0"/>
          </a:p>
        </p:txBody>
      </p:sp>
      <p:sp>
        <p:nvSpPr>
          <p:cNvPr id="5" name="Shape 3"/>
          <p:cNvSpPr/>
          <p:nvPr/>
        </p:nvSpPr>
        <p:spPr>
          <a:xfrm>
            <a:off x="548640" y="1874520"/>
            <a:ext cx="2651760" cy="4114800"/>
          </a:xfrm>
          <a:prstGeom prst="roundRect">
            <a:avLst>
              <a:gd name="adj" fmla="val 7586"/>
            </a:avLst>
          </a:prstGeom>
          <a:solidFill>
            <a:srgbClr val="F3F3F3"/>
          </a:solidFill>
          <a:ln/>
        </p:spPr>
      </p:sp>
      <p:sp>
        <p:nvSpPr>
          <p:cNvPr id="6" name="Shape 4"/>
          <p:cNvSpPr/>
          <p:nvPr/>
        </p:nvSpPr>
        <p:spPr>
          <a:xfrm>
            <a:off x="822960" y="2148840"/>
            <a:ext cx="548640" cy="548640"/>
          </a:xfrm>
          <a:prstGeom prst="ellipse">
            <a:avLst/>
          </a:prstGeom>
          <a:solidFill>
            <a:srgbClr val="0A0A0A"/>
          </a:solidFill>
          <a:ln/>
        </p:spPr>
      </p:sp>
      <p:pic>
        <p:nvPicPr>
          <p:cNvPr id="7" name="Image 0" descr="C:\laragon\www\e-commerce\scripts\ppt\aset\ikon-ShieldCheck-putih.png">    </p:cNvPr>
          <p:cNvPicPr>
            <a:picLocks noChangeAspect="1"/>
          </p:cNvPicPr>
          <p:nvPr/>
        </p:nvPicPr>
        <p:blipFill>
          <a:blip r:embed="rId1"/>
          <a:stretch>
            <a:fillRect/>
          </a:stretch>
        </p:blipFill>
        <p:spPr>
          <a:xfrm>
            <a:off x="960120" y="2286000"/>
            <a:ext cx="274320" cy="274320"/>
          </a:xfrm>
          <a:prstGeom prst="rect">
            <a:avLst/>
          </a:prstGeom>
        </p:spPr>
      </p:pic>
      <p:sp>
        <p:nvSpPr>
          <p:cNvPr id="8" name="Text 5"/>
          <p:cNvSpPr txBox="1"/>
          <p:nvPr/>
        </p:nvSpPr>
        <p:spPr>
          <a:xfrm>
            <a:off x="822960" y="2880360"/>
            <a:ext cx="2194560" cy="329184"/>
          </a:xfrm>
          <a:prstGeom prst="rect">
            <a:avLst/>
          </a:prstGeom>
          <a:noFill/>
          <a:ln/>
        </p:spPr>
        <p:txBody>
          <a:bodyPr wrap="square" lIns="0" tIns="0" rIns="0" bIns="0" rtlCol="0" anchor="t"/>
          <a:lstStyle/>
          <a:p>
            <a:pPr indent="0" marL="0">
              <a:buNone/>
            </a:pPr>
            <a:r>
              <a:rPr lang="en-US" sz="1500" dirty="0">
                <a:solidFill>
                  <a:srgbClr val="0A0A0A"/>
                </a:solidFill>
                <a:latin typeface="Segoe UI Semibold" pitchFamily="34" charset="0"/>
                <a:ea typeface="Segoe UI Semibold" pitchFamily="34" charset="-122"/>
                <a:cs typeface="Segoe UI Semibold" pitchFamily="34" charset="-120"/>
              </a:rPr>
              <a:t>Privasi data</a:t>
            </a:r>
            <a:endParaRPr lang="en-US" sz="1500" dirty="0"/>
          </a:p>
        </p:txBody>
      </p:sp>
      <p:sp>
        <p:nvSpPr>
          <p:cNvPr id="9" name="Text 6"/>
          <p:cNvSpPr txBox="1"/>
          <p:nvPr/>
        </p:nvSpPr>
        <p:spPr>
          <a:xfrm>
            <a:off x="822960" y="3200400"/>
            <a:ext cx="2194560" cy="274320"/>
          </a:xfrm>
          <a:prstGeom prst="rect">
            <a:avLst/>
          </a:prstGeom>
          <a:noFill/>
          <a:ln/>
        </p:spPr>
        <p:txBody>
          <a:bodyPr wrap="square" lIns="0" tIns="0" rIns="0" bIns="0" rtlCol="0" anchor="t"/>
          <a:lstStyle/>
          <a:p>
            <a:pPr indent="0" marL="0">
              <a:buNone/>
            </a:pPr>
            <a:r>
              <a:rPr lang="en-US" sz="1100" dirty="0">
                <a:solidFill>
                  <a:srgbClr val="5C5C5C"/>
                </a:solidFill>
                <a:latin typeface="Segoe UI" pitchFamily="34" charset="0"/>
                <a:ea typeface="Segoe UI" pitchFamily="34" charset="-122"/>
                <a:cs typeface="Segoe UI" pitchFamily="34" charset="-120"/>
              </a:rPr>
              <a:t>UU PDP No. 27/2022</a:t>
            </a:r>
            <a:endParaRPr lang="en-US" sz="1100" dirty="0"/>
          </a:p>
        </p:txBody>
      </p:sp>
      <p:sp>
        <p:nvSpPr>
          <p:cNvPr id="10" name="Text 7"/>
          <p:cNvSpPr txBox="1"/>
          <p:nvPr/>
        </p:nvSpPr>
        <p:spPr>
          <a:xfrm>
            <a:off x="822960" y="3657600"/>
            <a:ext cx="2194560" cy="2194560"/>
          </a:xfrm>
          <a:prstGeom prst="rect">
            <a:avLst/>
          </a:prstGeom>
          <a:noFill/>
          <a:ln/>
        </p:spPr>
        <p:txBody>
          <a:bodyPr wrap="square" lIns="0" tIns="0" rIns="0" bIns="0" rtlCol="0" anchor="t"/>
          <a:lstStyle/>
          <a:p>
            <a:pPr marL="342900" indent="-342900">
              <a:spcAft>
                <a:spcPts val="600"/>
              </a:spcAft>
              <a:buSzPct val="100000"/>
              <a:buChar char="•"/>
            </a:pPr>
            <a:r>
              <a:rPr lang="en-US" sz="1150" dirty="0">
                <a:solidFill>
                  <a:srgbClr val="0A0A0A"/>
                </a:solidFill>
                <a:latin typeface="Segoe UI" pitchFamily="34" charset="0"/>
                <a:ea typeface="Segoe UI" pitchFamily="34" charset="-122"/>
                <a:cs typeface="Segoe UI" pitchFamily="34" charset="-120"/>
              </a:rPr>
              <a:t>Data pembeli hanya untuk pengiriman</a:t>
            </a:r>
            <a:endParaRPr lang="en-US" sz="1150" dirty="0"/>
          </a:p>
          <a:p>
            <a:pPr marL="342900" indent="-342900">
              <a:spcAft>
                <a:spcPts val="600"/>
              </a:spcAft>
              <a:buSzPct val="100000"/>
              <a:buChar char="•"/>
            </a:pPr>
            <a:r>
              <a:rPr lang="en-US" sz="1150" dirty="0">
                <a:solidFill>
                  <a:srgbClr val="0A0A0A"/>
                </a:solidFill>
                <a:latin typeface="Segoe UI" pitchFamily="34" charset="0"/>
                <a:ea typeface="Segoe UI" pitchFamily="34" charset="-122"/>
                <a:cs typeface="Segoe UI" pitchFamily="34" charset="-120"/>
              </a:rPr>
              <a:t>Persetujuan privasi saat daftar</a:t>
            </a:r>
            <a:endParaRPr lang="en-US" sz="1150" dirty="0"/>
          </a:p>
          <a:p>
            <a:pPr marL="342900" indent="-342900">
              <a:spcAft>
                <a:spcPts val="600"/>
              </a:spcAft>
              <a:buSzPct val="100000"/>
              <a:buChar char="•"/>
            </a:pPr>
            <a:r>
              <a:rPr lang="en-US" sz="1150" dirty="0">
                <a:solidFill>
                  <a:srgbClr val="0A0A0A"/>
                </a:solidFill>
                <a:latin typeface="Segoe UI" pitchFamily="34" charset="0"/>
                <a:ea typeface="Segoe UI" pitchFamily="34" charset="-122"/>
                <a:cs typeface="Segoe UI" pitchFamily="34" charset="-120"/>
              </a:rPr>
              <a:t>Pengguna bisa menghapus akun</a:t>
            </a:r>
            <a:endParaRPr lang="en-US" sz="1150" dirty="0"/>
          </a:p>
        </p:txBody>
      </p:sp>
      <p:sp>
        <p:nvSpPr>
          <p:cNvPr id="11" name="Shape 8"/>
          <p:cNvSpPr/>
          <p:nvPr/>
        </p:nvSpPr>
        <p:spPr>
          <a:xfrm>
            <a:off x="3383280" y="1874520"/>
            <a:ext cx="2651760" cy="4114800"/>
          </a:xfrm>
          <a:prstGeom prst="roundRect">
            <a:avLst>
              <a:gd name="adj" fmla="val 7586"/>
            </a:avLst>
          </a:prstGeom>
          <a:solidFill>
            <a:srgbClr val="F3F3F3"/>
          </a:solidFill>
          <a:ln/>
        </p:spPr>
      </p:sp>
      <p:sp>
        <p:nvSpPr>
          <p:cNvPr id="12" name="Shape 9"/>
          <p:cNvSpPr/>
          <p:nvPr/>
        </p:nvSpPr>
        <p:spPr>
          <a:xfrm>
            <a:off x="3657600" y="2148840"/>
            <a:ext cx="548640" cy="548640"/>
          </a:xfrm>
          <a:prstGeom prst="ellipse">
            <a:avLst/>
          </a:prstGeom>
          <a:solidFill>
            <a:srgbClr val="0A0A0A"/>
          </a:solidFill>
          <a:ln/>
        </p:spPr>
      </p:sp>
      <p:pic>
        <p:nvPicPr>
          <p:cNvPr id="13" name="Image 1" descr="C:\laragon\www\e-commerce\scripts\ppt\aset\ikon-Lock-putih.png">    </p:cNvPr>
          <p:cNvPicPr>
            <a:picLocks noChangeAspect="1"/>
          </p:cNvPicPr>
          <p:nvPr/>
        </p:nvPicPr>
        <p:blipFill>
          <a:blip r:embed="rId2"/>
          <a:stretch>
            <a:fillRect/>
          </a:stretch>
        </p:blipFill>
        <p:spPr>
          <a:xfrm>
            <a:off x="3794760" y="2286000"/>
            <a:ext cx="274320" cy="274320"/>
          </a:xfrm>
          <a:prstGeom prst="rect">
            <a:avLst/>
          </a:prstGeom>
        </p:spPr>
      </p:pic>
      <p:sp>
        <p:nvSpPr>
          <p:cNvPr id="14" name="Text 10"/>
          <p:cNvSpPr txBox="1"/>
          <p:nvPr/>
        </p:nvSpPr>
        <p:spPr>
          <a:xfrm>
            <a:off x="3657600" y="2880360"/>
            <a:ext cx="2194560" cy="329184"/>
          </a:xfrm>
          <a:prstGeom prst="rect">
            <a:avLst/>
          </a:prstGeom>
          <a:noFill/>
          <a:ln/>
        </p:spPr>
        <p:txBody>
          <a:bodyPr wrap="square" lIns="0" tIns="0" rIns="0" bIns="0" rtlCol="0" anchor="t"/>
          <a:lstStyle/>
          <a:p>
            <a:pPr indent="0" marL="0">
              <a:buNone/>
            </a:pPr>
            <a:r>
              <a:rPr lang="en-US" sz="1500" dirty="0">
                <a:solidFill>
                  <a:srgbClr val="0A0A0A"/>
                </a:solidFill>
                <a:latin typeface="Segoe UI Semibold" pitchFamily="34" charset="0"/>
                <a:ea typeface="Segoe UI Semibold" pitchFamily="34" charset="-122"/>
                <a:cs typeface="Segoe UI Semibold" pitchFamily="34" charset="-120"/>
              </a:rPr>
              <a:t>Akun &amp; hak akses</a:t>
            </a:r>
            <a:endParaRPr lang="en-US" sz="1500" dirty="0"/>
          </a:p>
        </p:txBody>
      </p:sp>
      <p:sp>
        <p:nvSpPr>
          <p:cNvPr id="15" name="Text 11"/>
          <p:cNvSpPr txBox="1"/>
          <p:nvPr/>
        </p:nvSpPr>
        <p:spPr>
          <a:xfrm>
            <a:off x="3657600" y="3200400"/>
            <a:ext cx="2194560" cy="274320"/>
          </a:xfrm>
          <a:prstGeom prst="rect">
            <a:avLst/>
          </a:prstGeom>
          <a:noFill/>
          <a:ln/>
        </p:spPr>
        <p:txBody>
          <a:bodyPr wrap="square" lIns="0" tIns="0" rIns="0" bIns="0" rtlCol="0" anchor="t"/>
          <a:lstStyle/>
          <a:p>
            <a:pPr indent="0" marL="0">
              <a:buNone/>
            </a:pPr>
            <a:r>
              <a:rPr lang="en-US" sz="1100" dirty="0">
                <a:solidFill>
                  <a:srgbClr val="5C5C5C"/>
                </a:solidFill>
                <a:latin typeface="Segoe UI" pitchFamily="34" charset="0"/>
                <a:ea typeface="Segoe UI" pitchFamily="34" charset="-122"/>
                <a:cs typeface="Segoe UI" pitchFamily="34" charset="-120"/>
              </a:rPr>
              <a:t>Login dan peran</a:t>
            </a:r>
            <a:endParaRPr lang="en-US" sz="1100" dirty="0"/>
          </a:p>
        </p:txBody>
      </p:sp>
      <p:sp>
        <p:nvSpPr>
          <p:cNvPr id="16" name="Text 12"/>
          <p:cNvSpPr txBox="1"/>
          <p:nvPr/>
        </p:nvSpPr>
        <p:spPr>
          <a:xfrm>
            <a:off x="3657600" y="3657600"/>
            <a:ext cx="2194560" cy="2194560"/>
          </a:xfrm>
          <a:prstGeom prst="rect">
            <a:avLst/>
          </a:prstGeom>
          <a:noFill/>
          <a:ln/>
        </p:spPr>
        <p:txBody>
          <a:bodyPr wrap="square" lIns="0" tIns="0" rIns="0" bIns="0" rtlCol="0" anchor="t"/>
          <a:lstStyle/>
          <a:p>
            <a:pPr marL="342900" indent="-342900">
              <a:spcAft>
                <a:spcPts val="600"/>
              </a:spcAft>
              <a:buSzPct val="100000"/>
              <a:buChar char="•"/>
            </a:pPr>
            <a:r>
              <a:rPr lang="en-US" sz="1150" dirty="0">
                <a:solidFill>
                  <a:srgbClr val="0A0A0A"/>
                </a:solidFill>
                <a:latin typeface="Segoe UI" pitchFamily="34" charset="0"/>
                <a:ea typeface="Segoe UI" pitchFamily="34" charset="-122"/>
                <a:cs typeface="Segoe UI" pitchFamily="34" charset="-120"/>
              </a:rPr>
              <a:t>Argon2id + Login Google (PKCE)</a:t>
            </a:r>
            <a:endParaRPr lang="en-US" sz="1150" dirty="0"/>
          </a:p>
          <a:p>
            <a:pPr marL="342900" indent="-342900">
              <a:spcAft>
                <a:spcPts val="600"/>
              </a:spcAft>
              <a:buSzPct val="100000"/>
              <a:buChar char="•"/>
            </a:pPr>
            <a:r>
              <a:rPr lang="en-US" sz="1150" dirty="0">
                <a:solidFill>
                  <a:srgbClr val="0A0A0A"/>
                </a:solidFill>
                <a:latin typeface="Segoe UI" pitchFamily="34" charset="0"/>
                <a:ea typeface="Segoe UI" pitchFamily="34" charset="-122"/>
                <a:cs typeface="Segoe UI" pitchFamily="34" charset="-120"/>
              </a:rPr>
              <a:t>Login maks. 5 percobaan / 15 menit</a:t>
            </a:r>
            <a:endParaRPr lang="en-US" sz="1150" dirty="0"/>
          </a:p>
          <a:p>
            <a:pPr marL="342900" indent="-342900">
              <a:spcAft>
                <a:spcPts val="600"/>
              </a:spcAft>
              <a:buSzPct val="100000"/>
              <a:buChar char="•"/>
            </a:pPr>
            <a:r>
              <a:rPr lang="en-US" sz="1150" dirty="0">
                <a:solidFill>
                  <a:srgbClr val="0A0A0A"/>
                </a:solidFill>
                <a:latin typeface="Segoe UI" pitchFamily="34" charset="0"/>
                <a:ea typeface="Segoe UI" pitchFamily="34" charset="-122"/>
                <a:cs typeface="Segoe UI" pitchFamily="34" charset="-120"/>
              </a:rPr>
              <a:t>Panel admin khusus peran admin</a:t>
            </a:r>
            <a:endParaRPr lang="en-US" sz="1150" dirty="0"/>
          </a:p>
        </p:txBody>
      </p:sp>
      <p:sp>
        <p:nvSpPr>
          <p:cNvPr id="17" name="Shape 13"/>
          <p:cNvSpPr/>
          <p:nvPr/>
        </p:nvSpPr>
        <p:spPr>
          <a:xfrm>
            <a:off x="6217920" y="1874520"/>
            <a:ext cx="2651760" cy="4114800"/>
          </a:xfrm>
          <a:prstGeom prst="roundRect">
            <a:avLst>
              <a:gd name="adj" fmla="val 7586"/>
            </a:avLst>
          </a:prstGeom>
          <a:solidFill>
            <a:srgbClr val="F3F3F3"/>
          </a:solidFill>
          <a:ln/>
        </p:spPr>
      </p:sp>
      <p:sp>
        <p:nvSpPr>
          <p:cNvPr id="18" name="Shape 14"/>
          <p:cNvSpPr/>
          <p:nvPr/>
        </p:nvSpPr>
        <p:spPr>
          <a:xfrm>
            <a:off x="6492240" y="2148840"/>
            <a:ext cx="548640" cy="548640"/>
          </a:xfrm>
          <a:prstGeom prst="ellipse">
            <a:avLst/>
          </a:prstGeom>
          <a:solidFill>
            <a:srgbClr val="0A0A0A"/>
          </a:solidFill>
          <a:ln/>
        </p:spPr>
      </p:sp>
      <p:pic>
        <p:nvPicPr>
          <p:cNvPr id="19" name="Image 2" descr="C:\laragon\www\e-commerce\scripts\ppt\aset\ikon-Scale-putih.png">    </p:cNvPr>
          <p:cNvPicPr>
            <a:picLocks noChangeAspect="1"/>
          </p:cNvPicPr>
          <p:nvPr/>
        </p:nvPicPr>
        <p:blipFill>
          <a:blip r:embed="rId3"/>
          <a:stretch>
            <a:fillRect/>
          </a:stretch>
        </p:blipFill>
        <p:spPr>
          <a:xfrm>
            <a:off x="6629400" y="2286000"/>
            <a:ext cx="274320" cy="274320"/>
          </a:xfrm>
          <a:prstGeom prst="rect">
            <a:avLst/>
          </a:prstGeom>
        </p:spPr>
      </p:pic>
      <p:sp>
        <p:nvSpPr>
          <p:cNvPr id="20" name="Text 15"/>
          <p:cNvSpPr txBox="1"/>
          <p:nvPr/>
        </p:nvSpPr>
        <p:spPr>
          <a:xfrm>
            <a:off x="6492240" y="2880360"/>
            <a:ext cx="2194560" cy="329184"/>
          </a:xfrm>
          <a:prstGeom prst="rect">
            <a:avLst/>
          </a:prstGeom>
          <a:noFill/>
          <a:ln/>
        </p:spPr>
        <p:txBody>
          <a:bodyPr wrap="square" lIns="0" tIns="0" rIns="0" bIns="0" rtlCol="0" anchor="t"/>
          <a:lstStyle/>
          <a:p>
            <a:pPr indent="0" marL="0">
              <a:buNone/>
            </a:pPr>
            <a:r>
              <a:rPr lang="en-US" sz="1500" dirty="0">
                <a:solidFill>
                  <a:srgbClr val="0A0A0A"/>
                </a:solidFill>
                <a:latin typeface="Segoe UI Semibold" pitchFamily="34" charset="0"/>
                <a:ea typeface="Segoe UI Semibold" pitchFamily="34" charset="-122"/>
                <a:cs typeface="Segoe UI Semibold" pitchFamily="34" charset="-120"/>
              </a:rPr>
              <a:t>Transaksi adil</a:t>
            </a:r>
            <a:endParaRPr lang="en-US" sz="1500" dirty="0"/>
          </a:p>
        </p:txBody>
      </p:sp>
      <p:sp>
        <p:nvSpPr>
          <p:cNvPr id="21" name="Text 16"/>
          <p:cNvSpPr txBox="1"/>
          <p:nvPr/>
        </p:nvSpPr>
        <p:spPr>
          <a:xfrm>
            <a:off x="6492240" y="3200400"/>
            <a:ext cx="2194560" cy="274320"/>
          </a:xfrm>
          <a:prstGeom prst="rect">
            <a:avLst/>
          </a:prstGeom>
          <a:noFill/>
          <a:ln/>
        </p:spPr>
        <p:txBody>
          <a:bodyPr wrap="square" lIns="0" tIns="0" rIns="0" bIns="0" rtlCol="0" anchor="t"/>
          <a:lstStyle/>
          <a:p>
            <a:pPr indent="0" marL="0">
              <a:buNone/>
            </a:pPr>
            <a:r>
              <a:rPr lang="en-US" sz="1100" dirty="0">
                <a:solidFill>
                  <a:srgbClr val="5C5C5C"/>
                </a:solidFill>
                <a:latin typeface="Segoe UI" pitchFamily="34" charset="0"/>
                <a:ea typeface="Segoe UI" pitchFamily="34" charset="-122"/>
                <a:cs typeface="Segoe UI" pitchFamily="34" charset="-120"/>
              </a:rPr>
              <a:t>Stok &amp; pembayaran</a:t>
            </a:r>
            <a:endParaRPr lang="en-US" sz="1100" dirty="0"/>
          </a:p>
        </p:txBody>
      </p:sp>
      <p:sp>
        <p:nvSpPr>
          <p:cNvPr id="22" name="Text 17"/>
          <p:cNvSpPr txBox="1"/>
          <p:nvPr/>
        </p:nvSpPr>
        <p:spPr>
          <a:xfrm>
            <a:off x="6492240" y="3657600"/>
            <a:ext cx="2194560" cy="2194560"/>
          </a:xfrm>
          <a:prstGeom prst="rect">
            <a:avLst/>
          </a:prstGeom>
          <a:noFill/>
          <a:ln/>
        </p:spPr>
        <p:txBody>
          <a:bodyPr wrap="square" lIns="0" tIns="0" rIns="0" bIns="0" rtlCol="0" anchor="t"/>
          <a:lstStyle/>
          <a:p>
            <a:pPr marL="342900" indent="-342900">
              <a:spcAft>
                <a:spcPts val="600"/>
              </a:spcAft>
              <a:buSzPct val="100000"/>
              <a:buChar char="•"/>
            </a:pPr>
            <a:r>
              <a:rPr lang="en-US" sz="1150" dirty="0">
                <a:solidFill>
                  <a:srgbClr val="0A0A0A"/>
                </a:solidFill>
                <a:latin typeface="Segoe UI" pitchFamily="34" charset="0"/>
                <a:ea typeface="Segoe UI" pitchFamily="34" charset="-122"/>
                <a:cs typeface="Segoe UI" pitchFamily="34" charset="-120"/>
              </a:rPr>
              <a:t>Batas bayar 24 jam</a:t>
            </a:r>
            <a:endParaRPr lang="en-US" sz="1150" dirty="0"/>
          </a:p>
          <a:p>
            <a:pPr marL="342900" indent="-342900">
              <a:spcAft>
                <a:spcPts val="600"/>
              </a:spcAft>
              <a:buSzPct val="100000"/>
              <a:buChar char="•"/>
            </a:pPr>
            <a:r>
              <a:rPr lang="en-US" sz="1150" dirty="0">
                <a:solidFill>
                  <a:srgbClr val="0A0A0A"/>
                </a:solidFill>
                <a:latin typeface="Segoe UI" pitchFamily="34" charset="0"/>
                <a:ea typeface="Segoe UI" pitchFamily="34" charset="-122"/>
                <a:cs typeface="Segoe UI" pitchFamily="34" charset="-120"/>
              </a:rPr>
              <a:t>Stok kembali saat batal</a:t>
            </a:r>
            <a:endParaRPr lang="en-US" sz="1150" dirty="0"/>
          </a:p>
          <a:p>
            <a:pPr marL="342900" indent="-342900">
              <a:spcAft>
                <a:spcPts val="600"/>
              </a:spcAft>
              <a:buSzPct val="100000"/>
              <a:buChar char="•"/>
            </a:pPr>
            <a:r>
              <a:rPr lang="en-US" sz="1150" dirty="0">
                <a:solidFill>
                  <a:srgbClr val="0A0A0A"/>
                </a:solidFill>
                <a:latin typeface="Segoe UI" pitchFamily="34" charset="0"/>
                <a:ea typeface="Segoe UI" pitchFamily="34" charset="-122"/>
                <a:cs typeface="Segoe UI" pitchFamily="34" charset="-120"/>
              </a:rPr>
              <a:t>Webhook Midtrans dicek tanda tangannya</a:t>
            </a:r>
            <a:endParaRPr lang="en-US" sz="1150" dirty="0"/>
          </a:p>
        </p:txBody>
      </p:sp>
      <p:sp>
        <p:nvSpPr>
          <p:cNvPr id="23" name="Shape 18"/>
          <p:cNvSpPr/>
          <p:nvPr/>
        </p:nvSpPr>
        <p:spPr>
          <a:xfrm>
            <a:off x="9052560" y="1874520"/>
            <a:ext cx="2651760" cy="4114800"/>
          </a:xfrm>
          <a:prstGeom prst="roundRect">
            <a:avLst>
              <a:gd name="adj" fmla="val 7586"/>
            </a:avLst>
          </a:prstGeom>
          <a:solidFill>
            <a:srgbClr val="0A0A0A"/>
          </a:solidFill>
          <a:ln/>
        </p:spPr>
      </p:sp>
      <p:sp>
        <p:nvSpPr>
          <p:cNvPr id="24" name="Shape 19"/>
          <p:cNvSpPr/>
          <p:nvPr/>
        </p:nvSpPr>
        <p:spPr>
          <a:xfrm>
            <a:off x="9326880" y="2148840"/>
            <a:ext cx="548640" cy="548640"/>
          </a:xfrm>
          <a:prstGeom prst="ellipse">
            <a:avLst/>
          </a:prstGeom>
          <a:solidFill>
            <a:srgbClr val="FFFFFF"/>
          </a:solidFill>
          <a:ln/>
        </p:spPr>
      </p:sp>
      <p:pic>
        <p:nvPicPr>
          <p:cNvPr id="25" name="Image 3" descr="C:\laragon\www\e-commerce\scripts\ppt\aset\ikon-Bot-hitam.png">    </p:cNvPr>
          <p:cNvPicPr>
            <a:picLocks noChangeAspect="1"/>
          </p:cNvPicPr>
          <p:nvPr/>
        </p:nvPicPr>
        <p:blipFill>
          <a:blip r:embed="rId4"/>
          <a:stretch>
            <a:fillRect/>
          </a:stretch>
        </p:blipFill>
        <p:spPr>
          <a:xfrm>
            <a:off x="9464040" y="2286000"/>
            <a:ext cx="274320" cy="274320"/>
          </a:xfrm>
          <a:prstGeom prst="rect">
            <a:avLst/>
          </a:prstGeom>
        </p:spPr>
      </p:pic>
      <p:sp>
        <p:nvSpPr>
          <p:cNvPr id="26" name="Text 20"/>
          <p:cNvSpPr txBox="1"/>
          <p:nvPr/>
        </p:nvSpPr>
        <p:spPr>
          <a:xfrm>
            <a:off x="9326880" y="2880360"/>
            <a:ext cx="2194560" cy="329184"/>
          </a:xfrm>
          <a:prstGeom prst="rect">
            <a:avLst/>
          </a:prstGeom>
          <a:noFill/>
          <a:ln/>
        </p:spPr>
        <p:txBody>
          <a:bodyPr wrap="square" lIns="0" tIns="0" rIns="0" bIns="0" rtlCol="0" anchor="t"/>
          <a:lstStyle/>
          <a:p>
            <a:pPr indent="0" marL="0">
              <a:buNone/>
            </a:pPr>
            <a:r>
              <a:rPr lang="en-US" sz="1500" dirty="0">
                <a:solidFill>
                  <a:srgbClr val="FFFFFF"/>
                </a:solidFill>
                <a:latin typeface="Segoe UI Semibold" pitchFamily="34" charset="0"/>
                <a:ea typeface="Segoe UI Semibold" pitchFamily="34" charset="-122"/>
                <a:cs typeface="Segoe UI Semibold" pitchFamily="34" charset="-120"/>
              </a:rPr>
              <a:t>Asisten AI aman</a:t>
            </a:r>
            <a:endParaRPr lang="en-US" sz="1500" dirty="0"/>
          </a:p>
        </p:txBody>
      </p:sp>
      <p:sp>
        <p:nvSpPr>
          <p:cNvPr id="27" name="Text 21"/>
          <p:cNvSpPr txBox="1"/>
          <p:nvPr/>
        </p:nvSpPr>
        <p:spPr>
          <a:xfrm>
            <a:off x="9326880" y="3200400"/>
            <a:ext cx="2194560" cy="274320"/>
          </a:xfrm>
          <a:prstGeom prst="rect">
            <a:avLst/>
          </a:prstGeom>
          <a:noFill/>
          <a:ln/>
        </p:spPr>
        <p:txBody>
          <a:bodyPr wrap="square" lIns="0" tIns="0" rIns="0" bIns="0" rtlCol="0" anchor="t"/>
          <a:lstStyle/>
          <a:p>
            <a:pPr indent="0" marL="0">
              <a:buNone/>
            </a:pPr>
            <a:r>
              <a:rPr lang="en-US" sz="1100" dirty="0">
                <a:solidFill>
                  <a:srgbClr val="A3A3A3"/>
                </a:solidFill>
                <a:latin typeface="Segoe UI" pitchFamily="34" charset="0"/>
                <a:ea typeface="Segoe UI" pitchFamily="34" charset="-122"/>
                <a:cs typeface="Segoe UI" pitchFamily="34" charset="-120"/>
              </a:rPr>
              <a:t>Pengaman berlapis</a:t>
            </a:r>
            <a:endParaRPr lang="en-US" sz="1100" dirty="0"/>
          </a:p>
        </p:txBody>
      </p:sp>
      <p:sp>
        <p:nvSpPr>
          <p:cNvPr id="28" name="Text 22"/>
          <p:cNvSpPr txBox="1"/>
          <p:nvPr/>
        </p:nvSpPr>
        <p:spPr>
          <a:xfrm>
            <a:off x="9326880" y="3657600"/>
            <a:ext cx="2194560" cy="2194560"/>
          </a:xfrm>
          <a:prstGeom prst="rect">
            <a:avLst/>
          </a:prstGeom>
          <a:noFill/>
          <a:ln/>
        </p:spPr>
        <p:txBody>
          <a:bodyPr wrap="square" lIns="0" tIns="0" rIns="0" bIns="0" rtlCol="0" anchor="t"/>
          <a:lstStyle/>
          <a:p>
            <a:pPr marL="342900" indent="-342900">
              <a:spcAft>
                <a:spcPts val="600"/>
              </a:spcAft>
              <a:buSzPct val="100000"/>
              <a:buChar char="•"/>
            </a:pPr>
            <a:r>
              <a:rPr lang="en-US" sz="1150" dirty="0">
                <a:solidFill>
                  <a:srgbClr val="D4D4D4"/>
                </a:solidFill>
                <a:latin typeface="Segoe UI" pitchFamily="34" charset="0"/>
                <a:ea typeface="Segoe UI" pitchFamily="34" charset="-122"/>
                <a:cs typeface="Segoe UI" pitchFamily="34" charset="-120"/>
              </a:rPr>
              <a:t>Topik ketat, tolak di luar toko</a:t>
            </a:r>
            <a:endParaRPr lang="en-US" sz="1150" dirty="0"/>
          </a:p>
          <a:p>
            <a:pPr marL="342900" indent="-342900">
              <a:spcAft>
                <a:spcPts val="600"/>
              </a:spcAft>
              <a:buSzPct val="100000"/>
              <a:buChar char="•"/>
            </a:pPr>
            <a:r>
              <a:rPr lang="en-US" sz="1150" dirty="0">
                <a:solidFill>
                  <a:srgbClr val="D4D4D4"/>
                </a:solidFill>
                <a:latin typeface="Segoe UI" pitchFamily="34" charset="0"/>
                <a:ea typeface="Segoe UI" pitchFamily="34" charset="-122"/>
                <a:cs typeface="Segoe UI" pitchFamily="34" charset="-120"/>
              </a:rPr>
              <a:t>Tanpa akses database/alat</a:t>
            </a:r>
            <a:endParaRPr lang="en-US" sz="1150" dirty="0"/>
          </a:p>
          <a:p>
            <a:pPr marL="342900" indent="-342900">
              <a:spcAft>
                <a:spcPts val="600"/>
              </a:spcAft>
              <a:buSzPct val="100000"/>
              <a:buChar char="•"/>
            </a:pPr>
            <a:r>
              <a:rPr lang="en-US" sz="1150" dirty="0">
                <a:solidFill>
                  <a:srgbClr val="D4D4D4"/>
                </a:solidFill>
                <a:latin typeface="Segoe UI" pitchFamily="34" charset="0"/>
                <a:ea typeface="Segoe UI" pitchFamily="34" charset="-122"/>
                <a:cs typeface="Segoe UI" pitchFamily="34" charset="-120"/>
              </a:rPr>
              <a:t>Rate limit + data sensitif disamarkan</a:t>
            </a:r>
            <a:endParaRPr lang="en-US" sz="1150" dirty="0"/>
          </a:p>
        </p:txBody>
      </p:sp>
      <p:sp>
        <p:nvSpPr>
          <p:cNvPr id="25" name="Slide Number Placeholder 0"/>
          <p:cNvSpPr>
            <a:spLocks noGrp="1"/>
          </p:cNvSpPr>
          <p:nvPr>
            <p:ph type="sldNum" sz="quarter" idx="4294967295"/>
          </p:nvPr>
        </p:nvSpPr>
        <p:spPr>
          <a:xfrm>
            <a:off x="11183112"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C5C5C"/>
                </a:solidFill>
                <a:latin typeface="Segoe UI"/>
                <a:ea typeface="Segoe UI"/>
                <a:cs typeface="Segoe UI"/>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Shape 0"/>
          <p:cNvSpPr/>
          <p:nvPr/>
        </p:nvSpPr>
        <p:spPr>
          <a:xfrm>
            <a:off x="548640" y="411480"/>
            <a:ext cx="1799539" cy="292608"/>
          </a:xfrm>
          <a:prstGeom prst="roundRect">
            <a:avLst>
              <a:gd name="adj" fmla="val 50000"/>
            </a:avLst>
          </a:prstGeom>
          <a:solidFill>
            <a:srgbClr val="F3F3F3"/>
          </a:solidFill>
          <a:ln/>
        </p:spPr>
      </p:sp>
      <p:sp>
        <p:nvSpPr>
          <p:cNvPr id="3" name="Text 1"/>
          <p:cNvSpPr txBox="1"/>
          <p:nvPr/>
        </p:nvSpPr>
        <p:spPr>
          <a:xfrm>
            <a:off x="548640" y="411480"/>
            <a:ext cx="1799539" cy="292608"/>
          </a:xfrm>
          <a:prstGeom prst="rect">
            <a:avLst/>
          </a:prstGeom>
          <a:noFill/>
          <a:ln/>
        </p:spPr>
        <p:txBody>
          <a:bodyPr wrap="square" lIns="0" tIns="0" rIns="0" bIns="0" rtlCol="0" anchor="ctr"/>
          <a:lstStyle/>
          <a:p>
            <a:pPr algn="ctr" indent="0" marL="0">
              <a:buNone/>
            </a:pPr>
            <a:r>
              <a:rPr lang="en-US" sz="950" spc="150" kern="0" dirty="0">
                <a:solidFill>
                  <a:srgbClr val="5C5C5C"/>
                </a:solidFill>
                <a:latin typeface="Segoe UI Semibold" pitchFamily="34" charset="0"/>
                <a:ea typeface="Segoe UI Semibold" pitchFamily="34" charset="-122"/>
                <a:cs typeface="Segoe UI Semibold" pitchFamily="34" charset="-120"/>
              </a:rPr>
              <a:t>MANAJEMEN RISIKO</a:t>
            </a:r>
            <a:endParaRPr lang="en-US" sz="950" dirty="0"/>
          </a:p>
        </p:txBody>
      </p:sp>
      <p:sp>
        <p:nvSpPr>
          <p:cNvPr id="4" name="Text 1"/>
          <p:cNvSpPr/>
          <p:nvPr>
            <p:ph idx="101" type="title" hasCustomPrompt="1"/>
          </p:nvPr>
        </p:nvSpPr>
        <p:spPr>
          <a:xfrm>
            <a:off x="548640" y="868680"/>
            <a:ext cx="11064240" cy="777240"/>
          </a:xfrm>
          <a:prstGeom prst="rect">
            <a:avLst/>
          </a:prstGeom>
          <a:noFill/>
          <a:ln/>
        </p:spPr>
        <p:txBody>
          <a:bodyPr wrap="square" lIns="0" tIns="0" rIns="0" bIns="0" rtlCol="0" anchor="t"/>
          <a:lstStyle/>
          <a:p>
            <a:pPr algn="l" indent="0" marL="0">
              <a:buNone/>
            </a:pPr>
            <a:r>
              <a:rPr lang="en-US" sz="3000" dirty="0">
                <a:solidFill>
                  <a:srgbClr val="0A0A0A"/>
                </a:solidFill>
                <a:latin typeface="Segoe UI Semibold" pitchFamily="34" charset="0"/>
                <a:ea typeface="Segoe UI Semibold" pitchFamily="34" charset="-122"/>
                <a:cs typeface="Segoe UI Semibold" pitchFamily="34" charset="-120"/>
              </a:rPr>
              <a:t>Risiko yang diantisipasi dan hasilnya</a:t>
            </a:r>
            <a:endParaRPr lang="en-US" sz="30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548640" y="1874520"/>
          <a:ext cx="11091672" cy="914400"/>
        </p:xfrm>
        <a:graphic>
          <a:graphicData uri="http://schemas.openxmlformats.org/drawingml/2006/table">
            <a:tbl>
              <a:tblPr/>
              <a:tblGrid>
                <a:gridCol w="3017520"/>
                <a:gridCol w="1097280"/>
                <a:gridCol w="3931920"/>
                <a:gridCol w="3044952"/>
              </a:tblGrid>
              <a:tr h="566928">
                <a:tc>
                  <a:txBody>
                    <a:bodyPr/>
                    <a:lstStyle/>
                    <a:p>
                      <a:pPr indent="0" marL="0">
                        <a:buNone/>
                      </a:pPr>
                      <a:r>
                        <a:rPr lang="en-US" sz="1050" dirty="0">
                          <a:solidFill>
                            <a:srgbClr val="5C5C5C"/>
                          </a:solidFill>
                          <a:latin typeface="Segoe UI Semibold" pitchFamily="34" charset="0"/>
                          <a:ea typeface="Segoe UI Semibold" pitchFamily="34" charset="-122"/>
                          <a:cs typeface="Segoe UI Semibold" pitchFamily="34" charset="-120"/>
                        </a:rPr>
                        <a:t>RISIKO</a:t>
                      </a:r>
                      <a:endParaRPr lang="en-US" sz="1050" dirty="0">
                        <a:latin typeface="Segoe UI Semibold" charset="0"/>
                        <a:ea typeface="Segoe UI Semibold" charset="0"/>
                        <a:cs typeface="Segoe UI Semibold" charset="0"/>
                      </a:endParaRPr>
                    </a:p>
                  </a:txBody>
                  <a:tcPr marL="101600" marR="101600" marT="50800" marB="5080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3F3F3"/>
                    </a:solidFill>
                  </a:tcPr>
                </a:tc>
                <a:tc>
                  <a:txBody>
                    <a:bodyPr/>
                    <a:lstStyle/>
                    <a:p>
                      <a:pPr indent="0" marL="0">
                        <a:buNone/>
                      </a:pPr>
                      <a:r>
                        <a:rPr lang="en-US" sz="1050" dirty="0">
                          <a:solidFill>
                            <a:srgbClr val="5C5C5C"/>
                          </a:solidFill>
                          <a:latin typeface="Segoe UI Semibold" pitchFamily="34" charset="0"/>
                          <a:ea typeface="Segoe UI Semibold" pitchFamily="34" charset="-122"/>
                          <a:cs typeface="Segoe UI Semibold" pitchFamily="34" charset="-120"/>
                        </a:rPr>
                        <a:t>TINGKAT</a:t>
                      </a:r>
                      <a:endParaRPr lang="en-US" sz="1050" dirty="0">
                        <a:latin typeface="Segoe UI Semibold" charset="0"/>
                        <a:ea typeface="Segoe UI Semibold" charset="0"/>
                        <a:cs typeface="Segoe UI Semibold" charset="0"/>
                      </a:endParaRPr>
                    </a:p>
                  </a:txBody>
                  <a:tcPr marL="101600" marR="101600" marT="50800" marB="5080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3F3F3"/>
                    </a:solidFill>
                  </a:tcPr>
                </a:tc>
                <a:tc>
                  <a:txBody>
                    <a:bodyPr/>
                    <a:lstStyle/>
                    <a:p>
                      <a:pPr indent="0" marL="0">
                        <a:buNone/>
                      </a:pPr>
                      <a:r>
                        <a:rPr lang="en-US" sz="1050" dirty="0">
                          <a:solidFill>
                            <a:srgbClr val="5C5C5C"/>
                          </a:solidFill>
                          <a:latin typeface="Segoe UI Semibold" pitchFamily="34" charset="0"/>
                          <a:ea typeface="Segoe UI Semibold" pitchFamily="34" charset="-122"/>
                          <a:cs typeface="Segoe UI Semibold" pitchFamily="34" charset="-120"/>
                        </a:rPr>
                        <a:t>MITIGASI</a:t>
                      </a:r>
                      <a:endParaRPr lang="en-US" sz="1050" dirty="0">
                        <a:latin typeface="Segoe UI Semibold" charset="0"/>
                        <a:ea typeface="Segoe UI Semibold" charset="0"/>
                        <a:cs typeface="Segoe UI Semibold" charset="0"/>
                      </a:endParaRPr>
                    </a:p>
                  </a:txBody>
                  <a:tcPr marL="101600" marR="101600" marT="50800" marB="5080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3F3F3"/>
                    </a:solidFill>
                  </a:tcPr>
                </a:tc>
                <a:tc>
                  <a:txBody>
                    <a:bodyPr/>
                    <a:lstStyle/>
                    <a:p>
                      <a:pPr indent="0" marL="0">
                        <a:buNone/>
                      </a:pPr>
                      <a:r>
                        <a:rPr lang="en-US" sz="1050" dirty="0">
                          <a:solidFill>
                            <a:srgbClr val="5C5C5C"/>
                          </a:solidFill>
                          <a:latin typeface="Segoe UI Semibold" pitchFamily="34" charset="0"/>
                          <a:ea typeface="Segoe UI Semibold" pitchFamily="34" charset="-122"/>
                          <a:cs typeface="Segoe UI Semibold" pitchFamily="34" charset="-120"/>
                        </a:rPr>
                        <a:t>HASIL</a:t>
                      </a:r>
                      <a:endParaRPr lang="en-US" sz="1050" dirty="0">
                        <a:latin typeface="Segoe UI Semibold" charset="0"/>
                        <a:ea typeface="Segoe UI Semibold" charset="0"/>
                        <a:cs typeface="Segoe UI Semibold" charset="0"/>
                      </a:endParaRPr>
                    </a:p>
                  </a:txBody>
                  <a:tcPr marL="101600" marR="101600" marT="50800" marB="5080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3F3F3"/>
                    </a:solidFill>
                  </a:tcPr>
                </a:tc>
              </a:tr>
              <a:tr h="566928">
                <a:tc>
                  <a:txBody>
                    <a:bodyPr/>
                    <a:lstStyle/>
                    <a:p>
                      <a:pPr indent="0" marL="0">
                        <a:buNone/>
                      </a:pPr>
                      <a:r>
                        <a:rPr lang="en-US" sz="1100" dirty="0">
                          <a:solidFill>
                            <a:srgbClr val="0A0A0A"/>
                          </a:solidFill>
                          <a:latin typeface="Segoe UI Semibold" pitchFamily="34" charset="0"/>
                          <a:ea typeface="Segoe UI Semibold" pitchFamily="34" charset="-122"/>
                          <a:cs typeface="Segoe UI Semibold" pitchFamily="34" charset="-120"/>
                        </a:rPr>
                        <a:t>Anggota baru mengenal Next.js &amp; Prisma</a:t>
                      </a:r>
                      <a:endParaRPr lang="en-US" sz="1100" dirty="0">
                        <a:latin typeface="Segoe UI Semibold" charset="0"/>
                        <a:ea typeface="Segoe UI Semibold" charset="0"/>
                        <a:cs typeface="Segoe UI Semibold" charset="0"/>
                      </a:endParaRPr>
                    </a:p>
                  </a:txBody>
                  <a:tcPr marL="101600" marR="101600" marT="63500" marB="6350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tcPr>
                </a:tc>
                <a:tc>
                  <a:txBody>
                    <a:bodyPr/>
                    <a:lstStyle/>
                    <a:p>
                      <a:pPr indent="0" marL="0">
                        <a:buNone/>
                      </a:pPr>
                      <a:r>
                        <a:rPr lang="en-US" sz="1100" dirty="0">
                          <a:solidFill>
                            <a:srgbClr val="0A0A0A"/>
                          </a:solidFill>
                          <a:latin typeface="Segoe UI" pitchFamily="34" charset="0"/>
                          <a:ea typeface="Segoe UI" pitchFamily="34" charset="-122"/>
                          <a:cs typeface="Segoe UI" pitchFamily="34" charset="-120"/>
                        </a:rPr>
                        <a:t>Tinggi</a:t>
                      </a:r>
                      <a:endParaRPr lang="en-US" sz="1100" dirty="0">
                        <a:latin typeface="Segoe UI" charset="0"/>
                        <a:ea typeface="Segoe UI" charset="0"/>
                        <a:cs typeface="Segoe UI" charset="0"/>
                      </a:endParaRPr>
                    </a:p>
                  </a:txBody>
                  <a:tcPr marL="101600" marR="101600" marT="63500" marB="6350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tcPr>
                </a:tc>
                <a:tc>
                  <a:txBody>
                    <a:bodyPr/>
                    <a:lstStyle/>
                    <a:p>
                      <a:pPr indent="0" marL="0">
                        <a:buNone/>
                      </a:pPr>
                      <a:r>
                        <a:rPr lang="en-US" sz="1100" dirty="0">
                          <a:solidFill>
                            <a:srgbClr val="0A0A0A"/>
                          </a:solidFill>
                          <a:latin typeface="Segoe UI" pitchFamily="34" charset="0"/>
                          <a:ea typeface="Segoe UI" pitchFamily="34" charset="-122"/>
                          <a:cs typeface="Segoe UI" pitchFamily="34" charset="-120"/>
                        </a:rPr>
                        <a:t>Workshop minggu 1, contoh kode per modul, panduan di docs/</a:t>
                      </a:r>
                      <a:endParaRPr lang="en-US" sz="1100" dirty="0">
                        <a:latin typeface="Segoe UI" charset="0"/>
                        <a:ea typeface="Segoe UI" charset="0"/>
                        <a:cs typeface="Segoe UI" charset="0"/>
                      </a:endParaRPr>
                    </a:p>
                  </a:txBody>
                  <a:tcPr marL="101600" marR="101600" marT="63500" marB="6350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tcPr>
                </a:tc>
                <a:tc>
                  <a:txBody>
                    <a:bodyPr/>
                    <a:lstStyle/>
                    <a:p>
                      <a:pPr indent="0" marL="0">
                        <a:buNone/>
                      </a:pPr>
                      <a:r>
                        <a:rPr lang="en-US" sz="1100" dirty="0">
                          <a:solidFill>
                            <a:srgbClr val="0A0A0A"/>
                          </a:solidFill>
                          <a:latin typeface="Segoe UI" pitchFamily="34" charset="0"/>
                          <a:ea typeface="Segoe UI" pitchFamily="34" charset="-122"/>
                          <a:cs typeface="Segoe UI" pitchFamily="34" charset="-120"/>
                        </a:rPr>
                        <a:t>Fitur MVP selesai tepat waktu</a:t>
                      </a:r>
                      <a:endParaRPr lang="en-US" sz="1100" dirty="0">
                        <a:latin typeface="Segoe UI" charset="0"/>
                        <a:ea typeface="Segoe UI" charset="0"/>
                        <a:cs typeface="Segoe UI" charset="0"/>
                      </a:endParaRPr>
                    </a:p>
                  </a:txBody>
                  <a:tcPr marL="101600" marR="101600" marT="63500" marB="6350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tcPr>
                </a:tc>
              </a:tr>
              <a:tr h="566928">
                <a:tc>
                  <a:txBody>
                    <a:bodyPr/>
                    <a:lstStyle/>
                    <a:p>
                      <a:pPr indent="0" marL="0">
                        <a:buNone/>
                      </a:pPr>
                      <a:r>
                        <a:rPr lang="en-US" sz="1100" dirty="0">
                          <a:solidFill>
                            <a:srgbClr val="0A0A0A"/>
                          </a:solidFill>
                          <a:latin typeface="Segoe UI Semibold" pitchFamily="34" charset="0"/>
                          <a:ea typeface="Segoe UI Semibold" pitchFamily="34" charset="-122"/>
                          <a:cs typeface="Segoe UI Semibold" pitchFamily="34" charset="-120"/>
                        </a:rPr>
                        <a:t>Fitur terus bertambah (scope creep)</a:t>
                      </a:r>
                      <a:endParaRPr lang="en-US" sz="1100" dirty="0">
                        <a:latin typeface="Segoe UI Semibold" charset="0"/>
                        <a:ea typeface="Segoe UI Semibold" charset="0"/>
                        <a:cs typeface="Segoe UI Semibold" charset="0"/>
                      </a:endParaRPr>
                    </a:p>
                  </a:txBody>
                  <a:tcPr marL="101600" marR="101600" marT="63500" marB="6350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tcPr>
                </a:tc>
                <a:tc>
                  <a:txBody>
                    <a:bodyPr/>
                    <a:lstStyle/>
                    <a:p>
                      <a:pPr indent="0" marL="0">
                        <a:buNone/>
                      </a:pPr>
                      <a:r>
                        <a:rPr lang="en-US" sz="1100" dirty="0">
                          <a:solidFill>
                            <a:srgbClr val="0A0A0A"/>
                          </a:solidFill>
                          <a:latin typeface="Segoe UI" pitchFamily="34" charset="0"/>
                          <a:ea typeface="Segoe UI" pitchFamily="34" charset="-122"/>
                          <a:cs typeface="Segoe UI" pitchFamily="34" charset="-120"/>
                        </a:rPr>
                        <a:t>Tinggi</a:t>
                      </a:r>
                      <a:endParaRPr lang="en-US" sz="1100" dirty="0">
                        <a:latin typeface="Segoe UI" charset="0"/>
                        <a:ea typeface="Segoe UI" charset="0"/>
                        <a:cs typeface="Segoe UI" charset="0"/>
                      </a:endParaRPr>
                    </a:p>
                  </a:txBody>
                  <a:tcPr marL="101600" marR="101600" marT="63500" marB="6350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tcPr>
                </a:tc>
                <a:tc>
                  <a:txBody>
                    <a:bodyPr/>
                    <a:lstStyle/>
                    <a:p>
                      <a:pPr indent="0" marL="0">
                        <a:buNone/>
                      </a:pPr>
                      <a:r>
                        <a:rPr lang="en-US" sz="1100" dirty="0">
                          <a:solidFill>
                            <a:srgbClr val="0A0A0A"/>
                          </a:solidFill>
                          <a:latin typeface="Segoe UI" pitchFamily="34" charset="0"/>
                          <a:ea typeface="Segoe UI" pitchFamily="34" charset="-122"/>
                          <a:cs typeface="Segoe UI" pitchFamily="34" charset="-120"/>
                        </a:rPr>
                        <a:t>Fitur baru masuk Lanjutan, disetujui ketua tim</a:t>
                      </a:r>
                      <a:endParaRPr lang="en-US" sz="1100" dirty="0">
                        <a:latin typeface="Segoe UI" charset="0"/>
                        <a:ea typeface="Segoe UI" charset="0"/>
                        <a:cs typeface="Segoe UI" charset="0"/>
                      </a:endParaRPr>
                    </a:p>
                  </a:txBody>
                  <a:tcPr marL="101600" marR="101600" marT="63500" marB="6350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tcPr>
                </a:tc>
                <a:tc>
                  <a:txBody>
                    <a:bodyPr/>
                    <a:lstStyle/>
                    <a:p>
                      <a:pPr indent="0" marL="0">
                        <a:buNone/>
                      </a:pPr>
                      <a:r>
                        <a:rPr lang="en-US" sz="1100" dirty="0">
                          <a:solidFill>
                            <a:srgbClr val="0A0A0A"/>
                          </a:solidFill>
                          <a:latin typeface="Segoe UI" pitchFamily="34" charset="0"/>
                          <a:ea typeface="Segoe UI" pitchFamily="34" charset="-122"/>
                          <a:cs typeface="Segoe UI" pitchFamily="34" charset="-120"/>
                        </a:rPr>
                        <a:t>Lanjutan dikerjakan setelah MVP stabil</a:t>
                      </a:r>
                      <a:endParaRPr lang="en-US" sz="1100" dirty="0">
                        <a:latin typeface="Segoe UI" charset="0"/>
                        <a:ea typeface="Segoe UI" charset="0"/>
                        <a:cs typeface="Segoe UI" charset="0"/>
                      </a:endParaRPr>
                    </a:p>
                  </a:txBody>
                  <a:tcPr marL="101600" marR="101600" marT="63500" marB="6350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tcPr>
                </a:tc>
              </a:tr>
              <a:tr h="566928">
                <a:tc>
                  <a:txBody>
                    <a:bodyPr/>
                    <a:lstStyle/>
                    <a:p>
                      <a:pPr indent="0" marL="0">
                        <a:buNone/>
                      </a:pPr>
                      <a:r>
                        <a:rPr lang="en-US" sz="1100" dirty="0">
                          <a:solidFill>
                            <a:srgbClr val="0A0A0A"/>
                          </a:solidFill>
                          <a:latin typeface="Segoe UI Semibold" pitchFamily="34" charset="0"/>
                          <a:ea typeface="Segoe UI Semibold" pitchFamily="34" charset="-122"/>
                          <a:cs typeface="Segoe UI Semibold" pitchFamily="34" charset="-120"/>
                        </a:rPr>
                        <a:t>Konflik kode saat penggabungan</a:t>
                      </a:r>
                      <a:endParaRPr lang="en-US" sz="1100" dirty="0">
                        <a:latin typeface="Segoe UI Semibold" charset="0"/>
                        <a:ea typeface="Segoe UI Semibold" charset="0"/>
                        <a:cs typeface="Segoe UI Semibold" charset="0"/>
                      </a:endParaRPr>
                    </a:p>
                  </a:txBody>
                  <a:tcPr marL="101600" marR="101600" marT="63500" marB="6350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tcPr>
                </a:tc>
                <a:tc>
                  <a:txBody>
                    <a:bodyPr/>
                    <a:lstStyle/>
                    <a:p>
                      <a:pPr indent="0" marL="0">
                        <a:buNone/>
                      </a:pPr>
                      <a:r>
                        <a:rPr lang="en-US" sz="1100" dirty="0">
                          <a:solidFill>
                            <a:srgbClr val="0A0A0A"/>
                          </a:solidFill>
                          <a:latin typeface="Segoe UI" pitchFamily="34" charset="0"/>
                          <a:ea typeface="Segoe UI" pitchFamily="34" charset="-122"/>
                          <a:cs typeface="Segoe UI" pitchFamily="34" charset="-120"/>
                        </a:rPr>
                        <a:t>Sedang</a:t>
                      </a:r>
                      <a:endParaRPr lang="en-US" sz="1100" dirty="0">
                        <a:latin typeface="Segoe UI" charset="0"/>
                        <a:ea typeface="Segoe UI" charset="0"/>
                        <a:cs typeface="Segoe UI" charset="0"/>
                      </a:endParaRPr>
                    </a:p>
                  </a:txBody>
                  <a:tcPr marL="101600" marR="101600" marT="63500" marB="6350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tcPr>
                </a:tc>
                <a:tc>
                  <a:txBody>
                    <a:bodyPr/>
                    <a:lstStyle/>
                    <a:p>
                      <a:pPr indent="0" marL="0">
                        <a:buNone/>
                      </a:pPr>
                      <a:r>
                        <a:rPr lang="en-US" sz="1100" dirty="0">
                          <a:solidFill>
                            <a:srgbClr val="0A0A0A"/>
                          </a:solidFill>
                          <a:latin typeface="Segoe UI" pitchFamily="34" charset="0"/>
                          <a:ea typeface="Segoe UI" pitchFamily="34" charset="-122"/>
                          <a:cs typeface="Segoe UI" pitchFamily="34" charset="-120"/>
                        </a:rPr>
                        <a:t>Branch per fitur, PR kecil, CI otomatis</a:t>
                      </a:r>
                      <a:endParaRPr lang="en-US" sz="1100" dirty="0">
                        <a:latin typeface="Segoe UI" charset="0"/>
                        <a:ea typeface="Segoe UI" charset="0"/>
                        <a:cs typeface="Segoe UI" charset="0"/>
                      </a:endParaRPr>
                    </a:p>
                  </a:txBody>
                  <a:tcPr marL="101600" marR="101600" marT="63500" marB="6350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tcPr>
                </a:tc>
                <a:tc>
                  <a:txBody>
                    <a:bodyPr/>
                    <a:lstStyle/>
                    <a:p>
                      <a:pPr indent="0" marL="0">
                        <a:buNone/>
                      </a:pPr>
                      <a:r>
                        <a:rPr lang="en-US" sz="1100" dirty="0">
                          <a:solidFill>
                            <a:srgbClr val="0A0A0A"/>
                          </a:solidFill>
                          <a:latin typeface="Segoe UI" pitchFamily="34" charset="0"/>
                          <a:ea typeface="Segoe UI" pitchFamily="34" charset="-122"/>
                          <a:cs typeface="Segoe UI" pitchFamily="34" charset="-120"/>
                        </a:rPr>
                        <a:t>CI hijau di setiap PR</a:t>
                      </a:r>
                      <a:endParaRPr lang="en-US" sz="1100" dirty="0">
                        <a:latin typeface="Segoe UI" charset="0"/>
                        <a:ea typeface="Segoe UI" charset="0"/>
                        <a:cs typeface="Segoe UI" charset="0"/>
                      </a:endParaRPr>
                    </a:p>
                  </a:txBody>
                  <a:tcPr marL="101600" marR="101600" marT="63500" marB="6350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tcPr>
                </a:tc>
              </a:tr>
              <a:tr h="566928">
                <a:tc>
                  <a:txBody>
                    <a:bodyPr/>
                    <a:lstStyle/>
                    <a:p>
                      <a:pPr indent="0" marL="0">
                        <a:buNone/>
                      </a:pPr>
                      <a:r>
                        <a:rPr lang="en-US" sz="1100" dirty="0">
                          <a:solidFill>
                            <a:srgbClr val="0A0A0A"/>
                          </a:solidFill>
                          <a:latin typeface="Segoe UI Semibold" pitchFamily="34" charset="0"/>
                          <a:ea typeface="Segoe UI Semibold" pitchFamily="34" charset="-122"/>
                          <a:cs typeface="Segoe UI Semibold" pitchFamily="34" charset="-120"/>
                        </a:rPr>
                        <a:t>Stok terjual melebihi persediaan</a:t>
                      </a:r>
                      <a:endParaRPr lang="en-US" sz="1100" dirty="0">
                        <a:latin typeface="Segoe UI Semibold" charset="0"/>
                        <a:ea typeface="Segoe UI Semibold" charset="0"/>
                        <a:cs typeface="Segoe UI Semibold" charset="0"/>
                      </a:endParaRPr>
                    </a:p>
                  </a:txBody>
                  <a:tcPr marL="101600" marR="101600" marT="63500" marB="6350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tcPr>
                </a:tc>
                <a:tc>
                  <a:txBody>
                    <a:bodyPr/>
                    <a:lstStyle/>
                    <a:p>
                      <a:pPr indent="0" marL="0">
                        <a:buNone/>
                      </a:pPr>
                      <a:r>
                        <a:rPr lang="en-US" sz="1100" dirty="0">
                          <a:solidFill>
                            <a:srgbClr val="0A0A0A"/>
                          </a:solidFill>
                          <a:latin typeface="Segoe UI" pitchFamily="34" charset="0"/>
                          <a:ea typeface="Segoe UI" pitchFamily="34" charset="-122"/>
                          <a:cs typeface="Segoe UI" pitchFamily="34" charset="-120"/>
                        </a:rPr>
                        <a:t>Sedang</a:t>
                      </a:r>
                      <a:endParaRPr lang="en-US" sz="1100" dirty="0">
                        <a:latin typeface="Segoe UI" charset="0"/>
                        <a:ea typeface="Segoe UI" charset="0"/>
                        <a:cs typeface="Segoe UI" charset="0"/>
                      </a:endParaRPr>
                    </a:p>
                  </a:txBody>
                  <a:tcPr marL="101600" marR="101600" marT="63500" marB="6350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tcPr>
                </a:tc>
                <a:tc>
                  <a:txBody>
                    <a:bodyPr/>
                    <a:lstStyle/>
                    <a:p>
                      <a:pPr indent="0" marL="0">
                        <a:buNone/>
                      </a:pPr>
                      <a:r>
                        <a:rPr lang="en-US" sz="1100" dirty="0">
                          <a:solidFill>
                            <a:srgbClr val="0A0A0A"/>
                          </a:solidFill>
                          <a:latin typeface="Segoe UI" pitchFamily="34" charset="0"/>
                          <a:ea typeface="Segoe UI" pitchFamily="34" charset="-122"/>
                          <a:cs typeface="Segoe UI" pitchFamily="34" charset="-120"/>
                        </a:rPr>
                        <a:t>Transaksi database + pengurangan stok bersyarat</a:t>
                      </a:r>
                      <a:endParaRPr lang="en-US" sz="1100" dirty="0">
                        <a:latin typeface="Segoe UI" charset="0"/>
                        <a:ea typeface="Segoe UI" charset="0"/>
                        <a:cs typeface="Segoe UI" charset="0"/>
                      </a:endParaRPr>
                    </a:p>
                  </a:txBody>
                  <a:tcPr marL="101600" marR="101600" marT="63500" marB="6350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tcPr>
                </a:tc>
                <a:tc>
                  <a:txBody>
                    <a:bodyPr/>
                    <a:lstStyle/>
                    <a:p>
                      <a:pPr indent="0" marL="0">
                        <a:buNone/>
                      </a:pPr>
                      <a:r>
                        <a:rPr lang="en-US" sz="1100" dirty="0">
                          <a:solidFill>
                            <a:srgbClr val="0A0A0A"/>
                          </a:solidFill>
                          <a:latin typeface="Segoe UI" pitchFamily="34" charset="0"/>
                          <a:ea typeface="Segoe UI" pitchFamily="34" charset="-122"/>
                          <a:cs typeface="Segoe UI" pitchFamily="34" charset="-120"/>
                        </a:rPr>
                        <a:t>Teruji berebut stok terakhir</a:t>
                      </a:r>
                      <a:endParaRPr lang="en-US" sz="1100" dirty="0">
                        <a:latin typeface="Segoe UI" charset="0"/>
                        <a:ea typeface="Segoe UI" charset="0"/>
                        <a:cs typeface="Segoe UI" charset="0"/>
                      </a:endParaRPr>
                    </a:p>
                  </a:txBody>
                  <a:tcPr marL="101600" marR="101600" marT="63500" marB="6350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tcPr>
                </a:tc>
              </a:tr>
              <a:tr h="566928">
                <a:tc>
                  <a:txBody>
                    <a:bodyPr/>
                    <a:lstStyle/>
                    <a:p>
                      <a:pPr indent="0" marL="0">
                        <a:buNone/>
                      </a:pPr>
                      <a:r>
                        <a:rPr lang="en-US" sz="1100" dirty="0">
                          <a:solidFill>
                            <a:srgbClr val="0A0A0A"/>
                          </a:solidFill>
                          <a:latin typeface="Segoe UI Semibold" pitchFamily="34" charset="0"/>
                          <a:ea typeface="Segoe UI Semibold" pitchFamily="34" charset="-122"/>
                          <a:cs typeface="Segoe UI Semibold" pitchFamily="34" charset="-120"/>
                        </a:rPr>
                        <a:t>Kuota/penyalahgunaan asisten AI</a:t>
                      </a:r>
                      <a:endParaRPr lang="en-US" sz="1100" dirty="0">
                        <a:latin typeface="Segoe UI Semibold" charset="0"/>
                        <a:ea typeface="Segoe UI Semibold" charset="0"/>
                        <a:cs typeface="Segoe UI Semibold" charset="0"/>
                      </a:endParaRPr>
                    </a:p>
                  </a:txBody>
                  <a:tcPr marL="101600" marR="101600" marT="63500" marB="6350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tcPr>
                </a:tc>
                <a:tc>
                  <a:txBody>
                    <a:bodyPr/>
                    <a:lstStyle/>
                    <a:p>
                      <a:pPr indent="0" marL="0">
                        <a:buNone/>
                      </a:pPr>
                      <a:r>
                        <a:rPr lang="en-US" sz="1100" dirty="0">
                          <a:solidFill>
                            <a:srgbClr val="0A0A0A"/>
                          </a:solidFill>
                          <a:latin typeface="Segoe UI" pitchFamily="34" charset="0"/>
                          <a:ea typeface="Segoe UI" pitchFamily="34" charset="-122"/>
                          <a:cs typeface="Segoe UI" pitchFamily="34" charset="-120"/>
                        </a:rPr>
                        <a:t>Sedang</a:t>
                      </a:r>
                      <a:endParaRPr lang="en-US" sz="1100" dirty="0">
                        <a:latin typeface="Segoe UI" charset="0"/>
                        <a:ea typeface="Segoe UI" charset="0"/>
                        <a:cs typeface="Segoe UI" charset="0"/>
                      </a:endParaRPr>
                    </a:p>
                  </a:txBody>
                  <a:tcPr marL="101600" marR="101600" marT="63500" marB="6350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tcPr>
                </a:tc>
                <a:tc>
                  <a:txBody>
                    <a:bodyPr/>
                    <a:lstStyle/>
                    <a:p>
                      <a:pPr indent="0" marL="0">
                        <a:buNone/>
                      </a:pPr>
                      <a:r>
                        <a:rPr lang="en-US" sz="1100" dirty="0">
                          <a:solidFill>
                            <a:srgbClr val="0A0A0A"/>
                          </a:solidFill>
                          <a:latin typeface="Segoe UI" pitchFamily="34" charset="0"/>
                          <a:ea typeface="Segoe UI" pitchFamily="34" charset="-122"/>
                          <a:cs typeface="Segoe UI" pitchFamily="34" charset="-120"/>
                        </a:rPr>
                        <a:t>Rate limit berlapis, topik ketat, cadangan Groq, tombol darurat</a:t>
                      </a:r>
                      <a:endParaRPr lang="en-US" sz="1100" dirty="0">
                        <a:latin typeface="Segoe UI" charset="0"/>
                        <a:ea typeface="Segoe UI" charset="0"/>
                        <a:cs typeface="Segoe UI" charset="0"/>
                      </a:endParaRPr>
                    </a:p>
                  </a:txBody>
                  <a:tcPr marL="101600" marR="101600" marT="63500" marB="6350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tcPr>
                </a:tc>
                <a:tc>
                  <a:txBody>
                    <a:bodyPr/>
                    <a:lstStyle/>
                    <a:p>
                      <a:pPr indent="0" marL="0">
                        <a:buNone/>
                      </a:pPr>
                      <a:r>
                        <a:rPr lang="en-US" sz="1100" dirty="0">
                          <a:solidFill>
                            <a:srgbClr val="0A0A0A"/>
                          </a:solidFill>
                          <a:latin typeface="Segoe UI" pitchFamily="34" charset="0"/>
                          <a:ea typeface="Segoe UI" pitchFamily="34" charset="-122"/>
                          <a:cs typeface="Segoe UI" pitchFamily="34" charset="-120"/>
                        </a:rPr>
                        <a:t>16/16 uji penyalahgunaan ditolak</a:t>
                      </a:r>
                      <a:endParaRPr lang="en-US" sz="1100" dirty="0">
                        <a:latin typeface="Segoe UI" charset="0"/>
                        <a:ea typeface="Segoe UI" charset="0"/>
                        <a:cs typeface="Segoe UI" charset="0"/>
                      </a:endParaRPr>
                    </a:p>
                  </a:txBody>
                  <a:tcPr marL="101600" marR="101600" marT="63500" marB="6350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tcPr>
                </a:tc>
              </a:tr>
              <a:tr h="566928">
                <a:tc>
                  <a:txBody>
                    <a:bodyPr/>
                    <a:lstStyle/>
                    <a:p>
                      <a:pPr indent="0" marL="0">
                        <a:buNone/>
                      </a:pPr>
                      <a:r>
                        <a:rPr lang="en-US" sz="1100" dirty="0">
                          <a:solidFill>
                            <a:srgbClr val="0A0A0A"/>
                          </a:solidFill>
                          <a:latin typeface="Segoe UI Semibold" pitchFamily="34" charset="0"/>
                          <a:ea typeface="Segoe UI Semibold" pitchFamily="34" charset="-122"/>
                          <a:cs typeface="Segoe UI Semibold" pitchFamily="34" charset="-120"/>
                        </a:rPr>
                        <a:t>Data server hilang</a:t>
                      </a:r>
                      <a:endParaRPr lang="en-US" sz="1100" dirty="0">
                        <a:latin typeface="Segoe UI Semibold" charset="0"/>
                        <a:ea typeface="Segoe UI Semibold" charset="0"/>
                        <a:cs typeface="Segoe UI Semibold" charset="0"/>
                      </a:endParaRPr>
                    </a:p>
                  </a:txBody>
                  <a:tcPr marL="101600" marR="101600" marT="63500" marB="6350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tcPr>
                </a:tc>
                <a:tc>
                  <a:txBody>
                    <a:bodyPr/>
                    <a:lstStyle/>
                    <a:p>
                      <a:pPr indent="0" marL="0">
                        <a:buNone/>
                      </a:pPr>
                      <a:r>
                        <a:rPr lang="en-US" sz="1100" dirty="0">
                          <a:solidFill>
                            <a:srgbClr val="0A0A0A"/>
                          </a:solidFill>
                          <a:latin typeface="Segoe UI" pitchFamily="34" charset="0"/>
                          <a:ea typeface="Segoe UI" pitchFamily="34" charset="-122"/>
                          <a:cs typeface="Segoe UI" pitchFamily="34" charset="-120"/>
                        </a:rPr>
                        <a:t>Rendah</a:t>
                      </a:r>
                      <a:endParaRPr lang="en-US" sz="1100" dirty="0">
                        <a:latin typeface="Segoe UI" charset="0"/>
                        <a:ea typeface="Segoe UI" charset="0"/>
                        <a:cs typeface="Segoe UI" charset="0"/>
                      </a:endParaRPr>
                    </a:p>
                  </a:txBody>
                  <a:tcPr marL="101600" marR="101600" marT="63500" marB="6350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tcPr>
                </a:tc>
                <a:tc>
                  <a:txBody>
                    <a:bodyPr/>
                    <a:lstStyle/>
                    <a:p>
                      <a:pPr indent="0" marL="0">
                        <a:buNone/>
                      </a:pPr>
                      <a:r>
                        <a:rPr lang="en-US" sz="1100" dirty="0">
                          <a:solidFill>
                            <a:srgbClr val="0A0A0A"/>
                          </a:solidFill>
                          <a:latin typeface="Segoe UI" pitchFamily="34" charset="0"/>
                          <a:ea typeface="Segoe UI" pitchFamily="34" charset="-122"/>
                          <a:cs typeface="Segoe UI" pitchFamily="34" charset="-120"/>
                        </a:rPr>
                        <a:t>Backup harian terenkripsi, simpan 30 hari, uji restore</a:t>
                      </a:r>
                      <a:endParaRPr lang="en-US" sz="1100" dirty="0">
                        <a:latin typeface="Segoe UI" charset="0"/>
                        <a:ea typeface="Segoe UI" charset="0"/>
                        <a:cs typeface="Segoe UI" charset="0"/>
                      </a:endParaRPr>
                    </a:p>
                  </a:txBody>
                  <a:tcPr marL="101600" marR="101600" marT="63500" marB="6350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tcPr>
                </a:tc>
                <a:tc>
                  <a:txBody>
                    <a:bodyPr/>
                    <a:lstStyle/>
                    <a:p>
                      <a:pPr indent="0" marL="0">
                        <a:buNone/>
                      </a:pPr>
                      <a:r>
                        <a:rPr lang="en-US" sz="1100" dirty="0">
                          <a:solidFill>
                            <a:srgbClr val="0A0A0A"/>
                          </a:solidFill>
                          <a:latin typeface="Segoe UI" pitchFamily="34" charset="0"/>
                          <a:ea typeface="Segoe UI" pitchFamily="34" charset="-122"/>
                          <a:cs typeface="Segoe UI" pitchFamily="34" charset="-120"/>
                        </a:rPr>
                        <a:t>Backup otomatis berjalan; restore manual teruji</a:t>
                      </a:r>
                      <a:endParaRPr lang="en-US" sz="1100" dirty="0">
                        <a:latin typeface="Segoe UI" charset="0"/>
                        <a:ea typeface="Segoe UI" charset="0"/>
                        <a:cs typeface="Segoe UI" charset="0"/>
                      </a:endParaRPr>
                    </a:p>
                  </a:txBody>
                  <a:tcPr marL="101600" marR="101600" marT="63500" marB="6350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183112"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C5C5C"/>
                </a:solidFill>
                <a:latin typeface="Segoe UI"/>
                <a:ea typeface="Segoe UI"/>
                <a:cs typeface="Segoe UI"/>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Shape 0"/>
          <p:cNvSpPr/>
          <p:nvPr/>
        </p:nvSpPr>
        <p:spPr>
          <a:xfrm>
            <a:off x="548640" y="411480"/>
            <a:ext cx="1441094" cy="292608"/>
          </a:xfrm>
          <a:prstGeom prst="roundRect">
            <a:avLst>
              <a:gd name="adj" fmla="val 50000"/>
            </a:avLst>
          </a:prstGeom>
          <a:solidFill>
            <a:srgbClr val="F3F3F3"/>
          </a:solidFill>
          <a:ln/>
        </p:spPr>
      </p:sp>
      <p:sp>
        <p:nvSpPr>
          <p:cNvPr id="3" name="Text 1"/>
          <p:cNvSpPr txBox="1"/>
          <p:nvPr/>
        </p:nvSpPr>
        <p:spPr>
          <a:xfrm>
            <a:off x="548640" y="411480"/>
            <a:ext cx="1441094" cy="292608"/>
          </a:xfrm>
          <a:prstGeom prst="rect">
            <a:avLst/>
          </a:prstGeom>
          <a:noFill/>
          <a:ln/>
        </p:spPr>
        <p:txBody>
          <a:bodyPr wrap="square" lIns="0" tIns="0" rIns="0" bIns="0" rtlCol="0" anchor="ctr"/>
          <a:lstStyle/>
          <a:p>
            <a:pPr algn="ctr" indent="0" marL="0">
              <a:buNone/>
            </a:pPr>
            <a:r>
              <a:rPr lang="en-US" sz="950" spc="150" kern="0" dirty="0">
                <a:solidFill>
                  <a:srgbClr val="5C5C5C"/>
                </a:solidFill>
                <a:latin typeface="Segoe UI Semibold" pitchFamily="34" charset="0"/>
                <a:ea typeface="Segoe UI Semibold" pitchFamily="34" charset="-122"/>
                <a:cs typeface="Segoe UI Semibold" pitchFamily="34" charset="-120"/>
              </a:rPr>
              <a:t>DEMO &amp; RILIS</a:t>
            </a:r>
            <a:endParaRPr lang="en-US" sz="950" dirty="0"/>
          </a:p>
        </p:txBody>
      </p:sp>
      <p:sp>
        <p:nvSpPr>
          <p:cNvPr id="4" name="Text 1"/>
          <p:cNvSpPr/>
          <p:nvPr>
            <p:ph idx="101" type="title" hasCustomPrompt="1"/>
          </p:nvPr>
        </p:nvSpPr>
        <p:spPr>
          <a:xfrm>
            <a:off x="548640" y="868680"/>
            <a:ext cx="11064240" cy="777240"/>
          </a:xfrm>
          <a:prstGeom prst="rect">
            <a:avLst/>
          </a:prstGeom>
          <a:noFill/>
          <a:ln/>
        </p:spPr>
        <p:txBody>
          <a:bodyPr wrap="square" lIns="0" tIns="0" rIns="0" bIns="0" rtlCol="0" anchor="t"/>
          <a:lstStyle/>
          <a:p>
            <a:pPr algn="l" indent="0" marL="0">
              <a:buNone/>
            </a:pPr>
            <a:r>
              <a:rPr lang="en-US" sz="3000" dirty="0">
                <a:solidFill>
                  <a:srgbClr val="0A0A0A"/>
                </a:solidFill>
                <a:latin typeface="Segoe UI Semibold" pitchFamily="34" charset="0"/>
                <a:ea typeface="Segoe UI Semibold" pitchFamily="34" charset="-122"/>
                <a:cs typeface="Segoe UI Semibold" pitchFamily="34" charset="-120"/>
              </a:rPr>
              <a:t>Skenario demo 7 menit dan lingkungan rilis</a:t>
            </a:r>
            <a:endParaRPr lang="en-US" sz="3000" dirty="0"/>
          </a:p>
        </p:txBody>
      </p:sp>
      <p:sp>
        <p:nvSpPr>
          <p:cNvPr id="5" name="Text 3"/>
          <p:cNvSpPr txBox="1"/>
          <p:nvPr/>
        </p:nvSpPr>
        <p:spPr>
          <a:xfrm>
            <a:off x="548640" y="1920240"/>
            <a:ext cx="4572000" cy="228600"/>
          </a:xfrm>
          <a:prstGeom prst="rect">
            <a:avLst/>
          </a:prstGeom>
          <a:noFill/>
          <a:ln/>
        </p:spPr>
        <p:txBody>
          <a:bodyPr wrap="square" lIns="0" tIns="0" rIns="0" bIns="0" rtlCol="0" anchor="t"/>
          <a:lstStyle/>
          <a:p>
            <a:pPr indent="0" marL="0">
              <a:buNone/>
            </a:pPr>
            <a:r>
              <a:rPr lang="en-US" sz="950" spc="150" kern="0" dirty="0">
                <a:solidFill>
                  <a:srgbClr val="5C5C5C"/>
                </a:solidFill>
                <a:latin typeface="Segoe UI Semibold" pitchFamily="34" charset="0"/>
                <a:ea typeface="Segoe UI Semibold" pitchFamily="34" charset="-122"/>
                <a:cs typeface="Segoe UI Semibold" pitchFamily="34" charset="-120"/>
              </a:rPr>
              <a:t>SKENARIO DEMO</a:t>
            </a:r>
            <a:endParaRPr lang="en-US" sz="950" dirty="0"/>
          </a:p>
        </p:txBody>
      </p:sp>
      <p:sp>
        <p:nvSpPr>
          <p:cNvPr id="6" name="Shape 4"/>
          <p:cNvSpPr/>
          <p:nvPr/>
        </p:nvSpPr>
        <p:spPr>
          <a:xfrm>
            <a:off x="548640" y="2286000"/>
            <a:ext cx="384048" cy="384048"/>
          </a:xfrm>
          <a:prstGeom prst="ellipse">
            <a:avLst/>
          </a:prstGeom>
          <a:solidFill>
            <a:srgbClr val="0A0A0A"/>
          </a:solidFill>
          <a:ln/>
        </p:spPr>
      </p:sp>
      <p:sp>
        <p:nvSpPr>
          <p:cNvPr id="7" name="Text 5"/>
          <p:cNvSpPr txBox="1"/>
          <p:nvPr/>
        </p:nvSpPr>
        <p:spPr>
          <a:xfrm>
            <a:off x="548640" y="2286000"/>
            <a:ext cx="384048" cy="384048"/>
          </a:xfrm>
          <a:prstGeom prst="rect">
            <a:avLst/>
          </a:prstGeom>
          <a:noFill/>
          <a:ln/>
        </p:spPr>
        <p:txBody>
          <a:bodyPr wrap="square" lIns="0" tIns="0" rIns="0" bIns="0" rtlCol="0" anchor="ctr"/>
          <a:lstStyle/>
          <a:p>
            <a:pPr algn="ctr" indent="0" marL="0">
              <a:buNone/>
            </a:pPr>
            <a:r>
              <a:rPr lang="en-US" sz="1200" dirty="0">
                <a:solidFill>
                  <a:srgbClr val="FFFFFF"/>
                </a:solidFill>
                <a:latin typeface="Segoe UI Semibold" pitchFamily="34" charset="0"/>
                <a:ea typeface="Segoe UI Semibold" pitchFamily="34" charset="-122"/>
                <a:cs typeface="Segoe UI Semibold" pitchFamily="34" charset="-120"/>
              </a:rPr>
              <a:t>1</a:t>
            </a:r>
            <a:endParaRPr lang="en-US" sz="1200" dirty="0"/>
          </a:p>
        </p:txBody>
      </p:sp>
      <p:sp>
        <p:nvSpPr>
          <p:cNvPr id="8" name="Text 6"/>
          <p:cNvSpPr txBox="1"/>
          <p:nvPr/>
        </p:nvSpPr>
        <p:spPr>
          <a:xfrm>
            <a:off x="1115568" y="2340864"/>
            <a:ext cx="4754880" cy="292608"/>
          </a:xfrm>
          <a:prstGeom prst="rect">
            <a:avLst/>
          </a:prstGeom>
          <a:noFill/>
          <a:ln/>
        </p:spPr>
        <p:txBody>
          <a:bodyPr wrap="square" lIns="0" tIns="0" rIns="0" bIns="0" rtlCol="0" anchor="t"/>
          <a:lstStyle/>
          <a:p>
            <a:pPr indent="0" marL="0">
              <a:buNone/>
            </a:pPr>
            <a:r>
              <a:rPr lang="en-US" sz="1300" dirty="0">
                <a:solidFill>
                  <a:srgbClr val="0A0A0A"/>
                </a:solidFill>
                <a:latin typeface="Segoe UI" pitchFamily="34" charset="0"/>
                <a:ea typeface="Segoe UI" pitchFamily="34" charset="-122"/>
                <a:cs typeface="Segoe UI" pitchFamily="34" charset="-120"/>
              </a:rPr>
              <a:t>Pembeli mencari produk dan memilih varian</a:t>
            </a:r>
            <a:endParaRPr lang="en-US" sz="1300" dirty="0"/>
          </a:p>
        </p:txBody>
      </p:sp>
      <p:sp>
        <p:nvSpPr>
          <p:cNvPr id="9" name="Shape 7"/>
          <p:cNvSpPr/>
          <p:nvPr/>
        </p:nvSpPr>
        <p:spPr>
          <a:xfrm>
            <a:off x="548640" y="2889504"/>
            <a:ext cx="384048" cy="384048"/>
          </a:xfrm>
          <a:prstGeom prst="ellipse">
            <a:avLst/>
          </a:prstGeom>
          <a:solidFill>
            <a:srgbClr val="0A0A0A"/>
          </a:solidFill>
          <a:ln/>
        </p:spPr>
      </p:sp>
      <p:sp>
        <p:nvSpPr>
          <p:cNvPr id="10" name="Text 8"/>
          <p:cNvSpPr txBox="1"/>
          <p:nvPr/>
        </p:nvSpPr>
        <p:spPr>
          <a:xfrm>
            <a:off x="548640" y="2889504"/>
            <a:ext cx="384048" cy="384048"/>
          </a:xfrm>
          <a:prstGeom prst="rect">
            <a:avLst/>
          </a:prstGeom>
          <a:noFill/>
          <a:ln/>
        </p:spPr>
        <p:txBody>
          <a:bodyPr wrap="square" lIns="0" tIns="0" rIns="0" bIns="0" rtlCol="0" anchor="ctr"/>
          <a:lstStyle/>
          <a:p>
            <a:pPr algn="ctr" indent="0" marL="0">
              <a:buNone/>
            </a:pPr>
            <a:r>
              <a:rPr lang="en-US" sz="1200" dirty="0">
                <a:solidFill>
                  <a:srgbClr val="FFFFFF"/>
                </a:solidFill>
                <a:latin typeface="Segoe UI Semibold" pitchFamily="34" charset="0"/>
                <a:ea typeface="Segoe UI Semibold" pitchFamily="34" charset="-122"/>
                <a:cs typeface="Segoe UI Semibold" pitchFamily="34" charset="-120"/>
              </a:rPr>
              <a:t>2</a:t>
            </a:r>
            <a:endParaRPr lang="en-US" sz="1200" dirty="0"/>
          </a:p>
        </p:txBody>
      </p:sp>
      <p:sp>
        <p:nvSpPr>
          <p:cNvPr id="11" name="Text 9"/>
          <p:cNvSpPr txBox="1"/>
          <p:nvPr/>
        </p:nvSpPr>
        <p:spPr>
          <a:xfrm>
            <a:off x="1115568" y="2944368"/>
            <a:ext cx="4754880" cy="292608"/>
          </a:xfrm>
          <a:prstGeom prst="rect">
            <a:avLst/>
          </a:prstGeom>
          <a:noFill/>
          <a:ln/>
        </p:spPr>
        <p:txBody>
          <a:bodyPr wrap="square" lIns="0" tIns="0" rIns="0" bIns="0" rtlCol="0" anchor="t"/>
          <a:lstStyle/>
          <a:p>
            <a:pPr indent="0" marL="0">
              <a:buNone/>
            </a:pPr>
            <a:r>
              <a:rPr lang="en-US" sz="1300" dirty="0">
                <a:solidFill>
                  <a:srgbClr val="0A0A0A"/>
                </a:solidFill>
                <a:latin typeface="Segoe UI" pitchFamily="34" charset="0"/>
                <a:ea typeface="Segoe UI" pitchFamily="34" charset="-122"/>
                <a:cs typeface="Segoe UI" pitchFamily="34" charset="-120"/>
              </a:rPr>
              <a:t>Checkout dengan kode HEMAT10 (min. Rp 100.000)</a:t>
            </a:r>
            <a:endParaRPr lang="en-US" sz="1300" dirty="0"/>
          </a:p>
        </p:txBody>
      </p:sp>
      <p:sp>
        <p:nvSpPr>
          <p:cNvPr id="12" name="Shape 10"/>
          <p:cNvSpPr/>
          <p:nvPr/>
        </p:nvSpPr>
        <p:spPr>
          <a:xfrm>
            <a:off x="548640" y="3493008"/>
            <a:ext cx="384048" cy="384048"/>
          </a:xfrm>
          <a:prstGeom prst="ellipse">
            <a:avLst/>
          </a:prstGeom>
          <a:solidFill>
            <a:srgbClr val="0A0A0A"/>
          </a:solidFill>
          <a:ln/>
        </p:spPr>
      </p:sp>
      <p:sp>
        <p:nvSpPr>
          <p:cNvPr id="13" name="Text 11"/>
          <p:cNvSpPr txBox="1"/>
          <p:nvPr/>
        </p:nvSpPr>
        <p:spPr>
          <a:xfrm>
            <a:off x="548640" y="3493008"/>
            <a:ext cx="384048" cy="384048"/>
          </a:xfrm>
          <a:prstGeom prst="rect">
            <a:avLst/>
          </a:prstGeom>
          <a:noFill/>
          <a:ln/>
        </p:spPr>
        <p:txBody>
          <a:bodyPr wrap="square" lIns="0" tIns="0" rIns="0" bIns="0" rtlCol="0" anchor="ctr"/>
          <a:lstStyle/>
          <a:p>
            <a:pPr algn="ctr" indent="0" marL="0">
              <a:buNone/>
            </a:pPr>
            <a:r>
              <a:rPr lang="en-US" sz="1200" dirty="0">
                <a:solidFill>
                  <a:srgbClr val="FFFFFF"/>
                </a:solidFill>
                <a:latin typeface="Segoe UI Semibold" pitchFamily="34" charset="0"/>
                <a:ea typeface="Segoe UI Semibold" pitchFamily="34" charset="-122"/>
                <a:cs typeface="Segoe UI Semibold" pitchFamily="34" charset="-120"/>
              </a:rPr>
              <a:t>3</a:t>
            </a:r>
            <a:endParaRPr lang="en-US" sz="1200" dirty="0"/>
          </a:p>
        </p:txBody>
      </p:sp>
      <p:sp>
        <p:nvSpPr>
          <p:cNvPr id="14" name="Text 12"/>
          <p:cNvSpPr txBox="1"/>
          <p:nvPr/>
        </p:nvSpPr>
        <p:spPr>
          <a:xfrm>
            <a:off x="1115568" y="3547872"/>
            <a:ext cx="4754880" cy="292608"/>
          </a:xfrm>
          <a:prstGeom prst="rect">
            <a:avLst/>
          </a:prstGeom>
          <a:noFill/>
          <a:ln/>
        </p:spPr>
        <p:txBody>
          <a:bodyPr wrap="square" lIns="0" tIns="0" rIns="0" bIns="0" rtlCol="0" anchor="t"/>
          <a:lstStyle/>
          <a:p>
            <a:pPr indent="0" marL="0">
              <a:buNone/>
            </a:pPr>
            <a:r>
              <a:rPr lang="en-US" sz="1300" dirty="0">
                <a:solidFill>
                  <a:srgbClr val="0A0A0A"/>
                </a:solidFill>
                <a:latin typeface="Segoe UI" pitchFamily="34" charset="0"/>
                <a:ea typeface="Segoe UI" pitchFamily="34" charset="-122"/>
                <a:cs typeface="Segoe UI" pitchFamily="34" charset="-120"/>
              </a:rPr>
              <a:t>Admin konfirmasi bayar, kemas, input resi</a:t>
            </a:r>
            <a:endParaRPr lang="en-US" sz="1300" dirty="0"/>
          </a:p>
        </p:txBody>
      </p:sp>
      <p:sp>
        <p:nvSpPr>
          <p:cNvPr id="15" name="Shape 13"/>
          <p:cNvSpPr/>
          <p:nvPr/>
        </p:nvSpPr>
        <p:spPr>
          <a:xfrm>
            <a:off x="548640" y="4096512"/>
            <a:ext cx="384048" cy="384048"/>
          </a:xfrm>
          <a:prstGeom prst="ellipse">
            <a:avLst/>
          </a:prstGeom>
          <a:solidFill>
            <a:srgbClr val="0A0A0A"/>
          </a:solidFill>
          <a:ln/>
        </p:spPr>
      </p:sp>
      <p:sp>
        <p:nvSpPr>
          <p:cNvPr id="16" name="Text 14"/>
          <p:cNvSpPr txBox="1"/>
          <p:nvPr/>
        </p:nvSpPr>
        <p:spPr>
          <a:xfrm>
            <a:off x="548640" y="4096512"/>
            <a:ext cx="384048" cy="384048"/>
          </a:xfrm>
          <a:prstGeom prst="rect">
            <a:avLst/>
          </a:prstGeom>
          <a:noFill/>
          <a:ln/>
        </p:spPr>
        <p:txBody>
          <a:bodyPr wrap="square" lIns="0" tIns="0" rIns="0" bIns="0" rtlCol="0" anchor="ctr"/>
          <a:lstStyle/>
          <a:p>
            <a:pPr algn="ctr" indent="0" marL="0">
              <a:buNone/>
            </a:pPr>
            <a:r>
              <a:rPr lang="en-US" sz="1200" dirty="0">
                <a:solidFill>
                  <a:srgbClr val="FFFFFF"/>
                </a:solidFill>
                <a:latin typeface="Segoe UI Semibold" pitchFamily="34" charset="0"/>
                <a:ea typeface="Segoe UI Semibold" pitchFamily="34" charset="-122"/>
                <a:cs typeface="Segoe UI Semibold" pitchFamily="34" charset="-120"/>
              </a:rPr>
              <a:t>4</a:t>
            </a:r>
            <a:endParaRPr lang="en-US" sz="1200" dirty="0"/>
          </a:p>
        </p:txBody>
      </p:sp>
      <p:sp>
        <p:nvSpPr>
          <p:cNvPr id="17" name="Text 15"/>
          <p:cNvSpPr txBox="1"/>
          <p:nvPr/>
        </p:nvSpPr>
        <p:spPr>
          <a:xfrm>
            <a:off x="1115568" y="4151376"/>
            <a:ext cx="4754880" cy="292608"/>
          </a:xfrm>
          <a:prstGeom prst="rect">
            <a:avLst/>
          </a:prstGeom>
          <a:noFill/>
          <a:ln/>
        </p:spPr>
        <p:txBody>
          <a:bodyPr wrap="square" lIns="0" tIns="0" rIns="0" bIns="0" rtlCol="0" anchor="t"/>
          <a:lstStyle/>
          <a:p>
            <a:pPr indent="0" marL="0">
              <a:buNone/>
            </a:pPr>
            <a:r>
              <a:rPr lang="en-US" sz="1300" dirty="0">
                <a:solidFill>
                  <a:srgbClr val="0A0A0A"/>
                </a:solidFill>
                <a:latin typeface="Segoe UI" pitchFamily="34" charset="0"/>
                <a:ea typeface="Segoe UI" pitchFamily="34" charset="-122"/>
                <a:cs typeface="Segoe UI" pitchFamily="34" charset="-120"/>
              </a:rPr>
              <a:t>Pembeli terima pesanan dan beri ulasan</a:t>
            </a:r>
            <a:endParaRPr lang="en-US" sz="1300" dirty="0"/>
          </a:p>
        </p:txBody>
      </p:sp>
      <p:sp>
        <p:nvSpPr>
          <p:cNvPr id="18" name="Shape 16"/>
          <p:cNvSpPr/>
          <p:nvPr/>
        </p:nvSpPr>
        <p:spPr>
          <a:xfrm>
            <a:off x="548640" y="4700016"/>
            <a:ext cx="384048" cy="384048"/>
          </a:xfrm>
          <a:prstGeom prst="ellipse">
            <a:avLst/>
          </a:prstGeom>
          <a:solidFill>
            <a:srgbClr val="0A0A0A"/>
          </a:solidFill>
          <a:ln/>
        </p:spPr>
      </p:sp>
      <p:sp>
        <p:nvSpPr>
          <p:cNvPr id="19" name="Text 17"/>
          <p:cNvSpPr txBox="1"/>
          <p:nvPr/>
        </p:nvSpPr>
        <p:spPr>
          <a:xfrm>
            <a:off x="548640" y="4700016"/>
            <a:ext cx="384048" cy="384048"/>
          </a:xfrm>
          <a:prstGeom prst="rect">
            <a:avLst/>
          </a:prstGeom>
          <a:noFill/>
          <a:ln/>
        </p:spPr>
        <p:txBody>
          <a:bodyPr wrap="square" lIns="0" tIns="0" rIns="0" bIns="0" rtlCol="0" anchor="ctr"/>
          <a:lstStyle/>
          <a:p>
            <a:pPr algn="ctr" indent="0" marL="0">
              <a:buNone/>
            </a:pPr>
            <a:r>
              <a:rPr lang="en-US" sz="1200" dirty="0">
                <a:solidFill>
                  <a:srgbClr val="FFFFFF"/>
                </a:solidFill>
                <a:latin typeface="Segoe UI Semibold" pitchFamily="34" charset="0"/>
                <a:ea typeface="Segoe UI Semibold" pitchFamily="34" charset="-122"/>
                <a:cs typeface="Segoe UI Semibold" pitchFamily="34" charset="-120"/>
              </a:rPr>
              <a:t>5</a:t>
            </a:r>
            <a:endParaRPr lang="en-US" sz="1200" dirty="0"/>
          </a:p>
        </p:txBody>
      </p:sp>
      <p:sp>
        <p:nvSpPr>
          <p:cNvPr id="20" name="Text 18"/>
          <p:cNvSpPr txBox="1"/>
          <p:nvPr/>
        </p:nvSpPr>
        <p:spPr>
          <a:xfrm>
            <a:off x="1115568" y="4754880"/>
            <a:ext cx="4754880" cy="292608"/>
          </a:xfrm>
          <a:prstGeom prst="rect">
            <a:avLst/>
          </a:prstGeom>
          <a:noFill/>
          <a:ln/>
        </p:spPr>
        <p:txBody>
          <a:bodyPr wrap="square" lIns="0" tIns="0" rIns="0" bIns="0" rtlCol="0" anchor="t"/>
          <a:lstStyle/>
          <a:p>
            <a:pPr indent="0" marL="0">
              <a:buNone/>
            </a:pPr>
            <a:r>
              <a:rPr lang="en-US" sz="1300" dirty="0">
                <a:solidFill>
                  <a:srgbClr val="0A0A0A"/>
                </a:solidFill>
                <a:latin typeface="Segoe UI" pitchFamily="34" charset="0"/>
                <a:ea typeface="Segoe UI" pitchFamily="34" charset="-122"/>
                <a:cs typeface="Segoe UI" pitchFamily="34" charset="-120"/>
              </a:rPr>
              <a:t>Pesanan lewat batas bayar batal otomatis</a:t>
            </a:r>
            <a:endParaRPr lang="en-US" sz="1300" dirty="0"/>
          </a:p>
        </p:txBody>
      </p:sp>
      <p:sp>
        <p:nvSpPr>
          <p:cNvPr id="21" name="Shape 19"/>
          <p:cNvSpPr/>
          <p:nvPr/>
        </p:nvSpPr>
        <p:spPr>
          <a:xfrm>
            <a:off x="548640" y="5303520"/>
            <a:ext cx="384048" cy="384048"/>
          </a:xfrm>
          <a:prstGeom prst="ellipse">
            <a:avLst/>
          </a:prstGeom>
          <a:solidFill>
            <a:srgbClr val="F3F3F3"/>
          </a:solidFill>
          <a:ln/>
        </p:spPr>
      </p:sp>
      <p:sp>
        <p:nvSpPr>
          <p:cNvPr id="22" name="Text 20"/>
          <p:cNvSpPr txBox="1"/>
          <p:nvPr/>
        </p:nvSpPr>
        <p:spPr>
          <a:xfrm>
            <a:off x="548640" y="5303520"/>
            <a:ext cx="384048" cy="384048"/>
          </a:xfrm>
          <a:prstGeom prst="rect">
            <a:avLst/>
          </a:prstGeom>
          <a:noFill/>
          <a:ln/>
        </p:spPr>
        <p:txBody>
          <a:bodyPr wrap="square" lIns="0" tIns="0" rIns="0" bIns="0" rtlCol="0" anchor="ctr"/>
          <a:lstStyle/>
          <a:p>
            <a:pPr algn="ctr" indent="0" marL="0">
              <a:buNone/>
            </a:pPr>
            <a:r>
              <a:rPr lang="en-US" sz="1200" dirty="0">
                <a:solidFill>
                  <a:srgbClr val="0A0A0A"/>
                </a:solidFill>
                <a:latin typeface="Segoe UI Semibold" pitchFamily="34" charset="0"/>
                <a:ea typeface="Segoe UI Semibold" pitchFamily="34" charset="-122"/>
                <a:cs typeface="Segoe UI Semibold" pitchFamily="34" charset="-120"/>
              </a:rPr>
              <a:t>6</a:t>
            </a:r>
            <a:endParaRPr lang="en-US" sz="1200" dirty="0"/>
          </a:p>
        </p:txBody>
      </p:sp>
      <p:sp>
        <p:nvSpPr>
          <p:cNvPr id="23" name="Text 21"/>
          <p:cNvSpPr txBox="1"/>
          <p:nvPr/>
        </p:nvSpPr>
        <p:spPr>
          <a:xfrm>
            <a:off x="1115568" y="5358384"/>
            <a:ext cx="4754880" cy="292608"/>
          </a:xfrm>
          <a:prstGeom prst="rect">
            <a:avLst/>
          </a:prstGeom>
          <a:noFill/>
          <a:ln/>
        </p:spPr>
        <p:txBody>
          <a:bodyPr wrap="square" lIns="0" tIns="0" rIns="0" bIns="0" rtlCol="0" anchor="t"/>
          <a:lstStyle/>
          <a:p>
            <a:pPr indent="0" marL="0">
              <a:buNone/>
            </a:pPr>
            <a:r>
              <a:rPr lang="en-US" sz="1300" dirty="0">
                <a:solidFill>
                  <a:srgbClr val="0A0A0A"/>
                </a:solidFill>
                <a:latin typeface="Segoe UI" pitchFamily="34" charset="0"/>
                <a:ea typeface="Segoe UI" pitchFamily="34" charset="-122"/>
                <a:cs typeface="Segoe UI" pitchFamily="34" charset="-120"/>
              </a:rPr>
              <a:t>Bonus: tanya asisten AI &amp; ganti mode gelap</a:t>
            </a:r>
            <a:endParaRPr lang="en-US" sz="1300" dirty="0"/>
          </a:p>
        </p:txBody>
      </p:sp>
      <p:sp>
        <p:nvSpPr>
          <p:cNvPr id="24" name="Shape 22"/>
          <p:cNvSpPr/>
          <p:nvPr/>
        </p:nvSpPr>
        <p:spPr>
          <a:xfrm>
            <a:off x="6199632" y="1874520"/>
            <a:ext cx="5440680" cy="4160520"/>
          </a:xfrm>
          <a:prstGeom prst="roundRect">
            <a:avLst>
              <a:gd name="adj" fmla="val 4835"/>
            </a:avLst>
          </a:prstGeom>
          <a:solidFill>
            <a:srgbClr val="0A0A0A"/>
          </a:solidFill>
          <a:ln/>
        </p:spPr>
      </p:sp>
      <p:sp>
        <p:nvSpPr>
          <p:cNvPr id="25" name="Text 23"/>
          <p:cNvSpPr txBox="1"/>
          <p:nvPr/>
        </p:nvSpPr>
        <p:spPr>
          <a:xfrm>
            <a:off x="6519672" y="2148840"/>
            <a:ext cx="4846320" cy="365760"/>
          </a:xfrm>
          <a:prstGeom prst="rect">
            <a:avLst/>
          </a:prstGeom>
          <a:noFill/>
          <a:ln/>
        </p:spPr>
        <p:txBody>
          <a:bodyPr wrap="square" lIns="0" tIns="0" rIns="0" bIns="0" rtlCol="0" anchor="t"/>
          <a:lstStyle/>
          <a:p>
            <a:pPr indent="0" marL="0">
              <a:buNone/>
            </a:pPr>
            <a:r>
              <a:rPr lang="en-US" sz="1700" dirty="0">
                <a:solidFill>
                  <a:srgbClr val="FFFFFF"/>
                </a:solidFill>
                <a:latin typeface="Segoe UI Semibold" pitchFamily="34" charset="0"/>
                <a:ea typeface="Segoe UI Semibold" pitchFamily="34" charset="-122"/>
                <a:cs typeface="Segoe UI Semibold" pitchFamily="34" charset="-120"/>
              </a:rPr>
              <a:t>Lingkungan rilis</a:t>
            </a:r>
            <a:endParaRPr lang="en-US" sz="1700" dirty="0"/>
          </a:p>
        </p:txBody>
      </p:sp>
      <p:sp>
        <p:nvSpPr>
          <p:cNvPr id="26" name="Shape 24"/>
          <p:cNvSpPr/>
          <p:nvPr/>
        </p:nvSpPr>
        <p:spPr>
          <a:xfrm>
            <a:off x="6519672" y="2697480"/>
            <a:ext cx="438912" cy="438912"/>
          </a:xfrm>
          <a:prstGeom prst="ellipse">
            <a:avLst/>
          </a:prstGeom>
          <a:solidFill>
            <a:srgbClr val="FFFFFF"/>
          </a:solidFill>
          <a:ln/>
        </p:spPr>
      </p:sp>
      <p:pic>
        <p:nvPicPr>
          <p:cNvPr id="27" name="Image 0" descr="C:\laragon\www\e-commerce\scripts\ppt\aset\ikon-Rocket-hitam.png">    </p:cNvPr>
          <p:cNvPicPr>
            <a:picLocks noChangeAspect="1"/>
          </p:cNvPicPr>
          <p:nvPr/>
        </p:nvPicPr>
        <p:blipFill>
          <a:blip r:embed="rId1"/>
          <a:stretch>
            <a:fillRect/>
          </a:stretch>
        </p:blipFill>
        <p:spPr>
          <a:xfrm>
            <a:off x="6629400" y="2807208"/>
            <a:ext cx="219456" cy="219456"/>
          </a:xfrm>
          <a:prstGeom prst="rect">
            <a:avLst/>
          </a:prstGeom>
        </p:spPr>
      </p:pic>
      <p:sp>
        <p:nvSpPr>
          <p:cNvPr id="28" name="Text 25"/>
          <p:cNvSpPr txBox="1"/>
          <p:nvPr/>
        </p:nvSpPr>
        <p:spPr>
          <a:xfrm>
            <a:off x="7114032" y="2679192"/>
            <a:ext cx="4297680" cy="256032"/>
          </a:xfrm>
          <a:prstGeom prst="rect">
            <a:avLst/>
          </a:prstGeom>
          <a:noFill/>
          <a:ln/>
        </p:spPr>
        <p:txBody>
          <a:bodyPr wrap="square" lIns="0" tIns="0" rIns="0" bIns="0" rtlCol="0" anchor="t"/>
          <a:lstStyle/>
          <a:p>
            <a:pPr indent="0" marL="0">
              <a:buNone/>
            </a:pPr>
            <a:r>
              <a:rPr lang="en-US" sz="1250" dirty="0">
                <a:solidFill>
                  <a:srgbClr val="FFFFFF"/>
                </a:solidFill>
                <a:latin typeface="Segoe UI Semibold" pitchFamily="34" charset="0"/>
                <a:ea typeface="Segoe UI Semibold" pitchFamily="34" charset="-122"/>
                <a:cs typeface="Segoe UI Semibold" pitchFamily="34" charset="-120"/>
              </a:rPr>
              <a:t>Vercel (Singapura)</a:t>
            </a:r>
            <a:endParaRPr lang="en-US" sz="1250" dirty="0"/>
          </a:p>
        </p:txBody>
      </p:sp>
      <p:sp>
        <p:nvSpPr>
          <p:cNvPr id="29" name="Text 26"/>
          <p:cNvSpPr txBox="1"/>
          <p:nvPr/>
        </p:nvSpPr>
        <p:spPr>
          <a:xfrm>
            <a:off x="7114032" y="2935224"/>
            <a:ext cx="4297680" cy="274320"/>
          </a:xfrm>
          <a:prstGeom prst="rect">
            <a:avLst/>
          </a:prstGeom>
          <a:noFill/>
          <a:ln/>
        </p:spPr>
        <p:txBody>
          <a:bodyPr wrap="square" lIns="0" tIns="0" rIns="0" bIns="0" rtlCol="0" anchor="t"/>
          <a:lstStyle/>
          <a:p>
            <a:pPr indent="0" marL="0">
              <a:buNone/>
            </a:pPr>
            <a:r>
              <a:rPr lang="en-US" sz="1100" dirty="0">
                <a:solidFill>
                  <a:srgbClr val="A3A3A3"/>
                </a:solidFill>
                <a:latin typeface="Segoe UI" pitchFamily="34" charset="0"/>
                <a:ea typeface="Segoe UI" pitchFamily="34" charset="-122"/>
                <a:cs typeface="Segoe UI" pitchFamily="34" charset="-120"/>
              </a:rPr>
              <a:t>HTTPS otomatis, deploy setiap merge ke develop</a:t>
            </a:r>
            <a:endParaRPr lang="en-US" sz="1100" dirty="0"/>
          </a:p>
        </p:txBody>
      </p:sp>
      <p:sp>
        <p:nvSpPr>
          <p:cNvPr id="30" name="Shape 27"/>
          <p:cNvSpPr/>
          <p:nvPr/>
        </p:nvSpPr>
        <p:spPr>
          <a:xfrm>
            <a:off x="6519672" y="3337560"/>
            <a:ext cx="438912" cy="438912"/>
          </a:xfrm>
          <a:prstGeom prst="ellipse">
            <a:avLst/>
          </a:prstGeom>
          <a:solidFill>
            <a:srgbClr val="FFFFFF"/>
          </a:solidFill>
          <a:ln/>
        </p:spPr>
      </p:sp>
      <p:pic>
        <p:nvPicPr>
          <p:cNvPr id="31" name="Image 1" descr="C:\laragon\www\e-commerce\scripts\ppt\aset\ikon-Database-hitam.png">    </p:cNvPr>
          <p:cNvPicPr>
            <a:picLocks noChangeAspect="1"/>
          </p:cNvPicPr>
          <p:nvPr/>
        </p:nvPicPr>
        <p:blipFill>
          <a:blip r:embed="rId2"/>
          <a:stretch>
            <a:fillRect/>
          </a:stretch>
        </p:blipFill>
        <p:spPr>
          <a:xfrm>
            <a:off x="6629400" y="3447288"/>
            <a:ext cx="219456" cy="219456"/>
          </a:xfrm>
          <a:prstGeom prst="rect">
            <a:avLst/>
          </a:prstGeom>
        </p:spPr>
      </p:pic>
      <p:sp>
        <p:nvSpPr>
          <p:cNvPr id="32" name="Text 28"/>
          <p:cNvSpPr txBox="1"/>
          <p:nvPr/>
        </p:nvSpPr>
        <p:spPr>
          <a:xfrm>
            <a:off x="7114032" y="3319272"/>
            <a:ext cx="4297680" cy="256032"/>
          </a:xfrm>
          <a:prstGeom prst="rect">
            <a:avLst/>
          </a:prstGeom>
          <a:noFill/>
          <a:ln/>
        </p:spPr>
        <p:txBody>
          <a:bodyPr wrap="square" lIns="0" tIns="0" rIns="0" bIns="0" rtlCol="0" anchor="t"/>
          <a:lstStyle/>
          <a:p>
            <a:pPr indent="0" marL="0">
              <a:buNone/>
            </a:pPr>
            <a:r>
              <a:rPr lang="en-US" sz="1250" dirty="0">
                <a:solidFill>
                  <a:srgbClr val="FFFFFF"/>
                </a:solidFill>
                <a:latin typeface="Segoe UI Semibold" pitchFamily="34" charset="0"/>
                <a:ea typeface="Segoe UI Semibold" pitchFamily="34" charset="-122"/>
                <a:cs typeface="Segoe UI Semibold" pitchFamily="34" charset="-120"/>
              </a:rPr>
              <a:t>Aiven MySQL</a:t>
            </a:r>
            <a:endParaRPr lang="en-US" sz="1250" dirty="0"/>
          </a:p>
        </p:txBody>
      </p:sp>
      <p:sp>
        <p:nvSpPr>
          <p:cNvPr id="33" name="Text 29"/>
          <p:cNvSpPr txBox="1"/>
          <p:nvPr/>
        </p:nvSpPr>
        <p:spPr>
          <a:xfrm>
            <a:off x="7114032" y="3575304"/>
            <a:ext cx="4297680" cy="274320"/>
          </a:xfrm>
          <a:prstGeom prst="rect">
            <a:avLst/>
          </a:prstGeom>
          <a:noFill/>
          <a:ln/>
        </p:spPr>
        <p:txBody>
          <a:bodyPr wrap="square" lIns="0" tIns="0" rIns="0" bIns="0" rtlCol="0" anchor="t"/>
          <a:lstStyle/>
          <a:p>
            <a:pPr indent="0" marL="0">
              <a:buNone/>
            </a:pPr>
            <a:r>
              <a:rPr lang="en-US" sz="1100" dirty="0">
                <a:solidFill>
                  <a:srgbClr val="A3A3A3"/>
                </a:solidFill>
                <a:latin typeface="Segoe UI" pitchFamily="34" charset="0"/>
                <a:ea typeface="Segoe UI" pitchFamily="34" charset="-122"/>
                <a:cs typeface="Segoe UI" pitchFamily="34" charset="-120"/>
              </a:rPr>
              <a:t>TLS terverifikasi; backup harian terenkripsi</a:t>
            </a:r>
            <a:endParaRPr lang="en-US" sz="1100" dirty="0"/>
          </a:p>
        </p:txBody>
      </p:sp>
      <p:sp>
        <p:nvSpPr>
          <p:cNvPr id="34" name="Shape 30"/>
          <p:cNvSpPr/>
          <p:nvPr/>
        </p:nvSpPr>
        <p:spPr>
          <a:xfrm>
            <a:off x="6519672" y="3977640"/>
            <a:ext cx="438912" cy="438912"/>
          </a:xfrm>
          <a:prstGeom prst="ellipse">
            <a:avLst/>
          </a:prstGeom>
          <a:solidFill>
            <a:srgbClr val="FFFFFF"/>
          </a:solidFill>
          <a:ln/>
        </p:spPr>
      </p:sp>
      <p:pic>
        <p:nvPicPr>
          <p:cNvPr id="35" name="Image 2" descr="C:\laragon\www\e-commerce\scripts\ppt\aset\ikon-CreditCard-hitam.png">    </p:cNvPr>
          <p:cNvPicPr>
            <a:picLocks noChangeAspect="1"/>
          </p:cNvPicPr>
          <p:nvPr/>
        </p:nvPicPr>
        <p:blipFill>
          <a:blip r:embed="rId3"/>
          <a:stretch>
            <a:fillRect/>
          </a:stretch>
        </p:blipFill>
        <p:spPr>
          <a:xfrm>
            <a:off x="6629400" y="4087368"/>
            <a:ext cx="219456" cy="219456"/>
          </a:xfrm>
          <a:prstGeom prst="rect">
            <a:avLst/>
          </a:prstGeom>
        </p:spPr>
      </p:pic>
      <p:sp>
        <p:nvSpPr>
          <p:cNvPr id="36" name="Text 31"/>
          <p:cNvSpPr txBox="1"/>
          <p:nvPr/>
        </p:nvSpPr>
        <p:spPr>
          <a:xfrm>
            <a:off x="7114032" y="3959352"/>
            <a:ext cx="4297680" cy="256032"/>
          </a:xfrm>
          <a:prstGeom prst="rect">
            <a:avLst/>
          </a:prstGeom>
          <a:noFill/>
          <a:ln/>
        </p:spPr>
        <p:txBody>
          <a:bodyPr wrap="square" lIns="0" tIns="0" rIns="0" bIns="0" rtlCol="0" anchor="t"/>
          <a:lstStyle/>
          <a:p>
            <a:pPr indent="0" marL="0">
              <a:buNone/>
            </a:pPr>
            <a:r>
              <a:rPr lang="en-US" sz="1250" dirty="0">
                <a:solidFill>
                  <a:srgbClr val="FFFFFF"/>
                </a:solidFill>
                <a:latin typeface="Segoe UI Semibold" pitchFamily="34" charset="0"/>
                <a:ea typeface="Segoe UI Semibold" pitchFamily="34" charset="-122"/>
                <a:cs typeface="Segoe UI Semibold" pitchFamily="34" charset="-120"/>
              </a:rPr>
              <a:t>Midtrans sandbox</a:t>
            </a:r>
            <a:endParaRPr lang="en-US" sz="1250" dirty="0"/>
          </a:p>
        </p:txBody>
      </p:sp>
      <p:sp>
        <p:nvSpPr>
          <p:cNvPr id="37" name="Text 32"/>
          <p:cNvSpPr txBox="1"/>
          <p:nvPr/>
        </p:nvSpPr>
        <p:spPr>
          <a:xfrm>
            <a:off x="7114032" y="4215384"/>
            <a:ext cx="4297680" cy="274320"/>
          </a:xfrm>
          <a:prstGeom prst="rect">
            <a:avLst/>
          </a:prstGeom>
          <a:noFill/>
          <a:ln/>
        </p:spPr>
        <p:txBody>
          <a:bodyPr wrap="square" lIns="0" tIns="0" rIns="0" bIns="0" rtlCol="0" anchor="t"/>
          <a:lstStyle/>
          <a:p>
            <a:pPr indent="0" marL="0">
              <a:buNone/>
            </a:pPr>
            <a:r>
              <a:rPr lang="en-US" sz="1100" dirty="0">
                <a:solidFill>
                  <a:srgbClr val="A3A3A3"/>
                </a:solidFill>
                <a:latin typeface="Segoe UI" pitchFamily="34" charset="0"/>
                <a:ea typeface="Segoe UI" pitchFamily="34" charset="-122"/>
                <a:cs typeface="Segoe UI" pitchFamily="34" charset="-120"/>
              </a:rPr>
              <a:t>Diuji di situs online: BCA lunas otomatis via webhook</a:t>
            </a:r>
            <a:endParaRPr lang="en-US" sz="1100" dirty="0"/>
          </a:p>
        </p:txBody>
      </p:sp>
      <p:sp>
        <p:nvSpPr>
          <p:cNvPr id="38" name="Shape 33"/>
          <p:cNvSpPr/>
          <p:nvPr/>
        </p:nvSpPr>
        <p:spPr>
          <a:xfrm>
            <a:off x="6519672" y="4617720"/>
            <a:ext cx="438912" cy="438912"/>
          </a:xfrm>
          <a:prstGeom prst="ellipse">
            <a:avLst/>
          </a:prstGeom>
          <a:solidFill>
            <a:srgbClr val="FFFFFF"/>
          </a:solidFill>
          <a:ln/>
        </p:spPr>
      </p:sp>
      <p:pic>
        <p:nvPicPr>
          <p:cNvPr id="39" name="Image 3" descr="C:\laragon\www\e-commerce\scripts\ppt\aset\ikon-Mail-hitam.png">    </p:cNvPr>
          <p:cNvPicPr>
            <a:picLocks noChangeAspect="1"/>
          </p:cNvPicPr>
          <p:nvPr/>
        </p:nvPicPr>
        <p:blipFill>
          <a:blip r:embed="rId4"/>
          <a:stretch>
            <a:fillRect/>
          </a:stretch>
        </p:blipFill>
        <p:spPr>
          <a:xfrm>
            <a:off x="6629400" y="4727448"/>
            <a:ext cx="219456" cy="219456"/>
          </a:xfrm>
          <a:prstGeom prst="rect">
            <a:avLst/>
          </a:prstGeom>
        </p:spPr>
      </p:pic>
      <p:sp>
        <p:nvSpPr>
          <p:cNvPr id="40" name="Text 34"/>
          <p:cNvSpPr txBox="1"/>
          <p:nvPr/>
        </p:nvSpPr>
        <p:spPr>
          <a:xfrm>
            <a:off x="7114032" y="4599432"/>
            <a:ext cx="4297680" cy="256032"/>
          </a:xfrm>
          <a:prstGeom prst="rect">
            <a:avLst/>
          </a:prstGeom>
          <a:noFill/>
          <a:ln/>
        </p:spPr>
        <p:txBody>
          <a:bodyPr wrap="square" lIns="0" tIns="0" rIns="0" bIns="0" rtlCol="0" anchor="t"/>
          <a:lstStyle/>
          <a:p>
            <a:pPr indent="0" marL="0">
              <a:buNone/>
            </a:pPr>
            <a:r>
              <a:rPr lang="en-US" sz="1250" dirty="0">
                <a:solidFill>
                  <a:srgbClr val="FFFFFF"/>
                </a:solidFill>
                <a:latin typeface="Segoe UI Semibold" pitchFamily="34" charset="0"/>
                <a:ea typeface="Segoe UI Semibold" pitchFamily="34" charset="-122"/>
                <a:cs typeface="Segoe UI Semibold" pitchFamily="34" charset="-120"/>
              </a:rPr>
              <a:t>Gmail SMTP · Vercel Blob</a:t>
            </a:r>
            <a:endParaRPr lang="en-US" sz="1250" dirty="0"/>
          </a:p>
        </p:txBody>
      </p:sp>
      <p:sp>
        <p:nvSpPr>
          <p:cNvPr id="41" name="Text 35"/>
          <p:cNvSpPr txBox="1"/>
          <p:nvPr/>
        </p:nvSpPr>
        <p:spPr>
          <a:xfrm>
            <a:off x="7114032" y="4855464"/>
            <a:ext cx="4297680" cy="274320"/>
          </a:xfrm>
          <a:prstGeom prst="rect">
            <a:avLst/>
          </a:prstGeom>
          <a:noFill/>
          <a:ln/>
        </p:spPr>
        <p:txBody>
          <a:bodyPr wrap="square" lIns="0" tIns="0" rIns="0" bIns="0" rtlCol="0" anchor="t"/>
          <a:lstStyle/>
          <a:p>
            <a:pPr indent="0" marL="0">
              <a:buNone/>
            </a:pPr>
            <a:r>
              <a:rPr lang="en-US" sz="1100" dirty="0">
                <a:solidFill>
                  <a:srgbClr val="A3A3A3"/>
                </a:solidFill>
                <a:latin typeface="Segoe UI" pitchFamily="34" charset="0"/>
                <a:ea typeface="Segoe UI" pitchFamily="34" charset="-122"/>
                <a:cs typeface="Segoe UI" pitchFamily="34" charset="-120"/>
              </a:rPr>
              <a:t>Email di latar; gambar lama ikut terhapus</a:t>
            </a:r>
            <a:endParaRPr lang="en-US" sz="1100" dirty="0"/>
          </a:p>
        </p:txBody>
      </p:sp>
      <p:sp>
        <p:nvSpPr>
          <p:cNvPr id="42" name="Shape 36"/>
          <p:cNvSpPr/>
          <p:nvPr/>
        </p:nvSpPr>
        <p:spPr>
          <a:xfrm>
            <a:off x="6519672" y="5257800"/>
            <a:ext cx="438912" cy="438912"/>
          </a:xfrm>
          <a:prstGeom prst="ellipse">
            <a:avLst/>
          </a:prstGeom>
          <a:solidFill>
            <a:srgbClr val="FFFFFF"/>
          </a:solidFill>
          <a:ln/>
        </p:spPr>
      </p:sp>
      <p:pic>
        <p:nvPicPr>
          <p:cNvPr id="43" name="Image 4" descr="C:\laragon\www\e-commerce\scripts\ppt\aset\ikon-Globe-hitam.png">    </p:cNvPr>
          <p:cNvPicPr>
            <a:picLocks noChangeAspect="1"/>
          </p:cNvPicPr>
          <p:nvPr/>
        </p:nvPicPr>
        <p:blipFill>
          <a:blip r:embed="rId5"/>
          <a:stretch>
            <a:fillRect/>
          </a:stretch>
        </p:blipFill>
        <p:spPr>
          <a:xfrm>
            <a:off x="6629400" y="5367528"/>
            <a:ext cx="219456" cy="219456"/>
          </a:xfrm>
          <a:prstGeom prst="rect">
            <a:avLst/>
          </a:prstGeom>
        </p:spPr>
      </p:pic>
      <p:sp>
        <p:nvSpPr>
          <p:cNvPr id="44" name="Text 37"/>
          <p:cNvSpPr txBox="1"/>
          <p:nvPr/>
        </p:nvSpPr>
        <p:spPr>
          <a:xfrm>
            <a:off x="7114032" y="5239512"/>
            <a:ext cx="4297680" cy="256032"/>
          </a:xfrm>
          <a:prstGeom prst="rect">
            <a:avLst/>
          </a:prstGeom>
          <a:noFill/>
          <a:ln/>
        </p:spPr>
        <p:txBody>
          <a:bodyPr wrap="square" lIns="0" tIns="0" rIns="0" bIns="0" rtlCol="0" anchor="t"/>
          <a:lstStyle/>
          <a:p>
            <a:pPr indent="0" marL="0">
              <a:buNone/>
            </a:pPr>
            <a:r>
              <a:rPr lang="en-US" sz="1250" dirty="0">
                <a:solidFill>
                  <a:srgbClr val="FFFFFF"/>
                </a:solidFill>
                <a:latin typeface="Segoe UI Semibold" pitchFamily="34" charset="0"/>
                <a:ea typeface="Segoe UI Semibold" pitchFamily="34" charset="-122"/>
                <a:cs typeface="Segoe UI Semibold" pitchFamily="34" charset="-120"/>
              </a:rPr>
              <a:t>Data demo siap</a:t>
            </a:r>
            <a:endParaRPr lang="en-US" sz="1250" dirty="0"/>
          </a:p>
        </p:txBody>
      </p:sp>
      <p:sp>
        <p:nvSpPr>
          <p:cNvPr id="45" name="Text 38"/>
          <p:cNvSpPr txBox="1"/>
          <p:nvPr/>
        </p:nvSpPr>
        <p:spPr>
          <a:xfrm>
            <a:off x="7114032" y="5495544"/>
            <a:ext cx="4297680" cy="274320"/>
          </a:xfrm>
          <a:prstGeom prst="rect">
            <a:avLst/>
          </a:prstGeom>
          <a:noFill/>
          <a:ln/>
        </p:spPr>
        <p:txBody>
          <a:bodyPr wrap="square" lIns="0" tIns="0" rIns="0" bIns="0" rtlCol="0" anchor="t"/>
          <a:lstStyle/>
          <a:p>
            <a:pPr indent="0" marL="0">
              <a:buNone/>
            </a:pPr>
            <a:r>
              <a:rPr lang="en-US" sz="1100" dirty="0">
                <a:solidFill>
                  <a:srgbClr val="A3A3A3"/>
                </a:solidFill>
                <a:latin typeface="Segoe UI" pitchFamily="34" charset="0"/>
                <a:ea typeface="Segoe UI" pitchFamily="34" charset="-122"/>
                <a:cs typeface="Segoe UI" pitchFamily="34" charset="-120"/>
              </a:rPr>
              <a:t>26 produk, 79 pesanan, akun admin &amp; pembeli</a:t>
            </a:r>
            <a:endParaRPr lang="en-US" sz="1100" dirty="0"/>
          </a:p>
        </p:txBody>
      </p:sp>
      <p:sp>
        <p:nvSpPr>
          <p:cNvPr id="25" name="Slide Number Placeholder 0"/>
          <p:cNvSpPr>
            <a:spLocks noGrp="1"/>
          </p:cNvSpPr>
          <p:nvPr>
            <p:ph type="sldNum" sz="quarter" idx="4294967295"/>
          </p:nvPr>
        </p:nvSpPr>
        <p:spPr>
          <a:xfrm>
            <a:off x="11183112"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C5C5C"/>
                </a:solidFill>
                <a:latin typeface="Segoe UI"/>
                <a:ea typeface="Segoe UI"/>
                <a:cs typeface="Segoe UI"/>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Shape 0"/>
          <p:cNvSpPr/>
          <p:nvPr/>
        </p:nvSpPr>
        <p:spPr>
          <a:xfrm>
            <a:off x="548640" y="411480"/>
            <a:ext cx="1530706" cy="292608"/>
          </a:xfrm>
          <a:prstGeom prst="roundRect">
            <a:avLst>
              <a:gd name="adj" fmla="val 50000"/>
            </a:avLst>
          </a:prstGeom>
          <a:solidFill>
            <a:srgbClr val="F3F3F3"/>
          </a:solidFill>
          <a:ln/>
        </p:spPr>
      </p:sp>
      <p:sp>
        <p:nvSpPr>
          <p:cNvPr id="3" name="Text 1"/>
          <p:cNvSpPr txBox="1"/>
          <p:nvPr/>
        </p:nvSpPr>
        <p:spPr>
          <a:xfrm>
            <a:off x="548640" y="411480"/>
            <a:ext cx="1530706" cy="292608"/>
          </a:xfrm>
          <a:prstGeom prst="rect">
            <a:avLst/>
          </a:prstGeom>
          <a:noFill/>
          <a:ln/>
        </p:spPr>
        <p:txBody>
          <a:bodyPr wrap="square" lIns="0" tIns="0" rIns="0" bIns="0" rtlCol="0" anchor="ctr"/>
          <a:lstStyle/>
          <a:p>
            <a:pPr algn="ctr" indent="0" marL="0">
              <a:buNone/>
            </a:pPr>
            <a:r>
              <a:rPr lang="en-US" sz="950" spc="150" kern="0" dirty="0">
                <a:solidFill>
                  <a:srgbClr val="5C5C5C"/>
                </a:solidFill>
                <a:latin typeface="Segoe UI Semibold" pitchFamily="34" charset="0"/>
                <a:ea typeface="Segoe UI Semibold" pitchFamily="34" charset="-122"/>
                <a:cs typeface="Segoe UI Semibold" pitchFamily="34" charset="-120"/>
              </a:rPr>
              <a:t>TAUTAN PROYEK</a:t>
            </a:r>
            <a:endParaRPr lang="en-US" sz="950" dirty="0"/>
          </a:p>
        </p:txBody>
      </p:sp>
      <p:sp>
        <p:nvSpPr>
          <p:cNvPr id="4" name="Text 1"/>
          <p:cNvSpPr/>
          <p:nvPr>
            <p:ph idx="101" type="title" hasCustomPrompt="1"/>
          </p:nvPr>
        </p:nvSpPr>
        <p:spPr>
          <a:xfrm>
            <a:off x="548640" y="868680"/>
            <a:ext cx="11064240" cy="777240"/>
          </a:xfrm>
          <a:prstGeom prst="rect">
            <a:avLst/>
          </a:prstGeom>
          <a:noFill/>
          <a:ln/>
        </p:spPr>
        <p:txBody>
          <a:bodyPr wrap="square" lIns="0" tIns="0" rIns="0" bIns="0" rtlCol="0" anchor="t"/>
          <a:lstStyle/>
          <a:p>
            <a:pPr algn="l" indent="0" marL="0">
              <a:buNone/>
            </a:pPr>
            <a:r>
              <a:rPr lang="en-US" sz="3000" dirty="0">
                <a:solidFill>
                  <a:srgbClr val="0A0A0A"/>
                </a:solidFill>
                <a:latin typeface="Segoe UI Semibold" pitchFamily="34" charset="0"/>
                <a:ea typeface="Segoe UI Semibold" pitchFamily="34" charset="-122"/>
                <a:cs typeface="Segoe UI Semibold" pitchFamily="34" charset="-120"/>
              </a:rPr>
              <a:t>Coba sendiri, lihat kodenya</a:t>
            </a:r>
            <a:endParaRPr lang="en-US" sz="3000" dirty="0"/>
          </a:p>
        </p:txBody>
      </p:sp>
      <p:sp>
        <p:nvSpPr>
          <p:cNvPr id="5" name="Shape 3"/>
          <p:cNvSpPr/>
          <p:nvPr/>
        </p:nvSpPr>
        <p:spPr>
          <a:xfrm>
            <a:off x="548640" y="1874520"/>
            <a:ext cx="5440680" cy="4160520"/>
          </a:xfrm>
          <a:prstGeom prst="roundRect">
            <a:avLst>
              <a:gd name="adj" fmla="val 4835"/>
            </a:avLst>
          </a:prstGeom>
          <a:solidFill>
            <a:srgbClr val="0A0A0A"/>
          </a:solidFill>
          <a:ln/>
        </p:spPr>
      </p:sp>
      <p:sp>
        <p:nvSpPr>
          <p:cNvPr id="6" name="Shape 4"/>
          <p:cNvSpPr/>
          <p:nvPr/>
        </p:nvSpPr>
        <p:spPr>
          <a:xfrm>
            <a:off x="868680" y="2194560"/>
            <a:ext cx="640080" cy="640080"/>
          </a:xfrm>
          <a:prstGeom prst="ellipse">
            <a:avLst/>
          </a:prstGeom>
          <a:solidFill>
            <a:srgbClr val="FFFFFF"/>
          </a:solidFill>
          <a:ln/>
        </p:spPr>
      </p:sp>
      <p:pic>
        <p:nvPicPr>
          <p:cNvPr id="7" name="Image 0" descr="C:\laragon\www\e-commerce\scripts\ppt\aset\ikon-Globe-hitam.png">    </p:cNvPr>
          <p:cNvPicPr>
            <a:picLocks noChangeAspect="1"/>
          </p:cNvPicPr>
          <p:nvPr/>
        </p:nvPicPr>
        <p:blipFill>
          <a:blip r:embed="rId1"/>
          <a:stretch>
            <a:fillRect/>
          </a:stretch>
        </p:blipFill>
        <p:spPr>
          <a:xfrm>
            <a:off x="1028700" y="2354580"/>
            <a:ext cx="320040" cy="320040"/>
          </a:xfrm>
          <a:prstGeom prst="rect">
            <a:avLst/>
          </a:prstGeom>
        </p:spPr>
      </p:pic>
      <p:sp>
        <p:nvSpPr>
          <p:cNvPr id="8" name="Text 5"/>
          <p:cNvSpPr txBox="1"/>
          <p:nvPr/>
        </p:nvSpPr>
        <p:spPr>
          <a:xfrm>
            <a:off x="1691640" y="2212848"/>
            <a:ext cx="4023360" cy="347472"/>
          </a:xfrm>
          <a:prstGeom prst="rect">
            <a:avLst/>
          </a:prstGeom>
          <a:noFill/>
          <a:ln/>
        </p:spPr>
        <p:txBody>
          <a:bodyPr wrap="square" lIns="0" tIns="0" rIns="0" bIns="0" rtlCol="0" anchor="t"/>
          <a:lstStyle/>
          <a:p>
            <a:pPr indent="0" marL="0">
              <a:buNone/>
            </a:pPr>
            <a:r>
              <a:rPr lang="en-US" sz="1900" dirty="0">
                <a:solidFill>
                  <a:srgbClr val="FFFFFF"/>
                </a:solidFill>
                <a:latin typeface="Segoe UI Semibold" pitchFamily="34" charset="0"/>
                <a:ea typeface="Segoe UI Semibold" pitchFamily="34" charset="-122"/>
                <a:cs typeface="Segoe UI Semibold" pitchFamily="34" charset="-120"/>
              </a:rPr>
              <a:t>Situs online</a:t>
            </a:r>
            <a:endParaRPr lang="en-US" sz="1900" dirty="0"/>
          </a:p>
        </p:txBody>
      </p:sp>
      <p:sp>
        <p:nvSpPr>
          <p:cNvPr id="9" name="Text 6"/>
          <p:cNvSpPr txBox="1"/>
          <p:nvPr/>
        </p:nvSpPr>
        <p:spPr>
          <a:xfrm>
            <a:off x="1691640" y="2560320"/>
            <a:ext cx="4023360" cy="274320"/>
          </a:xfrm>
          <a:prstGeom prst="rect">
            <a:avLst/>
          </a:prstGeom>
          <a:noFill/>
          <a:ln/>
        </p:spPr>
        <p:txBody>
          <a:bodyPr wrap="square" lIns="0" tIns="0" rIns="0" bIns="0" rtlCol="0" anchor="t"/>
          <a:lstStyle/>
          <a:p>
            <a:pPr indent="0" marL="0">
              <a:buNone/>
            </a:pPr>
            <a:r>
              <a:rPr lang="en-US" sz="1150" dirty="0">
                <a:solidFill>
                  <a:srgbClr val="A3A3A3"/>
                </a:solidFill>
                <a:latin typeface="Segoe UI" pitchFamily="34" charset="0"/>
                <a:ea typeface="Segoe UI" pitchFamily="34" charset="-122"/>
                <a:cs typeface="Segoe UI" pitchFamily="34" charset="-120"/>
              </a:rPr>
              <a:t>Publik · Vercel Singapura</a:t>
            </a:r>
            <a:endParaRPr lang="en-US" sz="1150" dirty="0"/>
          </a:p>
        </p:txBody>
      </p:sp>
      <p:sp>
        <p:nvSpPr>
          <p:cNvPr id="10" name="Text 7"/>
          <p:cNvSpPr txBox="1"/>
          <p:nvPr/>
        </p:nvSpPr>
        <p:spPr>
          <a:xfrm>
            <a:off x="868680" y="3154680"/>
            <a:ext cx="4846320" cy="365760"/>
          </a:xfrm>
          <a:prstGeom prst="rect">
            <a:avLst/>
          </a:prstGeom>
          <a:noFill/>
          <a:ln/>
        </p:spPr>
        <p:txBody>
          <a:bodyPr wrap="square" lIns="0" tIns="0" rIns="0" bIns="0" rtlCol="0" anchor="t"/>
          <a:lstStyle/>
          <a:p>
            <a:pPr indent="0" marL="0">
              <a:buNone/>
            </a:pPr>
            <a:r>
              <a:rPr lang="en-US" sz="1600" u="sng" dirty="0">
                <a:solidFill>
                  <a:srgbClr val="FFFFFF"/>
                </a:solidFill>
                <a:latin typeface="Segoe UI Semibold" pitchFamily="34" charset="0"/>
                <a:ea typeface="Segoe UI Semibold" pitchFamily="34" charset="-122"/>
                <a:cs typeface="Segoe UI Semibold" pitchFamily="34" charset="-120"/>
                <a:hlinkClick r:id="rId2" invalidUrl="" action="" tgtFrame="" tooltip="Buka TokoKita" history="1" highlightClick="0" endSnd="0">
                  <a:extLst>
                    <a:ext uri="{A12FA001-AC4F-418D-AE19-62706E023703}">
                      <ahyp:hlinkClr xmlns:ahyp="http://schemas.microsoft.com/office/drawing/2018/hyperlinkcolor" val="tx"/>
                    </a:ext>
                  </a:extLst>
                </a:hlinkClick>
              </a:rPr>
              <a:t>ecommerce-peach-seven-47.vercel.app</a:t>
            </a:r>
            <a:endParaRPr lang="en-US" sz="1600" dirty="0"/>
          </a:p>
        </p:txBody>
      </p:sp>
      <p:sp>
        <p:nvSpPr>
          <p:cNvPr id="11" name="Text 8"/>
          <p:cNvSpPr txBox="1"/>
          <p:nvPr/>
        </p:nvSpPr>
        <p:spPr>
          <a:xfrm>
            <a:off x="868680" y="3840480"/>
            <a:ext cx="4846320" cy="128016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rgbClr val="D4D4D4"/>
                </a:solidFill>
                <a:latin typeface="Segoe UI" pitchFamily="34" charset="0"/>
                <a:ea typeface="Segoe UI" pitchFamily="34" charset="-122"/>
                <a:cs typeface="Segoe UI" pitchFamily="34" charset="-120"/>
              </a:rPr>
              <a:t>Beranda, katalog, checkout: tanpa login</a:t>
            </a:r>
            <a:endParaRPr lang="en-US" sz="1300" dirty="0"/>
          </a:p>
          <a:p>
            <a:pPr marL="342900" indent="-342900">
              <a:spcAft>
                <a:spcPts val="800"/>
              </a:spcAft>
              <a:buSzPct val="100000"/>
              <a:buChar char="•"/>
            </a:pPr>
            <a:r>
              <a:rPr lang="en-US" sz="1300" dirty="0">
                <a:solidFill>
                  <a:srgbClr val="D4D4D4"/>
                </a:solidFill>
                <a:latin typeface="Segoe UI" pitchFamily="34" charset="0"/>
                <a:ea typeface="Segoe UI" pitchFamily="34" charset="-122"/>
                <a:cs typeface="Segoe UI" pitchFamily="34" charset="-120"/>
              </a:rPr>
              <a:t>Akun pembeli &amp; admin demo: lihat docs/DEMO.md</a:t>
            </a:r>
            <a:endParaRPr lang="en-US" sz="1300" dirty="0"/>
          </a:p>
          <a:p>
            <a:pPr marL="342900" indent="-342900">
              <a:spcAft>
                <a:spcPts val="800"/>
              </a:spcAft>
              <a:buSzPct val="100000"/>
              <a:buChar char="•"/>
            </a:pPr>
            <a:r>
              <a:rPr lang="en-US" sz="1300" dirty="0">
                <a:solidFill>
                  <a:srgbClr val="D4D4D4"/>
                </a:solidFill>
                <a:latin typeface="Segoe UI" pitchFamily="34" charset="0"/>
                <a:ea typeface="Segoe UI" pitchFamily="34" charset="-122"/>
                <a:cs typeface="Segoe UI" pitchFamily="34" charset="-120"/>
              </a:rPr>
              <a:t>Pembayaran memakai Midtrans sandbox, bukan uang asli</a:t>
            </a:r>
            <a:endParaRPr lang="en-US" sz="1300" dirty="0"/>
          </a:p>
        </p:txBody>
      </p:sp>
      <p:sp>
        <p:nvSpPr>
          <p:cNvPr id="12" name="Shape 9"/>
          <p:cNvSpPr/>
          <p:nvPr/>
        </p:nvSpPr>
        <p:spPr>
          <a:xfrm>
            <a:off x="868680" y="5212080"/>
            <a:ext cx="4800600" cy="0"/>
          </a:xfrm>
          <a:prstGeom prst="line">
            <a:avLst/>
          </a:prstGeom>
          <a:noFill/>
          <a:ln w="12700">
            <a:solidFill>
              <a:srgbClr val="262626"/>
            </a:solidFill>
            <a:prstDash val="solid"/>
          </a:ln>
        </p:spPr>
      </p:sp>
      <p:sp>
        <p:nvSpPr>
          <p:cNvPr id="13" name="Text 10"/>
          <p:cNvSpPr txBox="1"/>
          <p:nvPr/>
        </p:nvSpPr>
        <p:spPr>
          <a:xfrm>
            <a:off x="868680" y="5349240"/>
            <a:ext cx="1554480" cy="384048"/>
          </a:xfrm>
          <a:prstGeom prst="rect">
            <a:avLst/>
          </a:prstGeom>
          <a:noFill/>
          <a:ln/>
        </p:spPr>
        <p:txBody>
          <a:bodyPr wrap="square" lIns="0" tIns="0" rIns="0" bIns="0" rtlCol="0" anchor="t"/>
          <a:lstStyle/>
          <a:p>
            <a:pPr indent="0" marL="0">
              <a:buNone/>
            </a:pPr>
            <a:r>
              <a:rPr lang="en-US" sz="2200" dirty="0">
                <a:solidFill>
                  <a:srgbClr val="FFFFFF"/>
                </a:solidFill>
                <a:latin typeface="Segoe UI Semibold" pitchFamily="34" charset="0"/>
                <a:ea typeface="Segoe UI Semibold" pitchFamily="34" charset="-122"/>
                <a:cs typeface="Segoe UI Semibold" pitchFamily="34" charset="-120"/>
              </a:rPr>
              <a:t>26</a:t>
            </a:r>
            <a:endParaRPr lang="en-US" sz="2200" dirty="0"/>
          </a:p>
        </p:txBody>
      </p:sp>
      <p:sp>
        <p:nvSpPr>
          <p:cNvPr id="14" name="Text 11"/>
          <p:cNvSpPr txBox="1"/>
          <p:nvPr/>
        </p:nvSpPr>
        <p:spPr>
          <a:xfrm>
            <a:off x="868680" y="5715000"/>
            <a:ext cx="1554480" cy="228600"/>
          </a:xfrm>
          <a:prstGeom prst="rect">
            <a:avLst/>
          </a:prstGeom>
          <a:noFill/>
          <a:ln/>
        </p:spPr>
        <p:txBody>
          <a:bodyPr wrap="square" lIns="0" tIns="0" rIns="0" bIns="0" rtlCol="0" anchor="t"/>
          <a:lstStyle/>
          <a:p>
            <a:pPr indent="0" marL="0">
              <a:buNone/>
            </a:pPr>
            <a:r>
              <a:rPr lang="en-US" sz="1050" dirty="0">
                <a:solidFill>
                  <a:srgbClr val="A3A3A3"/>
                </a:solidFill>
                <a:latin typeface="Segoe UI" pitchFamily="34" charset="0"/>
                <a:ea typeface="Segoe UI" pitchFamily="34" charset="-122"/>
                <a:cs typeface="Segoe UI" pitchFamily="34" charset="-120"/>
              </a:rPr>
              <a:t>produk</a:t>
            </a:r>
            <a:endParaRPr lang="en-US" sz="1050" dirty="0"/>
          </a:p>
        </p:txBody>
      </p:sp>
      <p:sp>
        <p:nvSpPr>
          <p:cNvPr id="15" name="Text 12"/>
          <p:cNvSpPr txBox="1"/>
          <p:nvPr/>
        </p:nvSpPr>
        <p:spPr>
          <a:xfrm>
            <a:off x="2514600" y="5349240"/>
            <a:ext cx="1554480" cy="384048"/>
          </a:xfrm>
          <a:prstGeom prst="rect">
            <a:avLst/>
          </a:prstGeom>
          <a:noFill/>
          <a:ln/>
        </p:spPr>
        <p:txBody>
          <a:bodyPr wrap="square" lIns="0" tIns="0" rIns="0" bIns="0" rtlCol="0" anchor="t"/>
          <a:lstStyle/>
          <a:p>
            <a:pPr indent="0" marL="0">
              <a:buNone/>
            </a:pPr>
            <a:r>
              <a:rPr lang="en-US" sz="2200" dirty="0">
                <a:solidFill>
                  <a:srgbClr val="FFFFFF"/>
                </a:solidFill>
                <a:latin typeface="Segoe UI Semibold" pitchFamily="34" charset="0"/>
                <a:ea typeface="Segoe UI Semibold" pitchFamily="34" charset="-122"/>
                <a:cs typeface="Segoe UI Semibold" pitchFamily="34" charset="-120"/>
              </a:rPr>
              <a:t>79</a:t>
            </a:r>
            <a:endParaRPr lang="en-US" sz="2200" dirty="0"/>
          </a:p>
        </p:txBody>
      </p:sp>
      <p:sp>
        <p:nvSpPr>
          <p:cNvPr id="16" name="Text 13"/>
          <p:cNvSpPr txBox="1"/>
          <p:nvPr/>
        </p:nvSpPr>
        <p:spPr>
          <a:xfrm>
            <a:off x="2514600" y="5715000"/>
            <a:ext cx="1554480" cy="228600"/>
          </a:xfrm>
          <a:prstGeom prst="rect">
            <a:avLst/>
          </a:prstGeom>
          <a:noFill/>
          <a:ln/>
        </p:spPr>
        <p:txBody>
          <a:bodyPr wrap="square" lIns="0" tIns="0" rIns="0" bIns="0" rtlCol="0" anchor="t"/>
          <a:lstStyle/>
          <a:p>
            <a:pPr indent="0" marL="0">
              <a:buNone/>
            </a:pPr>
            <a:r>
              <a:rPr lang="en-US" sz="1050" dirty="0">
                <a:solidFill>
                  <a:srgbClr val="A3A3A3"/>
                </a:solidFill>
                <a:latin typeface="Segoe UI" pitchFamily="34" charset="0"/>
                <a:ea typeface="Segoe UI" pitchFamily="34" charset="-122"/>
                <a:cs typeface="Segoe UI" pitchFamily="34" charset="-120"/>
              </a:rPr>
              <a:t>pesanan demo</a:t>
            </a:r>
            <a:endParaRPr lang="en-US" sz="1050" dirty="0"/>
          </a:p>
        </p:txBody>
      </p:sp>
      <p:sp>
        <p:nvSpPr>
          <p:cNvPr id="17" name="Text 14"/>
          <p:cNvSpPr txBox="1"/>
          <p:nvPr/>
        </p:nvSpPr>
        <p:spPr>
          <a:xfrm>
            <a:off x="4160520" y="5349240"/>
            <a:ext cx="1554480" cy="384048"/>
          </a:xfrm>
          <a:prstGeom prst="rect">
            <a:avLst/>
          </a:prstGeom>
          <a:noFill/>
          <a:ln/>
        </p:spPr>
        <p:txBody>
          <a:bodyPr wrap="square" lIns="0" tIns="0" rIns="0" bIns="0" rtlCol="0" anchor="t"/>
          <a:lstStyle/>
          <a:p>
            <a:pPr indent="0" marL="0">
              <a:buNone/>
            </a:pPr>
            <a:r>
              <a:rPr lang="en-US" sz="2200" dirty="0">
                <a:solidFill>
                  <a:srgbClr val="FFFFFF"/>
                </a:solidFill>
                <a:latin typeface="Segoe UI Semibold" pitchFamily="34" charset="0"/>
                <a:ea typeface="Segoe UI Semibold" pitchFamily="34" charset="-122"/>
                <a:cs typeface="Segoe UI Semibold" pitchFamily="34" charset="-120"/>
              </a:rPr>
              <a:t>98</a:t>
            </a:r>
            <a:endParaRPr lang="en-US" sz="2200" dirty="0"/>
          </a:p>
        </p:txBody>
      </p:sp>
      <p:sp>
        <p:nvSpPr>
          <p:cNvPr id="18" name="Text 15"/>
          <p:cNvSpPr txBox="1"/>
          <p:nvPr/>
        </p:nvSpPr>
        <p:spPr>
          <a:xfrm>
            <a:off x="4160520" y="5715000"/>
            <a:ext cx="1554480" cy="228600"/>
          </a:xfrm>
          <a:prstGeom prst="rect">
            <a:avLst/>
          </a:prstGeom>
          <a:noFill/>
          <a:ln/>
        </p:spPr>
        <p:txBody>
          <a:bodyPr wrap="square" lIns="0" tIns="0" rIns="0" bIns="0" rtlCol="0" anchor="t"/>
          <a:lstStyle/>
          <a:p>
            <a:pPr indent="0" marL="0">
              <a:buNone/>
            </a:pPr>
            <a:r>
              <a:rPr lang="en-US" sz="1050" dirty="0">
                <a:solidFill>
                  <a:srgbClr val="A3A3A3"/>
                </a:solidFill>
                <a:latin typeface="Segoe UI" pitchFamily="34" charset="0"/>
                <a:ea typeface="Segoe UI" pitchFamily="34" charset="-122"/>
                <a:cs typeface="Segoe UI" pitchFamily="34" charset="-120"/>
              </a:rPr>
              <a:t>Lighthouse HP</a:t>
            </a:r>
            <a:endParaRPr lang="en-US" sz="1050" dirty="0"/>
          </a:p>
        </p:txBody>
      </p:sp>
      <p:sp>
        <p:nvSpPr>
          <p:cNvPr id="19" name="Shape 16"/>
          <p:cNvSpPr/>
          <p:nvPr/>
        </p:nvSpPr>
        <p:spPr>
          <a:xfrm>
            <a:off x="6199632" y="1874520"/>
            <a:ext cx="5440680" cy="1252728"/>
          </a:xfrm>
          <a:prstGeom prst="roundRect">
            <a:avLst>
              <a:gd name="adj" fmla="val 16058"/>
            </a:avLst>
          </a:prstGeom>
          <a:solidFill>
            <a:srgbClr val="F3F3F3"/>
          </a:solidFill>
          <a:ln/>
        </p:spPr>
      </p:sp>
      <p:sp>
        <p:nvSpPr>
          <p:cNvPr id="20" name="Shape 17"/>
          <p:cNvSpPr/>
          <p:nvPr/>
        </p:nvSpPr>
        <p:spPr>
          <a:xfrm>
            <a:off x="6446520" y="2203704"/>
            <a:ext cx="548640" cy="548640"/>
          </a:xfrm>
          <a:prstGeom prst="ellipse">
            <a:avLst/>
          </a:prstGeom>
          <a:solidFill>
            <a:srgbClr val="0A0A0A"/>
          </a:solidFill>
          <a:ln/>
        </p:spPr>
      </p:sp>
      <p:pic>
        <p:nvPicPr>
          <p:cNvPr id="21" name="Image 1" descr="C:\laragon\www\e-commerce\scripts\ppt\aset\ikon-GitBranch-putih.png">    </p:cNvPr>
          <p:cNvPicPr>
            <a:picLocks noChangeAspect="1"/>
          </p:cNvPicPr>
          <p:nvPr/>
        </p:nvPicPr>
        <p:blipFill>
          <a:blip r:embed="rId3"/>
          <a:stretch>
            <a:fillRect/>
          </a:stretch>
        </p:blipFill>
        <p:spPr>
          <a:xfrm>
            <a:off x="6583680" y="2340864"/>
            <a:ext cx="274320" cy="274320"/>
          </a:xfrm>
          <a:prstGeom prst="rect">
            <a:avLst/>
          </a:prstGeom>
        </p:spPr>
      </p:pic>
      <p:sp>
        <p:nvSpPr>
          <p:cNvPr id="22" name="Text 18"/>
          <p:cNvSpPr txBox="1"/>
          <p:nvPr/>
        </p:nvSpPr>
        <p:spPr>
          <a:xfrm>
            <a:off x="7223760" y="2057400"/>
            <a:ext cx="4206240" cy="292608"/>
          </a:xfrm>
          <a:prstGeom prst="rect">
            <a:avLst/>
          </a:prstGeom>
          <a:noFill/>
          <a:ln/>
        </p:spPr>
        <p:txBody>
          <a:bodyPr wrap="square" lIns="0" tIns="0" rIns="0" bIns="0" rtlCol="0" anchor="t"/>
          <a:lstStyle/>
          <a:p>
            <a:pPr indent="0" marL="0">
              <a:buNone/>
            </a:pPr>
            <a:r>
              <a:rPr lang="en-US" sz="1400" dirty="0">
                <a:solidFill>
                  <a:srgbClr val="0A0A0A"/>
                </a:solidFill>
                <a:latin typeface="Segoe UI Semibold" pitchFamily="34" charset="0"/>
                <a:ea typeface="Segoe UI Semibold" pitchFamily="34" charset="-122"/>
                <a:cs typeface="Segoe UI Semibold" pitchFamily="34" charset="-120"/>
              </a:rPr>
              <a:t>Repositori GitHub</a:t>
            </a:r>
            <a:endParaRPr lang="en-US" sz="1400" dirty="0"/>
          </a:p>
        </p:txBody>
      </p:sp>
      <p:sp>
        <p:nvSpPr>
          <p:cNvPr id="23" name="Text 19"/>
          <p:cNvSpPr txBox="1"/>
          <p:nvPr/>
        </p:nvSpPr>
        <p:spPr>
          <a:xfrm>
            <a:off x="7223760" y="2350008"/>
            <a:ext cx="4206240" cy="274320"/>
          </a:xfrm>
          <a:prstGeom prst="rect">
            <a:avLst/>
          </a:prstGeom>
          <a:noFill/>
          <a:ln/>
        </p:spPr>
        <p:txBody>
          <a:bodyPr wrap="square" lIns="0" tIns="0" rIns="0" bIns="0" rtlCol="0" anchor="t"/>
          <a:lstStyle/>
          <a:p>
            <a:pPr indent="0" marL="0">
              <a:buNone/>
            </a:pPr>
            <a:r>
              <a:rPr lang="en-US" sz="1150" u="sng" dirty="0">
                <a:solidFill>
                  <a:srgbClr val="0A0A0A"/>
                </a:solidFill>
                <a:latin typeface="Consolas" pitchFamily="34" charset="0"/>
                <a:ea typeface="Consolas" pitchFamily="34" charset="-122"/>
                <a:cs typeface="Consolas" pitchFamily="34" charset="-120"/>
                <a:hlinkClick r:id="rId4" invalidUrl="" action="" tgtFrame="" tooltip="" history="1" highlightClick="0" endSnd="0">
                  <a:extLst>
                    <a:ext uri="{A12FA001-AC4F-418D-AE19-62706E023703}">
                      <ahyp:hlinkClr xmlns:ahyp="http://schemas.microsoft.com/office/drawing/2018/hyperlinkcolor" val="tx"/>
                    </a:ext>
                  </a:extLst>
                </a:hlinkClick>
              </a:rPr>
              <a:t>github.com/Magang-Project-Cmlabs/ecommerce</a:t>
            </a:r>
            <a:endParaRPr lang="en-US" sz="1150" dirty="0"/>
          </a:p>
        </p:txBody>
      </p:sp>
      <p:sp>
        <p:nvSpPr>
          <p:cNvPr id="24" name="Text 20"/>
          <p:cNvSpPr txBox="1"/>
          <p:nvPr/>
        </p:nvSpPr>
        <p:spPr>
          <a:xfrm>
            <a:off x="7223760" y="2660904"/>
            <a:ext cx="4206240" cy="274320"/>
          </a:xfrm>
          <a:prstGeom prst="rect">
            <a:avLst/>
          </a:prstGeom>
          <a:noFill/>
          <a:ln/>
        </p:spPr>
        <p:txBody>
          <a:bodyPr wrap="square" lIns="0" tIns="0" rIns="0" bIns="0" rtlCol="0" anchor="t"/>
          <a:lstStyle/>
          <a:p>
            <a:pPr indent="0" marL="0">
              <a:buNone/>
            </a:pPr>
            <a:r>
              <a:rPr lang="en-US" sz="1100" dirty="0">
                <a:solidFill>
                  <a:srgbClr val="5C5C5C"/>
                </a:solidFill>
                <a:latin typeface="Segoe UI" pitchFamily="34" charset="0"/>
                <a:ea typeface="Segoe UI" pitchFamily="34" charset="-122"/>
                <a:cs typeface="Segoe UI" pitchFamily="34" charset="-120"/>
              </a:rPr>
              <a:t>Privat · akses diberikan atas permintaan</a:t>
            </a:r>
            <a:endParaRPr lang="en-US" sz="1100" dirty="0"/>
          </a:p>
        </p:txBody>
      </p:sp>
      <p:sp>
        <p:nvSpPr>
          <p:cNvPr id="25" name="Shape 21"/>
          <p:cNvSpPr/>
          <p:nvPr/>
        </p:nvSpPr>
        <p:spPr>
          <a:xfrm>
            <a:off x="6199632" y="3291840"/>
            <a:ext cx="5440680" cy="1252728"/>
          </a:xfrm>
          <a:prstGeom prst="roundRect">
            <a:avLst>
              <a:gd name="adj" fmla="val 16058"/>
            </a:avLst>
          </a:prstGeom>
          <a:solidFill>
            <a:srgbClr val="F3F3F3"/>
          </a:solidFill>
          <a:ln/>
        </p:spPr>
      </p:sp>
      <p:sp>
        <p:nvSpPr>
          <p:cNvPr id="26" name="Shape 22"/>
          <p:cNvSpPr/>
          <p:nvPr/>
        </p:nvSpPr>
        <p:spPr>
          <a:xfrm>
            <a:off x="6446520" y="3621024"/>
            <a:ext cx="548640" cy="548640"/>
          </a:xfrm>
          <a:prstGeom prst="ellipse">
            <a:avLst/>
          </a:prstGeom>
          <a:solidFill>
            <a:srgbClr val="0A0A0A"/>
          </a:solidFill>
          <a:ln/>
        </p:spPr>
      </p:sp>
      <p:pic>
        <p:nvPicPr>
          <p:cNvPr id="27" name="Image 2" descr="C:\laragon\www\e-commerce\scripts\ppt\aset\ikon-ListChecks-putih.png">    </p:cNvPr>
          <p:cNvPicPr>
            <a:picLocks noChangeAspect="1"/>
          </p:cNvPicPr>
          <p:nvPr/>
        </p:nvPicPr>
        <p:blipFill>
          <a:blip r:embed="rId5"/>
          <a:stretch>
            <a:fillRect/>
          </a:stretch>
        </p:blipFill>
        <p:spPr>
          <a:xfrm>
            <a:off x="6583680" y="3758184"/>
            <a:ext cx="274320" cy="274320"/>
          </a:xfrm>
          <a:prstGeom prst="rect">
            <a:avLst/>
          </a:prstGeom>
        </p:spPr>
      </p:pic>
      <p:sp>
        <p:nvSpPr>
          <p:cNvPr id="28" name="Text 23"/>
          <p:cNvSpPr txBox="1"/>
          <p:nvPr/>
        </p:nvSpPr>
        <p:spPr>
          <a:xfrm>
            <a:off x="7223760" y="3474720"/>
            <a:ext cx="4206240" cy="292608"/>
          </a:xfrm>
          <a:prstGeom prst="rect">
            <a:avLst/>
          </a:prstGeom>
          <a:noFill/>
          <a:ln/>
        </p:spPr>
        <p:txBody>
          <a:bodyPr wrap="square" lIns="0" tIns="0" rIns="0" bIns="0" rtlCol="0" anchor="t"/>
          <a:lstStyle/>
          <a:p>
            <a:pPr indent="0" marL="0">
              <a:buNone/>
            </a:pPr>
            <a:r>
              <a:rPr lang="en-US" sz="1400" dirty="0">
                <a:solidFill>
                  <a:srgbClr val="0A0A0A"/>
                </a:solidFill>
                <a:latin typeface="Segoe UI Semibold" pitchFamily="34" charset="0"/>
                <a:ea typeface="Segoe UI Semibold" pitchFamily="34" charset="-122"/>
                <a:cs typeface="Segoe UI Semibold" pitchFamily="34" charset="-120"/>
              </a:rPr>
              <a:t>Papan tugas Trello</a:t>
            </a:r>
            <a:endParaRPr lang="en-US" sz="1400" dirty="0"/>
          </a:p>
        </p:txBody>
      </p:sp>
      <p:sp>
        <p:nvSpPr>
          <p:cNvPr id="29" name="Text 24"/>
          <p:cNvSpPr txBox="1"/>
          <p:nvPr/>
        </p:nvSpPr>
        <p:spPr>
          <a:xfrm>
            <a:off x="7223760" y="3767328"/>
            <a:ext cx="4206240" cy="274320"/>
          </a:xfrm>
          <a:prstGeom prst="rect">
            <a:avLst/>
          </a:prstGeom>
          <a:noFill/>
          <a:ln/>
        </p:spPr>
        <p:txBody>
          <a:bodyPr wrap="square" lIns="0" tIns="0" rIns="0" bIns="0" rtlCol="0" anchor="t"/>
          <a:lstStyle/>
          <a:p>
            <a:pPr indent="0" marL="0">
              <a:buNone/>
            </a:pPr>
            <a:r>
              <a:rPr lang="en-US" sz="1150" u="sng" dirty="0">
                <a:solidFill>
                  <a:srgbClr val="0A0A0A"/>
                </a:solidFill>
                <a:latin typeface="Consolas" pitchFamily="34" charset="0"/>
                <a:ea typeface="Consolas" pitchFamily="34" charset="-122"/>
                <a:cs typeface="Consolas" pitchFamily="34" charset="-120"/>
                <a:hlinkClick r:id="rId6" invalidUrl="" action="" tgtFrame="" tooltip="" history="1" highlightClick="0" endSnd="0">
                  <a:extLst>
                    <a:ext uri="{A12FA001-AC4F-418D-AE19-62706E023703}">
                      <ahyp:hlinkClr xmlns:ahyp="http://schemas.microsoft.com/office/drawing/2018/hyperlinkcolor" val="tx"/>
                    </a:ext>
                  </a:extLst>
                </a:hlinkClick>
              </a:rPr>
              <a:t>trello.com/b/sqbn4ehi</a:t>
            </a:r>
            <a:endParaRPr lang="en-US" sz="1150" dirty="0"/>
          </a:p>
        </p:txBody>
      </p:sp>
      <p:sp>
        <p:nvSpPr>
          <p:cNvPr id="30" name="Text 25"/>
          <p:cNvSpPr txBox="1"/>
          <p:nvPr/>
        </p:nvSpPr>
        <p:spPr>
          <a:xfrm>
            <a:off x="7223760" y="4078224"/>
            <a:ext cx="4206240" cy="274320"/>
          </a:xfrm>
          <a:prstGeom prst="rect">
            <a:avLst/>
          </a:prstGeom>
          <a:noFill/>
          <a:ln/>
        </p:spPr>
        <p:txBody>
          <a:bodyPr wrap="square" lIns="0" tIns="0" rIns="0" bIns="0" rtlCol="0" anchor="t"/>
          <a:lstStyle/>
          <a:p>
            <a:pPr indent="0" marL="0">
              <a:buNone/>
            </a:pPr>
            <a:r>
              <a:rPr lang="en-US" sz="1100" dirty="0">
                <a:solidFill>
                  <a:srgbClr val="5C5C5C"/>
                </a:solidFill>
                <a:latin typeface="Segoe UI" pitchFamily="34" charset="0"/>
                <a:ea typeface="Segoe UI" pitchFamily="34" charset="-122"/>
                <a:cs typeface="Segoe UI" pitchFamily="34" charset="-120"/>
              </a:rPr>
              <a:t>Privat · anggota tim dan pembimbing</a:t>
            </a:r>
            <a:endParaRPr lang="en-US" sz="1100" dirty="0"/>
          </a:p>
        </p:txBody>
      </p:sp>
      <p:sp>
        <p:nvSpPr>
          <p:cNvPr id="31" name="Shape 26"/>
          <p:cNvSpPr/>
          <p:nvPr/>
        </p:nvSpPr>
        <p:spPr>
          <a:xfrm>
            <a:off x="6199632" y="4709160"/>
            <a:ext cx="5440680" cy="1252728"/>
          </a:xfrm>
          <a:prstGeom prst="roundRect">
            <a:avLst>
              <a:gd name="adj" fmla="val 16058"/>
            </a:avLst>
          </a:prstGeom>
          <a:solidFill>
            <a:srgbClr val="F3F3F3"/>
          </a:solidFill>
          <a:ln/>
        </p:spPr>
      </p:sp>
      <p:sp>
        <p:nvSpPr>
          <p:cNvPr id="32" name="Shape 27"/>
          <p:cNvSpPr/>
          <p:nvPr/>
        </p:nvSpPr>
        <p:spPr>
          <a:xfrm>
            <a:off x="6446520" y="5038344"/>
            <a:ext cx="548640" cy="548640"/>
          </a:xfrm>
          <a:prstGeom prst="ellipse">
            <a:avLst/>
          </a:prstGeom>
          <a:solidFill>
            <a:srgbClr val="0A0A0A"/>
          </a:solidFill>
          <a:ln/>
        </p:spPr>
      </p:sp>
      <p:pic>
        <p:nvPicPr>
          <p:cNvPr id="33" name="Image 3" descr="C:\laragon\www\e-commerce\scripts\ppt\aset\ikon-BadgeCheck-putih.png">    </p:cNvPr>
          <p:cNvPicPr>
            <a:picLocks noChangeAspect="1"/>
          </p:cNvPicPr>
          <p:nvPr/>
        </p:nvPicPr>
        <p:blipFill>
          <a:blip r:embed="rId7"/>
          <a:stretch>
            <a:fillRect/>
          </a:stretch>
        </p:blipFill>
        <p:spPr>
          <a:xfrm>
            <a:off x="6583680" y="5175504"/>
            <a:ext cx="274320" cy="274320"/>
          </a:xfrm>
          <a:prstGeom prst="rect">
            <a:avLst/>
          </a:prstGeom>
        </p:spPr>
      </p:pic>
      <p:sp>
        <p:nvSpPr>
          <p:cNvPr id="34" name="Text 28"/>
          <p:cNvSpPr txBox="1"/>
          <p:nvPr/>
        </p:nvSpPr>
        <p:spPr>
          <a:xfrm>
            <a:off x="7223760" y="4892040"/>
            <a:ext cx="4206240" cy="292608"/>
          </a:xfrm>
          <a:prstGeom prst="rect">
            <a:avLst/>
          </a:prstGeom>
          <a:noFill/>
          <a:ln/>
        </p:spPr>
        <p:txBody>
          <a:bodyPr wrap="square" lIns="0" tIns="0" rIns="0" bIns="0" rtlCol="0" anchor="t"/>
          <a:lstStyle/>
          <a:p>
            <a:pPr indent="0" marL="0">
              <a:buNone/>
            </a:pPr>
            <a:r>
              <a:rPr lang="en-US" sz="1400" dirty="0">
                <a:solidFill>
                  <a:srgbClr val="0A0A0A"/>
                </a:solidFill>
                <a:latin typeface="Segoe UI Semibold" pitchFamily="34" charset="0"/>
                <a:ea typeface="Segoe UI Semibold" pitchFamily="34" charset="-122"/>
                <a:cs typeface="Segoe UI Semibold" pitchFamily="34" charset="-120"/>
              </a:rPr>
              <a:t>Dokumentasi</a:t>
            </a:r>
            <a:endParaRPr lang="en-US" sz="1400" dirty="0"/>
          </a:p>
        </p:txBody>
      </p:sp>
      <p:sp>
        <p:nvSpPr>
          <p:cNvPr id="35" name="Text 29"/>
          <p:cNvSpPr txBox="1"/>
          <p:nvPr/>
        </p:nvSpPr>
        <p:spPr>
          <a:xfrm>
            <a:off x="7223760" y="5184648"/>
            <a:ext cx="4206240" cy="274320"/>
          </a:xfrm>
          <a:prstGeom prst="rect">
            <a:avLst/>
          </a:prstGeom>
          <a:noFill/>
          <a:ln/>
        </p:spPr>
        <p:txBody>
          <a:bodyPr wrap="square" lIns="0" tIns="0" rIns="0" bIns="0" rtlCol="0" anchor="t"/>
          <a:lstStyle/>
          <a:p>
            <a:pPr indent="0" marL="0">
              <a:buNone/>
            </a:pPr>
            <a:r>
              <a:rPr lang="en-US" sz="1150" dirty="0">
                <a:solidFill>
                  <a:srgbClr val="0A0A0A"/>
                </a:solidFill>
                <a:latin typeface="Consolas" pitchFamily="34" charset="0"/>
                <a:ea typeface="Consolas" pitchFamily="34" charset="-122"/>
                <a:cs typeface="Consolas" pitchFamily="34" charset="-120"/>
              </a:rPr>
              <a:t>docs/ di repositori</a:t>
            </a:r>
            <a:endParaRPr lang="en-US" sz="1150" dirty="0"/>
          </a:p>
        </p:txBody>
      </p:sp>
      <p:sp>
        <p:nvSpPr>
          <p:cNvPr id="36" name="Text 30"/>
          <p:cNvSpPr txBox="1"/>
          <p:nvPr/>
        </p:nvSpPr>
        <p:spPr>
          <a:xfrm>
            <a:off x="7223760" y="5495544"/>
            <a:ext cx="4206240" cy="274320"/>
          </a:xfrm>
          <a:prstGeom prst="rect">
            <a:avLst/>
          </a:prstGeom>
          <a:noFill/>
          <a:ln/>
        </p:spPr>
        <p:txBody>
          <a:bodyPr wrap="square" lIns="0" tIns="0" rIns="0" bIns="0" rtlCol="0" anchor="t"/>
          <a:lstStyle/>
          <a:p>
            <a:pPr indent="0" marL="0">
              <a:buNone/>
            </a:pPr>
            <a:r>
              <a:rPr lang="en-US" sz="1100" dirty="0">
                <a:solidFill>
                  <a:srgbClr val="5C5C5C"/>
                </a:solidFill>
                <a:latin typeface="Segoe UI" pitchFamily="34" charset="0"/>
                <a:ea typeface="Segoe UI" pitchFamily="34" charset="-122"/>
                <a:cs typeface="Segoe UI" pitchFamily="34" charset="-120"/>
              </a:rPr>
              <a:t>PRD, panduan mulai, status, uji mandiri, serah terima</a:t>
            </a:r>
            <a:endParaRPr lang="en-US" sz="1100" dirty="0"/>
          </a:p>
        </p:txBody>
      </p:sp>
      <p:sp>
        <p:nvSpPr>
          <p:cNvPr id="25" name="Slide Number Placeholder 0"/>
          <p:cNvSpPr>
            <a:spLocks noGrp="1"/>
          </p:cNvSpPr>
          <p:nvPr>
            <p:ph type="sldNum" sz="quarter" idx="4294967295"/>
          </p:nvPr>
        </p:nvSpPr>
        <p:spPr>
          <a:xfrm>
            <a:off x="11183112"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C5C5C"/>
                </a:solidFill>
                <a:latin typeface="Segoe UI"/>
                <a:ea typeface="Segoe UI"/>
                <a:cs typeface="Segoe UI"/>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Shape 0"/>
          <p:cNvSpPr/>
          <p:nvPr/>
        </p:nvSpPr>
        <p:spPr>
          <a:xfrm>
            <a:off x="548640" y="502920"/>
            <a:ext cx="993038" cy="292608"/>
          </a:xfrm>
          <a:prstGeom prst="roundRect">
            <a:avLst>
              <a:gd name="adj" fmla="val 50000"/>
            </a:avLst>
          </a:prstGeom>
          <a:solidFill>
            <a:srgbClr val="262626"/>
          </a:solidFill>
          <a:ln/>
        </p:spPr>
      </p:sp>
      <p:sp>
        <p:nvSpPr>
          <p:cNvPr id="3" name="Text 1"/>
          <p:cNvSpPr txBox="1"/>
          <p:nvPr/>
        </p:nvSpPr>
        <p:spPr>
          <a:xfrm>
            <a:off x="548640" y="502920"/>
            <a:ext cx="993038" cy="292608"/>
          </a:xfrm>
          <a:prstGeom prst="rect">
            <a:avLst/>
          </a:prstGeom>
          <a:noFill/>
          <a:ln/>
        </p:spPr>
        <p:txBody>
          <a:bodyPr wrap="square" lIns="0" tIns="0" rIns="0" bIns="0" rtlCol="0" anchor="ctr"/>
          <a:lstStyle/>
          <a:p>
            <a:pPr algn="ctr" indent="0" marL="0">
              <a:buNone/>
            </a:pPr>
            <a:r>
              <a:rPr lang="en-US" sz="950" spc="150" kern="0" dirty="0">
                <a:solidFill>
                  <a:srgbClr val="D4D4D4"/>
                </a:solidFill>
                <a:latin typeface="Segoe UI Semibold" pitchFamily="34" charset="0"/>
                <a:ea typeface="Segoe UI Semibold" pitchFamily="34" charset="-122"/>
                <a:cs typeface="Segoe UI Semibold" pitchFamily="34" charset="-120"/>
              </a:rPr>
              <a:t>PENUTUP</a:t>
            </a:r>
            <a:endParaRPr lang="en-US" sz="950" dirty="0"/>
          </a:p>
        </p:txBody>
      </p:sp>
      <p:sp>
        <p:nvSpPr>
          <p:cNvPr id="4" name="Text 2"/>
          <p:cNvSpPr txBox="1"/>
          <p:nvPr/>
        </p:nvSpPr>
        <p:spPr>
          <a:xfrm>
            <a:off x="548640" y="1371600"/>
            <a:ext cx="8229600" cy="1188720"/>
          </a:xfrm>
          <a:prstGeom prst="rect">
            <a:avLst/>
          </a:prstGeom>
          <a:noFill/>
          <a:ln/>
        </p:spPr>
        <p:txBody>
          <a:bodyPr wrap="square" lIns="0" tIns="0" rIns="0" bIns="0" rtlCol="0" anchor="ctr"/>
          <a:lstStyle/>
          <a:p>
            <a:pPr indent="0" marL="0">
              <a:buNone/>
            </a:pPr>
            <a:r>
              <a:rPr lang="en-US" sz="6000" dirty="0">
                <a:solidFill>
                  <a:srgbClr val="FFFFFF"/>
                </a:solidFill>
                <a:latin typeface="Segoe UI Semibold" pitchFamily="34" charset="0"/>
                <a:ea typeface="Segoe UI Semibold" pitchFamily="34" charset="-122"/>
                <a:cs typeface="Segoe UI Semibold" pitchFamily="34" charset="-120"/>
              </a:rPr>
              <a:t>Terima kasih</a:t>
            </a:r>
            <a:pPr indent="0" marL="0">
              <a:buNone/>
            </a:pPr>
            <a:r>
              <a:rPr lang="en-US" sz="6000" dirty="0">
                <a:solidFill>
                  <a:srgbClr val="DC2626"/>
                </a:solidFill>
                <a:latin typeface="Segoe UI Semibold" pitchFamily="34" charset="0"/>
                <a:ea typeface="Segoe UI Semibold" pitchFamily="34" charset="-122"/>
                <a:cs typeface="Segoe UI Semibold" pitchFamily="34" charset="-120"/>
              </a:rPr>
              <a:t>.</a:t>
            </a:r>
            <a:endParaRPr lang="en-US" sz="6000" dirty="0"/>
          </a:p>
        </p:txBody>
      </p:sp>
      <p:sp>
        <p:nvSpPr>
          <p:cNvPr id="5" name="Text 3"/>
          <p:cNvSpPr txBox="1"/>
          <p:nvPr/>
        </p:nvSpPr>
        <p:spPr>
          <a:xfrm>
            <a:off x="548640" y="2606040"/>
            <a:ext cx="8229600" cy="457200"/>
          </a:xfrm>
          <a:prstGeom prst="rect">
            <a:avLst/>
          </a:prstGeom>
          <a:noFill/>
          <a:ln/>
        </p:spPr>
        <p:txBody>
          <a:bodyPr wrap="square" lIns="0" tIns="0" rIns="0" bIns="0" rtlCol="0" anchor="t"/>
          <a:lstStyle/>
          <a:p>
            <a:pPr indent="0" marL="0">
              <a:buNone/>
            </a:pPr>
            <a:r>
              <a:rPr lang="en-US" sz="2000" dirty="0">
                <a:solidFill>
                  <a:srgbClr val="A3A3A3"/>
                </a:solidFill>
                <a:latin typeface="Segoe UI" pitchFamily="34" charset="0"/>
                <a:ea typeface="Segoe UI" pitchFamily="34" charset="-122"/>
                <a:cs typeface="Segoe UI" pitchFamily="34" charset="-120"/>
              </a:rPr>
              <a:t>TokoKita sudah berjalan online dan siap didemokan.</a:t>
            </a:r>
            <a:endParaRPr lang="en-US" sz="2000" dirty="0"/>
          </a:p>
        </p:txBody>
      </p:sp>
      <p:sp>
        <p:nvSpPr>
          <p:cNvPr id="6" name="Text 4"/>
          <p:cNvSpPr txBox="1"/>
          <p:nvPr/>
        </p:nvSpPr>
        <p:spPr>
          <a:xfrm>
            <a:off x="548640" y="3657600"/>
            <a:ext cx="5303520" cy="320040"/>
          </a:xfrm>
          <a:prstGeom prst="rect">
            <a:avLst/>
          </a:prstGeom>
          <a:noFill/>
          <a:ln/>
        </p:spPr>
        <p:txBody>
          <a:bodyPr wrap="square" lIns="0" tIns="0" rIns="0" bIns="0" rtlCol="0" anchor="t"/>
          <a:lstStyle/>
          <a:p>
            <a:pPr indent="0" marL="0">
              <a:buNone/>
            </a:pPr>
            <a:r>
              <a:rPr lang="en-US" sz="1500" dirty="0">
                <a:solidFill>
                  <a:srgbClr val="FFFFFF"/>
                </a:solidFill>
                <a:latin typeface="Segoe UI Semibold" pitchFamily="34" charset="0"/>
                <a:ea typeface="Segoe UI Semibold" pitchFamily="34" charset="-122"/>
                <a:cs typeface="Segoe UI Semibold" pitchFamily="34" charset="-120"/>
              </a:rPr>
              <a:t>Fitur lengkap</a:t>
            </a:r>
            <a:endParaRPr lang="en-US" sz="1500" dirty="0"/>
          </a:p>
        </p:txBody>
      </p:sp>
      <p:sp>
        <p:nvSpPr>
          <p:cNvPr id="7" name="Text 5"/>
          <p:cNvSpPr txBox="1"/>
          <p:nvPr/>
        </p:nvSpPr>
        <p:spPr>
          <a:xfrm>
            <a:off x="548640" y="4005072"/>
            <a:ext cx="5303520" cy="457200"/>
          </a:xfrm>
          <a:prstGeom prst="rect">
            <a:avLst/>
          </a:prstGeom>
          <a:noFill/>
          <a:ln/>
        </p:spPr>
        <p:txBody>
          <a:bodyPr wrap="square" lIns="0" tIns="0" rIns="0" bIns="0" rtlCol="0" anchor="t"/>
          <a:lstStyle/>
          <a:p>
            <a:pPr indent="0" marL="0">
              <a:buNone/>
            </a:pPr>
            <a:r>
              <a:rPr lang="en-US" sz="1250" dirty="0">
                <a:solidFill>
                  <a:srgbClr val="A3A3A3"/>
                </a:solidFill>
                <a:latin typeface="Segoe UI" pitchFamily="34" charset="0"/>
                <a:ea typeface="Segoe UI" pitchFamily="34" charset="-122"/>
                <a:cs typeface="Segoe UI" pitchFamily="34" charset="-120"/>
              </a:rPr>
              <a:t>MVP dan seluruh fitur lanjutan berjalan dengan data nyata.</a:t>
            </a:r>
            <a:endParaRPr lang="en-US" sz="1250" dirty="0"/>
          </a:p>
        </p:txBody>
      </p:sp>
      <p:sp>
        <p:nvSpPr>
          <p:cNvPr id="8" name="Text 6"/>
          <p:cNvSpPr txBox="1"/>
          <p:nvPr/>
        </p:nvSpPr>
        <p:spPr>
          <a:xfrm>
            <a:off x="6199632" y="3657600"/>
            <a:ext cx="5303520" cy="320040"/>
          </a:xfrm>
          <a:prstGeom prst="rect">
            <a:avLst/>
          </a:prstGeom>
          <a:noFill/>
          <a:ln/>
        </p:spPr>
        <p:txBody>
          <a:bodyPr wrap="square" lIns="0" tIns="0" rIns="0" bIns="0" rtlCol="0" anchor="t"/>
          <a:lstStyle/>
          <a:p>
            <a:pPr indent="0" marL="0">
              <a:buNone/>
            </a:pPr>
            <a:r>
              <a:rPr lang="en-US" sz="1500" dirty="0">
                <a:solidFill>
                  <a:srgbClr val="FFFFFF"/>
                </a:solidFill>
                <a:latin typeface="Segoe UI Semibold" pitchFamily="34" charset="0"/>
                <a:ea typeface="Segoe UI Semibold" pitchFamily="34" charset="-122"/>
                <a:cs typeface="Segoe UI Semibold" pitchFamily="34" charset="-120"/>
              </a:rPr>
              <a:t>Tampilan modern</a:t>
            </a:r>
            <a:endParaRPr lang="en-US" sz="1500" dirty="0"/>
          </a:p>
        </p:txBody>
      </p:sp>
      <p:sp>
        <p:nvSpPr>
          <p:cNvPr id="9" name="Text 7"/>
          <p:cNvSpPr txBox="1"/>
          <p:nvPr/>
        </p:nvSpPr>
        <p:spPr>
          <a:xfrm>
            <a:off x="6199632" y="4005072"/>
            <a:ext cx="5303520" cy="457200"/>
          </a:xfrm>
          <a:prstGeom prst="rect">
            <a:avLst/>
          </a:prstGeom>
          <a:noFill/>
          <a:ln/>
        </p:spPr>
        <p:txBody>
          <a:bodyPr wrap="square" lIns="0" tIns="0" rIns="0" bIns="0" rtlCol="0" anchor="t"/>
          <a:lstStyle/>
          <a:p>
            <a:pPr indent="0" marL="0">
              <a:buNone/>
            </a:pPr>
            <a:r>
              <a:rPr lang="en-US" sz="1250" dirty="0">
                <a:solidFill>
                  <a:srgbClr val="A3A3A3"/>
                </a:solidFill>
                <a:latin typeface="Segoe UI" pitchFamily="34" charset="0"/>
                <a:ea typeface="Segoe UI" pitchFamily="34" charset="-122"/>
                <a:cs typeface="Segoe UI" pitchFamily="34" charset="-120"/>
              </a:rPr>
              <a:t>Gaya monokrom, mode terang &amp; gelap, nyaman di HP.</a:t>
            </a:r>
            <a:endParaRPr lang="en-US" sz="1250" dirty="0"/>
          </a:p>
        </p:txBody>
      </p:sp>
      <p:sp>
        <p:nvSpPr>
          <p:cNvPr id="10" name="Text 8"/>
          <p:cNvSpPr txBox="1"/>
          <p:nvPr/>
        </p:nvSpPr>
        <p:spPr>
          <a:xfrm>
            <a:off x="548640" y="4709160"/>
            <a:ext cx="5303520" cy="320040"/>
          </a:xfrm>
          <a:prstGeom prst="rect">
            <a:avLst/>
          </a:prstGeom>
          <a:noFill/>
          <a:ln/>
        </p:spPr>
        <p:txBody>
          <a:bodyPr wrap="square" lIns="0" tIns="0" rIns="0" bIns="0" rtlCol="0" anchor="t"/>
          <a:lstStyle/>
          <a:p>
            <a:pPr indent="0" marL="0">
              <a:buNone/>
            </a:pPr>
            <a:r>
              <a:rPr lang="en-US" sz="1500" dirty="0">
                <a:solidFill>
                  <a:srgbClr val="FFFFFF"/>
                </a:solidFill>
                <a:latin typeface="Segoe UI Semibold" pitchFamily="34" charset="0"/>
                <a:ea typeface="Segoe UI Semibold" pitchFamily="34" charset="-122"/>
                <a:cs typeface="Segoe UI Semibold" pitchFamily="34" charset="-120"/>
              </a:rPr>
              <a:t>Teruji</a:t>
            </a:r>
            <a:endParaRPr lang="en-US" sz="1500" dirty="0"/>
          </a:p>
        </p:txBody>
      </p:sp>
      <p:sp>
        <p:nvSpPr>
          <p:cNvPr id="11" name="Text 9"/>
          <p:cNvSpPr txBox="1"/>
          <p:nvPr/>
        </p:nvSpPr>
        <p:spPr>
          <a:xfrm>
            <a:off x="548640" y="5056632"/>
            <a:ext cx="5303520" cy="457200"/>
          </a:xfrm>
          <a:prstGeom prst="rect">
            <a:avLst/>
          </a:prstGeom>
          <a:noFill/>
          <a:ln/>
        </p:spPr>
        <p:txBody>
          <a:bodyPr wrap="square" lIns="0" tIns="0" rIns="0" bIns="0" rtlCol="0" anchor="t"/>
          <a:lstStyle/>
          <a:p>
            <a:pPr indent="0" marL="0">
              <a:buNone/>
            </a:pPr>
            <a:r>
              <a:rPr lang="en-US" sz="1250" dirty="0">
                <a:solidFill>
                  <a:srgbClr val="A3A3A3"/>
                </a:solidFill>
                <a:latin typeface="Segoe UI" pitchFamily="34" charset="0"/>
                <a:ea typeface="Segoe UI" pitchFamily="34" charset="-122"/>
                <a:cs typeface="Segoe UI" pitchFamily="34" charset="-120"/>
              </a:rPr>
              <a:t>Unit, integrasi, E2E, aksesibilitas, dan uji keamanan AI.</a:t>
            </a:r>
            <a:endParaRPr lang="en-US" sz="1250" dirty="0"/>
          </a:p>
        </p:txBody>
      </p:sp>
      <p:sp>
        <p:nvSpPr>
          <p:cNvPr id="12" name="Text 10"/>
          <p:cNvSpPr txBox="1"/>
          <p:nvPr/>
        </p:nvSpPr>
        <p:spPr>
          <a:xfrm>
            <a:off x="6199632" y="4709160"/>
            <a:ext cx="5303520" cy="320040"/>
          </a:xfrm>
          <a:prstGeom prst="rect">
            <a:avLst/>
          </a:prstGeom>
          <a:noFill/>
          <a:ln/>
        </p:spPr>
        <p:txBody>
          <a:bodyPr wrap="square" lIns="0" tIns="0" rIns="0" bIns="0" rtlCol="0" anchor="t"/>
          <a:lstStyle/>
          <a:p>
            <a:pPr indent="0" marL="0">
              <a:buNone/>
            </a:pPr>
            <a:r>
              <a:rPr lang="en-US" sz="1500" dirty="0">
                <a:solidFill>
                  <a:srgbClr val="FFFFFF"/>
                </a:solidFill>
                <a:latin typeface="Segoe UI Semibold" pitchFamily="34" charset="0"/>
                <a:ea typeface="Segoe UI Semibold" pitchFamily="34" charset="-122"/>
                <a:cs typeface="Segoe UI Semibold" pitchFamily="34" charset="-120"/>
              </a:rPr>
              <a:t>Kolaborasi teratur</a:t>
            </a:r>
            <a:endParaRPr lang="en-US" sz="1500" dirty="0"/>
          </a:p>
        </p:txBody>
      </p:sp>
      <p:sp>
        <p:nvSpPr>
          <p:cNvPr id="13" name="Text 11"/>
          <p:cNvSpPr txBox="1"/>
          <p:nvPr/>
        </p:nvSpPr>
        <p:spPr>
          <a:xfrm>
            <a:off x="6199632" y="5056632"/>
            <a:ext cx="5303520" cy="457200"/>
          </a:xfrm>
          <a:prstGeom prst="rect">
            <a:avLst/>
          </a:prstGeom>
          <a:noFill/>
          <a:ln/>
        </p:spPr>
        <p:txBody>
          <a:bodyPr wrap="square" lIns="0" tIns="0" rIns="0" bIns="0" rtlCol="0" anchor="t"/>
          <a:lstStyle/>
          <a:p>
            <a:pPr indent="0" marL="0">
              <a:buNone/>
            </a:pPr>
            <a:r>
              <a:rPr lang="en-US" sz="1250" dirty="0">
                <a:solidFill>
                  <a:srgbClr val="A3A3A3"/>
                </a:solidFill>
                <a:latin typeface="Segoe UI" pitchFamily="34" charset="0"/>
                <a:ea typeface="Segoe UI" pitchFamily="34" charset="-122"/>
                <a:cs typeface="Segoe UI" pitchFamily="34" charset="-120"/>
              </a:rPr>
              <a:t>Branch per fitur, Pull Request, CI, dan papan Trello.</a:t>
            </a:r>
            <a:endParaRPr lang="en-US" sz="1250" dirty="0"/>
          </a:p>
        </p:txBody>
      </p:sp>
      <p:sp>
        <p:nvSpPr>
          <p:cNvPr id="14" name="Text 12"/>
          <p:cNvSpPr txBox="1"/>
          <p:nvPr/>
        </p:nvSpPr>
        <p:spPr>
          <a:xfrm>
            <a:off x="548640" y="5989320"/>
            <a:ext cx="8229600" cy="320040"/>
          </a:xfrm>
          <a:prstGeom prst="rect">
            <a:avLst/>
          </a:prstGeom>
          <a:noFill/>
          <a:ln/>
        </p:spPr>
        <p:txBody>
          <a:bodyPr wrap="square" lIns="0" tIns="0" rIns="0" bIns="0" rtlCol="0" anchor="t"/>
          <a:lstStyle/>
          <a:p>
            <a:pPr indent="0" marL="0">
              <a:buNone/>
            </a:pPr>
            <a:r>
              <a:rPr lang="en-US" sz="1200" dirty="0">
                <a:solidFill>
                  <a:srgbClr val="A3A3A3"/>
                </a:solidFill>
                <a:latin typeface="Segoe UI" pitchFamily="34" charset="0"/>
                <a:ea typeface="Segoe UI" pitchFamily="34" charset="-122"/>
                <a:cs typeface="Segoe UI" pitchFamily="34" charset="-120"/>
              </a:rPr>
              <a:t>Mohon masukan, saran, dan bimbingannya · Sesi tanya jawab</a:t>
            </a:r>
            <a:endParaRPr lang="en-US" sz="1200" dirty="0"/>
          </a:p>
        </p:txBody>
      </p:sp>
      <p:sp>
        <p:nvSpPr>
          <p:cNvPr id="16" name="Text 0"/>
          <p:cNvSpPr/>
          <p:nvPr>
            <p:ph idx="100" type="title" hasCustomPrompt="1"/>
          </p:nvPr>
        </p:nvSpPr>
        <p:spPr>
          <a:xfrm>
            <a:off x="548640" y="868680"/>
            <a:ext cx="11064240" cy="777240"/>
          </a:xfrm>
          <a:prstGeom prst="rect">
            <a:avLst/>
          </a:prstGeom>
          <a:noFill/>
          <a:ln/>
        </p:spPr>
        <p:txBody>
          <a:bodyPr wrap="square" lIns="0" tIns="0" rIns="0" bIns="0" rtlCol="0" anchor="t"/>
          <a:lstStyle/>
          <a:p>
            <a:pPr algn="l" indent="0" marL="0">
              <a:buNone/>
            </a:pPr>
            <a:endParaRPr lang="en-US" sz="3000" dirty="0"/>
          </a:p>
        </p:txBody>
      </p:sp>
      <p:sp>
        <p:nvSpPr>
          <p:cNvPr id="25" name="Slide Number Placeholder 0"/>
          <p:cNvSpPr>
            <a:spLocks noGrp="1"/>
          </p:cNvSpPr>
          <p:nvPr>
            <p:ph type="sldNum" sz="quarter" idx="4294967295"/>
          </p:nvPr>
        </p:nvSpPr>
        <p:spPr>
          <a:xfrm>
            <a:off x="11183112"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3A3A3"/>
                </a:solidFill>
                <a:latin typeface="Segoe UI"/>
                <a:ea typeface="Segoe UI"/>
                <a:cs typeface="Segoe UI"/>
              </a:defRPr>
            </a:lvl1pPr>
          </a:lstStyle>
          <a:p>
            <a:pPr algn="r"/>
            <a:fld id="{F7021451-1387-4CA6-816F-3879F97B5CBC}" type="slidenum">
              <a:rPr b="0" lang="en-US"/>
              <a:t>25</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Segoe UI Semibold"/>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Segoe U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25</Slides>
  <Notes>25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vt:i4>
      </vt:variant>
    </vt:vector>
  </HeadingPairs>
  <TitlesOfParts>
    <vt:vector size="2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vector>
  </TitlesOfParts>
  <Company>Magang Project Cmlabs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TokoKita — Toko Online Mandiri</dc:title>
  <dc:subject>PptxGenJS Presentation</dc:subject>
  <dc:creator>Tim Magang TokoKita</dc:creator>
  <cp:lastModifiedBy>Tim Magang TokoKita</cp:lastModifiedBy>
  <cp:revision>1</cp:revision>
  <dcterms:created xsi:type="dcterms:W3CDTF">2026-10-18T01:23:46Z</dcterms:created>
  <dcterms:modified xsi:type="dcterms:W3CDTF">2026-10-18T01:23:46Z</dcterms:modified>
</cp:coreProperties>
</file>