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fa386766-66da-469e-d389-5603a2491031}">
          <p14:sldIdLst>
            <p14:sldId id="256"/>
            <p14:sldId id="257"/>
          </p14:sldIdLst>
        </p14:section>
        <p14:section name="Latar &amp; cakupan" id="{18e4b738-7b82-aff7-76b9-f296970f0df6}">
          <p14:sldIdLst>
            <p14:sldId id="258"/>
            <p14:sldId id="259"/>
            <p14:sldId id="260"/>
          </p14:sldIdLst>
        </p14:section>
        <p14:section name="Teknologi" id="{98a0e16d-594d-64c1-6f20-c2f16d6e29e9}">
          <p14:sldIdLst>
            <p14:sldId id="261"/>
            <p14:sldId id="262"/>
            <p14:sldId id="263"/>
            <p14:sldId id="264"/>
          </p14:sldIdLst>
        </p14:section>
        <p14:section name="Tampilan aplikasi" id="{c82735dc-affc-23eb-3e24-00bb38ebc43f}">
          <p14:sldIdLst>
            <p14:sldId id="265"/>
            <p14:sldId id="266"/>
            <p14:sldId id="267"/>
            <p14:sldId id="268"/>
            <p14:sldId id="269"/>
            <p14:sldId id="270"/>
          </p14:sldIdLst>
        </p14:section>
        <p14:section name="Tim &amp; cara kerja" id="{465eb0c1-af4e-ea75-43e8-56182a71af8d}">
          <p14:sldIdLst>
            <p14:sldId id="271"/>
            <p14:sldId id="272"/>
          </p14:sldIdLst>
        </p14:section>
        <p14:section name="Kualitas &amp; demo" id="{e8f9dd73-7e07-e2a9-e472-83c03caee086}">
          <p14:sldIdLst>
            <p14:sldId id="273"/>
            <p14:sldId id="274"/>
            <p14:sldId id="275"/>
            <p14:sldId id="276"/>
          </p14:sldIdLst>
        </p14:section>
        <p14:section name="Penutup" id="{9bf40b0c-fdf7-7617-8ddb-699a9e7138db}">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Perkenalkan tim dan tujuan presentasi: TokoKita adalah toko online mandiri yang kami bangun dari PRD sampai berjalan online di Vercel. Tunjukkan bahwa situs ini nyata dan bisa dibuka sekarang, dalam mode terang maupun gelap.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presentasi: dari masalah dan pengguna, hasil yang dibangun, teknologi, tampilan aplikasi, cara tim bekerja, sampai hasil uji dan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kenapa UMKM butuh toko online sendiri: komisi, kepemilikan data, perang harga, dan risiko suspend. Lalu tunjukkan jawaban TokoKita di sisi 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Pembeli fokus pada kecepatan dan rasa percaya. Admin toko bukan orang IT, jadi panel admin dibuat sesederhana tampilan toko.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Seluruh fitur MVP dan fitur lanjutan sudah jalan. Tambahan dari rencana awal: pembayaran sandbox, mode gelap, asisten AI, pilihan yang bisa dicari. Yang di luar cakupan sengaja tidak dikerjakan.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dipilih agar tim cepat produktif: satu proyek, satu bahasa (TypeScript), komponen siap pakai. Argon2id menggantikan bcrypt; asisten AI memakai Gemini dengan cadangan Groq.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Alur: pengguna membuka halaman, Next.js memproses di server Vercel Singapura, Prisma menerjemahkan ke MySQL Aiven. Semua perubahan data hanya lewat Server Actions. Layanan pendukung: Blob untuk gambar, Gmail untuk email, Midtrans sandbox, cron pesanan tiap jam (GitHub Actions, cadangan cron harian Vercel) dengan backup database harian terenkripsi, dan Gemini/Groq untuk asisten AI. Email dikirim di latar agar checkout tidak menunggu.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pengelompokan tabel. Tekankan aturan data: uang INT, snapshot pesanan, stok per varian. Satu tabel tambahan dipakai untuk membatasi percobaan login dan pertanyaan ke asisten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Lencana dan warnanya sama persis dengan yang tampil di aplikasi. Jelaskan siapa yang mengubah tiap status; pesanan tidak dibayar 24 jam dibatalkan otomatis oleh cron.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Desain mengikuti template Framer pilihan pemilik: monokrom, foto besar, tipografi tegas. Skor Lighthouse beranda di HP 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pilihan bawaan browser diganti komponen sendiri yang bisa dicari dan dipakai dengan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produk menjawab kekhawatiran pembeli: harga, stok, dan ulasan yang jujur.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Checkout dipandu empat langkah. Harga dan ongkir dihitung ulang di server, angka dari browser hanya dipakai sebagai id dan jumlah.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admin memakai bahasa visual yang sama dengan toko, terlihat di sini dalam mode gelap. Tambah dan edit produk, kategori, promo, banner muncul sebagai modal.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 gelap tersedia di seluruh toko dan admin. Asisten "Tanya AI" memakai Gemini dengan cadangan Groq, keduanya gratis tanpa kartu. Contoh di layar: rekomendasi produk dijawab dengan tautan, permintaan kode Python ditolak.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nama tiap anggota saat presentasi. Pembagian mengikuti modul PRD agar tiap orang punya area yang jelas dan jarang bentrok.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Alur Git berbasis branch per fitur dan Pull Request dengan CI otomatis di GitHub Actions, papan Trello untuk tugas, serta kebiasaan tim yang menjaga kode tidak bertabrakan.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angka hasil pengujian nyata pada 3 Oktober 2026. Kecepatan diukur dengan Lighthouse dan HP yang diperlambat (Slow 4G). Pada mode simulasi Lighthouse, halaman detail masih sekitar 3 detik; ini catatan perbaikan lanjutan.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Kepatuhan UU PDP, keamanan akun dengan Argon2id dan pembatasan percobaan, aturan transaksi yang adil, dan pengaman asisten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Risiko terbesar ada di sisi tim, bukan teknis. Kolom Hasil menunjukkan bagaimana mitigasi itu berjalan sampai akhir proyek.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memakai data awal agar toko tidak kosong. Pembayaran uang asli butuh akun Midtrans atas nama badan usaha, jadi demo memakai sandbox dan konfirmasi manual admin. Rekaman cadangan ada di docs/screenshots/demo-ppt. Pembayaran sandbox sudah diuji di situs online sampai lunas otomatis; QRIS masih tertunda di simulator Midtrans.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Rangkum empat hal utama, lalu buka sesi tanya jawab. Siapkan situs online dan rekaman cadangan bila jaringan bermasalah.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382512"/>
            <a:ext cx="1828800" cy="274320"/>
          </a:xfrm>
          <a:prstGeom prst="rect">
            <a:avLst/>
          </a:prstGeom>
          <a:noFill/>
          <a:ln/>
        </p:spPr>
        <p:txBody>
          <a:bodyPr wrap="square" lIns="0" tIns="0" rIns="0" bIns="0" rtlCol="0" anchor="ct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TokoKita</a:t>
            </a:r>
            <a:endParaRPr lang="en-US" sz="1100" dirty="0"/>
          </a:p>
        </p:txBody>
      </p:sp>
      <p:sp>
        <p:nvSpPr>
          <p:cNvPr id="3" name="Text 1"/>
          <p:cNvSpPr/>
          <p:nvPr>
            <p:ph idx="101" type="title" hasCustomPrompt="1"/>
          </p:nvPr>
        </p:nvSpPr>
        <p:spPr>
          <a:xfrm>
            <a:off x="548640" y="868680"/>
            <a:ext cx="11064240" cy="777240"/>
          </a:xfrm>
          <a:prstGeom prst="rect">
            <a:avLst/>
          </a:prstGeom>
          <a:noFill/>
          <a:ln/>
        </p:spPr>
        <p:txBody>
          <a:bodyPr wrap="square" rtlCol="0"/>
          <a:lstStyle>
            <a:lvl1pPr algn="l" indent="0" marL="0">
              <a:buNone/>
              <a:defRPr lang="en-US" sz="3000" dirty="0">
                <a:solidFill>
                  <a:srgbClr val="0A0A0A"/>
                </a:solidFill>
                <a:latin typeface="Segoe UI Semibold" pitchFamily="34" charset="0"/>
                <a:ea typeface="Segoe UI Semibold" pitchFamily="34" charset="-122"/>
                <a:cs typeface="Segoe UI Semibold"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rgbClr val="0A0A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11064240" cy="777240"/>
          </a:xfrm>
          <a:prstGeom prst="rect">
            <a:avLst/>
          </a:prstGeom>
          <a:noFill/>
          <a:ln/>
        </p:spPr>
        <p:txBody>
          <a:bodyPr wrap="square" rtlCol="0"/>
          <a:lstStyle>
            <a:lvl1pPr algn="l" indent="0" marL="0">
              <a:buNone/>
              <a:defRPr lang="en-US" sz="3000" dirty="0">
                <a:solidFill>
                  <a:srgbClr val="FFFFFF"/>
                </a:solidFill>
                <a:latin typeface="Segoe UI Semibold" pitchFamily="34" charset="0"/>
                <a:ea typeface="Segoe UI Semibold" pitchFamily="34" charset="-122"/>
                <a:cs typeface="Segoe UI Semibold"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2.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2.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2.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502920"/>
            <a:ext cx="4398264" cy="292608"/>
          </a:xfrm>
          <a:prstGeom prst="roundRect">
            <a:avLst>
              <a:gd name="adj" fmla="val 50000"/>
            </a:avLst>
          </a:prstGeom>
          <a:solidFill>
            <a:srgbClr val="262626"/>
          </a:solidFill>
          <a:ln/>
        </p:spPr>
      </p:sp>
      <p:sp>
        <p:nvSpPr>
          <p:cNvPr id="3" name="Text 1"/>
          <p:cNvSpPr txBox="1"/>
          <p:nvPr/>
        </p:nvSpPr>
        <p:spPr>
          <a:xfrm>
            <a:off x="548640" y="502920"/>
            <a:ext cx="4398264"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PROYEK MAGANG KELOMPOK · FULL STACK DEVELOPER</a:t>
            </a:r>
            <a:endParaRPr lang="en-US" sz="950" dirty="0"/>
          </a:p>
        </p:txBody>
      </p:sp>
      <p:sp>
        <p:nvSpPr>
          <p:cNvPr id="4" name="Text 2"/>
          <p:cNvSpPr txBox="1"/>
          <p:nvPr/>
        </p:nvSpPr>
        <p:spPr>
          <a:xfrm>
            <a:off x="548640" y="1600200"/>
            <a:ext cx="5669280" cy="1234440"/>
          </a:xfrm>
          <a:prstGeom prst="rect">
            <a:avLst/>
          </a:prstGeom>
          <a:noFill/>
          <a:ln/>
        </p:spPr>
        <p:txBody>
          <a:bodyPr wrap="square" lIns="0" tIns="0" rIns="0" bIns="0" rtlCol="0" anchor="ctr"/>
          <a:lstStyle/>
          <a:p>
            <a:pPr indent="0" marL="0">
              <a:buNone/>
            </a:pPr>
            <a:r>
              <a:rPr lang="en-US" sz="6600" dirty="0">
                <a:solidFill>
                  <a:srgbClr val="FFFFFF"/>
                </a:solidFill>
                <a:latin typeface="Segoe UI Semibold" pitchFamily="34" charset="0"/>
                <a:ea typeface="Segoe UI Semibold" pitchFamily="34" charset="-122"/>
                <a:cs typeface="Segoe UI Semibold" pitchFamily="34" charset="-120"/>
              </a:rPr>
              <a:t>TokoKita</a:t>
            </a:r>
            <a:pPr indent="0" marL="0">
              <a:buNone/>
            </a:pPr>
            <a:r>
              <a:rPr lang="en-US" sz="6600" dirty="0">
                <a:solidFill>
                  <a:srgbClr val="DC2626"/>
                </a:solidFill>
                <a:latin typeface="Segoe UI Semibold" pitchFamily="34" charset="0"/>
                <a:ea typeface="Segoe UI Semibold" pitchFamily="34" charset="-122"/>
                <a:cs typeface="Segoe UI Semibold" pitchFamily="34" charset="-120"/>
              </a:rPr>
              <a:t>.</a:t>
            </a:r>
            <a:endParaRPr lang="en-US" sz="6600" dirty="0"/>
          </a:p>
        </p:txBody>
      </p:sp>
      <p:sp>
        <p:nvSpPr>
          <p:cNvPr id="5" name="Text 3"/>
          <p:cNvSpPr txBox="1"/>
          <p:nvPr/>
        </p:nvSpPr>
        <p:spPr>
          <a:xfrm>
            <a:off x="548640" y="2926080"/>
            <a:ext cx="5120640" cy="1005840"/>
          </a:xfrm>
          <a:prstGeom prst="rect">
            <a:avLst/>
          </a:prstGeom>
          <a:noFill/>
          <a:ln/>
        </p:spPr>
        <p:txBody>
          <a:bodyPr wrap="square" lIns="0" tIns="0" rIns="0" bIns="0" rtlCol="0" anchor="t"/>
          <a:lstStyle/>
          <a:p>
            <a:pPr indent="0" marL="0">
              <a:buNone/>
            </a:pPr>
            <a:r>
              <a:rPr lang="en-US" sz="2200" dirty="0">
                <a:solidFill>
                  <a:srgbClr val="A3A3A3"/>
                </a:solidFill>
                <a:latin typeface="Segoe UI" pitchFamily="34" charset="0"/>
                <a:ea typeface="Segoe UI" pitchFamily="34" charset="-122"/>
                <a:cs typeface="Segoe UI" pitchFamily="34" charset="-120"/>
              </a:rPr>
              <a:t>Toko online mandiri untuk UMKM: dari rencana sampai berjalan online.</a:t>
            </a:r>
            <a:endParaRPr lang="en-US" sz="2200" dirty="0"/>
          </a:p>
        </p:txBody>
      </p:sp>
      <p:sp>
        <p:nvSpPr>
          <p:cNvPr id="6" name="Text 4"/>
          <p:cNvSpPr txBox="1"/>
          <p:nvPr/>
        </p:nvSpPr>
        <p:spPr>
          <a:xfrm>
            <a:off x="548640" y="5074920"/>
            <a:ext cx="5303520" cy="731520"/>
          </a:xfrm>
          <a:prstGeom prst="rect">
            <a:avLst/>
          </a:prstGeom>
          <a:noFill/>
          <a:ln/>
        </p:spPr>
        <p:txBody>
          <a:bodyPr wrap="square" lIns="0" tIns="0" rIns="0" bIns="0" rtlCol="0" anchor="t"/>
          <a:lstStyle/>
          <a:p>
            <a:pPr indent="0" marL="0">
              <a:spcAft>
                <a:spcPts val="600"/>
              </a:spcAft>
              <a:buNone/>
            </a:pPr>
            <a:r>
              <a:rPr lang="en-US" sz="1300" dirty="0">
                <a:solidFill>
                  <a:srgbClr val="A3A3A3"/>
                </a:solidFill>
                <a:latin typeface="Segoe UI" pitchFamily="34" charset="0"/>
                <a:ea typeface="Segoe UI" pitchFamily="34" charset="-122"/>
                <a:cs typeface="Segoe UI" pitchFamily="34" charset="-120"/>
              </a:rPr>
              <a:t>5 anggota · ± 1 minggu · Next.js · Prisma · MySQL</a:t>
            </a:r>
            <a:endParaRPr lang="en-US" sz="1300" dirty="0"/>
          </a:p>
          <a:p>
            <a:pPr indent="0" marL="0">
              <a:spcAft>
                <a:spcPts val="600"/>
              </a:spcAft>
              <a:buNone/>
            </a:pPr>
            <a:r>
              <a:rPr lang="en-US" sz="1300" dirty="0">
                <a:solidFill>
                  <a:srgbClr val="FFFFFF"/>
                </a:solidFill>
                <a:latin typeface="Segoe UI" pitchFamily="34" charset="0"/>
                <a:ea typeface="Segoe UI" pitchFamily="34" charset="-122"/>
                <a:cs typeface="Segoe UI" pitchFamily="34" charset="-120"/>
              </a:rPr>
              <a:t>ecommerce-peach-seven-47.vercel.app</a:t>
            </a:r>
            <a:endParaRPr lang="en-US" sz="1300" dirty="0"/>
          </a:p>
        </p:txBody>
      </p:sp>
      <p:pic>
        <p:nvPicPr>
          <p:cNvPr id="7" name="Image 0" descr="C:\laragon\www\e-commerce\scripts\ppt\aset\beranda.png">    </p:cNvPr>
          <p:cNvPicPr>
            <a:picLocks noChangeAspect="1"/>
          </p:cNvPicPr>
          <p:nvPr/>
        </p:nvPicPr>
        <p:blipFill>
          <a:blip r:embed="rId1"/>
          <a:stretch>
            <a:fillRect/>
          </a:stretch>
        </p:blipFill>
        <p:spPr>
          <a:xfrm>
            <a:off x="6355080" y="868680"/>
            <a:ext cx="5303520" cy="2984703"/>
          </a:xfrm>
          <a:prstGeom prst="rect">
            <a:avLst/>
          </a:prstGeom>
        </p:spPr>
      </p:pic>
      <p:pic>
        <p:nvPicPr>
          <p:cNvPr id="8" name="Image 1" descr="C:\laragon\www\e-commerce\scripts\ppt\aset\hp-gelap.png">    </p:cNvPr>
          <p:cNvPicPr>
            <a:picLocks noChangeAspect="1"/>
          </p:cNvPicPr>
          <p:nvPr/>
        </p:nvPicPr>
        <p:blipFill>
          <a:blip r:embed="rId2"/>
          <a:stretch>
            <a:fillRect/>
          </a:stretch>
        </p:blipFill>
        <p:spPr>
          <a:xfrm>
            <a:off x="5715000" y="2971800"/>
            <a:ext cx="1584491" cy="3429000"/>
          </a:xfrm>
          <a:prstGeom prst="rect">
            <a:avLst/>
          </a:prstGeom>
        </p:spPr>
      </p:pic>
      <p:sp>
        <p:nvSpPr>
          <p:cNvPr id="10"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411480"/>
            <a:ext cx="903427" cy="292608"/>
          </a:xfrm>
          <a:prstGeom prst="roundRect">
            <a:avLst>
              <a:gd name="adj" fmla="val 50000"/>
            </a:avLst>
          </a:prstGeom>
          <a:solidFill>
            <a:srgbClr val="F3F3F3"/>
          </a:solidFill>
          <a:ln/>
        </p:spPr>
      </p:sp>
      <p:sp>
        <p:nvSpPr>
          <p:cNvPr id="3" name="Text 1"/>
          <p:cNvSpPr txBox="1"/>
          <p:nvPr/>
        </p:nvSpPr>
        <p:spPr>
          <a:xfrm>
            <a:off x="548640" y="411480"/>
            <a:ext cx="90342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AGENDA</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Yang akan kami paparkan</a:t>
            </a:r>
            <a:endParaRPr lang="en-US" sz="3000" dirty="0"/>
          </a:p>
        </p:txBody>
      </p:sp>
      <p:sp>
        <p:nvSpPr>
          <p:cNvPr id="5" name="Shape 3"/>
          <p:cNvSpPr/>
          <p:nvPr/>
        </p:nvSpPr>
        <p:spPr>
          <a:xfrm>
            <a:off x="548640" y="1874520"/>
            <a:ext cx="3520440" cy="1874520"/>
          </a:xfrm>
          <a:prstGeom prst="roundRect">
            <a:avLst>
              <a:gd name="adj" fmla="val 10732"/>
            </a:avLst>
          </a:prstGeom>
          <a:solidFill>
            <a:srgbClr val="F3F3F3"/>
          </a:solidFill>
          <a:ln/>
        </p:spPr>
      </p:sp>
      <p:sp>
        <p:nvSpPr>
          <p:cNvPr id="6" name="Text 4"/>
          <p:cNvSpPr txBox="1"/>
          <p:nvPr/>
        </p:nvSpPr>
        <p:spPr>
          <a:xfrm>
            <a:off x="86868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01</a:t>
            </a:r>
            <a:endParaRPr lang="en-US" sz="2600" dirty="0"/>
          </a:p>
        </p:txBody>
      </p:sp>
      <p:sp>
        <p:nvSpPr>
          <p:cNvPr id="7" name="Text 5"/>
          <p:cNvSpPr txBox="1"/>
          <p:nvPr/>
        </p:nvSpPr>
        <p:spPr>
          <a:xfrm>
            <a:off x="86868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Latar &amp; pengguna</a:t>
            </a:r>
            <a:endParaRPr lang="en-US" sz="1700" dirty="0"/>
          </a:p>
        </p:txBody>
      </p:sp>
      <p:sp>
        <p:nvSpPr>
          <p:cNvPr id="8" name="Text 6"/>
          <p:cNvSpPr txBox="1"/>
          <p:nvPr/>
        </p:nvSpPr>
        <p:spPr>
          <a:xfrm>
            <a:off x="86868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Masalah yang diselesaikan dan siapa penggunanya</a:t>
            </a:r>
            <a:endParaRPr lang="en-US" sz="1200" dirty="0"/>
          </a:p>
        </p:txBody>
      </p:sp>
      <p:sp>
        <p:nvSpPr>
          <p:cNvPr id="9" name="Shape 7"/>
          <p:cNvSpPr/>
          <p:nvPr/>
        </p:nvSpPr>
        <p:spPr>
          <a:xfrm>
            <a:off x="4343400" y="1874520"/>
            <a:ext cx="3520440" cy="1874520"/>
          </a:xfrm>
          <a:prstGeom prst="roundRect">
            <a:avLst>
              <a:gd name="adj" fmla="val 10732"/>
            </a:avLst>
          </a:prstGeom>
          <a:solidFill>
            <a:srgbClr val="F3F3F3"/>
          </a:solidFill>
          <a:ln/>
        </p:spPr>
      </p:sp>
      <p:sp>
        <p:nvSpPr>
          <p:cNvPr id="10" name="Text 8"/>
          <p:cNvSpPr txBox="1"/>
          <p:nvPr/>
        </p:nvSpPr>
        <p:spPr>
          <a:xfrm>
            <a:off x="466344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02</a:t>
            </a:r>
            <a:endParaRPr lang="en-US" sz="2600" dirty="0"/>
          </a:p>
        </p:txBody>
      </p:sp>
      <p:sp>
        <p:nvSpPr>
          <p:cNvPr id="11" name="Text 9"/>
          <p:cNvSpPr txBox="1"/>
          <p:nvPr/>
        </p:nvSpPr>
        <p:spPr>
          <a:xfrm>
            <a:off x="466344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Cakupan &amp; hasil</a:t>
            </a:r>
            <a:endParaRPr lang="en-US" sz="1700" dirty="0"/>
          </a:p>
        </p:txBody>
      </p:sp>
      <p:sp>
        <p:nvSpPr>
          <p:cNvPr id="12" name="Text 10"/>
          <p:cNvSpPr txBox="1"/>
          <p:nvPr/>
        </p:nvSpPr>
        <p:spPr>
          <a:xfrm>
            <a:off x="466344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Fitur yang selesai dan batasan proyek</a:t>
            </a:r>
            <a:endParaRPr lang="en-US" sz="1200" dirty="0"/>
          </a:p>
        </p:txBody>
      </p:sp>
      <p:sp>
        <p:nvSpPr>
          <p:cNvPr id="13" name="Shape 11"/>
          <p:cNvSpPr/>
          <p:nvPr/>
        </p:nvSpPr>
        <p:spPr>
          <a:xfrm>
            <a:off x="8138160" y="1874520"/>
            <a:ext cx="3520440" cy="1874520"/>
          </a:xfrm>
          <a:prstGeom prst="roundRect">
            <a:avLst>
              <a:gd name="adj" fmla="val 10732"/>
            </a:avLst>
          </a:prstGeom>
          <a:solidFill>
            <a:srgbClr val="F3F3F3"/>
          </a:solidFill>
          <a:ln/>
        </p:spPr>
      </p:sp>
      <p:sp>
        <p:nvSpPr>
          <p:cNvPr id="14" name="Text 12"/>
          <p:cNvSpPr txBox="1"/>
          <p:nvPr/>
        </p:nvSpPr>
        <p:spPr>
          <a:xfrm>
            <a:off x="845820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03</a:t>
            </a:r>
            <a:endParaRPr lang="en-US" sz="2600" dirty="0"/>
          </a:p>
        </p:txBody>
      </p:sp>
      <p:sp>
        <p:nvSpPr>
          <p:cNvPr id="15" name="Text 13"/>
          <p:cNvSpPr txBox="1"/>
          <p:nvPr/>
        </p:nvSpPr>
        <p:spPr>
          <a:xfrm>
            <a:off x="845820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Teknologi &amp; arsitektur</a:t>
            </a:r>
            <a:endParaRPr lang="en-US" sz="1700" dirty="0"/>
          </a:p>
        </p:txBody>
      </p:sp>
      <p:sp>
        <p:nvSpPr>
          <p:cNvPr id="16" name="Text 14"/>
          <p:cNvSpPr txBox="1"/>
          <p:nvPr/>
        </p:nvSpPr>
        <p:spPr>
          <a:xfrm>
            <a:off x="845820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Stack, arsitektur, database, aturan bisnis</a:t>
            </a:r>
            <a:endParaRPr lang="en-US" sz="1200" dirty="0"/>
          </a:p>
        </p:txBody>
      </p:sp>
      <p:sp>
        <p:nvSpPr>
          <p:cNvPr id="17" name="Shape 15"/>
          <p:cNvSpPr/>
          <p:nvPr/>
        </p:nvSpPr>
        <p:spPr>
          <a:xfrm>
            <a:off x="548640" y="3977640"/>
            <a:ext cx="3520440" cy="1874520"/>
          </a:xfrm>
          <a:prstGeom prst="roundRect">
            <a:avLst>
              <a:gd name="adj" fmla="val 10732"/>
            </a:avLst>
          </a:prstGeom>
          <a:solidFill>
            <a:srgbClr val="F3F3F3"/>
          </a:solidFill>
          <a:ln/>
        </p:spPr>
      </p:sp>
      <p:sp>
        <p:nvSpPr>
          <p:cNvPr id="18" name="Text 16"/>
          <p:cNvSpPr txBox="1"/>
          <p:nvPr/>
        </p:nvSpPr>
        <p:spPr>
          <a:xfrm>
            <a:off x="86868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04</a:t>
            </a:r>
            <a:endParaRPr lang="en-US" sz="2600" dirty="0"/>
          </a:p>
        </p:txBody>
      </p:sp>
      <p:sp>
        <p:nvSpPr>
          <p:cNvPr id="19" name="Text 17"/>
          <p:cNvSpPr txBox="1"/>
          <p:nvPr/>
        </p:nvSpPr>
        <p:spPr>
          <a:xfrm>
            <a:off x="86868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Tampilan aplikasi</a:t>
            </a:r>
            <a:endParaRPr lang="en-US" sz="1700" dirty="0"/>
          </a:p>
        </p:txBody>
      </p:sp>
      <p:sp>
        <p:nvSpPr>
          <p:cNvPr id="20" name="Text 18"/>
          <p:cNvSpPr txBox="1"/>
          <p:nvPr/>
        </p:nvSpPr>
        <p:spPr>
          <a:xfrm>
            <a:off x="86868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Beranda, katalog, checkout, admin, asisten AI</a:t>
            </a:r>
            <a:endParaRPr lang="en-US" sz="1200" dirty="0"/>
          </a:p>
        </p:txBody>
      </p:sp>
      <p:sp>
        <p:nvSpPr>
          <p:cNvPr id="21" name="Shape 19"/>
          <p:cNvSpPr/>
          <p:nvPr/>
        </p:nvSpPr>
        <p:spPr>
          <a:xfrm>
            <a:off x="4343400" y="3977640"/>
            <a:ext cx="3520440" cy="1874520"/>
          </a:xfrm>
          <a:prstGeom prst="roundRect">
            <a:avLst>
              <a:gd name="adj" fmla="val 10732"/>
            </a:avLst>
          </a:prstGeom>
          <a:solidFill>
            <a:srgbClr val="F3F3F3"/>
          </a:solidFill>
          <a:ln/>
        </p:spPr>
      </p:sp>
      <p:sp>
        <p:nvSpPr>
          <p:cNvPr id="22" name="Text 20"/>
          <p:cNvSpPr txBox="1"/>
          <p:nvPr/>
        </p:nvSpPr>
        <p:spPr>
          <a:xfrm>
            <a:off x="466344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05</a:t>
            </a:r>
            <a:endParaRPr lang="en-US" sz="2600" dirty="0"/>
          </a:p>
        </p:txBody>
      </p:sp>
      <p:sp>
        <p:nvSpPr>
          <p:cNvPr id="23" name="Text 21"/>
          <p:cNvSpPr txBox="1"/>
          <p:nvPr/>
        </p:nvSpPr>
        <p:spPr>
          <a:xfrm>
            <a:off x="466344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Tim &amp; cara kerja</a:t>
            </a:r>
            <a:endParaRPr lang="en-US" sz="1700" dirty="0"/>
          </a:p>
        </p:txBody>
      </p:sp>
      <p:sp>
        <p:nvSpPr>
          <p:cNvPr id="24" name="Text 22"/>
          <p:cNvSpPr txBox="1"/>
          <p:nvPr/>
        </p:nvSpPr>
        <p:spPr>
          <a:xfrm>
            <a:off x="466344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Pembagian peran, alur Git, papan tugas</a:t>
            </a:r>
            <a:endParaRPr lang="en-US" sz="1200" dirty="0"/>
          </a:p>
        </p:txBody>
      </p:sp>
      <p:sp>
        <p:nvSpPr>
          <p:cNvPr id="25" name="Shape 23"/>
          <p:cNvSpPr/>
          <p:nvPr/>
        </p:nvSpPr>
        <p:spPr>
          <a:xfrm>
            <a:off x="8138160" y="3977640"/>
            <a:ext cx="3520440" cy="1874520"/>
          </a:xfrm>
          <a:prstGeom prst="roundRect">
            <a:avLst>
              <a:gd name="adj" fmla="val 10732"/>
            </a:avLst>
          </a:prstGeom>
          <a:solidFill>
            <a:srgbClr val="F3F3F3"/>
          </a:solidFill>
          <a:ln/>
        </p:spPr>
      </p:sp>
      <p:sp>
        <p:nvSpPr>
          <p:cNvPr id="26" name="Text 24"/>
          <p:cNvSpPr txBox="1"/>
          <p:nvPr/>
        </p:nvSpPr>
        <p:spPr>
          <a:xfrm>
            <a:off x="845820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06</a:t>
            </a:r>
            <a:endParaRPr lang="en-US" sz="2600" dirty="0"/>
          </a:p>
        </p:txBody>
      </p:sp>
      <p:sp>
        <p:nvSpPr>
          <p:cNvPr id="27" name="Text 25"/>
          <p:cNvSpPr txBox="1"/>
          <p:nvPr/>
        </p:nvSpPr>
        <p:spPr>
          <a:xfrm>
            <a:off x="845820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Kualitas, keamanan &amp; demo</a:t>
            </a:r>
            <a:endParaRPr lang="en-US" sz="1700" dirty="0"/>
          </a:p>
        </p:txBody>
      </p:sp>
      <p:sp>
        <p:nvSpPr>
          <p:cNvPr id="28" name="Text 26"/>
          <p:cNvSpPr txBox="1"/>
          <p:nvPr/>
        </p:nvSpPr>
        <p:spPr>
          <a:xfrm>
            <a:off x="845820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Hasil uji, keamanan, risiko, skenario demo</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411480"/>
            <a:ext cx="1620317" cy="292608"/>
          </a:xfrm>
          <a:prstGeom prst="roundRect">
            <a:avLst>
              <a:gd name="adj" fmla="val 50000"/>
            </a:avLst>
          </a:prstGeom>
          <a:solidFill>
            <a:srgbClr val="F3F3F3"/>
          </a:solidFill>
          <a:ln/>
        </p:spPr>
      </p:sp>
      <p:sp>
        <p:nvSpPr>
          <p:cNvPr id="3" name="Text 1"/>
          <p:cNvSpPr txBox="1"/>
          <p:nvPr/>
        </p:nvSpPr>
        <p:spPr>
          <a:xfrm>
            <a:off x="548640" y="411480"/>
            <a:ext cx="162031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LATAR BELAKANG</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Masalah berjualan di marketplace, dan jawabannya</a:t>
            </a:r>
            <a:endParaRPr lang="en-US" sz="3000" dirty="0"/>
          </a:p>
        </p:txBody>
      </p:sp>
      <p:sp>
        <p:nvSpPr>
          <p:cNvPr id="5" name="Shape 3"/>
          <p:cNvSpPr/>
          <p:nvPr/>
        </p:nvSpPr>
        <p:spPr>
          <a:xfrm>
            <a:off x="548640" y="1874520"/>
            <a:ext cx="5440680" cy="4160520"/>
          </a:xfrm>
          <a:prstGeom prst="roundRect">
            <a:avLst>
              <a:gd name="adj" fmla="val 4835"/>
            </a:avLst>
          </a:prstGeom>
          <a:solidFill>
            <a:srgbClr val="F3F3F3"/>
          </a:solidFill>
          <a:ln/>
        </p:spPr>
      </p:sp>
      <p:sp>
        <p:nvSpPr>
          <p:cNvPr id="6" name="Text 4"/>
          <p:cNvSpPr txBox="1"/>
          <p:nvPr/>
        </p:nvSpPr>
        <p:spPr>
          <a:xfrm>
            <a:off x="868680" y="2148840"/>
            <a:ext cx="484632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Tantangan di marketplace</a:t>
            </a:r>
            <a:endParaRPr lang="en-US" sz="1700" dirty="0"/>
          </a:p>
        </p:txBody>
      </p:sp>
      <p:sp>
        <p:nvSpPr>
          <p:cNvPr id="7" name="Text 5"/>
          <p:cNvSpPr txBox="1"/>
          <p:nvPr/>
        </p:nvSpPr>
        <p:spPr>
          <a:xfrm>
            <a:off x="868680" y="2743200"/>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Komisi terus naik</a:t>
            </a:r>
            <a:endParaRPr lang="en-US" sz="1400" dirty="0"/>
          </a:p>
        </p:txBody>
      </p:sp>
      <p:sp>
        <p:nvSpPr>
          <p:cNvPr id="8" name="Text 6"/>
          <p:cNvSpPr txBox="1"/>
          <p:nvPr/>
        </p:nvSpPr>
        <p:spPr>
          <a:xfrm>
            <a:off x="868680" y="3035808"/>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Potongan per transaksi menggerus margin UMKM.</a:t>
            </a:r>
            <a:endParaRPr lang="en-US" sz="1250" dirty="0"/>
          </a:p>
        </p:txBody>
      </p:sp>
      <p:sp>
        <p:nvSpPr>
          <p:cNvPr id="9" name="Text 7"/>
          <p:cNvSpPr txBox="1"/>
          <p:nvPr/>
        </p:nvSpPr>
        <p:spPr>
          <a:xfrm>
            <a:off x="868680" y="3547872"/>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Data pembeli bukan milik penjual</a:t>
            </a:r>
            <a:endParaRPr lang="en-US" sz="1400" dirty="0"/>
          </a:p>
        </p:txBody>
      </p:sp>
      <p:sp>
        <p:nvSpPr>
          <p:cNvPr id="10" name="Text 8"/>
          <p:cNvSpPr txBox="1"/>
          <p:nvPr/>
        </p:nvSpPr>
        <p:spPr>
          <a:xfrm>
            <a:off x="868680" y="3840480"/>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Sulit membangun pelanggan setia.</a:t>
            </a:r>
            <a:endParaRPr lang="en-US" sz="1250" dirty="0"/>
          </a:p>
        </p:txBody>
      </p:sp>
      <p:sp>
        <p:nvSpPr>
          <p:cNvPr id="11" name="Text 9"/>
          <p:cNvSpPr txBox="1"/>
          <p:nvPr/>
        </p:nvSpPr>
        <p:spPr>
          <a:xfrm>
            <a:off x="868680" y="4352544"/>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Perang harga</a:t>
            </a:r>
            <a:endParaRPr lang="en-US" sz="1400" dirty="0"/>
          </a:p>
        </p:txBody>
      </p:sp>
      <p:sp>
        <p:nvSpPr>
          <p:cNvPr id="12" name="Text 10"/>
          <p:cNvSpPr txBox="1"/>
          <p:nvPr/>
        </p:nvSpPr>
        <p:spPr>
          <a:xfrm>
            <a:off x="868680" y="4645152"/>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Produk disandingkan langsung dengan kompetitor.</a:t>
            </a:r>
            <a:endParaRPr lang="en-US" sz="1250" dirty="0"/>
          </a:p>
        </p:txBody>
      </p:sp>
      <p:sp>
        <p:nvSpPr>
          <p:cNvPr id="13" name="Text 11"/>
          <p:cNvSpPr txBox="1"/>
          <p:nvPr/>
        </p:nvSpPr>
        <p:spPr>
          <a:xfrm>
            <a:off x="868680" y="5157216"/>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Ketergantungan platform</a:t>
            </a:r>
            <a:endParaRPr lang="en-US" sz="1400" dirty="0"/>
          </a:p>
        </p:txBody>
      </p:sp>
      <p:sp>
        <p:nvSpPr>
          <p:cNvPr id="14" name="Text 12"/>
          <p:cNvSpPr txBox="1"/>
          <p:nvPr/>
        </p:nvSpPr>
        <p:spPr>
          <a:xfrm>
            <a:off x="868680" y="5449824"/>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Akun di-suspend, penjualan langsung berhenti.</a:t>
            </a:r>
            <a:endParaRPr lang="en-US" sz="1250" dirty="0"/>
          </a:p>
        </p:txBody>
      </p:sp>
      <p:sp>
        <p:nvSpPr>
          <p:cNvPr id="15" name="Shape 13"/>
          <p:cNvSpPr/>
          <p:nvPr/>
        </p:nvSpPr>
        <p:spPr>
          <a:xfrm>
            <a:off x="6199632" y="1874520"/>
            <a:ext cx="5440680" cy="4160520"/>
          </a:xfrm>
          <a:prstGeom prst="roundRect">
            <a:avLst>
              <a:gd name="adj" fmla="val 4835"/>
            </a:avLst>
          </a:prstGeom>
          <a:solidFill>
            <a:srgbClr val="0A0A0A"/>
          </a:solidFill>
          <a:ln/>
        </p:spPr>
      </p:sp>
      <p:sp>
        <p:nvSpPr>
          <p:cNvPr id="16" name="Text 14"/>
          <p:cNvSpPr txBox="1"/>
          <p:nvPr/>
        </p:nvSpPr>
        <p:spPr>
          <a:xfrm>
            <a:off x="6519672" y="2148840"/>
            <a:ext cx="4846320" cy="365760"/>
          </a:xfrm>
          <a:prstGeom prst="rect">
            <a:avLst/>
          </a:prstGeom>
          <a:noFill/>
          <a:ln/>
        </p:spPr>
        <p:txBody>
          <a:bodyPr wrap="square" lIns="0" tIns="0" rIns="0" bIns="0" rtlCol="0" anchor="ctr"/>
          <a:lstStyle/>
          <a:p>
            <a:pPr indent="0" marL="0">
              <a:buNone/>
            </a:pPr>
            <a:r>
              <a:rPr lang="en-US" sz="1700" dirty="0">
                <a:solidFill>
                  <a:srgbClr val="FFFFFF"/>
                </a:solidFill>
                <a:latin typeface="Segoe UI Semibold" pitchFamily="34" charset="0"/>
                <a:ea typeface="Segoe UI Semibold" pitchFamily="34" charset="-122"/>
                <a:cs typeface="Segoe UI Semibold" pitchFamily="34" charset="-120"/>
              </a:rPr>
              <a:t>Solusi TokoKita</a:t>
            </a:r>
            <a:pPr indent="0" marL="0">
              <a:buNone/>
            </a:pPr>
            <a:r>
              <a:rPr lang="en-US" sz="1700" dirty="0">
                <a:solidFill>
                  <a:srgbClr val="DC2626"/>
                </a:solidFill>
                <a:latin typeface="Segoe UI Semibold" pitchFamily="34" charset="0"/>
                <a:ea typeface="Segoe UI Semibold" pitchFamily="34" charset="-122"/>
                <a:cs typeface="Segoe UI Semibold" pitchFamily="34" charset="-120"/>
              </a:rPr>
              <a:t>.</a:t>
            </a:r>
            <a:endParaRPr lang="en-US" sz="1700" dirty="0"/>
          </a:p>
        </p:txBody>
      </p:sp>
      <p:sp>
        <p:nvSpPr>
          <p:cNvPr id="17" name="Text 15"/>
          <p:cNvSpPr txBox="1"/>
          <p:nvPr/>
        </p:nvSpPr>
        <p:spPr>
          <a:xfrm>
            <a:off x="6519672" y="2743200"/>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Bebas komisi</a:t>
            </a:r>
            <a:endParaRPr lang="en-US" sz="1400" dirty="0"/>
          </a:p>
        </p:txBody>
      </p:sp>
      <p:sp>
        <p:nvSpPr>
          <p:cNvPr id="18" name="Text 16"/>
          <p:cNvSpPr txBox="1"/>
          <p:nvPr/>
        </p:nvSpPr>
        <p:spPr>
          <a:xfrm>
            <a:off x="6519672" y="3035808"/>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Seluruh hasil penjualan masuk ke pemilik toko.</a:t>
            </a:r>
            <a:endParaRPr lang="en-US" sz="1250" dirty="0"/>
          </a:p>
        </p:txBody>
      </p:sp>
      <p:sp>
        <p:nvSpPr>
          <p:cNvPr id="19" name="Text 17"/>
          <p:cNvSpPr txBox="1"/>
          <p:nvPr/>
        </p:nvSpPr>
        <p:spPr>
          <a:xfrm>
            <a:off x="6519672" y="3547872"/>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Data pelanggan sendiri</a:t>
            </a:r>
            <a:endParaRPr lang="en-US" sz="1400" dirty="0"/>
          </a:p>
        </p:txBody>
      </p:sp>
      <p:sp>
        <p:nvSpPr>
          <p:cNvPr id="20" name="Text 18"/>
          <p:cNvSpPr txBox="1"/>
          <p:nvPr/>
        </p:nvSpPr>
        <p:spPr>
          <a:xfrm>
            <a:off x="6519672" y="3840480"/>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Bisa mengirim promo dan voucher ke pelanggan setia.</a:t>
            </a:r>
            <a:endParaRPr lang="en-US" sz="1250" dirty="0"/>
          </a:p>
        </p:txBody>
      </p:sp>
      <p:sp>
        <p:nvSpPr>
          <p:cNvPr id="21" name="Text 19"/>
          <p:cNvSpPr txBox="1"/>
          <p:nvPr/>
        </p:nvSpPr>
        <p:spPr>
          <a:xfrm>
            <a:off x="6519672" y="4352544"/>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Etalase eksklusif</a:t>
            </a:r>
            <a:endParaRPr lang="en-US" sz="1400" dirty="0"/>
          </a:p>
        </p:txBody>
      </p:sp>
      <p:sp>
        <p:nvSpPr>
          <p:cNvPr id="22" name="Text 20"/>
          <p:cNvSpPr txBox="1"/>
          <p:nvPr/>
        </p:nvSpPr>
        <p:spPr>
          <a:xfrm>
            <a:off x="6519672" y="4645152"/>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Hanya produk brand sendiri, tanpa iklan kompetitor.</a:t>
            </a:r>
            <a:endParaRPr lang="en-US" sz="1250" dirty="0"/>
          </a:p>
        </p:txBody>
      </p:sp>
      <p:sp>
        <p:nvSpPr>
          <p:cNvPr id="23" name="Text 21"/>
          <p:cNvSpPr txBox="1"/>
          <p:nvPr/>
        </p:nvSpPr>
        <p:spPr>
          <a:xfrm>
            <a:off x="6519672" y="5157216"/>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Pembelajaran nyata</a:t>
            </a:r>
            <a:endParaRPr lang="en-US" sz="1400" dirty="0"/>
          </a:p>
        </p:txBody>
      </p:sp>
      <p:sp>
        <p:nvSpPr>
          <p:cNvPr id="24" name="Text 22"/>
          <p:cNvSpPr txBox="1"/>
          <p:nvPr/>
        </p:nvSpPr>
        <p:spPr>
          <a:xfrm>
            <a:off x="6519672" y="5449824"/>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Tim membangun sistem transaksi dari hulu ke hilir.</a:t>
            </a:r>
            <a:endParaRPr lang="en-US" sz="12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ANALISIS KEBUTUHAN</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Dua pengguna utama TokoKita</a:t>
            </a:r>
            <a:endParaRPr lang="en-US" sz="3000" dirty="0"/>
          </a:p>
        </p:txBody>
      </p:sp>
      <p:sp>
        <p:nvSpPr>
          <p:cNvPr id="5" name="Shape 3"/>
          <p:cNvSpPr/>
          <p:nvPr/>
        </p:nvSpPr>
        <p:spPr>
          <a:xfrm>
            <a:off x="548640" y="1874520"/>
            <a:ext cx="5440680" cy="4160520"/>
          </a:xfrm>
          <a:prstGeom prst="roundRect">
            <a:avLst>
              <a:gd name="adj" fmla="val 4835"/>
            </a:avLst>
          </a:prstGeom>
          <a:solidFill>
            <a:srgbClr val="F3F3F3"/>
          </a:solidFill>
          <a:ln/>
        </p:spPr>
      </p:sp>
      <p:sp>
        <p:nvSpPr>
          <p:cNvPr id="6" name="Shape 4"/>
          <p:cNvSpPr/>
          <p:nvPr/>
        </p:nvSpPr>
        <p:spPr>
          <a:xfrm>
            <a:off x="868680" y="2194560"/>
            <a:ext cx="640080" cy="640080"/>
          </a:xfrm>
          <a:prstGeom prst="ellipse">
            <a:avLst/>
          </a:prstGeom>
          <a:solidFill>
            <a:srgbClr val="0A0A0A"/>
          </a:solidFill>
          <a:ln/>
        </p:spPr>
      </p:sp>
      <p:pic>
        <p:nvPicPr>
          <p:cNvPr id="7" name="Image 0" descr="C:\laragon\www\e-commerce\scripts\ppt\aset\ikon-User-putih.png">    </p:cNvPr>
          <p:cNvPicPr>
            <a:picLocks noChangeAspect="1"/>
          </p:cNvPicPr>
          <p:nvPr/>
        </p:nvPicPr>
        <p:blipFill>
          <a:blip r:embed="rId1"/>
          <a:stretch>
            <a:fillRect/>
          </a:stretch>
        </p:blipFill>
        <p:spPr>
          <a:xfrm>
            <a:off x="1028700" y="2354580"/>
            <a:ext cx="320040" cy="320040"/>
          </a:xfrm>
          <a:prstGeom prst="rect">
            <a:avLst/>
          </a:prstGeom>
        </p:spPr>
      </p:pic>
      <p:sp>
        <p:nvSpPr>
          <p:cNvPr id="8" name="Text 5"/>
          <p:cNvSpPr txBox="1"/>
          <p:nvPr/>
        </p:nvSpPr>
        <p:spPr>
          <a:xfrm>
            <a:off x="1691640" y="2212848"/>
            <a:ext cx="4023360" cy="347472"/>
          </a:xfrm>
          <a:prstGeom prst="rect">
            <a:avLst/>
          </a:prstGeom>
          <a:noFill/>
          <a:ln/>
        </p:spPr>
        <p:txBody>
          <a:bodyPr wrap="square" lIns="0" tIns="0" rIns="0" bIns="0" rtlCol="0" anchor="t"/>
          <a:lstStyle/>
          <a:p>
            <a:pPr indent="0" marL="0">
              <a:buNone/>
            </a:pPr>
            <a:r>
              <a:rPr lang="en-US" sz="1900" dirty="0">
                <a:solidFill>
                  <a:srgbClr val="0A0A0A"/>
                </a:solidFill>
                <a:latin typeface="Segoe UI Semibold" pitchFamily="34" charset="0"/>
                <a:ea typeface="Segoe UI Semibold" pitchFamily="34" charset="-122"/>
                <a:cs typeface="Segoe UI Semibold" pitchFamily="34" charset="-120"/>
              </a:rPr>
              <a:t>Pembeli</a:t>
            </a:r>
            <a:endParaRPr lang="en-US" sz="1900" dirty="0"/>
          </a:p>
        </p:txBody>
      </p:sp>
      <p:sp>
        <p:nvSpPr>
          <p:cNvPr id="9" name="Text 6"/>
          <p:cNvSpPr txBox="1"/>
          <p:nvPr/>
        </p:nvSpPr>
        <p:spPr>
          <a:xfrm>
            <a:off x="1691640" y="256032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Usia 18–40 tahun · 90% belanja lewat HP</a:t>
            </a:r>
            <a:endParaRPr lang="en-US" sz="1150" dirty="0"/>
          </a:p>
        </p:txBody>
      </p:sp>
      <p:sp>
        <p:nvSpPr>
          <p:cNvPr id="10" name="Text 7"/>
          <p:cNvSpPr txBox="1"/>
          <p:nvPr/>
        </p:nvSpPr>
        <p:spPr>
          <a:xfrm>
            <a:off x="868680" y="331012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KEBUTUHAN</a:t>
            </a:r>
            <a:endParaRPr lang="en-US" sz="950" dirty="0"/>
          </a:p>
        </p:txBody>
      </p:sp>
      <p:sp>
        <p:nvSpPr>
          <p:cNvPr id="11" name="Text 8"/>
          <p:cNvSpPr txBox="1"/>
          <p:nvPr/>
        </p:nvSpPr>
        <p:spPr>
          <a:xfrm>
            <a:off x="868680" y="356616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Cari barang cepat, foto jelas, checkout di bawah 3 menit.</a:t>
            </a:r>
            <a:endParaRPr lang="en-US" sz="1300" dirty="0"/>
          </a:p>
        </p:txBody>
      </p:sp>
      <p:sp>
        <p:nvSpPr>
          <p:cNvPr id="12" name="Text 9"/>
          <p:cNvSpPr txBox="1"/>
          <p:nvPr/>
        </p:nvSpPr>
        <p:spPr>
          <a:xfrm>
            <a:off x="868680" y="417880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KEKHAWATIRAN</a:t>
            </a:r>
            <a:endParaRPr lang="en-US" sz="950" dirty="0"/>
          </a:p>
        </p:txBody>
      </p:sp>
      <p:sp>
        <p:nvSpPr>
          <p:cNvPr id="13" name="Text 10"/>
          <p:cNvSpPr txBox="1"/>
          <p:nvPr/>
        </p:nvSpPr>
        <p:spPr>
          <a:xfrm>
            <a:off x="868680" y="443484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Barang palsu, ongkir tidak jelas, stok ternyata habis.</a:t>
            </a:r>
            <a:endParaRPr lang="en-US" sz="1300" dirty="0"/>
          </a:p>
        </p:txBody>
      </p:sp>
      <p:sp>
        <p:nvSpPr>
          <p:cNvPr id="14" name="Text 11"/>
          <p:cNvSpPr txBox="1"/>
          <p:nvPr/>
        </p:nvSpPr>
        <p:spPr>
          <a:xfrm>
            <a:off x="868680" y="504748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FITUR ANDALAN</a:t>
            </a:r>
            <a:endParaRPr lang="en-US" sz="950" dirty="0"/>
          </a:p>
        </p:txBody>
      </p:sp>
      <p:sp>
        <p:nvSpPr>
          <p:cNvPr id="15" name="Text 12"/>
          <p:cNvSpPr txBox="1"/>
          <p:nvPr/>
        </p:nvSpPr>
        <p:spPr>
          <a:xfrm>
            <a:off x="868680" y="530352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Pencarian + filter, ulasan pembeli asli, kode promo, asisten AI.</a:t>
            </a:r>
            <a:endParaRPr lang="en-US" sz="1300" dirty="0"/>
          </a:p>
        </p:txBody>
      </p:sp>
      <p:sp>
        <p:nvSpPr>
          <p:cNvPr id="16" name="Shape 13"/>
          <p:cNvSpPr/>
          <p:nvPr/>
        </p:nvSpPr>
        <p:spPr>
          <a:xfrm>
            <a:off x="6199632" y="1874520"/>
            <a:ext cx="5440680" cy="4160520"/>
          </a:xfrm>
          <a:prstGeom prst="roundRect">
            <a:avLst>
              <a:gd name="adj" fmla="val 4835"/>
            </a:avLst>
          </a:prstGeom>
          <a:solidFill>
            <a:srgbClr val="F3F3F3"/>
          </a:solidFill>
          <a:ln/>
        </p:spPr>
      </p:sp>
      <p:sp>
        <p:nvSpPr>
          <p:cNvPr id="17" name="Shape 14"/>
          <p:cNvSpPr/>
          <p:nvPr/>
        </p:nvSpPr>
        <p:spPr>
          <a:xfrm>
            <a:off x="6519672" y="2194560"/>
            <a:ext cx="640080" cy="640080"/>
          </a:xfrm>
          <a:prstGeom prst="ellipse">
            <a:avLst/>
          </a:prstGeom>
          <a:solidFill>
            <a:srgbClr val="0A0A0A"/>
          </a:solidFill>
          <a:ln/>
        </p:spPr>
      </p:sp>
      <p:pic>
        <p:nvPicPr>
          <p:cNvPr id="18" name="Image 1" descr="C:\laragon\www\e-commerce\scripts\ppt\aset\ikon-UserCog-putih.png">    </p:cNvPr>
          <p:cNvPicPr>
            <a:picLocks noChangeAspect="1"/>
          </p:cNvPicPr>
          <p:nvPr/>
        </p:nvPicPr>
        <p:blipFill>
          <a:blip r:embed="rId2"/>
          <a:stretch>
            <a:fillRect/>
          </a:stretch>
        </p:blipFill>
        <p:spPr>
          <a:xfrm>
            <a:off x="6679692" y="2354580"/>
            <a:ext cx="320040" cy="320040"/>
          </a:xfrm>
          <a:prstGeom prst="rect">
            <a:avLst/>
          </a:prstGeom>
        </p:spPr>
      </p:pic>
      <p:sp>
        <p:nvSpPr>
          <p:cNvPr id="19" name="Text 15"/>
          <p:cNvSpPr txBox="1"/>
          <p:nvPr/>
        </p:nvSpPr>
        <p:spPr>
          <a:xfrm>
            <a:off x="7342632" y="2212848"/>
            <a:ext cx="4023360" cy="347472"/>
          </a:xfrm>
          <a:prstGeom prst="rect">
            <a:avLst/>
          </a:prstGeom>
          <a:noFill/>
          <a:ln/>
        </p:spPr>
        <p:txBody>
          <a:bodyPr wrap="square" lIns="0" tIns="0" rIns="0" bIns="0" rtlCol="0" anchor="t"/>
          <a:lstStyle/>
          <a:p>
            <a:pPr indent="0" marL="0">
              <a:buNone/>
            </a:pPr>
            <a:r>
              <a:rPr lang="en-US" sz="1900" dirty="0">
                <a:solidFill>
                  <a:srgbClr val="0A0A0A"/>
                </a:solidFill>
                <a:latin typeface="Segoe UI Semibold" pitchFamily="34" charset="0"/>
                <a:ea typeface="Segoe UI Semibold" pitchFamily="34" charset="-122"/>
                <a:cs typeface="Segoe UI Semibold" pitchFamily="34" charset="-120"/>
              </a:rPr>
              <a:t>Admin toko</a:t>
            </a:r>
            <a:endParaRPr lang="en-US" sz="1900" dirty="0"/>
          </a:p>
        </p:txBody>
      </p:sp>
      <p:sp>
        <p:nvSpPr>
          <p:cNvPr id="20" name="Text 16"/>
          <p:cNvSpPr txBox="1"/>
          <p:nvPr/>
        </p:nvSpPr>
        <p:spPr>
          <a:xfrm>
            <a:off x="7342632" y="256032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Pemilik atau staf operasional · bukan orang IT</a:t>
            </a:r>
            <a:endParaRPr lang="en-US" sz="1150" dirty="0"/>
          </a:p>
        </p:txBody>
      </p:sp>
      <p:sp>
        <p:nvSpPr>
          <p:cNvPr id="21" name="Text 17"/>
          <p:cNvSpPr txBox="1"/>
          <p:nvPr/>
        </p:nvSpPr>
        <p:spPr>
          <a:xfrm>
            <a:off x="6519672" y="331012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KEBUTUHAN</a:t>
            </a:r>
            <a:endParaRPr lang="en-US" sz="950" dirty="0"/>
          </a:p>
        </p:txBody>
      </p:sp>
      <p:sp>
        <p:nvSpPr>
          <p:cNvPr id="22" name="Text 18"/>
          <p:cNvSpPr txBox="1"/>
          <p:nvPr/>
        </p:nvSpPr>
        <p:spPr>
          <a:xfrm>
            <a:off x="6519672" y="356616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Pantau omzet, stok menipis, dan input resi dengan mudah.</a:t>
            </a:r>
            <a:endParaRPr lang="en-US" sz="1300" dirty="0"/>
          </a:p>
        </p:txBody>
      </p:sp>
      <p:sp>
        <p:nvSpPr>
          <p:cNvPr id="23" name="Text 19"/>
          <p:cNvSpPr txBox="1"/>
          <p:nvPr/>
        </p:nvSpPr>
        <p:spPr>
          <a:xfrm>
            <a:off x="6519672" y="417880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KEKHAWATIRAN</a:t>
            </a:r>
            <a:endParaRPr lang="en-US" sz="950" dirty="0"/>
          </a:p>
        </p:txBody>
      </p:sp>
      <p:sp>
        <p:nvSpPr>
          <p:cNvPr id="24" name="Text 20"/>
          <p:cNvSpPr txBox="1"/>
          <p:nvPr/>
        </p:nvSpPr>
        <p:spPr>
          <a:xfrm>
            <a:off x="6519672" y="443484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Cek mutasi bank manual dan salah kirim varian.</a:t>
            </a:r>
            <a:endParaRPr lang="en-US" sz="1300" dirty="0"/>
          </a:p>
        </p:txBody>
      </p:sp>
      <p:sp>
        <p:nvSpPr>
          <p:cNvPr id="25" name="Text 21"/>
          <p:cNvSpPr txBox="1"/>
          <p:nvPr/>
        </p:nvSpPr>
        <p:spPr>
          <a:xfrm>
            <a:off x="6519672" y="504748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FITUR ANDALAN</a:t>
            </a:r>
            <a:endParaRPr lang="en-US" sz="950" dirty="0"/>
          </a:p>
        </p:txBody>
      </p:sp>
      <p:sp>
        <p:nvSpPr>
          <p:cNvPr id="26" name="Text 22"/>
          <p:cNvSpPr txBox="1"/>
          <p:nvPr/>
        </p:nvSpPr>
        <p:spPr>
          <a:xfrm>
            <a:off x="6519672" y="530352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Peringatan stok ≤ 5, ubah status sekali klik, tambah/edit di modal.</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411480"/>
            <a:ext cx="1530706" cy="292608"/>
          </a:xfrm>
          <a:prstGeom prst="roundRect">
            <a:avLst>
              <a:gd name="adj" fmla="val 50000"/>
            </a:avLst>
          </a:prstGeom>
          <a:solidFill>
            <a:srgbClr val="F3F3F3"/>
          </a:solidFill>
          <a:ln/>
        </p:spPr>
      </p:sp>
      <p:sp>
        <p:nvSpPr>
          <p:cNvPr id="3" name="Text 1"/>
          <p:cNvSpPr txBox="1"/>
          <p:nvPr/>
        </p:nvSpPr>
        <p:spPr>
          <a:xfrm>
            <a:off x="548640" y="411480"/>
            <a:ext cx="15307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RUANG LINGKUP</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Semua fitur MVP dan lanjutan sudah selesai</a:t>
            </a:r>
            <a:endParaRPr lang="en-US" sz="3000" dirty="0"/>
          </a:p>
        </p:txBody>
      </p:sp>
      <p:sp>
        <p:nvSpPr>
          <p:cNvPr id="5" name="Shape 3"/>
          <p:cNvSpPr/>
          <p:nvPr/>
        </p:nvSpPr>
        <p:spPr>
          <a:xfrm>
            <a:off x="548640" y="1874520"/>
            <a:ext cx="3520440" cy="4160520"/>
          </a:xfrm>
          <a:prstGeom prst="roundRect">
            <a:avLst>
              <a:gd name="adj" fmla="val 5714"/>
            </a:avLst>
          </a:prstGeom>
          <a:solidFill>
            <a:srgbClr val="0A0A0A"/>
          </a:solidFill>
          <a:ln/>
        </p:spPr>
      </p:sp>
      <p:sp>
        <p:nvSpPr>
          <p:cNvPr id="6" name="Text 4"/>
          <p:cNvSpPr txBox="1"/>
          <p:nvPr/>
        </p:nvSpPr>
        <p:spPr>
          <a:xfrm>
            <a:off x="868680" y="2121408"/>
            <a:ext cx="2926080" cy="329184"/>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MVP · selesai</a:t>
            </a:r>
            <a:endParaRPr lang="en-US" sz="1500" dirty="0"/>
          </a:p>
        </p:txBody>
      </p:sp>
      <p:sp>
        <p:nvSpPr>
          <p:cNvPr id="7" name="Text 5"/>
          <p:cNvSpPr txBox="1"/>
          <p:nvPr/>
        </p:nvSpPr>
        <p:spPr>
          <a:xfrm>
            <a:off x="86868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Katalog, cari &amp; filter</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Detail produk &amp; varian</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Keranjang &amp; kode promo</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Checkout 4 langkah</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Ongkir sesuai berat</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Akun &amp; lupa password</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Riwayat &amp; status pesanan</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Admin pesanan &amp; produk</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Email notifikasi</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Batal otomatis 24 jam</a:t>
            </a:r>
            <a:endParaRPr lang="en-US" sz="1250" dirty="0"/>
          </a:p>
        </p:txBody>
      </p:sp>
      <p:sp>
        <p:nvSpPr>
          <p:cNvPr id="8" name="Shape 6"/>
          <p:cNvSpPr/>
          <p:nvPr/>
        </p:nvSpPr>
        <p:spPr>
          <a:xfrm>
            <a:off x="4343400" y="1874520"/>
            <a:ext cx="3520440" cy="4160520"/>
          </a:xfrm>
          <a:prstGeom prst="roundRect">
            <a:avLst>
              <a:gd name="adj" fmla="val 5714"/>
            </a:avLst>
          </a:prstGeom>
          <a:solidFill>
            <a:srgbClr val="F3F3F3"/>
          </a:solidFill>
          <a:ln/>
        </p:spPr>
      </p:sp>
      <p:sp>
        <p:nvSpPr>
          <p:cNvPr id="9" name="Text 7"/>
          <p:cNvSpPr txBox="1"/>
          <p:nvPr/>
        </p:nvSpPr>
        <p:spPr>
          <a:xfrm>
            <a:off x="4663440" y="2121408"/>
            <a:ext cx="292608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Lanjutan · selesai</a:t>
            </a:r>
            <a:endParaRPr lang="en-US" sz="1500" dirty="0"/>
          </a:p>
        </p:txBody>
      </p:sp>
      <p:sp>
        <p:nvSpPr>
          <p:cNvPr id="10" name="Text 8"/>
          <p:cNvSpPr txBox="1"/>
          <p:nvPr/>
        </p:nvSpPr>
        <p:spPr>
          <a:xfrm>
            <a:off x="466344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Wishlist</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Ulasan terverifikasi + foto</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Admin promo &amp; banner</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Dashboard omzet &amp; stok</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Pembayaran Midtrans sandbox</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Mode terang &amp; gelap</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Asisten AI "Tanya AI"</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Pilihan bisa dicari</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Konfirmasi keluar</a:t>
            </a:r>
            <a:endParaRPr lang="en-US" sz="1250" dirty="0"/>
          </a:p>
        </p:txBody>
      </p:sp>
      <p:sp>
        <p:nvSpPr>
          <p:cNvPr id="11" name="Shape 9"/>
          <p:cNvSpPr/>
          <p:nvPr/>
        </p:nvSpPr>
        <p:spPr>
          <a:xfrm>
            <a:off x="8138160" y="1874520"/>
            <a:ext cx="3520440" cy="4160520"/>
          </a:xfrm>
          <a:prstGeom prst="roundRect">
            <a:avLst>
              <a:gd name="adj" fmla="val 5714"/>
            </a:avLst>
          </a:prstGeom>
          <a:solidFill>
            <a:srgbClr val="FFFFFF"/>
          </a:solidFill>
          <a:ln w="12700">
            <a:solidFill>
              <a:srgbClr val="E6E6E6"/>
            </a:solidFill>
            <a:prstDash val="solid"/>
          </a:ln>
        </p:spPr>
      </p:sp>
      <p:sp>
        <p:nvSpPr>
          <p:cNvPr id="12" name="Text 10"/>
          <p:cNvSpPr txBox="1"/>
          <p:nvPr/>
        </p:nvSpPr>
        <p:spPr>
          <a:xfrm>
            <a:off x="8458200" y="2121408"/>
            <a:ext cx="2926080" cy="329184"/>
          </a:xfrm>
          <a:prstGeom prst="rect">
            <a:avLst/>
          </a:prstGeom>
          <a:noFill/>
          <a:ln/>
        </p:spPr>
        <p:txBody>
          <a:bodyPr wrap="square" lIns="0" tIns="0" rIns="0" bIns="0" rtlCol="0" anchor="t"/>
          <a:lstStyle/>
          <a:p>
            <a:pPr indent="0" marL="0">
              <a:buNone/>
            </a:pPr>
            <a:r>
              <a:rPr lang="en-US" sz="1500" dirty="0">
                <a:solidFill>
                  <a:srgbClr val="5C5C5C"/>
                </a:solidFill>
                <a:latin typeface="Segoe UI Semibold" pitchFamily="34" charset="0"/>
                <a:ea typeface="Segoe UI Semibold" pitchFamily="34" charset="-122"/>
                <a:cs typeface="Segoe UI Semibold" pitchFamily="34" charset="-120"/>
              </a:rPr>
              <a:t>Di luar cakupan</a:t>
            </a:r>
            <a:endParaRPr lang="en-US" sz="1500" dirty="0"/>
          </a:p>
        </p:txBody>
      </p:sp>
      <p:sp>
        <p:nvSpPr>
          <p:cNvPr id="13" name="Text 11"/>
          <p:cNvSpPr txBox="1"/>
          <p:nvPr/>
        </p:nvSpPr>
        <p:spPr>
          <a:xfrm>
            <a:off x="845820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Pembayaran uang asli (butuh badan usaha)</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Ongkir per kota tujuan</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Lacak resi otomatis</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Login Google</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Aplikasi mobile</a:t>
            </a:r>
            <a:endParaRPr lang="en-US" sz="12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411480"/>
            <a:ext cx="1172261" cy="292608"/>
          </a:xfrm>
          <a:prstGeom prst="roundRect">
            <a:avLst>
              <a:gd name="adj" fmla="val 50000"/>
            </a:avLst>
          </a:prstGeom>
          <a:solidFill>
            <a:srgbClr val="F3F3F3"/>
          </a:solidFill>
          <a:ln/>
        </p:spPr>
      </p:sp>
      <p:sp>
        <p:nvSpPr>
          <p:cNvPr id="3" name="Text 1"/>
          <p:cNvSpPr txBox="1"/>
          <p:nvPr/>
        </p:nvSpPr>
        <p:spPr>
          <a:xfrm>
            <a:off x="548640" y="411480"/>
            <a:ext cx="1172261"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TEKNOLOGI</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Tech stack dan alasan pemilihannya</a:t>
            </a:r>
            <a:endParaRPr lang="en-US" sz="3000" dirty="0"/>
          </a:p>
        </p:txBody>
      </p:sp>
      <p:sp>
        <p:nvSpPr>
          <p:cNvPr id="5" name="Shape 3"/>
          <p:cNvSpPr/>
          <p:nvPr/>
        </p:nvSpPr>
        <p:spPr>
          <a:xfrm>
            <a:off x="548640" y="1874520"/>
            <a:ext cx="3520440" cy="1252728"/>
          </a:xfrm>
          <a:prstGeom prst="roundRect">
            <a:avLst>
              <a:gd name="adj" fmla="val 16058"/>
            </a:avLst>
          </a:prstGeom>
          <a:solidFill>
            <a:srgbClr val="F3F3F3"/>
          </a:solidFill>
          <a:ln/>
        </p:spPr>
      </p:sp>
      <p:sp>
        <p:nvSpPr>
          <p:cNvPr id="6" name="Shape 4"/>
          <p:cNvSpPr/>
          <p:nvPr/>
        </p:nvSpPr>
        <p:spPr>
          <a:xfrm>
            <a:off x="777240" y="2148840"/>
            <a:ext cx="548640" cy="548640"/>
          </a:xfrm>
          <a:prstGeom prst="ellipse">
            <a:avLst/>
          </a:prstGeom>
          <a:solidFill>
            <a:srgbClr val="0A0A0A"/>
          </a:solidFill>
          <a:ln/>
        </p:spPr>
      </p:sp>
      <p:pic>
        <p:nvPicPr>
          <p:cNvPr id="7" name="Image 0" descr="C:\laragon\www\e-commerce\scripts\ppt\aset\ikon-Layers-putih.png">    </p:cNvPr>
          <p:cNvPicPr>
            <a:picLocks noChangeAspect="1"/>
          </p:cNvPicPr>
          <p:nvPr/>
        </p:nvPicPr>
        <p:blipFill>
          <a:blip r:embed="rId1"/>
          <a:stretch>
            <a:fillRect/>
          </a:stretch>
        </p:blipFill>
        <p:spPr>
          <a:xfrm>
            <a:off x="914400" y="2286000"/>
            <a:ext cx="274320" cy="274320"/>
          </a:xfrm>
          <a:prstGeom prst="rect">
            <a:avLst/>
          </a:prstGeom>
        </p:spPr>
      </p:pic>
      <p:sp>
        <p:nvSpPr>
          <p:cNvPr id="8" name="Text 5"/>
          <p:cNvSpPr txBox="1"/>
          <p:nvPr/>
        </p:nvSpPr>
        <p:spPr>
          <a:xfrm>
            <a:off x="150876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Next.js 16 (App Router)</a:t>
            </a:r>
            <a:endParaRPr lang="en-US" sz="1400" dirty="0"/>
          </a:p>
        </p:txBody>
      </p:sp>
      <p:sp>
        <p:nvSpPr>
          <p:cNvPr id="9" name="Text 6"/>
          <p:cNvSpPr txBox="1"/>
          <p:nvPr/>
        </p:nvSpPr>
        <p:spPr>
          <a:xfrm>
            <a:off x="150876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Tampilan dan logika server dalam satu proyek TypeScript.</a:t>
            </a:r>
            <a:endParaRPr lang="en-US" sz="1150" dirty="0"/>
          </a:p>
        </p:txBody>
      </p:sp>
      <p:sp>
        <p:nvSpPr>
          <p:cNvPr id="10" name="Shape 7"/>
          <p:cNvSpPr/>
          <p:nvPr/>
        </p:nvSpPr>
        <p:spPr>
          <a:xfrm>
            <a:off x="4343400" y="1874520"/>
            <a:ext cx="3520440" cy="1252728"/>
          </a:xfrm>
          <a:prstGeom prst="roundRect">
            <a:avLst>
              <a:gd name="adj" fmla="val 16058"/>
            </a:avLst>
          </a:prstGeom>
          <a:solidFill>
            <a:srgbClr val="F3F3F3"/>
          </a:solidFill>
          <a:ln/>
        </p:spPr>
      </p:sp>
      <p:sp>
        <p:nvSpPr>
          <p:cNvPr id="11" name="Shape 8"/>
          <p:cNvSpPr/>
          <p:nvPr/>
        </p:nvSpPr>
        <p:spPr>
          <a:xfrm>
            <a:off x="4572000" y="2148840"/>
            <a:ext cx="548640" cy="548640"/>
          </a:xfrm>
          <a:prstGeom prst="ellipse">
            <a:avLst/>
          </a:prstGeom>
          <a:solidFill>
            <a:srgbClr val="0A0A0A"/>
          </a:solidFill>
          <a:ln/>
        </p:spPr>
      </p:sp>
      <p:pic>
        <p:nvPicPr>
          <p:cNvPr id="12" name="Image 1" descr="C:\laragon\www\e-commerce\scripts\ppt\aset\ikon-Database-putih.png">    </p:cNvPr>
          <p:cNvPicPr>
            <a:picLocks noChangeAspect="1"/>
          </p:cNvPicPr>
          <p:nvPr/>
        </p:nvPicPr>
        <p:blipFill>
          <a:blip r:embed="rId2"/>
          <a:stretch>
            <a:fillRect/>
          </a:stretch>
        </p:blipFill>
        <p:spPr>
          <a:xfrm>
            <a:off x="4709160" y="2286000"/>
            <a:ext cx="274320" cy="274320"/>
          </a:xfrm>
          <a:prstGeom prst="rect">
            <a:avLst/>
          </a:prstGeom>
        </p:spPr>
      </p:pic>
      <p:sp>
        <p:nvSpPr>
          <p:cNvPr id="13" name="Text 9"/>
          <p:cNvSpPr txBox="1"/>
          <p:nvPr/>
        </p:nvSpPr>
        <p:spPr>
          <a:xfrm>
            <a:off x="530352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MySQL di Aiven</a:t>
            </a:r>
            <a:endParaRPr lang="en-US" sz="1400" dirty="0"/>
          </a:p>
        </p:txBody>
      </p:sp>
      <p:sp>
        <p:nvSpPr>
          <p:cNvPr id="14" name="Text 10"/>
          <p:cNvSpPr txBox="1"/>
          <p:nvPr/>
        </p:nvSpPr>
        <p:spPr>
          <a:xfrm>
            <a:off x="530352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Stabil dan dikenal; cloud saat rilis, Laragon saat lokal.</a:t>
            </a:r>
            <a:endParaRPr lang="en-US" sz="1150" dirty="0"/>
          </a:p>
        </p:txBody>
      </p:sp>
      <p:sp>
        <p:nvSpPr>
          <p:cNvPr id="15" name="Shape 11"/>
          <p:cNvSpPr/>
          <p:nvPr/>
        </p:nvSpPr>
        <p:spPr>
          <a:xfrm>
            <a:off x="8138160" y="1874520"/>
            <a:ext cx="3520440" cy="1252728"/>
          </a:xfrm>
          <a:prstGeom prst="roundRect">
            <a:avLst>
              <a:gd name="adj" fmla="val 16058"/>
            </a:avLst>
          </a:prstGeom>
          <a:solidFill>
            <a:srgbClr val="F3F3F3"/>
          </a:solidFill>
          <a:ln/>
        </p:spPr>
      </p:sp>
      <p:sp>
        <p:nvSpPr>
          <p:cNvPr id="16" name="Shape 12"/>
          <p:cNvSpPr/>
          <p:nvPr/>
        </p:nvSpPr>
        <p:spPr>
          <a:xfrm>
            <a:off x="8366760" y="2148840"/>
            <a:ext cx="548640" cy="548640"/>
          </a:xfrm>
          <a:prstGeom prst="ellipse">
            <a:avLst/>
          </a:prstGeom>
          <a:solidFill>
            <a:srgbClr val="0A0A0A"/>
          </a:solidFill>
          <a:ln/>
        </p:spPr>
      </p:sp>
      <p:pic>
        <p:nvPicPr>
          <p:cNvPr id="17" name="Image 2" descr="C:\laragon\www\e-commerce\scripts\ppt\aset\ikon-Workflow-putih.png">    </p:cNvPr>
          <p:cNvPicPr>
            <a:picLocks noChangeAspect="1"/>
          </p:cNvPicPr>
          <p:nvPr/>
        </p:nvPicPr>
        <p:blipFill>
          <a:blip r:embed="rId3"/>
          <a:stretch>
            <a:fillRect/>
          </a:stretch>
        </p:blipFill>
        <p:spPr>
          <a:xfrm>
            <a:off x="8503920" y="2286000"/>
            <a:ext cx="274320" cy="274320"/>
          </a:xfrm>
          <a:prstGeom prst="rect">
            <a:avLst/>
          </a:prstGeom>
        </p:spPr>
      </p:pic>
      <p:sp>
        <p:nvSpPr>
          <p:cNvPr id="18" name="Text 13"/>
          <p:cNvSpPr txBox="1"/>
          <p:nvPr/>
        </p:nvSpPr>
        <p:spPr>
          <a:xfrm>
            <a:off x="909828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Prisma 7</a:t>
            </a:r>
            <a:endParaRPr lang="en-US" sz="1400" dirty="0"/>
          </a:p>
        </p:txBody>
      </p:sp>
      <p:sp>
        <p:nvSpPr>
          <p:cNvPr id="19" name="Text 14"/>
          <p:cNvSpPr txBox="1"/>
          <p:nvPr/>
        </p:nvSpPr>
        <p:spPr>
          <a:xfrm>
            <a:off x="909828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Query sebagai kode, migrasi, dan data demo.</a:t>
            </a:r>
            <a:endParaRPr lang="en-US" sz="1150" dirty="0"/>
          </a:p>
        </p:txBody>
      </p:sp>
      <p:sp>
        <p:nvSpPr>
          <p:cNvPr id="20" name="Shape 15"/>
          <p:cNvSpPr/>
          <p:nvPr/>
        </p:nvSpPr>
        <p:spPr>
          <a:xfrm>
            <a:off x="548640" y="3291840"/>
            <a:ext cx="3520440" cy="1252728"/>
          </a:xfrm>
          <a:prstGeom prst="roundRect">
            <a:avLst>
              <a:gd name="adj" fmla="val 16058"/>
            </a:avLst>
          </a:prstGeom>
          <a:solidFill>
            <a:srgbClr val="F3F3F3"/>
          </a:solidFill>
          <a:ln/>
        </p:spPr>
      </p:sp>
      <p:sp>
        <p:nvSpPr>
          <p:cNvPr id="21" name="Shape 16"/>
          <p:cNvSpPr/>
          <p:nvPr/>
        </p:nvSpPr>
        <p:spPr>
          <a:xfrm>
            <a:off x="777240" y="3566160"/>
            <a:ext cx="548640" cy="548640"/>
          </a:xfrm>
          <a:prstGeom prst="ellipse">
            <a:avLst/>
          </a:prstGeom>
          <a:solidFill>
            <a:srgbClr val="0A0A0A"/>
          </a:solidFill>
          <a:ln/>
        </p:spPr>
      </p:sp>
      <p:pic>
        <p:nvPicPr>
          <p:cNvPr id="22" name="Image 3" descr="C:\laragon\www\e-commerce\scripts\ppt\aset\ikon-Palette-putih.png">    </p:cNvPr>
          <p:cNvPicPr>
            <a:picLocks noChangeAspect="1"/>
          </p:cNvPicPr>
          <p:nvPr/>
        </p:nvPicPr>
        <p:blipFill>
          <a:blip r:embed="rId4"/>
          <a:stretch>
            <a:fillRect/>
          </a:stretch>
        </p:blipFill>
        <p:spPr>
          <a:xfrm>
            <a:off x="914400" y="3703320"/>
            <a:ext cx="274320" cy="274320"/>
          </a:xfrm>
          <a:prstGeom prst="rect">
            <a:avLst/>
          </a:prstGeom>
        </p:spPr>
      </p:pic>
      <p:sp>
        <p:nvSpPr>
          <p:cNvPr id="23" name="Text 17"/>
          <p:cNvSpPr txBox="1"/>
          <p:nvPr/>
        </p:nvSpPr>
        <p:spPr>
          <a:xfrm>
            <a:off x="150876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Tailwind 4 + shadcn/ui</a:t>
            </a:r>
            <a:endParaRPr lang="en-US" sz="1400" dirty="0"/>
          </a:p>
        </p:txBody>
      </p:sp>
      <p:sp>
        <p:nvSpPr>
          <p:cNvPr id="24" name="Text 18"/>
          <p:cNvSpPr txBox="1"/>
          <p:nvPr/>
        </p:nvSpPr>
        <p:spPr>
          <a:xfrm>
            <a:off x="150876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Komponen seragam, responsif, mode terang/gelap.</a:t>
            </a:r>
            <a:endParaRPr lang="en-US" sz="1150" dirty="0"/>
          </a:p>
        </p:txBody>
      </p:sp>
      <p:sp>
        <p:nvSpPr>
          <p:cNvPr id="25" name="Shape 19"/>
          <p:cNvSpPr/>
          <p:nvPr/>
        </p:nvSpPr>
        <p:spPr>
          <a:xfrm>
            <a:off x="4343400" y="3291840"/>
            <a:ext cx="3520440" cy="1252728"/>
          </a:xfrm>
          <a:prstGeom prst="roundRect">
            <a:avLst>
              <a:gd name="adj" fmla="val 16058"/>
            </a:avLst>
          </a:prstGeom>
          <a:solidFill>
            <a:srgbClr val="F3F3F3"/>
          </a:solidFill>
          <a:ln/>
        </p:spPr>
      </p:sp>
      <p:sp>
        <p:nvSpPr>
          <p:cNvPr id="26" name="Shape 20"/>
          <p:cNvSpPr/>
          <p:nvPr/>
        </p:nvSpPr>
        <p:spPr>
          <a:xfrm>
            <a:off x="4572000" y="3566160"/>
            <a:ext cx="548640" cy="548640"/>
          </a:xfrm>
          <a:prstGeom prst="ellipse">
            <a:avLst/>
          </a:prstGeom>
          <a:solidFill>
            <a:srgbClr val="0A0A0A"/>
          </a:solidFill>
          <a:ln/>
        </p:spPr>
      </p:sp>
      <p:pic>
        <p:nvPicPr>
          <p:cNvPr id="27" name="Image 4" descr="C:\laragon\www\e-commerce\scripts\ppt\aset\ikon-ShoppingCart-putih.png">    </p:cNvPr>
          <p:cNvPicPr>
            <a:picLocks noChangeAspect="1"/>
          </p:cNvPicPr>
          <p:nvPr/>
        </p:nvPicPr>
        <p:blipFill>
          <a:blip r:embed="rId5"/>
          <a:stretch>
            <a:fillRect/>
          </a:stretch>
        </p:blipFill>
        <p:spPr>
          <a:xfrm>
            <a:off x="4709160" y="3703320"/>
            <a:ext cx="274320" cy="274320"/>
          </a:xfrm>
          <a:prstGeom prst="rect">
            <a:avLst/>
          </a:prstGeom>
        </p:spPr>
      </p:pic>
      <p:sp>
        <p:nvSpPr>
          <p:cNvPr id="28" name="Text 21"/>
          <p:cNvSpPr txBox="1"/>
          <p:nvPr/>
        </p:nvSpPr>
        <p:spPr>
          <a:xfrm>
            <a:off x="530352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Zustand</a:t>
            </a:r>
            <a:endParaRPr lang="en-US" sz="1400" dirty="0"/>
          </a:p>
        </p:txBody>
      </p:sp>
      <p:sp>
        <p:nvSpPr>
          <p:cNvPr id="29" name="Text 22"/>
          <p:cNvSpPr txBox="1"/>
          <p:nvPr/>
        </p:nvSpPr>
        <p:spPr>
          <a:xfrm>
            <a:off x="530352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Keranjang tersimpan di browser walau halaman dimuat ulang.</a:t>
            </a:r>
            <a:endParaRPr lang="en-US" sz="1150" dirty="0"/>
          </a:p>
        </p:txBody>
      </p:sp>
      <p:sp>
        <p:nvSpPr>
          <p:cNvPr id="30" name="Shape 23"/>
          <p:cNvSpPr/>
          <p:nvPr/>
        </p:nvSpPr>
        <p:spPr>
          <a:xfrm>
            <a:off x="8138160" y="3291840"/>
            <a:ext cx="3520440" cy="1252728"/>
          </a:xfrm>
          <a:prstGeom prst="roundRect">
            <a:avLst>
              <a:gd name="adj" fmla="val 16058"/>
            </a:avLst>
          </a:prstGeom>
          <a:solidFill>
            <a:srgbClr val="F3F3F3"/>
          </a:solidFill>
          <a:ln/>
        </p:spPr>
      </p:sp>
      <p:sp>
        <p:nvSpPr>
          <p:cNvPr id="31" name="Shape 24"/>
          <p:cNvSpPr/>
          <p:nvPr/>
        </p:nvSpPr>
        <p:spPr>
          <a:xfrm>
            <a:off x="8366760" y="3566160"/>
            <a:ext cx="548640" cy="548640"/>
          </a:xfrm>
          <a:prstGeom prst="ellipse">
            <a:avLst/>
          </a:prstGeom>
          <a:solidFill>
            <a:srgbClr val="0A0A0A"/>
          </a:solidFill>
          <a:ln/>
        </p:spPr>
      </p:sp>
      <p:pic>
        <p:nvPicPr>
          <p:cNvPr id="32" name="Image 5" descr="C:\laragon\www\e-commerce\scripts\ppt\aset\ikon-ListChecks-putih.png">    </p:cNvPr>
          <p:cNvPicPr>
            <a:picLocks noChangeAspect="1"/>
          </p:cNvPicPr>
          <p:nvPr/>
        </p:nvPicPr>
        <p:blipFill>
          <a:blip r:embed="rId6"/>
          <a:stretch>
            <a:fillRect/>
          </a:stretch>
        </p:blipFill>
        <p:spPr>
          <a:xfrm>
            <a:off x="8503920" y="3703320"/>
            <a:ext cx="274320" cy="274320"/>
          </a:xfrm>
          <a:prstGeom prst="rect">
            <a:avLst/>
          </a:prstGeom>
        </p:spPr>
      </p:pic>
      <p:sp>
        <p:nvSpPr>
          <p:cNvPr id="33" name="Text 25"/>
          <p:cNvSpPr txBox="1"/>
          <p:nvPr/>
        </p:nvSpPr>
        <p:spPr>
          <a:xfrm>
            <a:off x="909828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React Hook Form + Zod</a:t>
            </a:r>
            <a:endParaRPr lang="en-US" sz="1400" dirty="0"/>
          </a:p>
        </p:txBody>
      </p:sp>
      <p:sp>
        <p:nvSpPr>
          <p:cNvPr id="34" name="Text 26"/>
          <p:cNvSpPr txBox="1"/>
          <p:nvPr/>
        </p:nvSpPr>
        <p:spPr>
          <a:xfrm>
            <a:off x="909828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Validasi yang sama di form dan di server.</a:t>
            </a:r>
            <a:endParaRPr lang="en-US" sz="1150" dirty="0"/>
          </a:p>
        </p:txBody>
      </p:sp>
      <p:sp>
        <p:nvSpPr>
          <p:cNvPr id="35" name="Shape 27"/>
          <p:cNvSpPr/>
          <p:nvPr/>
        </p:nvSpPr>
        <p:spPr>
          <a:xfrm>
            <a:off x="548640" y="4709160"/>
            <a:ext cx="3520440" cy="1252728"/>
          </a:xfrm>
          <a:prstGeom prst="roundRect">
            <a:avLst>
              <a:gd name="adj" fmla="val 16058"/>
            </a:avLst>
          </a:prstGeom>
          <a:solidFill>
            <a:srgbClr val="F3F3F3"/>
          </a:solidFill>
          <a:ln/>
        </p:spPr>
      </p:sp>
      <p:sp>
        <p:nvSpPr>
          <p:cNvPr id="36" name="Shape 28"/>
          <p:cNvSpPr/>
          <p:nvPr/>
        </p:nvSpPr>
        <p:spPr>
          <a:xfrm>
            <a:off x="777240" y="4983480"/>
            <a:ext cx="548640" cy="548640"/>
          </a:xfrm>
          <a:prstGeom prst="ellipse">
            <a:avLst/>
          </a:prstGeom>
          <a:solidFill>
            <a:srgbClr val="0A0A0A"/>
          </a:solidFill>
          <a:ln/>
        </p:spPr>
      </p:sp>
      <p:pic>
        <p:nvPicPr>
          <p:cNvPr id="37" name="Image 6" descr="C:\laragon\www\e-commerce\scripts\ppt\aset\ikon-KeyRound-putih.png">    </p:cNvPr>
          <p:cNvPicPr>
            <a:picLocks noChangeAspect="1"/>
          </p:cNvPicPr>
          <p:nvPr/>
        </p:nvPicPr>
        <p:blipFill>
          <a:blip r:embed="rId7"/>
          <a:stretch>
            <a:fillRect/>
          </a:stretch>
        </p:blipFill>
        <p:spPr>
          <a:xfrm>
            <a:off x="914400" y="5120640"/>
            <a:ext cx="274320" cy="274320"/>
          </a:xfrm>
          <a:prstGeom prst="rect">
            <a:avLst/>
          </a:prstGeom>
        </p:spPr>
      </p:pic>
      <p:sp>
        <p:nvSpPr>
          <p:cNvPr id="38" name="Text 29"/>
          <p:cNvSpPr txBox="1"/>
          <p:nvPr/>
        </p:nvSpPr>
        <p:spPr>
          <a:xfrm>
            <a:off x="150876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Argon2id + JWT</a:t>
            </a:r>
            <a:endParaRPr lang="en-US" sz="1400" dirty="0"/>
          </a:p>
        </p:txBody>
      </p:sp>
      <p:sp>
        <p:nvSpPr>
          <p:cNvPr id="39" name="Text 30"/>
          <p:cNvSpPr txBox="1"/>
          <p:nvPr/>
        </p:nvSpPr>
        <p:spPr>
          <a:xfrm>
            <a:off x="150876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Password di-hash modern; sesi di cookie httpOnly.</a:t>
            </a:r>
            <a:endParaRPr lang="en-US" sz="1150" dirty="0"/>
          </a:p>
        </p:txBody>
      </p:sp>
      <p:sp>
        <p:nvSpPr>
          <p:cNvPr id="40" name="Shape 31"/>
          <p:cNvSpPr/>
          <p:nvPr/>
        </p:nvSpPr>
        <p:spPr>
          <a:xfrm>
            <a:off x="4343400" y="4709160"/>
            <a:ext cx="3520440" cy="1252728"/>
          </a:xfrm>
          <a:prstGeom prst="roundRect">
            <a:avLst>
              <a:gd name="adj" fmla="val 16058"/>
            </a:avLst>
          </a:prstGeom>
          <a:solidFill>
            <a:srgbClr val="F3F3F3"/>
          </a:solidFill>
          <a:ln/>
        </p:spPr>
      </p:sp>
      <p:sp>
        <p:nvSpPr>
          <p:cNvPr id="41" name="Shape 32"/>
          <p:cNvSpPr/>
          <p:nvPr/>
        </p:nvSpPr>
        <p:spPr>
          <a:xfrm>
            <a:off x="4572000" y="4983480"/>
            <a:ext cx="548640" cy="548640"/>
          </a:xfrm>
          <a:prstGeom prst="ellipse">
            <a:avLst/>
          </a:prstGeom>
          <a:solidFill>
            <a:srgbClr val="0A0A0A"/>
          </a:solidFill>
          <a:ln/>
        </p:spPr>
      </p:sp>
      <p:pic>
        <p:nvPicPr>
          <p:cNvPr id="42" name="Image 7" descr="C:\laragon\www\e-commerce\scripts\ppt\aset\ikon-CreditCard-putih.png">    </p:cNvPr>
          <p:cNvPicPr>
            <a:picLocks noChangeAspect="1"/>
          </p:cNvPicPr>
          <p:nvPr/>
        </p:nvPicPr>
        <p:blipFill>
          <a:blip r:embed="rId8"/>
          <a:stretch>
            <a:fillRect/>
          </a:stretch>
        </p:blipFill>
        <p:spPr>
          <a:xfrm>
            <a:off x="4709160" y="5120640"/>
            <a:ext cx="274320" cy="274320"/>
          </a:xfrm>
          <a:prstGeom prst="rect">
            <a:avLst/>
          </a:prstGeom>
        </p:spPr>
      </p:pic>
      <p:sp>
        <p:nvSpPr>
          <p:cNvPr id="43" name="Text 33"/>
          <p:cNvSpPr txBox="1"/>
          <p:nvPr/>
        </p:nvSpPr>
        <p:spPr>
          <a:xfrm>
            <a:off x="530352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Midtrans Snap (sandbox)</a:t>
            </a:r>
            <a:endParaRPr lang="en-US" sz="1400" dirty="0"/>
          </a:p>
        </p:txBody>
      </p:sp>
      <p:sp>
        <p:nvSpPr>
          <p:cNvPr id="44" name="Text 34"/>
          <p:cNvSpPr txBox="1"/>
          <p:nvPr/>
        </p:nvSpPr>
        <p:spPr>
          <a:xfrm>
            <a:off x="530352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Bayar QRIS, BCA, Mandiri; tanpa SDK, cukup fetch.</a:t>
            </a:r>
            <a:endParaRPr lang="en-US" sz="1150" dirty="0"/>
          </a:p>
        </p:txBody>
      </p:sp>
      <p:sp>
        <p:nvSpPr>
          <p:cNvPr id="45" name="Shape 35"/>
          <p:cNvSpPr/>
          <p:nvPr/>
        </p:nvSpPr>
        <p:spPr>
          <a:xfrm>
            <a:off x="8138160" y="4709160"/>
            <a:ext cx="3520440" cy="1252728"/>
          </a:xfrm>
          <a:prstGeom prst="roundRect">
            <a:avLst>
              <a:gd name="adj" fmla="val 16058"/>
            </a:avLst>
          </a:prstGeom>
          <a:solidFill>
            <a:srgbClr val="F3F3F3"/>
          </a:solidFill>
          <a:ln/>
        </p:spPr>
      </p:sp>
      <p:sp>
        <p:nvSpPr>
          <p:cNvPr id="46" name="Shape 36"/>
          <p:cNvSpPr/>
          <p:nvPr/>
        </p:nvSpPr>
        <p:spPr>
          <a:xfrm>
            <a:off x="8366760" y="4983480"/>
            <a:ext cx="548640" cy="548640"/>
          </a:xfrm>
          <a:prstGeom prst="ellipse">
            <a:avLst/>
          </a:prstGeom>
          <a:solidFill>
            <a:srgbClr val="0A0A0A"/>
          </a:solidFill>
          <a:ln/>
        </p:spPr>
      </p:sp>
      <p:pic>
        <p:nvPicPr>
          <p:cNvPr id="47" name="Image 8" descr="C:\laragon\www\e-commerce\scripts\ppt\aset\ikon-Sparkles-putih.png">    </p:cNvPr>
          <p:cNvPicPr>
            <a:picLocks noChangeAspect="1"/>
          </p:cNvPicPr>
          <p:nvPr/>
        </p:nvPicPr>
        <p:blipFill>
          <a:blip r:embed="rId9"/>
          <a:stretch>
            <a:fillRect/>
          </a:stretch>
        </p:blipFill>
        <p:spPr>
          <a:xfrm>
            <a:off x="8503920" y="5120640"/>
            <a:ext cx="274320" cy="274320"/>
          </a:xfrm>
          <a:prstGeom prst="rect">
            <a:avLst/>
          </a:prstGeom>
        </p:spPr>
      </p:pic>
      <p:sp>
        <p:nvSpPr>
          <p:cNvPr id="48" name="Text 37"/>
          <p:cNvSpPr txBox="1"/>
          <p:nvPr/>
        </p:nvSpPr>
        <p:spPr>
          <a:xfrm>
            <a:off x="909828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Gemini + Groq</a:t>
            </a:r>
            <a:endParaRPr lang="en-US" sz="1400" dirty="0"/>
          </a:p>
        </p:txBody>
      </p:sp>
      <p:sp>
        <p:nvSpPr>
          <p:cNvPr id="49" name="Text 38"/>
          <p:cNvSpPr txBox="1"/>
          <p:nvPr/>
        </p:nvSpPr>
        <p:spPr>
          <a:xfrm>
            <a:off x="909828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Asisten AI gratis tanpa kartu, cadangan otomatis.</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411480"/>
            <a:ext cx="1889150" cy="292608"/>
          </a:xfrm>
          <a:prstGeom prst="roundRect">
            <a:avLst>
              <a:gd name="adj" fmla="val 50000"/>
            </a:avLst>
          </a:prstGeom>
          <a:solidFill>
            <a:srgbClr val="F3F3F3"/>
          </a:solidFill>
          <a:ln/>
        </p:spPr>
      </p:sp>
      <p:sp>
        <p:nvSpPr>
          <p:cNvPr id="3" name="Text 1"/>
          <p:cNvSpPr txBox="1"/>
          <p:nvPr/>
        </p:nvSpPr>
        <p:spPr>
          <a:xfrm>
            <a:off x="548640" y="411480"/>
            <a:ext cx="1889150"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ARSITEKTUR SISTEM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Bagaimana semua bagian terhubung</a:t>
            </a:r>
            <a:endParaRPr lang="en-US" sz="3000" dirty="0"/>
          </a:p>
        </p:txBody>
      </p:sp>
      <p:sp>
        <p:nvSpPr>
          <p:cNvPr id="5" name="Shape 3"/>
          <p:cNvSpPr/>
          <p:nvPr/>
        </p:nvSpPr>
        <p:spPr>
          <a:xfrm>
            <a:off x="548640" y="1874520"/>
            <a:ext cx="2148840" cy="2743200"/>
          </a:xfrm>
          <a:prstGeom prst="roundRect">
            <a:avLst>
              <a:gd name="adj" fmla="val 9362"/>
            </a:avLst>
          </a:prstGeom>
          <a:solidFill>
            <a:srgbClr val="F3F3F3"/>
          </a:solidFill>
          <a:ln/>
        </p:spPr>
      </p:sp>
      <p:sp>
        <p:nvSpPr>
          <p:cNvPr id="6" name="Text 4"/>
          <p:cNvSpPr txBox="1"/>
          <p:nvPr/>
        </p:nvSpPr>
        <p:spPr>
          <a:xfrm>
            <a:off x="777240" y="2103120"/>
            <a:ext cx="18288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PENGGUNA</a:t>
            </a:r>
            <a:endParaRPr lang="en-US" sz="950" dirty="0"/>
          </a:p>
        </p:txBody>
      </p:sp>
      <p:sp>
        <p:nvSpPr>
          <p:cNvPr id="7" name="Shape 5"/>
          <p:cNvSpPr/>
          <p:nvPr/>
        </p:nvSpPr>
        <p:spPr>
          <a:xfrm>
            <a:off x="777240" y="2514600"/>
            <a:ext cx="548640" cy="548640"/>
          </a:xfrm>
          <a:prstGeom prst="ellipse">
            <a:avLst/>
          </a:prstGeom>
          <a:solidFill>
            <a:srgbClr val="0A0A0A"/>
          </a:solidFill>
          <a:ln/>
        </p:spPr>
      </p:sp>
      <p:pic>
        <p:nvPicPr>
          <p:cNvPr id="8" name="Image 0" descr="C:\laragon\www\e-commerce\scripts\ppt\aset\ikon-User-putih.png">    </p:cNvPr>
          <p:cNvPicPr>
            <a:picLocks noChangeAspect="1"/>
          </p:cNvPicPr>
          <p:nvPr/>
        </p:nvPicPr>
        <p:blipFill>
          <a:blip r:embed="rId1"/>
          <a:stretch>
            <a:fillRect/>
          </a:stretch>
        </p:blipFill>
        <p:spPr>
          <a:xfrm>
            <a:off x="914400" y="2651760"/>
            <a:ext cx="274320" cy="274320"/>
          </a:xfrm>
          <a:prstGeom prst="rect">
            <a:avLst/>
          </a:prstGeom>
        </p:spPr>
      </p:pic>
      <p:sp>
        <p:nvSpPr>
          <p:cNvPr id="9" name="Text 6"/>
          <p:cNvSpPr txBox="1"/>
          <p:nvPr/>
        </p:nvSpPr>
        <p:spPr>
          <a:xfrm>
            <a:off x="1417320" y="2606040"/>
            <a:ext cx="1188720" cy="36576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Pembeli</a:t>
            </a:r>
            <a:endParaRPr lang="en-US" sz="1300" dirty="0"/>
          </a:p>
        </p:txBody>
      </p:sp>
      <p:sp>
        <p:nvSpPr>
          <p:cNvPr id="10" name="Shape 7"/>
          <p:cNvSpPr/>
          <p:nvPr/>
        </p:nvSpPr>
        <p:spPr>
          <a:xfrm>
            <a:off x="777240" y="3429000"/>
            <a:ext cx="548640" cy="548640"/>
          </a:xfrm>
          <a:prstGeom prst="ellipse">
            <a:avLst/>
          </a:prstGeom>
          <a:solidFill>
            <a:srgbClr val="0A0A0A"/>
          </a:solidFill>
          <a:ln/>
        </p:spPr>
      </p:sp>
      <p:pic>
        <p:nvPicPr>
          <p:cNvPr id="11" name="Image 1" descr="C:\laragon\www\e-commerce\scripts\ppt\aset\ikon-UserCog-putih.png">    </p:cNvPr>
          <p:cNvPicPr>
            <a:picLocks noChangeAspect="1"/>
          </p:cNvPicPr>
          <p:nvPr/>
        </p:nvPicPr>
        <p:blipFill>
          <a:blip r:embed="rId2"/>
          <a:stretch>
            <a:fillRect/>
          </a:stretch>
        </p:blipFill>
        <p:spPr>
          <a:xfrm>
            <a:off x="914400" y="3566160"/>
            <a:ext cx="274320" cy="274320"/>
          </a:xfrm>
          <a:prstGeom prst="rect">
            <a:avLst/>
          </a:prstGeom>
        </p:spPr>
      </p:pic>
      <p:sp>
        <p:nvSpPr>
          <p:cNvPr id="12" name="Text 8"/>
          <p:cNvSpPr txBox="1"/>
          <p:nvPr/>
        </p:nvSpPr>
        <p:spPr>
          <a:xfrm>
            <a:off x="1417320" y="3520440"/>
            <a:ext cx="1188720" cy="36576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Admin toko</a:t>
            </a:r>
            <a:endParaRPr lang="en-US" sz="1300" dirty="0"/>
          </a:p>
        </p:txBody>
      </p:sp>
      <p:sp>
        <p:nvSpPr>
          <p:cNvPr id="13" name="Shape 9"/>
          <p:cNvSpPr/>
          <p:nvPr/>
        </p:nvSpPr>
        <p:spPr>
          <a:xfrm>
            <a:off x="2788920" y="3246120"/>
            <a:ext cx="411480" cy="0"/>
          </a:xfrm>
          <a:prstGeom prst="line">
            <a:avLst/>
          </a:prstGeom>
          <a:noFill/>
          <a:ln w="19050">
            <a:solidFill>
              <a:srgbClr val="5C5C5C"/>
            </a:solidFill>
            <a:prstDash val="solid"/>
            <a:tailEnd type="triangle"/>
          </a:ln>
        </p:spPr>
      </p:sp>
      <p:sp>
        <p:nvSpPr>
          <p:cNvPr id="14" name="Shape 10"/>
          <p:cNvSpPr/>
          <p:nvPr/>
        </p:nvSpPr>
        <p:spPr>
          <a:xfrm>
            <a:off x="3291840" y="1874520"/>
            <a:ext cx="4937760" cy="2743200"/>
          </a:xfrm>
          <a:prstGeom prst="roundRect">
            <a:avLst>
              <a:gd name="adj" fmla="val 7333"/>
            </a:avLst>
          </a:prstGeom>
          <a:solidFill>
            <a:srgbClr val="0A0A0A"/>
          </a:solidFill>
          <a:ln/>
        </p:spPr>
      </p:sp>
      <p:sp>
        <p:nvSpPr>
          <p:cNvPr id="15" name="Text 11"/>
          <p:cNvSpPr txBox="1"/>
          <p:nvPr/>
        </p:nvSpPr>
        <p:spPr>
          <a:xfrm>
            <a:off x="3566160" y="2103120"/>
            <a:ext cx="4572000" cy="228600"/>
          </a:xfrm>
          <a:prstGeom prst="rect">
            <a:avLst/>
          </a:prstGeom>
          <a:noFill/>
          <a:ln/>
        </p:spPr>
        <p:txBody>
          <a:bodyPr wrap="square" lIns="0" tIns="0" rIns="0" bIns="0" rtlCol="0" anchor="t"/>
          <a:lstStyle/>
          <a:p>
            <a:pPr indent="0" marL="0">
              <a:buNone/>
            </a:pPr>
            <a:r>
              <a:rPr lang="en-US" sz="950" spc="150" kern="0" dirty="0">
                <a:solidFill>
                  <a:srgbClr val="A3A3A3"/>
                </a:solidFill>
                <a:latin typeface="Segoe UI Semibold" pitchFamily="34" charset="0"/>
                <a:ea typeface="Segoe UI Semibold" pitchFamily="34" charset="-122"/>
                <a:cs typeface="Segoe UI Semibold" pitchFamily="34" charset="-120"/>
              </a:rPr>
              <a:t>APLIKASI NEXT.JS · VERCEL (SIN1)</a:t>
            </a:r>
            <a:endParaRPr lang="en-US" sz="950" dirty="0"/>
          </a:p>
        </p:txBody>
      </p:sp>
      <p:sp>
        <p:nvSpPr>
          <p:cNvPr id="16" name="Text 12"/>
          <p:cNvSpPr txBox="1"/>
          <p:nvPr/>
        </p:nvSpPr>
        <p:spPr>
          <a:xfrm>
            <a:off x="3566160" y="2514600"/>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Halaman</a:t>
            </a:r>
            <a:endParaRPr lang="en-US" sz="1300" dirty="0"/>
          </a:p>
        </p:txBody>
      </p:sp>
      <p:sp>
        <p:nvSpPr>
          <p:cNvPr id="17" name="Text 13"/>
          <p:cNvSpPr txBox="1"/>
          <p:nvPr/>
        </p:nvSpPr>
        <p:spPr>
          <a:xfrm>
            <a:off x="5074920" y="2532888"/>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Server Components: beranda, katalog, akun, admin</a:t>
            </a:r>
            <a:endParaRPr lang="en-US" sz="1100" dirty="0"/>
          </a:p>
        </p:txBody>
      </p:sp>
      <p:sp>
        <p:nvSpPr>
          <p:cNvPr id="18" name="Text 14"/>
          <p:cNvSpPr txBox="1"/>
          <p:nvPr/>
        </p:nvSpPr>
        <p:spPr>
          <a:xfrm>
            <a:off x="3566160" y="3172968"/>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Server Actions</a:t>
            </a:r>
            <a:endParaRPr lang="en-US" sz="1300" dirty="0"/>
          </a:p>
        </p:txBody>
      </p:sp>
      <p:sp>
        <p:nvSpPr>
          <p:cNvPr id="19" name="Text 15"/>
          <p:cNvSpPr txBox="1"/>
          <p:nvPr/>
        </p:nvSpPr>
        <p:spPr>
          <a:xfrm>
            <a:off x="5074920" y="3191256"/>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Satu-satunya jalur ubah data: login, checkout, promo, status, asisten</a:t>
            </a:r>
            <a:endParaRPr lang="en-US" sz="1100" dirty="0"/>
          </a:p>
        </p:txBody>
      </p:sp>
      <p:sp>
        <p:nvSpPr>
          <p:cNvPr id="20" name="Text 16"/>
          <p:cNvSpPr txBox="1"/>
          <p:nvPr/>
        </p:nvSpPr>
        <p:spPr>
          <a:xfrm>
            <a:off x="3566160" y="3831336"/>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Route Handler</a:t>
            </a:r>
            <a:endParaRPr lang="en-US" sz="1300" dirty="0"/>
          </a:p>
        </p:txBody>
      </p:sp>
      <p:sp>
        <p:nvSpPr>
          <p:cNvPr id="21" name="Text 17"/>
          <p:cNvSpPr txBox="1"/>
          <p:nvPr/>
        </p:nvSpPr>
        <p:spPr>
          <a:xfrm>
            <a:off x="5074920" y="3849624"/>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/api/search · /api/cron/orders · /api/payment/midtrans</a:t>
            </a:r>
            <a:endParaRPr lang="en-US" sz="1100" dirty="0"/>
          </a:p>
        </p:txBody>
      </p:sp>
      <p:sp>
        <p:nvSpPr>
          <p:cNvPr id="22" name="Shape 18"/>
          <p:cNvSpPr/>
          <p:nvPr/>
        </p:nvSpPr>
        <p:spPr>
          <a:xfrm>
            <a:off x="8321040" y="3246120"/>
            <a:ext cx="411480" cy="0"/>
          </a:xfrm>
          <a:prstGeom prst="line">
            <a:avLst/>
          </a:prstGeom>
          <a:noFill/>
          <a:ln w="19050">
            <a:solidFill>
              <a:srgbClr val="5C5C5C"/>
            </a:solidFill>
            <a:prstDash val="solid"/>
            <a:tailEnd type="triangle"/>
          </a:ln>
        </p:spPr>
      </p:sp>
      <p:sp>
        <p:nvSpPr>
          <p:cNvPr id="23" name="Shape 19"/>
          <p:cNvSpPr/>
          <p:nvPr/>
        </p:nvSpPr>
        <p:spPr>
          <a:xfrm>
            <a:off x="8823960" y="1874520"/>
            <a:ext cx="2816352" cy="2743200"/>
          </a:xfrm>
          <a:prstGeom prst="roundRect">
            <a:avLst>
              <a:gd name="adj" fmla="val 7333"/>
            </a:avLst>
          </a:prstGeom>
          <a:solidFill>
            <a:srgbClr val="F3F3F3"/>
          </a:solidFill>
          <a:ln/>
        </p:spPr>
      </p:sp>
      <p:sp>
        <p:nvSpPr>
          <p:cNvPr id="24" name="Text 20"/>
          <p:cNvSpPr txBox="1"/>
          <p:nvPr/>
        </p:nvSpPr>
        <p:spPr>
          <a:xfrm>
            <a:off x="9052560" y="2103120"/>
            <a:ext cx="18288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DATA</a:t>
            </a:r>
            <a:endParaRPr lang="en-US" sz="950" dirty="0"/>
          </a:p>
        </p:txBody>
      </p:sp>
      <p:sp>
        <p:nvSpPr>
          <p:cNvPr id="25" name="Shape 21"/>
          <p:cNvSpPr/>
          <p:nvPr/>
        </p:nvSpPr>
        <p:spPr>
          <a:xfrm>
            <a:off x="9052560" y="2514600"/>
            <a:ext cx="548640" cy="548640"/>
          </a:xfrm>
          <a:prstGeom prst="ellipse">
            <a:avLst/>
          </a:prstGeom>
          <a:solidFill>
            <a:srgbClr val="0A0A0A"/>
          </a:solidFill>
          <a:ln/>
        </p:spPr>
      </p:sp>
      <p:pic>
        <p:nvPicPr>
          <p:cNvPr id="26" name="Image 2" descr="C:\laragon\www\e-commerce\scripts\ppt\aset\ikon-Database-putih.png">    </p:cNvPr>
          <p:cNvPicPr>
            <a:picLocks noChangeAspect="1"/>
          </p:cNvPicPr>
          <p:nvPr/>
        </p:nvPicPr>
        <p:blipFill>
          <a:blip r:embed="rId3"/>
          <a:stretch>
            <a:fillRect/>
          </a:stretch>
        </p:blipFill>
        <p:spPr>
          <a:xfrm>
            <a:off x="9189720" y="2651760"/>
            <a:ext cx="274320" cy="274320"/>
          </a:xfrm>
          <a:prstGeom prst="rect">
            <a:avLst/>
          </a:prstGeom>
        </p:spPr>
      </p:pic>
      <p:sp>
        <p:nvSpPr>
          <p:cNvPr id="27" name="Text 22"/>
          <p:cNvSpPr txBox="1"/>
          <p:nvPr/>
        </p:nvSpPr>
        <p:spPr>
          <a:xfrm>
            <a:off x="9692640" y="2514600"/>
            <a:ext cx="1828800" cy="2743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Prisma 7 → MySQL</a:t>
            </a:r>
            <a:endParaRPr lang="en-US" sz="1300" dirty="0"/>
          </a:p>
        </p:txBody>
      </p:sp>
      <p:sp>
        <p:nvSpPr>
          <p:cNvPr id="28" name="Text 23"/>
          <p:cNvSpPr txBox="1"/>
          <p:nvPr/>
        </p:nvSpPr>
        <p:spPr>
          <a:xfrm>
            <a:off x="9692640" y="2788920"/>
            <a:ext cx="182880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Aiven, TLS terverifikasi</a:t>
            </a:r>
            <a:endParaRPr lang="en-US" sz="1100" dirty="0"/>
          </a:p>
        </p:txBody>
      </p:sp>
      <p:sp>
        <p:nvSpPr>
          <p:cNvPr id="29" name="Text 24"/>
          <p:cNvSpPr txBox="1"/>
          <p:nvPr/>
        </p:nvSpPr>
        <p:spPr>
          <a:xfrm>
            <a:off x="9052560" y="3337560"/>
            <a:ext cx="2423160" cy="109728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15 tabel bisnis + 1 tabel pembatas percobaan. Harga &amp; stok selalu dihitung ulang di server.</a:t>
            </a:r>
            <a:endParaRPr lang="en-US" sz="1100" dirty="0"/>
          </a:p>
        </p:txBody>
      </p:sp>
      <p:sp>
        <p:nvSpPr>
          <p:cNvPr id="30" name="Text 25"/>
          <p:cNvSpPr txBox="1"/>
          <p:nvPr/>
        </p:nvSpPr>
        <p:spPr>
          <a:xfrm>
            <a:off x="548640" y="4892040"/>
            <a:ext cx="36576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LAYANAN PENDUKUNG</a:t>
            </a:r>
            <a:endParaRPr lang="en-US" sz="950" dirty="0"/>
          </a:p>
        </p:txBody>
      </p:sp>
      <p:sp>
        <p:nvSpPr>
          <p:cNvPr id="31" name="Shape 26"/>
          <p:cNvSpPr/>
          <p:nvPr/>
        </p:nvSpPr>
        <p:spPr>
          <a:xfrm>
            <a:off x="548640" y="5212080"/>
            <a:ext cx="2084832" cy="868680"/>
          </a:xfrm>
          <a:prstGeom prst="roundRect">
            <a:avLst>
              <a:gd name="adj" fmla="val 23158"/>
            </a:avLst>
          </a:prstGeom>
          <a:solidFill>
            <a:srgbClr val="F3F3F3"/>
          </a:solidFill>
          <a:ln/>
        </p:spPr>
      </p:sp>
      <p:sp>
        <p:nvSpPr>
          <p:cNvPr id="32" name="Shape 27"/>
          <p:cNvSpPr/>
          <p:nvPr/>
        </p:nvSpPr>
        <p:spPr>
          <a:xfrm>
            <a:off x="731520" y="5376672"/>
            <a:ext cx="530352" cy="530352"/>
          </a:xfrm>
          <a:prstGeom prst="ellipse">
            <a:avLst/>
          </a:prstGeom>
          <a:solidFill>
            <a:srgbClr val="0A0A0A"/>
          </a:solidFill>
          <a:ln/>
        </p:spPr>
      </p:sp>
      <p:pic>
        <p:nvPicPr>
          <p:cNvPr id="33" name="Image 3" descr="C:\laragon\www\e-commerce\scripts\ppt\aset\ikon-Image-putih.png">    </p:cNvPr>
          <p:cNvPicPr>
            <a:picLocks noChangeAspect="1"/>
          </p:cNvPicPr>
          <p:nvPr/>
        </p:nvPicPr>
        <p:blipFill>
          <a:blip r:embed="rId4"/>
          <a:stretch>
            <a:fillRect/>
          </a:stretch>
        </p:blipFill>
        <p:spPr>
          <a:xfrm>
            <a:off x="864108" y="5509260"/>
            <a:ext cx="265176" cy="265176"/>
          </a:xfrm>
          <a:prstGeom prst="rect">
            <a:avLst/>
          </a:prstGeom>
        </p:spPr>
      </p:pic>
      <p:sp>
        <p:nvSpPr>
          <p:cNvPr id="34" name="Text 28"/>
          <p:cNvSpPr txBox="1"/>
          <p:nvPr/>
        </p:nvSpPr>
        <p:spPr>
          <a:xfrm>
            <a:off x="137160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Vercel Blob</a:t>
            </a:r>
            <a:endParaRPr lang="en-US" sz="1200" dirty="0"/>
          </a:p>
        </p:txBody>
      </p:sp>
      <p:sp>
        <p:nvSpPr>
          <p:cNvPr id="35" name="Text 29"/>
          <p:cNvSpPr txBox="1"/>
          <p:nvPr/>
        </p:nvSpPr>
        <p:spPr>
          <a:xfrm>
            <a:off x="137160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Gambar produk &amp; ulasan</a:t>
            </a:r>
            <a:endParaRPr lang="en-US" sz="950" dirty="0"/>
          </a:p>
        </p:txBody>
      </p:sp>
      <p:sp>
        <p:nvSpPr>
          <p:cNvPr id="36" name="Shape 30"/>
          <p:cNvSpPr/>
          <p:nvPr/>
        </p:nvSpPr>
        <p:spPr>
          <a:xfrm>
            <a:off x="2788920" y="5212080"/>
            <a:ext cx="2084832" cy="868680"/>
          </a:xfrm>
          <a:prstGeom prst="roundRect">
            <a:avLst>
              <a:gd name="adj" fmla="val 23158"/>
            </a:avLst>
          </a:prstGeom>
          <a:solidFill>
            <a:srgbClr val="F3F3F3"/>
          </a:solidFill>
          <a:ln/>
        </p:spPr>
      </p:sp>
      <p:sp>
        <p:nvSpPr>
          <p:cNvPr id="37" name="Shape 31"/>
          <p:cNvSpPr/>
          <p:nvPr/>
        </p:nvSpPr>
        <p:spPr>
          <a:xfrm>
            <a:off x="2971800" y="5376672"/>
            <a:ext cx="530352" cy="530352"/>
          </a:xfrm>
          <a:prstGeom prst="ellipse">
            <a:avLst/>
          </a:prstGeom>
          <a:solidFill>
            <a:srgbClr val="0A0A0A"/>
          </a:solidFill>
          <a:ln/>
        </p:spPr>
      </p:sp>
      <p:pic>
        <p:nvPicPr>
          <p:cNvPr id="38" name="Image 4" descr="C:\laragon\www\e-commerce\scripts\ppt\aset\ikon-Mail-putih.png">    </p:cNvPr>
          <p:cNvPicPr>
            <a:picLocks noChangeAspect="1"/>
          </p:cNvPicPr>
          <p:nvPr/>
        </p:nvPicPr>
        <p:blipFill>
          <a:blip r:embed="rId5"/>
          <a:stretch>
            <a:fillRect/>
          </a:stretch>
        </p:blipFill>
        <p:spPr>
          <a:xfrm>
            <a:off x="3104388" y="5509260"/>
            <a:ext cx="265176" cy="265176"/>
          </a:xfrm>
          <a:prstGeom prst="rect">
            <a:avLst/>
          </a:prstGeom>
        </p:spPr>
      </p:pic>
      <p:sp>
        <p:nvSpPr>
          <p:cNvPr id="39" name="Text 32"/>
          <p:cNvSpPr txBox="1"/>
          <p:nvPr/>
        </p:nvSpPr>
        <p:spPr>
          <a:xfrm>
            <a:off x="361188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Gmail SMTP</a:t>
            </a:r>
            <a:endParaRPr lang="en-US" sz="1200" dirty="0"/>
          </a:p>
        </p:txBody>
      </p:sp>
      <p:sp>
        <p:nvSpPr>
          <p:cNvPr id="40" name="Text 33"/>
          <p:cNvSpPr txBox="1"/>
          <p:nvPr/>
        </p:nvSpPr>
        <p:spPr>
          <a:xfrm>
            <a:off x="361188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Invoice &amp; reset password</a:t>
            </a:r>
            <a:endParaRPr lang="en-US" sz="950" dirty="0"/>
          </a:p>
        </p:txBody>
      </p:sp>
      <p:sp>
        <p:nvSpPr>
          <p:cNvPr id="41" name="Shape 34"/>
          <p:cNvSpPr/>
          <p:nvPr/>
        </p:nvSpPr>
        <p:spPr>
          <a:xfrm>
            <a:off x="5029200" y="5212080"/>
            <a:ext cx="2084832" cy="868680"/>
          </a:xfrm>
          <a:prstGeom prst="roundRect">
            <a:avLst>
              <a:gd name="adj" fmla="val 23158"/>
            </a:avLst>
          </a:prstGeom>
          <a:solidFill>
            <a:srgbClr val="F3F3F3"/>
          </a:solidFill>
          <a:ln/>
        </p:spPr>
      </p:sp>
      <p:sp>
        <p:nvSpPr>
          <p:cNvPr id="42" name="Shape 35"/>
          <p:cNvSpPr/>
          <p:nvPr/>
        </p:nvSpPr>
        <p:spPr>
          <a:xfrm>
            <a:off x="5212080" y="5376672"/>
            <a:ext cx="530352" cy="530352"/>
          </a:xfrm>
          <a:prstGeom prst="ellipse">
            <a:avLst/>
          </a:prstGeom>
          <a:solidFill>
            <a:srgbClr val="0A0A0A"/>
          </a:solidFill>
          <a:ln/>
        </p:spPr>
      </p:sp>
      <p:pic>
        <p:nvPicPr>
          <p:cNvPr id="43" name="Image 5" descr="C:\laragon\www\e-commerce\scripts\ppt\aset\ikon-CreditCard-putih.png">    </p:cNvPr>
          <p:cNvPicPr>
            <a:picLocks noChangeAspect="1"/>
          </p:cNvPicPr>
          <p:nvPr/>
        </p:nvPicPr>
        <p:blipFill>
          <a:blip r:embed="rId6"/>
          <a:stretch>
            <a:fillRect/>
          </a:stretch>
        </p:blipFill>
        <p:spPr>
          <a:xfrm>
            <a:off x="5344668" y="5509260"/>
            <a:ext cx="265176" cy="265176"/>
          </a:xfrm>
          <a:prstGeom prst="rect">
            <a:avLst/>
          </a:prstGeom>
        </p:spPr>
      </p:pic>
      <p:sp>
        <p:nvSpPr>
          <p:cNvPr id="44" name="Text 36"/>
          <p:cNvSpPr txBox="1"/>
          <p:nvPr/>
        </p:nvSpPr>
        <p:spPr>
          <a:xfrm>
            <a:off x="585216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Midtrans</a:t>
            </a:r>
            <a:endParaRPr lang="en-US" sz="1200" dirty="0"/>
          </a:p>
        </p:txBody>
      </p:sp>
      <p:sp>
        <p:nvSpPr>
          <p:cNvPr id="45" name="Text 37"/>
          <p:cNvSpPr txBox="1"/>
          <p:nvPr/>
        </p:nvSpPr>
        <p:spPr>
          <a:xfrm>
            <a:off x="585216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Snap sandbox + webhook</a:t>
            </a:r>
            <a:endParaRPr lang="en-US" sz="950" dirty="0"/>
          </a:p>
        </p:txBody>
      </p:sp>
      <p:sp>
        <p:nvSpPr>
          <p:cNvPr id="46" name="Shape 38"/>
          <p:cNvSpPr/>
          <p:nvPr/>
        </p:nvSpPr>
        <p:spPr>
          <a:xfrm>
            <a:off x="7269480" y="5212080"/>
            <a:ext cx="2084832" cy="868680"/>
          </a:xfrm>
          <a:prstGeom prst="roundRect">
            <a:avLst>
              <a:gd name="adj" fmla="val 23158"/>
            </a:avLst>
          </a:prstGeom>
          <a:solidFill>
            <a:srgbClr val="F3F3F3"/>
          </a:solidFill>
          <a:ln/>
        </p:spPr>
      </p:sp>
      <p:sp>
        <p:nvSpPr>
          <p:cNvPr id="47" name="Shape 39"/>
          <p:cNvSpPr/>
          <p:nvPr/>
        </p:nvSpPr>
        <p:spPr>
          <a:xfrm>
            <a:off x="7452360" y="5376672"/>
            <a:ext cx="530352" cy="530352"/>
          </a:xfrm>
          <a:prstGeom prst="ellipse">
            <a:avLst/>
          </a:prstGeom>
          <a:solidFill>
            <a:srgbClr val="0A0A0A"/>
          </a:solidFill>
          <a:ln/>
        </p:spPr>
      </p:sp>
      <p:pic>
        <p:nvPicPr>
          <p:cNvPr id="48" name="Image 6" descr="C:\laragon\www\e-commerce\scripts\ppt\aset\ikon-Clock-putih.png">    </p:cNvPr>
          <p:cNvPicPr>
            <a:picLocks noChangeAspect="1"/>
          </p:cNvPicPr>
          <p:nvPr/>
        </p:nvPicPr>
        <p:blipFill>
          <a:blip r:embed="rId7"/>
          <a:stretch>
            <a:fillRect/>
          </a:stretch>
        </p:blipFill>
        <p:spPr>
          <a:xfrm>
            <a:off x="7584948" y="5509260"/>
            <a:ext cx="265176" cy="265176"/>
          </a:xfrm>
          <a:prstGeom prst="rect">
            <a:avLst/>
          </a:prstGeom>
        </p:spPr>
      </p:pic>
      <p:sp>
        <p:nvSpPr>
          <p:cNvPr id="49" name="Text 40"/>
          <p:cNvSpPr txBox="1"/>
          <p:nvPr/>
        </p:nvSpPr>
        <p:spPr>
          <a:xfrm>
            <a:off x="809244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Cron &amp; backup</a:t>
            </a:r>
            <a:endParaRPr lang="en-US" sz="1200" dirty="0"/>
          </a:p>
        </p:txBody>
      </p:sp>
      <p:sp>
        <p:nvSpPr>
          <p:cNvPr id="50" name="Text 41"/>
          <p:cNvSpPr txBox="1"/>
          <p:nvPr/>
        </p:nvSpPr>
        <p:spPr>
          <a:xfrm>
            <a:off x="809244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Pesanan tiap jam, backup harian</a:t>
            </a:r>
            <a:endParaRPr lang="en-US" sz="950" dirty="0"/>
          </a:p>
        </p:txBody>
      </p:sp>
      <p:sp>
        <p:nvSpPr>
          <p:cNvPr id="51" name="Shape 42"/>
          <p:cNvSpPr/>
          <p:nvPr/>
        </p:nvSpPr>
        <p:spPr>
          <a:xfrm>
            <a:off x="9509760" y="5212080"/>
            <a:ext cx="2084832" cy="868680"/>
          </a:xfrm>
          <a:prstGeom prst="roundRect">
            <a:avLst>
              <a:gd name="adj" fmla="val 23158"/>
            </a:avLst>
          </a:prstGeom>
          <a:solidFill>
            <a:srgbClr val="F3F3F3"/>
          </a:solidFill>
          <a:ln/>
        </p:spPr>
      </p:sp>
      <p:sp>
        <p:nvSpPr>
          <p:cNvPr id="52" name="Shape 43"/>
          <p:cNvSpPr/>
          <p:nvPr/>
        </p:nvSpPr>
        <p:spPr>
          <a:xfrm>
            <a:off x="9692640" y="5376672"/>
            <a:ext cx="530352" cy="530352"/>
          </a:xfrm>
          <a:prstGeom prst="ellipse">
            <a:avLst/>
          </a:prstGeom>
          <a:solidFill>
            <a:srgbClr val="0A0A0A"/>
          </a:solidFill>
          <a:ln/>
        </p:spPr>
      </p:sp>
      <p:pic>
        <p:nvPicPr>
          <p:cNvPr id="53" name="Image 7" descr="C:\laragon\www\e-commerce\scripts\ppt\aset\ikon-Bot-putih.png">    </p:cNvPr>
          <p:cNvPicPr>
            <a:picLocks noChangeAspect="1"/>
          </p:cNvPicPr>
          <p:nvPr/>
        </p:nvPicPr>
        <p:blipFill>
          <a:blip r:embed="rId8"/>
          <a:stretch>
            <a:fillRect/>
          </a:stretch>
        </p:blipFill>
        <p:spPr>
          <a:xfrm>
            <a:off x="9825228" y="5509260"/>
            <a:ext cx="265176" cy="265176"/>
          </a:xfrm>
          <a:prstGeom prst="rect">
            <a:avLst/>
          </a:prstGeom>
        </p:spPr>
      </p:pic>
      <p:sp>
        <p:nvSpPr>
          <p:cNvPr id="54" name="Text 44"/>
          <p:cNvSpPr txBox="1"/>
          <p:nvPr/>
        </p:nvSpPr>
        <p:spPr>
          <a:xfrm>
            <a:off x="1033272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Gemini + Groq</a:t>
            </a:r>
            <a:endParaRPr lang="en-US" sz="1200" dirty="0"/>
          </a:p>
        </p:txBody>
      </p:sp>
      <p:sp>
        <p:nvSpPr>
          <p:cNvPr id="55" name="Text 45"/>
          <p:cNvSpPr txBox="1"/>
          <p:nvPr/>
        </p:nvSpPr>
        <p:spPr>
          <a:xfrm>
            <a:off x="1033272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Asisten "Tanya AI"</a:t>
            </a:r>
            <a:endParaRPr lang="en-US" sz="9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RANCANGAN DATABASE</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15 tabel MySQL dalam 4 kelompok</a:t>
            </a:r>
            <a:endParaRPr lang="en-US" sz="3000" dirty="0"/>
          </a:p>
        </p:txBody>
      </p:sp>
      <p:sp>
        <p:nvSpPr>
          <p:cNvPr id="5" name="Shape 3"/>
          <p:cNvSpPr/>
          <p:nvPr/>
        </p:nvSpPr>
        <p:spPr>
          <a:xfrm>
            <a:off x="548640" y="1874520"/>
            <a:ext cx="2651760" cy="2743200"/>
          </a:xfrm>
          <a:prstGeom prst="roundRect">
            <a:avLst>
              <a:gd name="adj" fmla="val 7586"/>
            </a:avLst>
          </a:prstGeom>
          <a:solidFill>
            <a:srgbClr val="F3F3F3"/>
          </a:solidFill>
          <a:ln/>
        </p:spPr>
      </p:sp>
      <p:sp>
        <p:nvSpPr>
          <p:cNvPr id="6" name="Text 4"/>
          <p:cNvSpPr txBox="1"/>
          <p:nvPr/>
        </p:nvSpPr>
        <p:spPr>
          <a:xfrm>
            <a:off x="82296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Pengguna</a:t>
            </a:r>
            <a:endParaRPr lang="en-US" sz="1600" dirty="0"/>
          </a:p>
        </p:txBody>
      </p:sp>
      <p:sp>
        <p:nvSpPr>
          <p:cNvPr id="7" name="Text 5"/>
          <p:cNvSpPr txBox="1"/>
          <p:nvPr/>
        </p:nvSpPr>
        <p:spPr>
          <a:xfrm>
            <a:off x="82296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3 tabel</a:t>
            </a:r>
            <a:endParaRPr lang="en-US" sz="1100" dirty="0"/>
          </a:p>
        </p:txBody>
      </p:sp>
      <p:sp>
        <p:nvSpPr>
          <p:cNvPr id="8" name="Text 6"/>
          <p:cNvSpPr txBox="1"/>
          <p:nvPr/>
        </p:nvSpPr>
        <p:spPr>
          <a:xfrm>
            <a:off x="82296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users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addresses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password_reset_tokens</a:t>
            </a:r>
            <a:endParaRPr lang="en-US" sz="1150" dirty="0"/>
          </a:p>
        </p:txBody>
      </p:sp>
      <p:sp>
        <p:nvSpPr>
          <p:cNvPr id="9" name="Shape 7"/>
          <p:cNvSpPr/>
          <p:nvPr/>
        </p:nvSpPr>
        <p:spPr>
          <a:xfrm>
            <a:off x="3383280" y="1874520"/>
            <a:ext cx="2651760" cy="2743200"/>
          </a:xfrm>
          <a:prstGeom prst="roundRect">
            <a:avLst>
              <a:gd name="adj" fmla="val 7586"/>
            </a:avLst>
          </a:prstGeom>
          <a:solidFill>
            <a:srgbClr val="F3F3F3"/>
          </a:solidFill>
          <a:ln/>
        </p:spPr>
      </p:sp>
      <p:sp>
        <p:nvSpPr>
          <p:cNvPr id="10" name="Text 8"/>
          <p:cNvSpPr txBox="1"/>
          <p:nvPr/>
        </p:nvSpPr>
        <p:spPr>
          <a:xfrm>
            <a:off x="365760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Katalog</a:t>
            </a:r>
            <a:endParaRPr lang="en-US" sz="1600" dirty="0"/>
          </a:p>
        </p:txBody>
      </p:sp>
      <p:sp>
        <p:nvSpPr>
          <p:cNvPr id="11" name="Text 9"/>
          <p:cNvSpPr txBox="1"/>
          <p:nvPr/>
        </p:nvSpPr>
        <p:spPr>
          <a:xfrm>
            <a:off x="365760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6 tabel</a:t>
            </a:r>
            <a:endParaRPr lang="en-US" sz="1100" dirty="0"/>
          </a:p>
        </p:txBody>
      </p:sp>
      <p:sp>
        <p:nvSpPr>
          <p:cNvPr id="12" name="Text 10"/>
          <p:cNvSpPr txBox="1"/>
          <p:nvPr/>
        </p:nvSpPr>
        <p:spPr>
          <a:xfrm>
            <a:off x="365760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categories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product_images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product_variants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reviews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wishlist_items</a:t>
            </a:r>
            <a:endParaRPr lang="en-US" sz="1150" dirty="0"/>
          </a:p>
        </p:txBody>
      </p:sp>
      <p:sp>
        <p:nvSpPr>
          <p:cNvPr id="13" name="Shape 11"/>
          <p:cNvSpPr/>
          <p:nvPr/>
        </p:nvSpPr>
        <p:spPr>
          <a:xfrm>
            <a:off x="6217920" y="1874520"/>
            <a:ext cx="2651760" cy="2743200"/>
          </a:xfrm>
          <a:prstGeom prst="roundRect">
            <a:avLst>
              <a:gd name="adj" fmla="val 7586"/>
            </a:avLst>
          </a:prstGeom>
          <a:solidFill>
            <a:srgbClr val="F3F3F3"/>
          </a:solidFill>
          <a:ln/>
        </p:spPr>
      </p:sp>
      <p:sp>
        <p:nvSpPr>
          <p:cNvPr id="14" name="Text 12"/>
          <p:cNvSpPr txBox="1"/>
          <p:nvPr/>
        </p:nvSpPr>
        <p:spPr>
          <a:xfrm>
            <a:off x="649224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Transaksi</a:t>
            </a:r>
            <a:endParaRPr lang="en-US" sz="1600" dirty="0"/>
          </a:p>
        </p:txBody>
      </p:sp>
      <p:sp>
        <p:nvSpPr>
          <p:cNvPr id="15" name="Text 13"/>
          <p:cNvSpPr txBox="1"/>
          <p:nvPr/>
        </p:nvSpPr>
        <p:spPr>
          <a:xfrm>
            <a:off x="649224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5 tabel</a:t>
            </a:r>
            <a:endParaRPr lang="en-US" sz="1100" dirty="0"/>
          </a:p>
        </p:txBody>
      </p:sp>
      <p:sp>
        <p:nvSpPr>
          <p:cNvPr id="16" name="Text 14"/>
          <p:cNvSpPr txBox="1"/>
          <p:nvPr/>
        </p:nvSpPr>
        <p:spPr>
          <a:xfrm>
            <a:off x="649224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order_items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order_status_logs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promo_codes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promo_usages</a:t>
            </a:r>
            <a:endParaRPr lang="en-US" sz="1150" dirty="0"/>
          </a:p>
        </p:txBody>
      </p:sp>
      <p:sp>
        <p:nvSpPr>
          <p:cNvPr id="17" name="Shape 15"/>
          <p:cNvSpPr/>
          <p:nvPr/>
        </p:nvSpPr>
        <p:spPr>
          <a:xfrm>
            <a:off x="9052560" y="1874520"/>
            <a:ext cx="2651760" cy="2743200"/>
          </a:xfrm>
          <a:prstGeom prst="roundRect">
            <a:avLst>
              <a:gd name="adj" fmla="val 7586"/>
            </a:avLst>
          </a:prstGeom>
          <a:solidFill>
            <a:srgbClr val="F3F3F3"/>
          </a:solidFill>
          <a:ln/>
        </p:spPr>
      </p:sp>
      <p:sp>
        <p:nvSpPr>
          <p:cNvPr id="18" name="Text 16"/>
          <p:cNvSpPr txBox="1"/>
          <p:nvPr/>
        </p:nvSpPr>
        <p:spPr>
          <a:xfrm>
            <a:off x="932688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Konten</a:t>
            </a:r>
            <a:endParaRPr lang="en-US" sz="1600" dirty="0"/>
          </a:p>
        </p:txBody>
      </p:sp>
      <p:sp>
        <p:nvSpPr>
          <p:cNvPr id="19" name="Text 17"/>
          <p:cNvSpPr txBox="1"/>
          <p:nvPr/>
        </p:nvSpPr>
        <p:spPr>
          <a:xfrm>
            <a:off x="932688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1 tabel</a:t>
            </a:r>
            <a:endParaRPr lang="en-US" sz="1100" dirty="0"/>
          </a:p>
        </p:txBody>
      </p:sp>
      <p:sp>
        <p:nvSpPr>
          <p:cNvPr id="20" name="Text 18"/>
          <p:cNvSpPr txBox="1"/>
          <p:nvPr/>
        </p:nvSpPr>
        <p:spPr>
          <a:xfrm>
            <a:off x="932688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banners</a:t>
            </a:r>
            <a:endParaRPr lang="en-US" sz="1150" dirty="0"/>
          </a:p>
        </p:txBody>
      </p:sp>
      <p:sp>
        <p:nvSpPr>
          <p:cNvPr id="21" name="Text 19"/>
          <p:cNvSpPr txBox="1"/>
          <p:nvPr/>
        </p:nvSpPr>
        <p:spPr>
          <a:xfrm>
            <a:off x="54864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Harga disimpan INT</a:t>
            </a:r>
            <a:endParaRPr lang="en-US" sz="1300" dirty="0"/>
          </a:p>
        </p:txBody>
      </p:sp>
      <p:sp>
        <p:nvSpPr>
          <p:cNvPr id="22" name="Text 20"/>
          <p:cNvSpPr txBox="1"/>
          <p:nvPr/>
        </p:nvSpPr>
        <p:spPr>
          <a:xfrm>
            <a:off x="54864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Rupiah tanpa desimal, berat dalam gram.</a:t>
            </a:r>
            <a:endParaRPr lang="en-US" sz="1150" dirty="0"/>
          </a:p>
        </p:txBody>
      </p:sp>
      <p:sp>
        <p:nvSpPr>
          <p:cNvPr id="23" name="Text 21"/>
          <p:cNvSpPr txBox="1"/>
          <p:nvPr/>
        </p:nvSpPr>
        <p:spPr>
          <a:xfrm>
            <a:off x="338328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Snapshot pesanan</a:t>
            </a:r>
            <a:endParaRPr lang="en-US" sz="1300" dirty="0"/>
          </a:p>
        </p:txBody>
      </p:sp>
      <p:sp>
        <p:nvSpPr>
          <p:cNvPr id="24" name="Text 22"/>
          <p:cNvSpPr txBox="1"/>
          <p:nvPr/>
        </p:nvSpPr>
        <p:spPr>
          <a:xfrm>
            <a:off x="338328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Nama, harga &amp; alamat disalin saat checkout.</a:t>
            </a:r>
            <a:endParaRPr lang="en-US" sz="1150" dirty="0"/>
          </a:p>
        </p:txBody>
      </p:sp>
      <p:sp>
        <p:nvSpPr>
          <p:cNvPr id="25" name="Text 23"/>
          <p:cNvSpPr txBox="1"/>
          <p:nvPr/>
        </p:nvSpPr>
        <p:spPr>
          <a:xfrm>
            <a:off x="621792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Stok per varian</a:t>
            </a:r>
            <a:endParaRPr lang="en-US" sz="1300" dirty="0"/>
          </a:p>
        </p:txBody>
      </p:sp>
      <p:sp>
        <p:nvSpPr>
          <p:cNvPr id="26" name="Text 24"/>
          <p:cNvSpPr txBox="1"/>
          <p:nvPr/>
        </p:nvSpPr>
        <p:spPr>
          <a:xfrm>
            <a:off x="621792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Setiap ukuran/warna punya stok sendiri.</a:t>
            </a:r>
            <a:endParaRPr lang="en-US" sz="1150" dirty="0"/>
          </a:p>
        </p:txBody>
      </p:sp>
      <p:sp>
        <p:nvSpPr>
          <p:cNvPr id="27" name="Text 25"/>
          <p:cNvSpPr txBox="1"/>
          <p:nvPr/>
        </p:nvSpPr>
        <p:spPr>
          <a:xfrm>
            <a:off x="905256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+1 tabel infrastruktur</a:t>
            </a:r>
            <a:endParaRPr lang="en-US" sz="1300" dirty="0"/>
          </a:p>
        </p:txBody>
      </p:sp>
      <p:sp>
        <p:nvSpPr>
          <p:cNvPr id="28" name="Text 26"/>
          <p:cNvSpPr txBox="1"/>
          <p:nvPr/>
        </p:nvSpPr>
        <p:spPr>
          <a:xfrm>
            <a:off x="905256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auth_rate_limits: batas login &amp; asisten AI.</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411480"/>
            <a:ext cx="1530706" cy="292608"/>
          </a:xfrm>
          <a:prstGeom prst="roundRect">
            <a:avLst>
              <a:gd name="adj" fmla="val 50000"/>
            </a:avLst>
          </a:prstGeom>
          <a:solidFill>
            <a:srgbClr val="F3F3F3"/>
          </a:solidFill>
          <a:ln/>
        </p:spPr>
      </p:sp>
      <p:sp>
        <p:nvSpPr>
          <p:cNvPr id="3" name="Text 1"/>
          <p:cNvSpPr txBox="1"/>
          <p:nvPr/>
        </p:nvSpPr>
        <p:spPr>
          <a:xfrm>
            <a:off x="548640" y="411480"/>
            <a:ext cx="15307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ATURAN BISNIS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Alur status pesanan, dari dibuat sampai selesai</a:t>
            </a:r>
            <a:endParaRPr lang="en-US" sz="3000" dirty="0"/>
          </a:p>
        </p:txBody>
      </p:sp>
      <p:sp>
        <p:nvSpPr>
          <p:cNvPr id="5" name="Shape 3"/>
          <p:cNvSpPr/>
          <p:nvPr/>
        </p:nvSpPr>
        <p:spPr>
          <a:xfrm>
            <a:off x="548640" y="1965960"/>
            <a:ext cx="2148840" cy="384048"/>
          </a:xfrm>
          <a:prstGeom prst="roundRect">
            <a:avLst>
              <a:gd name="adj" fmla="val 50000"/>
            </a:avLst>
          </a:prstGeom>
          <a:solidFill>
            <a:srgbClr val="F3F3F3"/>
          </a:solidFill>
          <a:ln/>
        </p:spPr>
      </p:sp>
      <p:sp>
        <p:nvSpPr>
          <p:cNvPr id="6" name="Shape 4"/>
          <p:cNvSpPr/>
          <p:nvPr/>
        </p:nvSpPr>
        <p:spPr>
          <a:xfrm>
            <a:off x="731520" y="2112264"/>
            <a:ext cx="91440" cy="91440"/>
          </a:xfrm>
          <a:prstGeom prst="ellipse">
            <a:avLst/>
          </a:prstGeom>
          <a:solidFill>
            <a:srgbClr val="F59E0B"/>
          </a:solidFill>
          <a:ln/>
        </p:spPr>
      </p:sp>
      <p:sp>
        <p:nvSpPr>
          <p:cNvPr id="7" name="Text 5"/>
          <p:cNvSpPr txBox="1"/>
          <p:nvPr/>
        </p:nvSpPr>
        <p:spPr>
          <a:xfrm>
            <a:off x="896112" y="1965960"/>
            <a:ext cx="170992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Menunggu Pembayaran</a:t>
            </a:r>
            <a:endParaRPr lang="en-US" sz="1200" dirty="0"/>
          </a:p>
        </p:txBody>
      </p:sp>
      <p:sp>
        <p:nvSpPr>
          <p:cNvPr id="8" name="Text 6"/>
          <p:cNvSpPr txBox="1"/>
          <p:nvPr/>
        </p:nvSpPr>
        <p:spPr>
          <a:xfrm>
            <a:off x="594360" y="2487168"/>
            <a:ext cx="269748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Batas bayar 24 jam</a:t>
            </a:r>
            <a:endParaRPr lang="en-US" sz="1150" dirty="0"/>
          </a:p>
        </p:txBody>
      </p:sp>
      <p:sp>
        <p:nvSpPr>
          <p:cNvPr id="9" name="Shape 7"/>
          <p:cNvSpPr/>
          <p:nvPr/>
        </p:nvSpPr>
        <p:spPr>
          <a:xfrm>
            <a:off x="2788920" y="2157984"/>
            <a:ext cx="502920" cy="0"/>
          </a:xfrm>
          <a:prstGeom prst="line">
            <a:avLst/>
          </a:prstGeom>
          <a:noFill/>
          <a:ln w="19050">
            <a:solidFill>
              <a:srgbClr val="5C5C5C"/>
            </a:solidFill>
            <a:prstDash val="solid"/>
            <a:tailEnd type="triangle"/>
          </a:ln>
        </p:spPr>
      </p:sp>
      <p:sp>
        <p:nvSpPr>
          <p:cNvPr id="10" name="Shape 8"/>
          <p:cNvSpPr/>
          <p:nvPr/>
        </p:nvSpPr>
        <p:spPr>
          <a:xfrm>
            <a:off x="3383280" y="1965960"/>
            <a:ext cx="1600200" cy="384048"/>
          </a:xfrm>
          <a:prstGeom prst="roundRect">
            <a:avLst>
              <a:gd name="adj" fmla="val 50000"/>
            </a:avLst>
          </a:prstGeom>
          <a:solidFill>
            <a:srgbClr val="F3F3F3"/>
          </a:solidFill>
          <a:ln/>
        </p:spPr>
      </p:sp>
      <p:sp>
        <p:nvSpPr>
          <p:cNvPr id="11" name="Shape 9"/>
          <p:cNvSpPr/>
          <p:nvPr/>
        </p:nvSpPr>
        <p:spPr>
          <a:xfrm>
            <a:off x="3566160" y="2112264"/>
            <a:ext cx="91440" cy="91440"/>
          </a:xfrm>
          <a:prstGeom prst="ellipse">
            <a:avLst/>
          </a:prstGeom>
          <a:solidFill>
            <a:srgbClr val="3B82F6"/>
          </a:solidFill>
          <a:ln/>
        </p:spPr>
      </p:sp>
      <p:sp>
        <p:nvSpPr>
          <p:cNvPr id="12" name="Text 10"/>
          <p:cNvSpPr txBox="1"/>
          <p:nvPr/>
        </p:nvSpPr>
        <p:spPr>
          <a:xfrm>
            <a:off x="3730752" y="1965960"/>
            <a:ext cx="116128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Dikonfirmasi</a:t>
            </a:r>
            <a:endParaRPr lang="en-US" sz="1200" dirty="0"/>
          </a:p>
        </p:txBody>
      </p:sp>
      <p:sp>
        <p:nvSpPr>
          <p:cNvPr id="13" name="Text 11"/>
          <p:cNvSpPr txBox="1"/>
          <p:nvPr/>
        </p:nvSpPr>
        <p:spPr>
          <a:xfrm>
            <a:off x="3429000" y="2487168"/>
            <a:ext cx="214884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Dibayar atau COD</a:t>
            </a:r>
            <a:endParaRPr lang="en-US" sz="1150" dirty="0"/>
          </a:p>
        </p:txBody>
      </p:sp>
      <p:sp>
        <p:nvSpPr>
          <p:cNvPr id="14" name="Shape 12"/>
          <p:cNvSpPr/>
          <p:nvPr/>
        </p:nvSpPr>
        <p:spPr>
          <a:xfrm>
            <a:off x="5074920" y="2157984"/>
            <a:ext cx="502920" cy="0"/>
          </a:xfrm>
          <a:prstGeom prst="line">
            <a:avLst/>
          </a:prstGeom>
          <a:noFill/>
          <a:ln w="19050">
            <a:solidFill>
              <a:srgbClr val="5C5C5C"/>
            </a:solidFill>
            <a:prstDash val="solid"/>
            <a:tailEnd type="triangle"/>
          </a:ln>
        </p:spPr>
      </p:sp>
      <p:sp>
        <p:nvSpPr>
          <p:cNvPr id="15" name="Shape 13"/>
          <p:cNvSpPr/>
          <p:nvPr/>
        </p:nvSpPr>
        <p:spPr>
          <a:xfrm>
            <a:off x="5669280" y="1965960"/>
            <a:ext cx="1280160" cy="384048"/>
          </a:xfrm>
          <a:prstGeom prst="roundRect">
            <a:avLst>
              <a:gd name="adj" fmla="val 50000"/>
            </a:avLst>
          </a:prstGeom>
          <a:solidFill>
            <a:srgbClr val="F3F3F3"/>
          </a:solidFill>
          <a:ln/>
        </p:spPr>
      </p:sp>
      <p:sp>
        <p:nvSpPr>
          <p:cNvPr id="16" name="Shape 14"/>
          <p:cNvSpPr/>
          <p:nvPr/>
        </p:nvSpPr>
        <p:spPr>
          <a:xfrm>
            <a:off x="5852160" y="2112264"/>
            <a:ext cx="91440" cy="91440"/>
          </a:xfrm>
          <a:prstGeom prst="ellipse">
            <a:avLst/>
          </a:prstGeom>
          <a:solidFill>
            <a:srgbClr val="8B5CF6"/>
          </a:solidFill>
          <a:ln/>
        </p:spPr>
      </p:sp>
      <p:sp>
        <p:nvSpPr>
          <p:cNvPr id="17" name="Text 15"/>
          <p:cNvSpPr txBox="1"/>
          <p:nvPr/>
        </p:nvSpPr>
        <p:spPr>
          <a:xfrm>
            <a:off x="6016752" y="1965960"/>
            <a:ext cx="84124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Dikemas</a:t>
            </a:r>
            <a:endParaRPr lang="en-US" sz="1200" dirty="0"/>
          </a:p>
        </p:txBody>
      </p:sp>
      <p:sp>
        <p:nvSpPr>
          <p:cNvPr id="18" name="Text 16"/>
          <p:cNvSpPr txBox="1"/>
          <p:nvPr/>
        </p:nvSpPr>
        <p:spPr>
          <a:xfrm>
            <a:off x="5715000" y="2487168"/>
            <a:ext cx="182880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Admin menyiapkan barang</a:t>
            </a:r>
            <a:endParaRPr lang="en-US" sz="1150" dirty="0"/>
          </a:p>
        </p:txBody>
      </p:sp>
      <p:sp>
        <p:nvSpPr>
          <p:cNvPr id="19" name="Shape 17"/>
          <p:cNvSpPr/>
          <p:nvPr/>
        </p:nvSpPr>
        <p:spPr>
          <a:xfrm>
            <a:off x="7040880" y="2157984"/>
            <a:ext cx="502920" cy="0"/>
          </a:xfrm>
          <a:prstGeom prst="line">
            <a:avLst/>
          </a:prstGeom>
          <a:noFill/>
          <a:ln w="19050">
            <a:solidFill>
              <a:srgbClr val="5C5C5C"/>
            </a:solidFill>
            <a:prstDash val="solid"/>
            <a:tailEnd type="triangle"/>
          </a:ln>
        </p:spPr>
      </p:sp>
      <p:sp>
        <p:nvSpPr>
          <p:cNvPr id="20" name="Shape 18"/>
          <p:cNvSpPr/>
          <p:nvPr/>
        </p:nvSpPr>
        <p:spPr>
          <a:xfrm>
            <a:off x="7635240" y="1965960"/>
            <a:ext cx="1188720" cy="384048"/>
          </a:xfrm>
          <a:prstGeom prst="roundRect">
            <a:avLst>
              <a:gd name="adj" fmla="val 50000"/>
            </a:avLst>
          </a:prstGeom>
          <a:solidFill>
            <a:srgbClr val="F3F3F3"/>
          </a:solidFill>
          <a:ln/>
        </p:spPr>
      </p:sp>
      <p:sp>
        <p:nvSpPr>
          <p:cNvPr id="21" name="Shape 19"/>
          <p:cNvSpPr/>
          <p:nvPr/>
        </p:nvSpPr>
        <p:spPr>
          <a:xfrm>
            <a:off x="7818120" y="2112264"/>
            <a:ext cx="91440" cy="91440"/>
          </a:xfrm>
          <a:prstGeom prst="ellipse">
            <a:avLst/>
          </a:prstGeom>
          <a:solidFill>
            <a:srgbClr val="0EA5E9"/>
          </a:solidFill>
          <a:ln/>
        </p:spPr>
      </p:sp>
      <p:sp>
        <p:nvSpPr>
          <p:cNvPr id="22" name="Text 20"/>
          <p:cNvSpPr txBox="1"/>
          <p:nvPr/>
        </p:nvSpPr>
        <p:spPr>
          <a:xfrm>
            <a:off x="7982712" y="1965960"/>
            <a:ext cx="74980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Dikirim</a:t>
            </a:r>
            <a:endParaRPr lang="en-US" sz="1200" dirty="0"/>
          </a:p>
        </p:txBody>
      </p:sp>
      <p:sp>
        <p:nvSpPr>
          <p:cNvPr id="23" name="Text 21"/>
          <p:cNvSpPr txBox="1"/>
          <p:nvPr/>
        </p:nvSpPr>
        <p:spPr>
          <a:xfrm>
            <a:off x="7680960" y="2487168"/>
            <a:ext cx="173736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Admin wajib input resi</a:t>
            </a:r>
            <a:endParaRPr lang="en-US" sz="1150" dirty="0"/>
          </a:p>
        </p:txBody>
      </p:sp>
      <p:sp>
        <p:nvSpPr>
          <p:cNvPr id="24" name="Shape 22"/>
          <p:cNvSpPr/>
          <p:nvPr/>
        </p:nvSpPr>
        <p:spPr>
          <a:xfrm>
            <a:off x="8915400" y="2157984"/>
            <a:ext cx="502920" cy="0"/>
          </a:xfrm>
          <a:prstGeom prst="line">
            <a:avLst/>
          </a:prstGeom>
          <a:noFill/>
          <a:ln w="19050">
            <a:solidFill>
              <a:srgbClr val="5C5C5C"/>
            </a:solidFill>
            <a:prstDash val="solid"/>
            <a:tailEnd type="triangle"/>
          </a:ln>
        </p:spPr>
      </p:sp>
      <p:sp>
        <p:nvSpPr>
          <p:cNvPr id="25" name="Shape 23"/>
          <p:cNvSpPr/>
          <p:nvPr/>
        </p:nvSpPr>
        <p:spPr>
          <a:xfrm>
            <a:off x="9509760" y="1965960"/>
            <a:ext cx="1143000" cy="384048"/>
          </a:xfrm>
          <a:prstGeom prst="roundRect">
            <a:avLst>
              <a:gd name="adj" fmla="val 50000"/>
            </a:avLst>
          </a:prstGeom>
          <a:solidFill>
            <a:srgbClr val="F3F3F3"/>
          </a:solidFill>
          <a:ln/>
        </p:spPr>
      </p:sp>
      <p:sp>
        <p:nvSpPr>
          <p:cNvPr id="26" name="Shape 24"/>
          <p:cNvSpPr/>
          <p:nvPr/>
        </p:nvSpPr>
        <p:spPr>
          <a:xfrm>
            <a:off x="9692640" y="2112264"/>
            <a:ext cx="91440" cy="91440"/>
          </a:xfrm>
          <a:prstGeom prst="ellipse">
            <a:avLst/>
          </a:prstGeom>
          <a:solidFill>
            <a:srgbClr val="10B981"/>
          </a:solidFill>
          <a:ln/>
        </p:spPr>
      </p:sp>
      <p:sp>
        <p:nvSpPr>
          <p:cNvPr id="27" name="Text 25"/>
          <p:cNvSpPr txBox="1"/>
          <p:nvPr/>
        </p:nvSpPr>
        <p:spPr>
          <a:xfrm>
            <a:off x="9857232" y="1965960"/>
            <a:ext cx="70408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Selesai</a:t>
            </a:r>
            <a:endParaRPr lang="en-US" sz="1200" dirty="0"/>
          </a:p>
        </p:txBody>
      </p:sp>
      <p:sp>
        <p:nvSpPr>
          <p:cNvPr id="28" name="Text 26"/>
          <p:cNvSpPr txBox="1"/>
          <p:nvPr/>
        </p:nvSpPr>
        <p:spPr>
          <a:xfrm>
            <a:off x="9555480" y="2487168"/>
            <a:ext cx="169164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Pembeli terima / otomatis 7 hari</a:t>
            </a:r>
            <a:endParaRPr lang="en-US" sz="1150" dirty="0"/>
          </a:p>
        </p:txBody>
      </p:sp>
      <p:sp>
        <p:nvSpPr>
          <p:cNvPr id="29" name="Shape 27"/>
          <p:cNvSpPr/>
          <p:nvPr/>
        </p:nvSpPr>
        <p:spPr>
          <a:xfrm>
            <a:off x="548640" y="3200400"/>
            <a:ext cx="1645920" cy="384048"/>
          </a:xfrm>
          <a:prstGeom prst="roundRect">
            <a:avLst>
              <a:gd name="adj" fmla="val 50000"/>
            </a:avLst>
          </a:prstGeom>
          <a:solidFill>
            <a:srgbClr val="F3F3F3"/>
          </a:solidFill>
          <a:ln/>
        </p:spPr>
      </p:sp>
      <p:sp>
        <p:nvSpPr>
          <p:cNvPr id="30" name="Shape 28"/>
          <p:cNvSpPr/>
          <p:nvPr/>
        </p:nvSpPr>
        <p:spPr>
          <a:xfrm>
            <a:off x="731520" y="3346704"/>
            <a:ext cx="91440" cy="91440"/>
          </a:xfrm>
          <a:prstGeom prst="ellipse">
            <a:avLst/>
          </a:prstGeom>
          <a:solidFill>
            <a:srgbClr val="EF4444"/>
          </a:solidFill>
          <a:ln/>
        </p:spPr>
      </p:sp>
      <p:sp>
        <p:nvSpPr>
          <p:cNvPr id="31" name="Text 29"/>
          <p:cNvSpPr txBox="1"/>
          <p:nvPr/>
        </p:nvSpPr>
        <p:spPr>
          <a:xfrm>
            <a:off x="896112" y="3200400"/>
            <a:ext cx="120700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Dibatalkan</a:t>
            </a:r>
            <a:endParaRPr lang="en-US" sz="1200" dirty="0"/>
          </a:p>
        </p:txBody>
      </p:sp>
      <p:sp>
        <p:nvSpPr>
          <p:cNvPr id="32" name="Text 30"/>
          <p:cNvSpPr txBox="1"/>
          <p:nvPr/>
        </p:nvSpPr>
        <p:spPr>
          <a:xfrm>
            <a:off x="2377440" y="3227832"/>
            <a:ext cx="7772400" cy="54864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Lewat batas bayar, oleh pembeli sebelum bayar, atau oleh admin (wajib alasan). Stok dan kuota promo selalu dikembalikan.</a:t>
            </a:r>
            <a:endParaRPr lang="en-US" sz="1250" dirty="0"/>
          </a:p>
        </p:txBody>
      </p:sp>
      <p:sp>
        <p:nvSpPr>
          <p:cNvPr id="33" name="Shape 31"/>
          <p:cNvSpPr/>
          <p:nvPr/>
        </p:nvSpPr>
        <p:spPr>
          <a:xfrm>
            <a:off x="548640" y="4160520"/>
            <a:ext cx="3520440" cy="1783080"/>
          </a:xfrm>
          <a:prstGeom prst="roundRect">
            <a:avLst>
              <a:gd name="adj" fmla="val 11282"/>
            </a:avLst>
          </a:prstGeom>
          <a:solidFill>
            <a:srgbClr val="F3F3F3"/>
          </a:solidFill>
          <a:ln/>
        </p:spPr>
      </p:sp>
      <p:sp>
        <p:nvSpPr>
          <p:cNvPr id="34" name="Shape 32"/>
          <p:cNvSpPr/>
          <p:nvPr/>
        </p:nvSpPr>
        <p:spPr>
          <a:xfrm>
            <a:off x="822960" y="4434840"/>
            <a:ext cx="502920" cy="502920"/>
          </a:xfrm>
          <a:prstGeom prst="ellipse">
            <a:avLst/>
          </a:prstGeom>
          <a:solidFill>
            <a:srgbClr val="0A0A0A"/>
          </a:solidFill>
          <a:ln/>
        </p:spPr>
      </p:sp>
      <p:pic>
        <p:nvPicPr>
          <p:cNvPr id="35" name="Image 0" descr="C:\laragon\www\e-commerce\scripts\ppt\aset\ikon-Ban-putih.png">    </p:cNvPr>
          <p:cNvPicPr>
            <a:picLocks noChangeAspect="1"/>
          </p:cNvPicPr>
          <p:nvPr/>
        </p:nvPicPr>
        <p:blipFill>
          <a:blip r:embed="rId1"/>
          <a:stretch>
            <a:fillRect/>
          </a:stretch>
        </p:blipFill>
        <p:spPr>
          <a:xfrm>
            <a:off x="948690" y="4560570"/>
            <a:ext cx="251460" cy="251460"/>
          </a:xfrm>
          <a:prstGeom prst="rect">
            <a:avLst/>
          </a:prstGeom>
        </p:spPr>
      </p:pic>
      <p:sp>
        <p:nvSpPr>
          <p:cNvPr id="36" name="Text 33"/>
          <p:cNvSpPr txBox="1"/>
          <p:nvPr/>
        </p:nvSpPr>
        <p:spPr>
          <a:xfrm>
            <a:off x="146304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Tanpa overselling</a:t>
            </a:r>
            <a:endParaRPr lang="en-US" sz="1400" dirty="0"/>
          </a:p>
        </p:txBody>
      </p:sp>
      <p:sp>
        <p:nvSpPr>
          <p:cNvPr id="37" name="Text 34"/>
          <p:cNvSpPr txBox="1"/>
          <p:nvPr/>
        </p:nvSpPr>
        <p:spPr>
          <a:xfrm>
            <a:off x="82296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Stok dikurangi dalam satu transaksi, hanya jika stok cukup; diuji dua pembeli berebut stok terakhir.</a:t>
            </a:r>
            <a:endParaRPr lang="en-US" sz="1150" dirty="0"/>
          </a:p>
        </p:txBody>
      </p:sp>
      <p:sp>
        <p:nvSpPr>
          <p:cNvPr id="38" name="Shape 35"/>
          <p:cNvSpPr/>
          <p:nvPr/>
        </p:nvSpPr>
        <p:spPr>
          <a:xfrm>
            <a:off x="4343400" y="4160520"/>
            <a:ext cx="3520440" cy="1783080"/>
          </a:xfrm>
          <a:prstGeom prst="roundRect">
            <a:avLst>
              <a:gd name="adj" fmla="val 11282"/>
            </a:avLst>
          </a:prstGeom>
          <a:solidFill>
            <a:srgbClr val="F3F3F3"/>
          </a:solidFill>
          <a:ln/>
        </p:spPr>
      </p:sp>
      <p:sp>
        <p:nvSpPr>
          <p:cNvPr id="39" name="Shape 36"/>
          <p:cNvSpPr/>
          <p:nvPr/>
        </p:nvSpPr>
        <p:spPr>
          <a:xfrm>
            <a:off x="4617720" y="4434840"/>
            <a:ext cx="502920" cy="502920"/>
          </a:xfrm>
          <a:prstGeom prst="ellipse">
            <a:avLst/>
          </a:prstGeom>
          <a:solidFill>
            <a:srgbClr val="0A0A0A"/>
          </a:solidFill>
          <a:ln/>
        </p:spPr>
      </p:sp>
      <p:pic>
        <p:nvPicPr>
          <p:cNvPr id="40" name="Image 1" descr="C:\laragon\www\e-commerce\scripts\ppt\aset\ikon-Scale-putih.png">    </p:cNvPr>
          <p:cNvPicPr>
            <a:picLocks noChangeAspect="1"/>
          </p:cNvPicPr>
          <p:nvPr/>
        </p:nvPicPr>
        <p:blipFill>
          <a:blip r:embed="rId2"/>
          <a:stretch>
            <a:fillRect/>
          </a:stretch>
        </p:blipFill>
        <p:spPr>
          <a:xfrm>
            <a:off x="4743450" y="4560570"/>
            <a:ext cx="251460" cy="251460"/>
          </a:xfrm>
          <a:prstGeom prst="rect">
            <a:avLst/>
          </a:prstGeom>
        </p:spPr>
      </p:pic>
      <p:sp>
        <p:nvSpPr>
          <p:cNvPr id="41" name="Text 37"/>
          <p:cNvSpPr txBox="1"/>
          <p:nvPr/>
        </p:nvSpPr>
        <p:spPr>
          <a:xfrm>
            <a:off x="525780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Harga dari server</a:t>
            </a:r>
            <a:endParaRPr lang="en-US" sz="1400" dirty="0"/>
          </a:p>
        </p:txBody>
      </p:sp>
      <p:sp>
        <p:nvSpPr>
          <p:cNvPr id="42" name="Text 38"/>
          <p:cNvSpPr txBox="1"/>
          <p:nvPr/>
        </p:nvSpPr>
        <p:spPr>
          <a:xfrm>
            <a:off x="461772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Harga, berat, ongkir, dan diskon selalu dihitung ulang dari database.</a:t>
            </a:r>
            <a:endParaRPr lang="en-US" sz="1150" dirty="0"/>
          </a:p>
        </p:txBody>
      </p:sp>
      <p:sp>
        <p:nvSpPr>
          <p:cNvPr id="43" name="Shape 39"/>
          <p:cNvSpPr/>
          <p:nvPr/>
        </p:nvSpPr>
        <p:spPr>
          <a:xfrm>
            <a:off x="8138160" y="4160520"/>
            <a:ext cx="3520440" cy="1783080"/>
          </a:xfrm>
          <a:prstGeom prst="roundRect">
            <a:avLst>
              <a:gd name="adj" fmla="val 11282"/>
            </a:avLst>
          </a:prstGeom>
          <a:solidFill>
            <a:srgbClr val="F3F3F3"/>
          </a:solidFill>
          <a:ln/>
        </p:spPr>
      </p:sp>
      <p:sp>
        <p:nvSpPr>
          <p:cNvPr id="44" name="Shape 40"/>
          <p:cNvSpPr/>
          <p:nvPr/>
        </p:nvSpPr>
        <p:spPr>
          <a:xfrm>
            <a:off x="8412480" y="4434840"/>
            <a:ext cx="502920" cy="502920"/>
          </a:xfrm>
          <a:prstGeom prst="ellipse">
            <a:avLst/>
          </a:prstGeom>
          <a:solidFill>
            <a:srgbClr val="0A0A0A"/>
          </a:solidFill>
          <a:ln/>
        </p:spPr>
      </p:sp>
      <p:pic>
        <p:nvPicPr>
          <p:cNvPr id="45" name="Image 2" descr="C:\laragon\www\e-commerce\scripts\ppt\aset\ikon-ListChecks-putih.png">    </p:cNvPr>
          <p:cNvPicPr>
            <a:picLocks noChangeAspect="1"/>
          </p:cNvPicPr>
          <p:nvPr/>
        </p:nvPicPr>
        <p:blipFill>
          <a:blip r:embed="rId3"/>
          <a:stretch>
            <a:fillRect/>
          </a:stretch>
        </p:blipFill>
        <p:spPr>
          <a:xfrm>
            <a:off x="8538210" y="4560570"/>
            <a:ext cx="251460" cy="251460"/>
          </a:xfrm>
          <a:prstGeom prst="rect">
            <a:avLst/>
          </a:prstGeom>
        </p:spPr>
      </p:pic>
      <p:sp>
        <p:nvSpPr>
          <p:cNvPr id="46" name="Text 41"/>
          <p:cNvSpPr txBox="1"/>
          <p:nvPr/>
        </p:nvSpPr>
        <p:spPr>
          <a:xfrm>
            <a:off x="905256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Jejak status</a:t>
            </a:r>
            <a:endParaRPr lang="en-US" sz="1400" dirty="0"/>
          </a:p>
        </p:txBody>
      </p:sp>
      <p:sp>
        <p:nvSpPr>
          <p:cNvPr id="47" name="Text 42"/>
          <p:cNvSpPr txBox="1"/>
          <p:nvPr/>
        </p:nvSpPr>
        <p:spPr>
          <a:xfrm>
            <a:off x="841248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Setiap perubahan dicatat di order_status_logs untuk timeline pesanan.</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BERANDA</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Beranda bergaya modern, nyaman di HP</a:t>
            </a:r>
            <a:endParaRPr lang="en-US" sz="3000" dirty="0"/>
          </a:p>
        </p:txBody>
      </p:sp>
      <p:pic>
        <p:nvPicPr>
          <p:cNvPr id="5" name="Image 0" descr="C:\laragon\www\e-commerce\scripts\ppt\aset\beranda.png">    </p:cNvPr>
          <p:cNvPicPr>
            <a:picLocks noChangeAspect="1"/>
          </p:cNvPicPr>
          <p:nvPr/>
        </p:nvPicPr>
        <p:blipFill>
          <a:blip r:embed="rId1"/>
          <a:stretch>
            <a:fillRect/>
          </a:stretch>
        </p:blipFill>
        <p:spPr>
          <a:xfrm>
            <a:off x="548640" y="1874520"/>
            <a:ext cx="7178040" cy="4039641"/>
          </a:xfrm>
          <a:prstGeom prst="rect">
            <a:avLst/>
          </a:prstGeom>
        </p:spPr>
      </p:pic>
      <p:sp>
        <p:nvSpPr>
          <p:cNvPr id="6" name="Shape 3"/>
          <p:cNvSpPr/>
          <p:nvPr/>
        </p:nvSpPr>
        <p:spPr>
          <a:xfrm>
            <a:off x="8046720" y="1965960"/>
            <a:ext cx="384048" cy="384048"/>
          </a:xfrm>
          <a:prstGeom prst="ellipse">
            <a:avLst/>
          </a:prstGeom>
          <a:solidFill>
            <a:srgbClr val="0A0A0A"/>
          </a:solidFill>
          <a:ln/>
        </p:spPr>
      </p:sp>
      <p:sp>
        <p:nvSpPr>
          <p:cNvPr id="7"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Hero foto penuh</a:t>
            </a:r>
            <a:endParaRPr lang="en-US" sz="1500" dirty="0"/>
          </a:p>
        </p:txBody>
      </p:sp>
      <p:sp>
        <p:nvSpPr>
          <p:cNvPr id="9"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Promo geser yang dikelola admin.</a:t>
            </a:r>
            <a:endParaRPr lang="en-US" sz="1200" dirty="0"/>
          </a:p>
        </p:txBody>
      </p:sp>
      <p:sp>
        <p:nvSpPr>
          <p:cNvPr id="10" name="Shape 7"/>
          <p:cNvSpPr/>
          <p:nvPr/>
        </p:nvSpPr>
        <p:spPr>
          <a:xfrm>
            <a:off x="8046720" y="2990088"/>
            <a:ext cx="384048" cy="384048"/>
          </a:xfrm>
          <a:prstGeom prst="ellipse">
            <a:avLst/>
          </a:prstGeom>
          <a:solidFill>
            <a:srgbClr val="0A0A0A"/>
          </a:solidFill>
          <a:ln/>
        </p:spPr>
      </p:sp>
      <p:sp>
        <p:nvSpPr>
          <p:cNvPr id="11"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Pencarian cerdas</a:t>
            </a:r>
            <a:endParaRPr lang="en-US" sz="1500" dirty="0"/>
          </a:p>
        </p:txBody>
      </p:sp>
      <p:sp>
        <p:nvSpPr>
          <p:cNvPr id="13"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Saran produk muncul setelah 2 huruf.</a:t>
            </a:r>
            <a:endParaRPr lang="en-US" sz="1200" dirty="0"/>
          </a:p>
        </p:txBody>
      </p:sp>
      <p:sp>
        <p:nvSpPr>
          <p:cNvPr id="14" name="Shape 11"/>
          <p:cNvSpPr/>
          <p:nvPr/>
        </p:nvSpPr>
        <p:spPr>
          <a:xfrm>
            <a:off x="8046720" y="4014216"/>
            <a:ext cx="384048" cy="384048"/>
          </a:xfrm>
          <a:prstGeom prst="ellipse">
            <a:avLst/>
          </a:prstGeom>
          <a:solidFill>
            <a:srgbClr val="0A0A0A"/>
          </a:solidFill>
          <a:ln/>
        </p:spPr>
      </p:sp>
      <p:sp>
        <p:nvSpPr>
          <p:cNvPr id="15"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Ubin kategori berfoto</a:t>
            </a:r>
            <a:endParaRPr lang="en-US" sz="1500" dirty="0"/>
          </a:p>
        </p:txBody>
      </p:sp>
      <p:sp>
        <p:nvSpPr>
          <p:cNvPr id="17"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Besar dan mudah disentuh.</a:t>
            </a:r>
            <a:endParaRPr lang="en-US" sz="1200" dirty="0"/>
          </a:p>
        </p:txBody>
      </p:sp>
      <p:sp>
        <p:nvSpPr>
          <p:cNvPr id="18" name="Shape 15"/>
          <p:cNvSpPr/>
          <p:nvPr/>
        </p:nvSpPr>
        <p:spPr>
          <a:xfrm>
            <a:off x="8046720" y="5038344"/>
            <a:ext cx="384048" cy="384048"/>
          </a:xfrm>
          <a:prstGeom prst="ellipse">
            <a:avLst/>
          </a:prstGeom>
          <a:solidFill>
            <a:srgbClr val="0A0A0A"/>
          </a:solidFill>
          <a:ln/>
        </p:spPr>
      </p:sp>
      <p:sp>
        <p:nvSpPr>
          <p:cNvPr id="19"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Mode terang &amp; gelap</a:t>
            </a:r>
            <a:endParaRPr lang="en-US" sz="1500" dirty="0"/>
          </a:p>
        </p:txBody>
      </p:sp>
      <p:sp>
        <p:nvSpPr>
          <p:cNvPr id="21"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Tombol bulan/matahari, tanpa kedip.</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KATALOG</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Katalog dengan filter yang bisa dicari</a:t>
            </a:r>
            <a:endParaRPr lang="en-US" sz="3000" dirty="0"/>
          </a:p>
        </p:txBody>
      </p:sp>
      <p:pic>
        <p:nvPicPr>
          <p:cNvPr id="5" name="Image 0" descr="C:\laragon\www\e-commerce\scripts\ppt\aset\katalog.png">    </p:cNvPr>
          <p:cNvPicPr>
            <a:picLocks noChangeAspect="1"/>
          </p:cNvPicPr>
          <p:nvPr/>
        </p:nvPicPr>
        <p:blipFill>
          <a:blip r:embed="rId1"/>
          <a:stretch>
            <a:fillRect/>
          </a:stretch>
        </p:blipFill>
        <p:spPr>
          <a:xfrm>
            <a:off x="4465015" y="1874520"/>
            <a:ext cx="7178040" cy="4039641"/>
          </a:xfrm>
          <a:prstGeom prst="rect">
            <a:avLst/>
          </a:prstGeom>
        </p:spPr>
      </p:pic>
      <p:sp>
        <p:nvSpPr>
          <p:cNvPr id="6" name="Shape 3"/>
          <p:cNvSpPr/>
          <p:nvPr/>
        </p:nvSpPr>
        <p:spPr>
          <a:xfrm>
            <a:off x="548640" y="1965960"/>
            <a:ext cx="384048" cy="384048"/>
          </a:xfrm>
          <a:prstGeom prst="ellipse">
            <a:avLst/>
          </a:prstGeom>
          <a:solidFill>
            <a:srgbClr val="0A0A0A"/>
          </a:solidFill>
          <a:ln/>
        </p:spPr>
      </p:sp>
      <p:sp>
        <p:nvSpPr>
          <p:cNvPr id="7" name="Text 4"/>
          <p:cNvSpPr txBox="1"/>
          <p:nvPr/>
        </p:nvSpPr>
        <p:spPr>
          <a:xfrm>
            <a:off x="54864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111556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Filter lengkap</a:t>
            </a:r>
            <a:endParaRPr lang="en-US" sz="1500" dirty="0"/>
          </a:p>
        </p:txBody>
      </p:sp>
      <p:sp>
        <p:nvSpPr>
          <p:cNvPr id="9" name="Text 6"/>
          <p:cNvSpPr txBox="1"/>
          <p:nvPr/>
        </p:nvSpPr>
        <p:spPr>
          <a:xfrm>
            <a:off x="111556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Kategori, harga, rating, merek, urutan.</a:t>
            </a:r>
            <a:endParaRPr lang="en-US" sz="1200" dirty="0"/>
          </a:p>
        </p:txBody>
      </p:sp>
      <p:sp>
        <p:nvSpPr>
          <p:cNvPr id="10" name="Shape 7"/>
          <p:cNvSpPr/>
          <p:nvPr/>
        </p:nvSpPr>
        <p:spPr>
          <a:xfrm>
            <a:off x="548640" y="2990088"/>
            <a:ext cx="384048" cy="384048"/>
          </a:xfrm>
          <a:prstGeom prst="ellipse">
            <a:avLst/>
          </a:prstGeom>
          <a:solidFill>
            <a:srgbClr val="0A0A0A"/>
          </a:solidFill>
          <a:ln/>
        </p:spPr>
      </p:sp>
      <p:sp>
        <p:nvSpPr>
          <p:cNvPr id="11" name="Text 8"/>
          <p:cNvSpPr txBox="1"/>
          <p:nvPr/>
        </p:nvSpPr>
        <p:spPr>
          <a:xfrm>
            <a:off x="54864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111556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Pilihan bisa dicari</a:t>
            </a:r>
            <a:endParaRPr lang="en-US" sz="1500" dirty="0"/>
          </a:p>
        </p:txBody>
      </p:sp>
      <p:sp>
        <p:nvSpPr>
          <p:cNvPr id="13" name="Text 10"/>
          <p:cNvSpPr txBox="1"/>
          <p:nvPr/>
        </p:nvSpPr>
        <p:spPr>
          <a:xfrm>
            <a:off x="111556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Ketik "fa" → Fashion Pria/Wanita.</a:t>
            </a:r>
            <a:endParaRPr lang="en-US" sz="1200" dirty="0"/>
          </a:p>
        </p:txBody>
      </p:sp>
      <p:sp>
        <p:nvSpPr>
          <p:cNvPr id="14" name="Shape 11"/>
          <p:cNvSpPr/>
          <p:nvPr/>
        </p:nvSpPr>
        <p:spPr>
          <a:xfrm>
            <a:off x="548640" y="4014216"/>
            <a:ext cx="384048" cy="384048"/>
          </a:xfrm>
          <a:prstGeom prst="ellipse">
            <a:avLst/>
          </a:prstGeom>
          <a:solidFill>
            <a:srgbClr val="0A0A0A"/>
          </a:solidFill>
          <a:ln/>
        </p:spPr>
      </p:sp>
      <p:sp>
        <p:nvSpPr>
          <p:cNvPr id="15" name="Text 12"/>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111556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Kartu produk bersih</a:t>
            </a:r>
            <a:endParaRPr lang="en-US" sz="1500" dirty="0"/>
          </a:p>
        </p:txBody>
      </p:sp>
      <p:sp>
        <p:nvSpPr>
          <p:cNvPr id="17" name="Text 14"/>
          <p:cNvSpPr txBox="1"/>
          <p:nvPr/>
        </p:nvSpPr>
        <p:spPr>
          <a:xfrm>
            <a:off x="111556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Label diskon, rating, harga coret.</a:t>
            </a:r>
            <a:endParaRPr lang="en-US" sz="1200" dirty="0"/>
          </a:p>
        </p:txBody>
      </p:sp>
      <p:sp>
        <p:nvSpPr>
          <p:cNvPr id="18" name="Shape 15"/>
          <p:cNvSpPr/>
          <p:nvPr/>
        </p:nvSpPr>
        <p:spPr>
          <a:xfrm>
            <a:off x="548640" y="5038344"/>
            <a:ext cx="384048" cy="384048"/>
          </a:xfrm>
          <a:prstGeom prst="ellipse">
            <a:avLst/>
          </a:prstGeom>
          <a:solidFill>
            <a:srgbClr val="0A0A0A"/>
          </a:solidFill>
          <a:ln/>
        </p:spPr>
      </p:sp>
      <p:sp>
        <p:nvSpPr>
          <p:cNvPr id="19" name="Text 16"/>
          <p:cNvSpPr txBox="1"/>
          <p:nvPr/>
        </p:nvSpPr>
        <p:spPr>
          <a:xfrm>
            <a:off x="54864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111556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Grid atau daftar</a:t>
            </a:r>
            <a:endParaRPr lang="en-US" sz="1500" dirty="0"/>
          </a:p>
        </p:txBody>
      </p:sp>
      <p:sp>
        <p:nvSpPr>
          <p:cNvPr id="21" name="Text 18"/>
          <p:cNvSpPr txBox="1"/>
          <p:nvPr/>
        </p:nvSpPr>
        <p:spPr>
          <a:xfrm>
            <a:off x="111556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Dengan pagination dan hasil kosong.</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411480"/>
            <a:ext cx="2516429" cy="292608"/>
          </a:xfrm>
          <a:prstGeom prst="roundRect">
            <a:avLst>
              <a:gd name="adj" fmla="val 50000"/>
            </a:avLst>
          </a:prstGeom>
          <a:solidFill>
            <a:srgbClr val="F3F3F3"/>
          </a:solidFill>
          <a:ln/>
        </p:spPr>
      </p:sp>
      <p:sp>
        <p:nvSpPr>
          <p:cNvPr id="3" name="Text 1"/>
          <p:cNvSpPr txBox="1"/>
          <p:nvPr/>
        </p:nvSpPr>
        <p:spPr>
          <a:xfrm>
            <a:off x="548640" y="411480"/>
            <a:ext cx="251642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DETAIL PRODUK</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Detail produk yang transparan</a:t>
            </a:r>
            <a:endParaRPr lang="en-US" sz="3000" dirty="0"/>
          </a:p>
        </p:txBody>
      </p:sp>
      <p:pic>
        <p:nvPicPr>
          <p:cNvPr id="5" name="Image 0" descr="C:\laragon\www\e-commerce\scripts\ppt\aset\detail.png">    </p:cNvPr>
          <p:cNvPicPr>
            <a:picLocks noChangeAspect="1"/>
          </p:cNvPicPr>
          <p:nvPr/>
        </p:nvPicPr>
        <p:blipFill>
          <a:blip r:embed="rId1"/>
          <a:stretch>
            <a:fillRect/>
          </a:stretch>
        </p:blipFill>
        <p:spPr>
          <a:xfrm>
            <a:off x="548640" y="1874520"/>
            <a:ext cx="7178040" cy="4039641"/>
          </a:xfrm>
          <a:prstGeom prst="rect">
            <a:avLst/>
          </a:prstGeom>
        </p:spPr>
      </p:pic>
      <p:sp>
        <p:nvSpPr>
          <p:cNvPr id="6" name="Shape 3"/>
          <p:cNvSpPr/>
          <p:nvPr/>
        </p:nvSpPr>
        <p:spPr>
          <a:xfrm>
            <a:off x="8046720" y="1965960"/>
            <a:ext cx="384048" cy="384048"/>
          </a:xfrm>
          <a:prstGeom prst="ellipse">
            <a:avLst/>
          </a:prstGeom>
          <a:solidFill>
            <a:srgbClr val="0A0A0A"/>
          </a:solidFill>
          <a:ln/>
        </p:spPr>
      </p:sp>
      <p:sp>
        <p:nvSpPr>
          <p:cNvPr id="7"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Galeri zoom</a:t>
            </a:r>
            <a:endParaRPr lang="en-US" sz="1500" dirty="0"/>
          </a:p>
        </p:txBody>
      </p:sp>
      <p:sp>
        <p:nvSpPr>
          <p:cNvPr id="9"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Foto dari beberapa sudut, bisa diperbesar.</a:t>
            </a:r>
            <a:endParaRPr lang="en-US" sz="1200" dirty="0"/>
          </a:p>
        </p:txBody>
      </p:sp>
      <p:sp>
        <p:nvSpPr>
          <p:cNvPr id="10" name="Shape 7"/>
          <p:cNvSpPr/>
          <p:nvPr/>
        </p:nvSpPr>
        <p:spPr>
          <a:xfrm>
            <a:off x="8046720" y="2990088"/>
            <a:ext cx="384048" cy="384048"/>
          </a:xfrm>
          <a:prstGeom prst="ellipse">
            <a:avLst/>
          </a:prstGeom>
          <a:solidFill>
            <a:srgbClr val="0A0A0A"/>
          </a:solidFill>
          <a:ln/>
        </p:spPr>
      </p:sp>
      <p:sp>
        <p:nvSpPr>
          <p:cNvPr id="11"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Varian interaktif</a:t>
            </a:r>
            <a:endParaRPr lang="en-US" sz="1500" dirty="0"/>
          </a:p>
        </p:txBody>
      </p:sp>
      <p:sp>
        <p:nvSpPr>
          <p:cNvPr id="13"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Stok ikut berubah; varian habis terkunci.</a:t>
            </a:r>
            <a:endParaRPr lang="en-US" sz="1200" dirty="0"/>
          </a:p>
        </p:txBody>
      </p:sp>
      <p:sp>
        <p:nvSpPr>
          <p:cNvPr id="14" name="Shape 11"/>
          <p:cNvSpPr/>
          <p:nvPr/>
        </p:nvSpPr>
        <p:spPr>
          <a:xfrm>
            <a:off x="8046720" y="4014216"/>
            <a:ext cx="384048" cy="384048"/>
          </a:xfrm>
          <a:prstGeom prst="ellipse">
            <a:avLst/>
          </a:prstGeom>
          <a:solidFill>
            <a:srgbClr val="0A0A0A"/>
          </a:solidFill>
          <a:ln/>
        </p:spPr>
      </p:sp>
      <p:sp>
        <p:nvSpPr>
          <p:cNvPr id="15"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Harga jelas</a:t>
            </a:r>
            <a:endParaRPr lang="en-US" sz="1500" dirty="0"/>
          </a:p>
        </p:txBody>
      </p:sp>
      <p:sp>
        <p:nvSpPr>
          <p:cNvPr id="17"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Harga coret, persentase hemat, PPN 11%.</a:t>
            </a:r>
            <a:endParaRPr lang="en-US" sz="1200" dirty="0"/>
          </a:p>
        </p:txBody>
      </p:sp>
      <p:sp>
        <p:nvSpPr>
          <p:cNvPr id="18" name="Shape 15"/>
          <p:cNvSpPr/>
          <p:nvPr/>
        </p:nvSpPr>
        <p:spPr>
          <a:xfrm>
            <a:off x="8046720" y="5038344"/>
            <a:ext cx="384048" cy="384048"/>
          </a:xfrm>
          <a:prstGeom prst="ellipse">
            <a:avLst/>
          </a:prstGeom>
          <a:solidFill>
            <a:srgbClr val="0A0A0A"/>
          </a:solidFill>
          <a:ln/>
        </p:spPr>
      </p:sp>
      <p:sp>
        <p:nvSpPr>
          <p:cNvPr id="19"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Ulasan terverifikasi</a:t>
            </a:r>
            <a:endParaRPr lang="en-US" sz="1500" dirty="0"/>
          </a:p>
        </p:txBody>
      </p:sp>
      <p:sp>
        <p:nvSpPr>
          <p:cNvPr id="21"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Hanya dari pembeli yang pesanannya selesai.</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411480"/>
            <a:ext cx="2068373" cy="292608"/>
          </a:xfrm>
          <a:prstGeom prst="roundRect">
            <a:avLst>
              <a:gd name="adj" fmla="val 50000"/>
            </a:avLst>
          </a:prstGeom>
          <a:solidFill>
            <a:srgbClr val="F3F3F3"/>
          </a:solidFill>
          <a:ln/>
        </p:spPr>
      </p:sp>
      <p:sp>
        <p:nvSpPr>
          <p:cNvPr id="3" name="Text 1"/>
          <p:cNvSpPr txBox="1"/>
          <p:nvPr/>
        </p:nvSpPr>
        <p:spPr>
          <a:xfrm>
            <a:off x="548640" y="411480"/>
            <a:ext cx="2068373"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CHECKOUT</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Checkout 4 langkah, ongkir sesuai berat</a:t>
            </a:r>
            <a:endParaRPr lang="en-US" sz="3000" dirty="0"/>
          </a:p>
        </p:txBody>
      </p:sp>
      <p:pic>
        <p:nvPicPr>
          <p:cNvPr id="5" name="Image 0" descr="C:\laragon\www\e-commerce\scripts\ppt\aset\checkout.png">    </p:cNvPr>
          <p:cNvPicPr>
            <a:picLocks noChangeAspect="1"/>
          </p:cNvPicPr>
          <p:nvPr/>
        </p:nvPicPr>
        <p:blipFill>
          <a:blip r:embed="rId1"/>
          <a:stretch>
            <a:fillRect/>
          </a:stretch>
        </p:blipFill>
        <p:spPr>
          <a:xfrm>
            <a:off x="4465015" y="1874520"/>
            <a:ext cx="7178040" cy="4039641"/>
          </a:xfrm>
          <a:prstGeom prst="rect">
            <a:avLst/>
          </a:prstGeom>
        </p:spPr>
      </p:pic>
      <p:sp>
        <p:nvSpPr>
          <p:cNvPr id="6" name="Shape 3"/>
          <p:cNvSpPr/>
          <p:nvPr/>
        </p:nvSpPr>
        <p:spPr>
          <a:xfrm>
            <a:off x="548640" y="1965960"/>
            <a:ext cx="384048" cy="384048"/>
          </a:xfrm>
          <a:prstGeom prst="ellipse">
            <a:avLst/>
          </a:prstGeom>
          <a:solidFill>
            <a:srgbClr val="0A0A0A"/>
          </a:solidFill>
          <a:ln/>
        </p:spPr>
      </p:sp>
      <p:sp>
        <p:nvSpPr>
          <p:cNvPr id="7" name="Text 4"/>
          <p:cNvSpPr txBox="1"/>
          <p:nvPr/>
        </p:nvSpPr>
        <p:spPr>
          <a:xfrm>
            <a:off x="54864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111556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Pelacak langkah</a:t>
            </a:r>
            <a:endParaRPr lang="en-US" sz="1500" dirty="0"/>
          </a:p>
        </p:txBody>
      </p:sp>
      <p:sp>
        <p:nvSpPr>
          <p:cNvPr id="9" name="Text 6"/>
          <p:cNvSpPr txBox="1"/>
          <p:nvPr/>
        </p:nvSpPr>
        <p:spPr>
          <a:xfrm>
            <a:off x="111556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Alamat → Pengiriman → Pembayaran → Konfirmasi.</a:t>
            </a:r>
            <a:endParaRPr lang="en-US" sz="1200" dirty="0"/>
          </a:p>
        </p:txBody>
      </p:sp>
      <p:sp>
        <p:nvSpPr>
          <p:cNvPr id="10" name="Shape 7"/>
          <p:cNvSpPr/>
          <p:nvPr/>
        </p:nvSpPr>
        <p:spPr>
          <a:xfrm>
            <a:off x="548640" y="2990088"/>
            <a:ext cx="384048" cy="384048"/>
          </a:xfrm>
          <a:prstGeom prst="ellipse">
            <a:avLst/>
          </a:prstGeom>
          <a:solidFill>
            <a:srgbClr val="0A0A0A"/>
          </a:solidFill>
          <a:ln/>
        </p:spPr>
      </p:sp>
      <p:sp>
        <p:nvSpPr>
          <p:cNvPr id="11" name="Text 8"/>
          <p:cNvSpPr txBox="1"/>
          <p:nvPr/>
        </p:nvSpPr>
        <p:spPr>
          <a:xfrm>
            <a:off x="54864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111556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Buku alamat</a:t>
            </a:r>
            <a:endParaRPr lang="en-US" sz="1500" dirty="0"/>
          </a:p>
        </p:txBody>
      </p:sp>
      <p:sp>
        <p:nvSpPr>
          <p:cNvPr id="13" name="Text 10"/>
          <p:cNvSpPr txBox="1"/>
          <p:nvPr/>
        </p:nvSpPr>
        <p:spPr>
          <a:xfrm>
            <a:off x="111556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Pilih alamat tersimpan atau tambah baru.</a:t>
            </a:r>
            <a:endParaRPr lang="en-US" sz="1200" dirty="0"/>
          </a:p>
        </p:txBody>
      </p:sp>
      <p:sp>
        <p:nvSpPr>
          <p:cNvPr id="14" name="Shape 11"/>
          <p:cNvSpPr/>
          <p:nvPr/>
        </p:nvSpPr>
        <p:spPr>
          <a:xfrm>
            <a:off x="548640" y="4014216"/>
            <a:ext cx="384048" cy="384048"/>
          </a:xfrm>
          <a:prstGeom prst="ellipse">
            <a:avLst/>
          </a:prstGeom>
          <a:solidFill>
            <a:srgbClr val="0A0A0A"/>
          </a:solidFill>
          <a:ln/>
        </p:spPr>
      </p:sp>
      <p:sp>
        <p:nvSpPr>
          <p:cNvPr id="15" name="Text 12"/>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111556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Ongkir otomatis</a:t>
            </a:r>
            <a:endParaRPr lang="en-US" sz="1500" dirty="0"/>
          </a:p>
        </p:txBody>
      </p:sp>
      <p:sp>
        <p:nvSpPr>
          <p:cNvPr id="17" name="Text 14"/>
          <p:cNvSpPr txBox="1"/>
          <p:nvPr/>
        </p:nvSpPr>
        <p:spPr>
          <a:xfrm>
            <a:off x="111556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JNE, SiCepat, GoSend dari total berat.</a:t>
            </a:r>
            <a:endParaRPr lang="en-US" sz="1200" dirty="0"/>
          </a:p>
        </p:txBody>
      </p:sp>
      <p:sp>
        <p:nvSpPr>
          <p:cNvPr id="18" name="Shape 15"/>
          <p:cNvSpPr/>
          <p:nvPr/>
        </p:nvSpPr>
        <p:spPr>
          <a:xfrm>
            <a:off x="548640" y="5038344"/>
            <a:ext cx="384048" cy="384048"/>
          </a:xfrm>
          <a:prstGeom prst="ellipse">
            <a:avLst/>
          </a:prstGeom>
          <a:solidFill>
            <a:srgbClr val="0A0A0A"/>
          </a:solidFill>
          <a:ln/>
        </p:spPr>
      </p:sp>
      <p:sp>
        <p:nvSpPr>
          <p:cNvPr id="19" name="Text 16"/>
          <p:cNvSpPr txBox="1"/>
          <p:nvPr/>
        </p:nvSpPr>
        <p:spPr>
          <a:xfrm>
            <a:off x="54864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111556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Ringkasan jelas</a:t>
            </a:r>
            <a:endParaRPr lang="en-US" sz="1500" dirty="0"/>
          </a:p>
        </p:txBody>
      </p:sp>
      <p:sp>
        <p:nvSpPr>
          <p:cNvPr id="21" name="Text 18"/>
          <p:cNvSpPr txBox="1"/>
          <p:nvPr/>
        </p:nvSpPr>
        <p:spPr>
          <a:xfrm>
            <a:off x="111556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Promo dan total akhir sebelum memesan.</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411480"/>
            <a:ext cx="2337206" cy="292608"/>
          </a:xfrm>
          <a:prstGeom prst="roundRect">
            <a:avLst>
              <a:gd name="adj" fmla="val 50000"/>
            </a:avLst>
          </a:prstGeom>
          <a:solidFill>
            <a:srgbClr val="F3F3F3"/>
          </a:solidFill>
          <a:ln/>
        </p:spPr>
      </p:sp>
      <p:sp>
        <p:nvSpPr>
          <p:cNvPr id="3" name="Text 1"/>
          <p:cNvSpPr txBox="1"/>
          <p:nvPr/>
        </p:nvSpPr>
        <p:spPr>
          <a:xfrm>
            <a:off x="548640" y="411480"/>
            <a:ext cx="23372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PANEL ADMIN</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Panel admin satu gaya dengan toko</a:t>
            </a:r>
            <a:endParaRPr lang="en-US" sz="3000" dirty="0"/>
          </a:p>
        </p:txBody>
      </p:sp>
      <p:pic>
        <p:nvPicPr>
          <p:cNvPr id="5" name="Image 0" descr="C:\laragon\www\e-commerce\scripts\ppt\aset\admin-gelap.png">    </p:cNvPr>
          <p:cNvPicPr>
            <a:picLocks noChangeAspect="1"/>
          </p:cNvPicPr>
          <p:nvPr/>
        </p:nvPicPr>
        <p:blipFill>
          <a:blip r:embed="rId1"/>
          <a:stretch>
            <a:fillRect/>
          </a:stretch>
        </p:blipFill>
        <p:spPr>
          <a:xfrm>
            <a:off x="548640" y="1874520"/>
            <a:ext cx="7178040" cy="4039641"/>
          </a:xfrm>
          <a:prstGeom prst="rect">
            <a:avLst/>
          </a:prstGeom>
        </p:spPr>
      </p:pic>
      <p:pic>
        <p:nvPicPr>
          <p:cNvPr id="6" name="Image 1" descr="C:\laragon\www\e-commerce\scripts\ppt\aset\admin-modal-potong.png">    </p:cNvPr>
          <p:cNvPicPr>
            <a:picLocks noChangeAspect="1"/>
          </p:cNvPicPr>
          <p:nvPr/>
        </p:nvPicPr>
        <p:blipFill>
          <a:blip r:embed="rId2"/>
          <a:stretch>
            <a:fillRect/>
          </a:stretch>
        </p:blipFill>
        <p:spPr>
          <a:xfrm>
            <a:off x="4892040" y="3017520"/>
            <a:ext cx="2971800" cy="2579688"/>
          </a:xfrm>
          <a:prstGeom prst="rect">
            <a:avLst/>
          </a:prstGeom>
        </p:spPr>
      </p:pic>
      <p:sp>
        <p:nvSpPr>
          <p:cNvPr id="7" name="Shape 3"/>
          <p:cNvSpPr/>
          <p:nvPr/>
        </p:nvSpPr>
        <p:spPr>
          <a:xfrm>
            <a:off x="8046720" y="1965960"/>
            <a:ext cx="384048" cy="384048"/>
          </a:xfrm>
          <a:prstGeom prst="ellipse">
            <a:avLst/>
          </a:prstGeom>
          <a:solidFill>
            <a:srgbClr val="0A0A0A"/>
          </a:solidFill>
          <a:ln/>
        </p:spPr>
      </p:sp>
      <p:sp>
        <p:nvSpPr>
          <p:cNvPr id="8"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9"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Ringkasan harian</a:t>
            </a:r>
            <a:endParaRPr lang="en-US" sz="1500" dirty="0"/>
          </a:p>
        </p:txBody>
      </p:sp>
      <p:sp>
        <p:nvSpPr>
          <p:cNvPr id="10"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Pesanan hari ini, omzet 7 dan 30 hari.</a:t>
            </a:r>
            <a:endParaRPr lang="en-US" sz="1200" dirty="0"/>
          </a:p>
        </p:txBody>
      </p:sp>
      <p:sp>
        <p:nvSpPr>
          <p:cNvPr id="11" name="Shape 7"/>
          <p:cNvSpPr/>
          <p:nvPr/>
        </p:nvSpPr>
        <p:spPr>
          <a:xfrm>
            <a:off x="8046720" y="2990088"/>
            <a:ext cx="384048" cy="384048"/>
          </a:xfrm>
          <a:prstGeom prst="ellipse">
            <a:avLst/>
          </a:prstGeom>
          <a:solidFill>
            <a:srgbClr val="0A0A0A"/>
          </a:solidFill>
          <a:ln/>
        </p:spPr>
      </p:sp>
      <p:sp>
        <p:nvSpPr>
          <p:cNvPr id="12"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3"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Peringatan stok</a:t>
            </a:r>
            <a:endParaRPr lang="en-US" sz="1500" dirty="0"/>
          </a:p>
        </p:txBody>
      </p:sp>
      <p:sp>
        <p:nvSpPr>
          <p:cNvPr id="14"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Produk dengan stok ≤ 5 ditandai.</a:t>
            </a:r>
            <a:endParaRPr lang="en-US" sz="1200" dirty="0"/>
          </a:p>
        </p:txBody>
      </p:sp>
      <p:sp>
        <p:nvSpPr>
          <p:cNvPr id="15" name="Shape 11"/>
          <p:cNvSpPr/>
          <p:nvPr/>
        </p:nvSpPr>
        <p:spPr>
          <a:xfrm>
            <a:off x="8046720" y="4014216"/>
            <a:ext cx="384048" cy="384048"/>
          </a:xfrm>
          <a:prstGeom prst="ellipse">
            <a:avLst/>
          </a:prstGeom>
          <a:solidFill>
            <a:srgbClr val="0A0A0A"/>
          </a:solidFill>
          <a:ln/>
        </p:spPr>
      </p:sp>
      <p:sp>
        <p:nvSpPr>
          <p:cNvPr id="16"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7"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Tambah &amp; edit di modal</a:t>
            </a:r>
            <a:endParaRPr lang="en-US" sz="1500" dirty="0"/>
          </a:p>
        </p:txBody>
      </p:sp>
      <p:sp>
        <p:nvSpPr>
          <p:cNvPr id="18"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Form tampil di atas daftar.</a:t>
            </a:r>
            <a:endParaRPr lang="en-US" sz="1200" dirty="0"/>
          </a:p>
        </p:txBody>
      </p:sp>
      <p:sp>
        <p:nvSpPr>
          <p:cNvPr id="19" name="Shape 15"/>
          <p:cNvSpPr/>
          <p:nvPr/>
        </p:nvSpPr>
        <p:spPr>
          <a:xfrm>
            <a:off x="8046720" y="5038344"/>
            <a:ext cx="384048" cy="384048"/>
          </a:xfrm>
          <a:prstGeom prst="ellipse">
            <a:avLst/>
          </a:prstGeom>
          <a:solidFill>
            <a:srgbClr val="0A0A0A"/>
          </a:solidFill>
          <a:ln/>
        </p:spPr>
      </p:sp>
      <p:sp>
        <p:nvSpPr>
          <p:cNvPr id="20"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1"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Lencana status</a:t>
            </a:r>
            <a:endParaRPr lang="en-US" sz="1500" dirty="0"/>
          </a:p>
        </p:txBody>
      </p:sp>
      <p:sp>
        <p:nvSpPr>
          <p:cNvPr id="22"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Pil netral dengan titik warna.</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411480"/>
            <a:ext cx="993038" cy="292608"/>
          </a:xfrm>
          <a:prstGeom prst="roundRect">
            <a:avLst>
              <a:gd name="adj" fmla="val 50000"/>
            </a:avLst>
          </a:prstGeom>
          <a:solidFill>
            <a:srgbClr val="262626"/>
          </a:solidFill>
          <a:ln/>
        </p:spPr>
      </p:sp>
      <p:sp>
        <p:nvSpPr>
          <p:cNvPr id="3" name="Text 1"/>
          <p:cNvSpPr txBox="1"/>
          <p:nvPr/>
        </p:nvSpPr>
        <p:spPr>
          <a:xfrm>
            <a:off x="548640" y="411480"/>
            <a:ext cx="993038"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SOROTAN</a:t>
            </a:r>
            <a:endParaRPr lang="en-US" sz="950" dirty="0"/>
          </a:p>
        </p:txBody>
      </p:sp>
      <p:sp>
        <p:nvSpPr>
          <p:cNvPr id="4"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FFFFFF"/>
                </a:solidFill>
                <a:latin typeface="Segoe UI Semibold" pitchFamily="34" charset="0"/>
                <a:ea typeface="Segoe UI Semibold" pitchFamily="34" charset="-122"/>
                <a:cs typeface="Segoe UI Semibold" pitchFamily="34" charset="-120"/>
              </a:rPr>
              <a:t>Mode gelap dan asisten "Tanya AI"</a:t>
            </a:r>
            <a:endParaRPr lang="en-US" sz="3000" dirty="0"/>
          </a:p>
        </p:txBody>
      </p:sp>
      <p:pic>
        <p:nvPicPr>
          <p:cNvPr id="5" name="Image 0" descr="C:\laragon\www\e-commerce\scripts\ppt\aset\hp-gelap.png">    </p:cNvPr>
          <p:cNvPicPr>
            <a:picLocks noChangeAspect="1"/>
          </p:cNvPicPr>
          <p:nvPr/>
        </p:nvPicPr>
        <p:blipFill>
          <a:blip r:embed="rId1"/>
          <a:stretch>
            <a:fillRect/>
          </a:stretch>
        </p:blipFill>
        <p:spPr>
          <a:xfrm>
            <a:off x="548640" y="1874520"/>
            <a:ext cx="1943642" cy="4206240"/>
          </a:xfrm>
          <a:prstGeom prst="rect">
            <a:avLst/>
          </a:prstGeom>
        </p:spPr>
      </p:pic>
      <p:pic>
        <p:nvPicPr>
          <p:cNvPr id="6" name="Image 1" descr="C:\laragon\www\e-commerce\scripts\ppt\aset\asisten-panel.png">    </p:cNvPr>
          <p:cNvPicPr>
            <a:picLocks noChangeAspect="1"/>
          </p:cNvPicPr>
          <p:nvPr/>
        </p:nvPicPr>
        <p:blipFill>
          <a:blip r:embed="rId2"/>
          <a:stretch>
            <a:fillRect/>
          </a:stretch>
        </p:blipFill>
        <p:spPr>
          <a:xfrm>
            <a:off x="2788920" y="1874520"/>
            <a:ext cx="2677928" cy="4206240"/>
          </a:xfrm>
          <a:prstGeom prst="rect">
            <a:avLst/>
          </a:prstGeom>
        </p:spPr>
      </p:pic>
      <p:sp>
        <p:nvSpPr>
          <p:cNvPr id="7" name="Text 3"/>
          <p:cNvSpPr txBox="1"/>
          <p:nvPr/>
        </p:nvSpPr>
        <p:spPr>
          <a:xfrm>
            <a:off x="5897880" y="1920240"/>
            <a:ext cx="5760720" cy="411480"/>
          </a:xfrm>
          <a:prstGeom prst="rect">
            <a:avLst/>
          </a:prstGeom>
          <a:noFill/>
          <a:ln/>
        </p:spPr>
        <p:txBody>
          <a:bodyPr wrap="square" lIns="0" tIns="0" rIns="0" bIns="0" rtlCol="0" anchor="t"/>
          <a:lstStyle/>
          <a:p>
            <a:pPr indent="0" marL="0">
              <a:buNone/>
            </a:pPr>
            <a:r>
              <a:rPr lang="en-US" sz="1600" dirty="0">
                <a:solidFill>
                  <a:srgbClr val="FFFFFF"/>
                </a:solidFill>
                <a:latin typeface="Segoe UI Semibold" pitchFamily="34" charset="0"/>
                <a:ea typeface="Segoe UI Semibold" pitchFamily="34" charset="-122"/>
                <a:cs typeface="Segoe UI Semibold" pitchFamily="34" charset="-120"/>
              </a:rPr>
              <a:t>Asisten belanja, bukan chatbot serba bisa</a:t>
            </a:r>
            <a:endParaRPr lang="en-US" sz="1600" dirty="0"/>
          </a:p>
        </p:txBody>
      </p:sp>
      <p:sp>
        <p:nvSpPr>
          <p:cNvPr id="8" name="Text 4"/>
          <p:cNvSpPr txBox="1"/>
          <p:nvPr/>
        </p:nvSpPr>
        <p:spPr>
          <a:xfrm>
            <a:off x="5897880" y="2560320"/>
            <a:ext cx="5486400" cy="32918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Menjawab produk, harga, ongkir, pembayaran, dan pesanan dari data toko.</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Menolak coding, PR, puisi, SQL, dan jailbreak: 16/16 uji ditolak.</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Tanpa akses database atau alat; hanya membalas teks.</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Data kartu, NIK, password disamarkan, tidak dikirim.</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Dibatasi per pengguna/IP, harian, dan global.</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411480"/>
            <a:ext cx="1441094" cy="292608"/>
          </a:xfrm>
          <a:prstGeom prst="roundRect">
            <a:avLst>
              <a:gd name="adj" fmla="val 50000"/>
            </a:avLst>
          </a:prstGeom>
          <a:solidFill>
            <a:srgbClr val="F3F3F3"/>
          </a:solidFill>
          <a:ln/>
        </p:spPr>
      </p:sp>
      <p:sp>
        <p:nvSpPr>
          <p:cNvPr id="3" name="Text 1"/>
          <p:cNvSpPr txBox="1"/>
          <p:nvPr/>
        </p:nvSpPr>
        <p:spPr>
          <a:xfrm>
            <a:off x="548640" y="411480"/>
            <a:ext cx="1441094"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STRUKTUR TIM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Pembagian peran 5 anggota</a:t>
            </a:r>
            <a:endParaRPr lang="en-US" sz="3000" dirty="0"/>
          </a:p>
        </p:txBody>
      </p:sp>
      <p:sp>
        <p:nvSpPr>
          <p:cNvPr id="5" name="Shape 3"/>
          <p:cNvSpPr/>
          <p:nvPr/>
        </p:nvSpPr>
        <p:spPr>
          <a:xfrm>
            <a:off x="548640" y="1874520"/>
            <a:ext cx="2103120" cy="4114800"/>
          </a:xfrm>
          <a:prstGeom prst="roundRect">
            <a:avLst>
              <a:gd name="adj" fmla="val 9565"/>
            </a:avLst>
          </a:prstGeom>
          <a:solidFill>
            <a:srgbClr val="F3F3F3"/>
          </a:solidFill>
          <a:ln/>
        </p:spPr>
      </p:sp>
      <p:sp>
        <p:nvSpPr>
          <p:cNvPr id="6" name="Text 4"/>
          <p:cNvSpPr txBox="1"/>
          <p:nvPr/>
        </p:nvSpPr>
        <p:spPr>
          <a:xfrm>
            <a:off x="804672"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01</a:t>
            </a:r>
            <a:endParaRPr lang="en-US" sz="2400" dirty="0"/>
          </a:p>
        </p:txBody>
      </p:sp>
      <p:sp>
        <p:nvSpPr>
          <p:cNvPr id="7" name="Text 5"/>
          <p:cNvSpPr txBox="1"/>
          <p:nvPr/>
        </p:nvSpPr>
        <p:spPr>
          <a:xfrm>
            <a:off x="804672"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1</a:t>
            </a:r>
            <a:endParaRPr lang="en-US" sz="1150" dirty="0"/>
          </a:p>
        </p:txBody>
      </p:sp>
      <p:sp>
        <p:nvSpPr>
          <p:cNvPr id="8" name="Text 6"/>
          <p:cNvSpPr txBox="1"/>
          <p:nvPr/>
        </p:nvSpPr>
        <p:spPr>
          <a:xfrm>
            <a:off x="804672"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Arsitektur &amp; data</a:t>
            </a:r>
            <a:endParaRPr lang="en-US" sz="1500" dirty="0"/>
          </a:p>
        </p:txBody>
      </p:sp>
      <p:sp>
        <p:nvSpPr>
          <p:cNvPr id="9" name="Text 7"/>
          <p:cNvSpPr txBox="1"/>
          <p:nvPr/>
        </p:nvSpPr>
        <p:spPr>
          <a:xfrm>
            <a:off x="804672"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Skema database &amp; Prisma</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Login &amp; keamanan</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Review Pull Request</a:t>
            </a:r>
            <a:endParaRPr lang="en-US" sz="1150" dirty="0"/>
          </a:p>
        </p:txBody>
      </p:sp>
      <p:sp>
        <p:nvSpPr>
          <p:cNvPr id="10" name="Shape 8"/>
          <p:cNvSpPr/>
          <p:nvPr/>
        </p:nvSpPr>
        <p:spPr>
          <a:xfrm>
            <a:off x="2816352" y="1874520"/>
            <a:ext cx="2103120" cy="4114800"/>
          </a:xfrm>
          <a:prstGeom prst="roundRect">
            <a:avLst>
              <a:gd name="adj" fmla="val 9565"/>
            </a:avLst>
          </a:prstGeom>
          <a:solidFill>
            <a:srgbClr val="F3F3F3"/>
          </a:solidFill>
          <a:ln/>
        </p:spPr>
      </p:sp>
      <p:sp>
        <p:nvSpPr>
          <p:cNvPr id="11" name="Text 9"/>
          <p:cNvSpPr txBox="1"/>
          <p:nvPr/>
        </p:nvSpPr>
        <p:spPr>
          <a:xfrm>
            <a:off x="3072384"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02</a:t>
            </a:r>
            <a:endParaRPr lang="en-US" sz="2400" dirty="0"/>
          </a:p>
        </p:txBody>
      </p:sp>
      <p:sp>
        <p:nvSpPr>
          <p:cNvPr id="12" name="Text 10"/>
          <p:cNvSpPr txBox="1"/>
          <p:nvPr/>
        </p:nvSpPr>
        <p:spPr>
          <a:xfrm>
            <a:off x="3072384"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2</a:t>
            </a:r>
            <a:endParaRPr lang="en-US" sz="1150" dirty="0"/>
          </a:p>
        </p:txBody>
      </p:sp>
      <p:sp>
        <p:nvSpPr>
          <p:cNvPr id="13" name="Text 11"/>
          <p:cNvSpPr txBox="1"/>
          <p:nvPr/>
        </p:nvSpPr>
        <p:spPr>
          <a:xfrm>
            <a:off x="3072384"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Frontend katalog</a:t>
            </a:r>
            <a:endParaRPr lang="en-US" sz="1500" dirty="0"/>
          </a:p>
        </p:txBody>
      </p:sp>
      <p:sp>
        <p:nvSpPr>
          <p:cNvPr id="14" name="Text 12"/>
          <p:cNvSpPr txBox="1"/>
          <p:nvPr/>
        </p:nvSpPr>
        <p:spPr>
          <a:xfrm>
            <a:off x="3072384"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Beranda &amp; banner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Pencarian &amp; filter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Halaman detail produk</a:t>
            </a:r>
            <a:endParaRPr lang="en-US" sz="1150" dirty="0"/>
          </a:p>
        </p:txBody>
      </p:sp>
      <p:sp>
        <p:nvSpPr>
          <p:cNvPr id="15" name="Shape 13"/>
          <p:cNvSpPr/>
          <p:nvPr/>
        </p:nvSpPr>
        <p:spPr>
          <a:xfrm>
            <a:off x="5084064" y="1874520"/>
            <a:ext cx="2103120" cy="4114800"/>
          </a:xfrm>
          <a:prstGeom prst="roundRect">
            <a:avLst>
              <a:gd name="adj" fmla="val 9565"/>
            </a:avLst>
          </a:prstGeom>
          <a:solidFill>
            <a:srgbClr val="F3F3F3"/>
          </a:solidFill>
          <a:ln/>
        </p:spPr>
      </p:sp>
      <p:sp>
        <p:nvSpPr>
          <p:cNvPr id="16" name="Text 14"/>
          <p:cNvSpPr txBox="1"/>
          <p:nvPr/>
        </p:nvSpPr>
        <p:spPr>
          <a:xfrm>
            <a:off x="5340096"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03</a:t>
            </a:r>
            <a:endParaRPr lang="en-US" sz="2400" dirty="0"/>
          </a:p>
        </p:txBody>
      </p:sp>
      <p:sp>
        <p:nvSpPr>
          <p:cNvPr id="17" name="Text 15"/>
          <p:cNvSpPr txBox="1"/>
          <p:nvPr/>
        </p:nvSpPr>
        <p:spPr>
          <a:xfrm>
            <a:off x="5340096"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3</a:t>
            </a:r>
            <a:endParaRPr lang="en-US" sz="1150" dirty="0"/>
          </a:p>
        </p:txBody>
      </p:sp>
      <p:sp>
        <p:nvSpPr>
          <p:cNvPr id="18" name="Text 16"/>
          <p:cNvSpPr txBox="1"/>
          <p:nvPr/>
        </p:nvSpPr>
        <p:spPr>
          <a:xfrm>
            <a:off x="5340096"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Frontend transaksi</a:t>
            </a:r>
            <a:endParaRPr lang="en-US" sz="1500" dirty="0"/>
          </a:p>
        </p:txBody>
      </p:sp>
      <p:sp>
        <p:nvSpPr>
          <p:cNvPr id="19" name="Text 17"/>
          <p:cNvSpPr txBox="1"/>
          <p:nvPr/>
        </p:nvSpPr>
        <p:spPr>
          <a:xfrm>
            <a:off x="5340096"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Keranjang (drawer)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Buku alamat</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Checkout 4 langkah</a:t>
            </a:r>
            <a:endParaRPr lang="en-US" sz="1150" dirty="0"/>
          </a:p>
        </p:txBody>
      </p:sp>
      <p:sp>
        <p:nvSpPr>
          <p:cNvPr id="20" name="Shape 18"/>
          <p:cNvSpPr/>
          <p:nvPr/>
        </p:nvSpPr>
        <p:spPr>
          <a:xfrm>
            <a:off x="7351776" y="1874520"/>
            <a:ext cx="2103120" cy="4114800"/>
          </a:xfrm>
          <a:prstGeom prst="roundRect">
            <a:avLst>
              <a:gd name="adj" fmla="val 9565"/>
            </a:avLst>
          </a:prstGeom>
          <a:solidFill>
            <a:srgbClr val="F3F3F3"/>
          </a:solidFill>
          <a:ln/>
        </p:spPr>
      </p:sp>
      <p:sp>
        <p:nvSpPr>
          <p:cNvPr id="21" name="Text 19"/>
          <p:cNvSpPr txBox="1"/>
          <p:nvPr/>
        </p:nvSpPr>
        <p:spPr>
          <a:xfrm>
            <a:off x="7607808"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04</a:t>
            </a:r>
            <a:endParaRPr lang="en-US" sz="2400" dirty="0"/>
          </a:p>
        </p:txBody>
      </p:sp>
      <p:sp>
        <p:nvSpPr>
          <p:cNvPr id="22" name="Text 20"/>
          <p:cNvSpPr txBox="1"/>
          <p:nvPr/>
        </p:nvSpPr>
        <p:spPr>
          <a:xfrm>
            <a:off x="7607808"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4</a:t>
            </a:r>
            <a:endParaRPr lang="en-US" sz="1150" dirty="0"/>
          </a:p>
        </p:txBody>
      </p:sp>
      <p:sp>
        <p:nvSpPr>
          <p:cNvPr id="23" name="Text 21"/>
          <p:cNvSpPr txBox="1"/>
          <p:nvPr/>
        </p:nvSpPr>
        <p:spPr>
          <a:xfrm>
            <a:off x="7607808"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Backend pesanan</a:t>
            </a:r>
            <a:endParaRPr lang="en-US" sz="1500" dirty="0"/>
          </a:p>
        </p:txBody>
      </p:sp>
      <p:sp>
        <p:nvSpPr>
          <p:cNvPr id="24" name="Text 22"/>
          <p:cNvSpPr txBox="1"/>
          <p:nvPr/>
        </p:nvSpPr>
        <p:spPr>
          <a:xfrm>
            <a:off x="7607808"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Ongkir &amp; kode promo</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Email notifikasi</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Batal otomatis 24 jam</a:t>
            </a:r>
            <a:endParaRPr lang="en-US" sz="1150" dirty="0"/>
          </a:p>
        </p:txBody>
      </p:sp>
      <p:sp>
        <p:nvSpPr>
          <p:cNvPr id="25" name="Shape 23"/>
          <p:cNvSpPr/>
          <p:nvPr/>
        </p:nvSpPr>
        <p:spPr>
          <a:xfrm>
            <a:off x="9619488" y="1874520"/>
            <a:ext cx="2103120" cy="4114800"/>
          </a:xfrm>
          <a:prstGeom prst="roundRect">
            <a:avLst>
              <a:gd name="adj" fmla="val 9565"/>
            </a:avLst>
          </a:prstGeom>
          <a:solidFill>
            <a:srgbClr val="F3F3F3"/>
          </a:solidFill>
          <a:ln/>
        </p:spPr>
      </p:sp>
      <p:sp>
        <p:nvSpPr>
          <p:cNvPr id="26" name="Text 24"/>
          <p:cNvSpPr txBox="1"/>
          <p:nvPr/>
        </p:nvSpPr>
        <p:spPr>
          <a:xfrm>
            <a:off x="9875520"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05</a:t>
            </a:r>
            <a:endParaRPr lang="en-US" sz="2400" dirty="0"/>
          </a:p>
        </p:txBody>
      </p:sp>
      <p:sp>
        <p:nvSpPr>
          <p:cNvPr id="27" name="Text 25"/>
          <p:cNvSpPr txBox="1"/>
          <p:nvPr/>
        </p:nvSpPr>
        <p:spPr>
          <a:xfrm>
            <a:off x="9875520"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5</a:t>
            </a:r>
            <a:endParaRPr lang="en-US" sz="1150" dirty="0"/>
          </a:p>
        </p:txBody>
      </p:sp>
      <p:sp>
        <p:nvSpPr>
          <p:cNvPr id="28" name="Text 26"/>
          <p:cNvSpPr txBox="1"/>
          <p:nvPr/>
        </p:nvSpPr>
        <p:spPr>
          <a:xfrm>
            <a:off x="9875520"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Admin panel &amp; QA</a:t>
            </a:r>
            <a:endParaRPr lang="en-US" sz="1500" dirty="0"/>
          </a:p>
        </p:txBody>
      </p:sp>
      <p:sp>
        <p:nvSpPr>
          <p:cNvPr id="29" name="Text 27"/>
          <p:cNvSpPr txBox="1"/>
          <p:nvPr/>
        </p:nvSpPr>
        <p:spPr>
          <a:xfrm>
            <a:off x="9875520"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Dashboard &amp; stok menipis</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Status pesanan &amp; resi</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Uji di berbagai HP</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411480"/>
            <a:ext cx="1620317" cy="292608"/>
          </a:xfrm>
          <a:prstGeom prst="roundRect">
            <a:avLst>
              <a:gd name="adj" fmla="val 50000"/>
            </a:avLst>
          </a:prstGeom>
          <a:solidFill>
            <a:srgbClr val="F3F3F3"/>
          </a:solidFill>
          <a:ln/>
        </p:spPr>
      </p:sp>
      <p:sp>
        <p:nvSpPr>
          <p:cNvPr id="3" name="Text 1"/>
          <p:cNvSpPr txBox="1"/>
          <p:nvPr/>
        </p:nvSpPr>
        <p:spPr>
          <a:xfrm>
            <a:off x="548640" y="411480"/>
            <a:ext cx="162031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ALUR KERJA TIM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Cara 5 orang bekerja tanpa kode bertabrakan</a:t>
            </a:r>
            <a:endParaRPr lang="en-US" sz="3000" dirty="0"/>
          </a:p>
        </p:txBody>
      </p:sp>
      <p:sp>
        <p:nvSpPr>
          <p:cNvPr id="5" name="Text 3"/>
          <p:cNvSpPr txBox="1"/>
          <p:nvPr/>
        </p:nvSpPr>
        <p:spPr>
          <a:xfrm>
            <a:off x="548640"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ALUR GIT &amp; GITHUB</a:t>
            </a:r>
            <a:endParaRPr lang="en-US" sz="950" dirty="0"/>
          </a:p>
        </p:txBody>
      </p:sp>
      <p:sp>
        <p:nvSpPr>
          <p:cNvPr id="6" name="Shape 4"/>
          <p:cNvSpPr/>
          <p:nvPr/>
        </p:nvSpPr>
        <p:spPr>
          <a:xfrm>
            <a:off x="548640" y="2286000"/>
            <a:ext cx="384048" cy="384048"/>
          </a:xfrm>
          <a:prstGeom prst="ellipse">
            <a:avLst/>
          </a:prstGeom>
          <a:solidFill>
            <a:srgbClr val="0A0A0A"/>
          </a:solidFill>
          <a:ln/>
        </p:spPr>
      </p:sp>
      <p:sp>
        <p:nvSpPr>
          <p:cNvPr id="7" name="Text 5"/>
          <p:cNvSpPr txBox="1"/>
          <p:nvPr/>
        </p:nvSpPr>
        <p:spPr>
          <a:xfrm>
            <a:off x="548640" y="22860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txBox="1"/>
          <p:nvPr/>
        </p:nvSpPr>
        <p:spPr>
          <a:xfrm>
            <a:off x="1115568" y="2267712"/>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Branch fitur</a:t>
            </a:r>
            <a:endParaRPr lang="en-US" sz="1400" dirty="0"/>
          </a:p>
        </p:txBody>
      </p:sp>
      <p:sp>
        <p:nvSpPr>
          <p:cNvPr id="9" name="Text 7"/>
          <p:cNvSpPr txBox="1"/>
          <p:nvPr/>
        </p:nvSpPr>
        <p:spPr>
          <a:xfrm>
            <a:off x="1115568" y="2542032"/>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feat/… atau fix/… dari develop</a:t>
            </a:r>
            <a:endParaRPr lang="en-US" sz="1150" dirty="0"/>
          </a:p>
        </p:txBody>
      </p:sp>
      <p:sp>
        <p:nvSpPr>
          <p:cNvPr id="10" name="Shape 8"/>
          <p:cNvSpPr/>
          <p:nvPr/>
        </p:nvSpPr>
        <p:spPr>
          <a:xfrm>
            <a:off x="548640" y="3035808"/>
            <a:ext cx="384048" cy="384048"/>
          </a:xfrm>
          <a:prstGeom prst="ellipse">
            <a:avLst/>
          </a:prstGeom>
          <a:solidFill>
            <a:srgbClr val="0A0A0A"/>
          </a:solidFill>
          <a:ln/>
        </p:spPr>
      </p:sp>
      <p:sp>
        <p:nvSpPr>
          <p:cNvPr id="11" name="Text 9"/>
          <p:cNvSpPr txBox="1"/>
          <p:nvPr/>
        </p:nvSpPr>
        <p:spPr>
          <a:xfrm>
            <a:off x="548640" y="303580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10"/>
          <p:cNvSpPr txBox="1"/>
          <p:nvPr/>
        </p:nvSpPr>
        <p:spPr>
          <a:xfrm>
            <a:off x="1115568" y="3017520"/>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Commit kecil</a:t>
            </a:r>
            <a:endParaRPr lang="en-US" sz="1400" dirty="0"/>
          </a:p>
        </p:txBody>
      </p:sp>
      <p:sp>
        <p:nvSpPr>
          <p:cNvPr id="13" name="Text 11"/>
          <p:cNvSpPr txBox="1"/>
          <p:nvPr/>
        </p:nvSpPr>
        <p:spPr>
          <a:xfrm>
            <a:off x="1115568" y="329184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Satu commit untuk satu perubahan</a:t>
            </a:r>
            <a:endParaRPr lang="en-US" sz="1150" dirty="0"/>
          </a:p>
        </p:txBody>
      </p:sp>
      <p:sp>
        <p:nvSpPr>
          <p:cNvPr id="14" name="Shape 12"/>
          <p:cNvSpPr/>
          <p:nvPr/>
        </p:nvSpPr>
        <p:spPr>
          <a:xfrm>
            <a:off x="548640" y="3785616"/>
            <a:ext cx="384048" cy="384048"/>
          </a:xfrm>
          <a:prstGeom prst="ellipse">
            <a:avLst/>
          </a:prstGeom>
          <a:solidFill>
            <a:srgbClr val="0A0A0A"/>
          </a:solidFill>
          <a:ln/>
        </p:spPr>
      </p:sp>
      <p:sp>
        <p:nvSpPr>
          <p:cNvPr id="15" name="Text 13"/>
          <p:cNvSpPr txBox="1"/>
          <p:nvPr/>
        </p:nvSpPr>
        <p:spPr>
          <a:xfrm>
            <a:off x="548640" y="37856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4"/>
          <p:cNvSpPr txBox="1"/>
          <p:nvPr/>
        </p:nvSpPr>
        <p:spPr>
          <a:xfrm>
            <a:off x="1115568" y="3767328"/>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Pull Request</a:t>
            </a:r>
            <a:endParaRPr lang="en-US" sz="1400" dirty="0"/>
          </a:p>
        </p:txBody>
      </p:sp>
      <p:sp>
        <p:nvSpPr>
          <p:cNvPr id="17" name="Text 15"/>
          <p:cNvSpPr txBox="1"/>
          <p:nvPr/>
        </p:nvSpPr>
        <p:spPr>
          <a:xfrm>
            <a:off x="1115568" y="4041648"/>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Deskripsi + tangkapan layar</a:t>
            </a:r>
            <a:endParaRPr lang="en-US" sz="1150" dirty="0"/>
          </a:p>
        </p:txBody>
      </p:sp>
      <p:sp>
        <p:nvSpPr>
          <p:cNvPr id="18" name="Shape 16"/>
          <p:cNvSpPr/>
          <p:nvPr/>
        </p:nvSpPr>
        <p:spPr>
          <a:xfrm>
            <a:off x="548640" y="4535424"/>
            <a:ext cx="384048" cy="384048"/>
          </a:xfrm>
          <a:prstGeom prst="ellipse">
            <a:avLst/>
          </a:prstGeom>
          <a:solidFill>
            <a:srgbClr val="0A0A0A"/>
          </a:solidFill>
          <a:ln/>
        </p:spPr>
      </p:sp>
      <p:sp>
        <p:nvSpPr>
          <p:cNvPr id="19" name="Text 17"/>
          <p:cNvSpPr txBox="1"/>
          <p:nvPr/>
        </p:nvSpPr>
        <p:spPr>
          <a:xfrm>
            <a:off x="548640" y="453542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8"/>
          <p:cNvSpPr txBox="1"/>
          <p:nvPr/>
        </p:nvSpPr>
        <p:spPr>
          <a:xfrm>
            <a:off x="1115568" y="4517136"/>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CI otomatis</a:t>
            </a:r>
            <a:endParaRPr lang="en-US" sz="1400" dirty="0"/>
          </a:p>
        </p:txBody>
      </p:sp>
      <p:sp>
        <p:nvSpPr>
          <p:cNvPr id="21" name="Text 19"/>
          <p:cNvSpPr txBox="1"/>
          <p:nvPr/>
        </p:nvSpPr>
        <p:spPr>
          <a:xfrm>
            <a:off x="1115568" y="4791456"/>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Typecheck, lint, test, build, MySQL</a:t>
            </a:r>
            <a:endParaRPr lang="en-US" sz="1150" dirty="0"/>
          </a:p>
        </p:txBody>
      </p:sp>
      <p:sp>
        <p:nvSpPr>
          <p:cNvPr id="22" name="Shape 20"/>
          <p:cNvSpPr/>
          <p:nvPr/>
        </p:nvSpPr>
        <p:spPr>
          <a:xfrm>
            <a:off x="548640" y="5285232"/>
            <a:ext cx="384048" cy="384048"/>
          </a:xfrm>
          <a:prstGeom prst="ellipse">
            <a:avLst/>
          </a:prstGeom>
          <a:solidFill>
            <a:srgbClr val="0A0A0A"/>
          </a:solidFill>
          <a:ln/>
        </p:spPr>
      </p:sp>
      <p:sp>
        <p:nvSpPr>
          <p:cNvPr id="23" name="Text 21"/>
          <p:cNvSpPr txBox="1"/>
          <p:nvPr/>
        </p:nvSpPr>
        <p:spPr>
          <a:xfrm>
            <a:off x="548640" y="5285232"/>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4" name="Text 22"/>
          <p:cNvSpPr txBox="1"/>
          <p:nvPr/>
        </p:nvSpPr>
        <p:spPr>
          <a:xfrm>
            <a:off x="1115568" y="5266944"/>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Review &amp; merge</a:t>
            </a:r>
            <a:endParaRPr lang="en-US" sz="1400" dirty="0"/>
          </a:p>
        </p:txBody>
      </p:sp>
      <p:sp>
        <p:nvSpPr>
          <p:cNvPr id="25" name="Text 23"/>
          <p:cNvSpPr txBox="1"/>
          <p:nvPr/>
        </p:nvSpPr>
        <p:spPr>
          <a:xfrm>
            <a:off x="1115568" y="5541264"/>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Ke develop; develop → main per tahap</a:t>
            </a:r>
            <a:endParaRPr lang="en-US" sz="1150" dirty="0"/>
          </a:p>
        </p:txBody>
      </p:sp>
      <p:sp>
        <p:nvSpPr>
          <p:cNvPr id="26" name="Text 24"/>
          <p:cNvSpPr txBox="1"/>
          <p:nvPr/>
        </p:nvSpPr>
        <p:spPr>
          <a:xfrm>
            <a:off x="6199632"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PAPAN TUGAS TRELLO</a:t>
            </a:r>
            <a:endParaRPr lang="en-US" sz="950" dirty="0"/>
          </a:p>
        </p:txBody>
      </p:sp>
      <p:sp>
        <p:nvSpPr>
          <p:cNvPr id="27" name="Shape 25"/>
          <p:cNvSpPr/>
          <p:nvPr/>
        </p:nvSpPr>
        <p:spPr>
          <a:xfrm>
            <a:off x="6199632" y="2286000"/>
            <a:ext cx="1261872" cy="1737360"/>
          </a:xfrm>
          <a:prstGeom prst="roundRect">
            <a:avLst>
              <a:gd name="adj" fmla="val 15942"/>
            </a:avLst>
          </a:prstGeom>
          <a:solidFill>
            <a:srgbClr val="F3F3F3"/>
          </a:solidFill>
          <a:ln/>
        </p:spPr>
      </p:sp>
      <p:sp>
        <p:nvSpPr>
          <p:cNvPr id="28" name="Text 26"/>
          <p:cNvSpPr txBox="1"/>
          <p:nvPr/>
        </p:nvSpPr>
        <p:spPr>
          <a:xfrm>
            <a:off x="63367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Rencana</a:t>
            </a:r>
            <a:endParaRPr lang="en-US" sz="1200" dirty="0"/>
          </a:p>
        </p:txBody>
      </p:sp>
      <p:sp>
        <p:nvSpPr>
          <p:cNvPr id="29" name="Shape 27"/>
          <p:cNvSpPr/>
          <p:nvPr/>
        </p:nvSpPr>
        <p:spPr>
          <a:xfrm>
            <a:off x="6336792" y="2834640"/>
            <a:ext cx="987552" cy="384048"/>
          </a:xfrm>
          <a:prstGeom prst="roundRect">
            <a:avLst>
              <a:gd name="adj" fmla="val 19048"/>
            </a:avLst>
          </a:prstGeom>
          <a:solidFill>
            <a:srgbClr val="FFFFFF"/>
          </a:solidFill>
          <a:ln/>
        </p:spPr>
      </p:sp>
      <p:sp>
        <p:nvSpPr>
          <p:cNvPr id="30" name="Shape 28"/>
          <p:cNvSpPr/>
          <p:nvPr/>
        </p:nvSpPr>
        <p:spPr>
          <a:xfrm>
            <a:off x="6336792" y="3337560"/>
            <a:ext cx="987552" cy="384048"/>
          </a:xfrm>
          <a:prstGeom prst="roundRect">
            <a:avLst>
              <a:gd name="adj" fmla="val 19048"/>
            </a:avLst>
          </a:prstGeom>
          <a:solidFill>
            <a:srgbClr val="FFFFFF"/>
          </a:solidFill>
          <a:ln/>
        </p:spPr>
      </p:sp>
      <p:sp>
        <p:nvSpPr>
          <p:cNvPr id="31" name="Shape 29"/>
          <p:cNvSpPr/>
          <p:nvPr/>
        </p:nvSpPr>
        <p:spPr>
          <a:xfrm>
            <a:off x="7571232" y="2286000"/>
            <a:ext cx="1261872" cy="1737360"/>
          </a:xfrm>
          <a:prstGeom prst="roundRect">
            <a:avLst>
              <a:gd name="adj" fmla="val 15942"/>
            </a:avLst>
          </a:prstGeom>
          <a:solidFill>
            <a:srgbClr val="F3F3F3"/>
          </a:solidFill>
          <a:ln/>
        </p:spPr>
      </p:sp>
      <p:sp>
        <p:nvSpPr>
          <p:cNvPr id="32" name="Text 30"/>
          <p:cNvSpPr txBox="1"/>
          <p:nvPr/>
        </p:nvSpPr>
        <p:spPr>
          <a:xfrm>
            <a:off x="77083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Dikerjakan</a:t>
            </a:r>
            <a:endParaRPr lang="en-US" sz="1200" dirty="0"/>
          </a:p>
        </p:txBody>
      </p:sp>
      <p:sp>
        <p:nvSpPr>
          <p:cNvPr id="33" name="Shape 31"/>
          <p:cNvSpPr/>
          <p:nvPr/>
        </p:nvSpPr>
        <p:spPr>
          <a:xfrm>
            <a:off x="7708392" y="2834640"/>
            <a:ext cx="987552" cy="384048"/>
          </a:xfrm>
          <a:prstGeom prst="roundRect">
            <a:avLst>
              <a:gd name="adj" fmla="val 19048"/>
            </a:avLst>
          </a:prstGeom>
          <a:solidFill>
            <a:srgbClr val="FFFFFF"/>
          </a:solidFill>
          <a:ln/>
        </p:spPr>
      </p:sp>
      <p:sp>
        <p:nvSpPr>
          <p:cNvPr id="34" name="Shape 32"/>
          <p:cNvSpPr/>
          <p:nvPr/>
        </p:nvSpPr>
        <p:spPr>
          <a:xfrm>
            <a:off x="7708392" y="3337560"/>
            <a:ext cx="987552" cy="384048"/>
          </a:xfrm>
          <a:prstGeom prst="roundRect">
            <a:avLst>
              <a:gd name="adj" fmla="val 19048"/>
            </a:avLst>
          </a:prstGeom>
          <a:solidFill>
            <a:srgbClr val="FFFFFF"/>
          </a:solidFill>
          <a:ln/>
        </p:spPr>
      </p:sp>
      <p:sp>
        <p:nvSpPr>
          <p:cNvPr id="35" name="Shape 33"/>
          <p:cNvSpPr/>
          <p:nvPr/>
        </p:nvSpPr>
        <p:spPr>
          <a:xfrm>
            <a:off x="8942832" y="2286000"/>
            <a:ext cx="1261872" cy="1737360"/>
          </a:xfrm>
          <a:prstGeom prst="roundRect">
            <a:avLst>
              <a:gd name="adj" fmla="val 15942"/>
            </a:avLst>
          </a:prstGeom>
          <a:solidFill>
            <a:srgbClr val="F3F3F3"/>
          </a:solidFill>
          <a:ln/>
        </p:spPr>
      </p:sp>
      <p:sp>
        <p:nvSpPr>
          <p:cNvPr id="36" name="Text 34"/>
          <p:cNvSpPr txBox="1"/>
          <p:nvPr/>
        </p:nvSpPr>
        <p:spPr>
          <a:xfrm>
            <a:off x="90799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Uji coba</a:t>
            </a:r>
            <a:endParaRPr lang="en-US" sz="1200" dirty="0"/>
          </a:p>
        </p:txBody>
      </p:sp>
      <p:sp>
        <p:nvSpPr>
          <p:cNvPr id="37" name="Shape 35"/>
          <p:cNvSpPr/>
          <p:nvPr/>
        </p:nvSpPr>
        <p:spPr>
          <a:xfrm>
            <a:off x="9079992" y="2834640"/>
            <a:ext cx="987552" cy="384048"/>
          </a:xfrm>
          <a:prstGeom prst="roundRect">
            <a:avLst>
              <a:gd name="adj" fmla="val 19048"/>
            </a:avLst>
          </a:prstGeom>
          <a:solidFill>
            <a:srgbClr val="FFFFFF"/>
          </a:solidFill>
          <a:ln/>
        </p:spPr>
      </p:sp>
      <p:sp>
        <p:nvSpPr>
          <p:cNvPr id="38" name="Shape 36"/>
          <p:cNvSpPr/>
          <p:nvPr/>
        </p:nvSpPr>
        <p:spPr>
          <a:xfrm>
            <a:off x="9079992" y="3337560"/>
            <a:ext cx="987552" cy="384048"/>
          </a:xfrm>
          <a:prstGeom prst="roundRect">
            <a:avLst>
              <a:gd name="adj" fmla="val 19048"/>
            </a:avLst>
          </a:prstGeom>
          <a:solidFill>
            <a:srgbClr val="FFFFFF"/>
          </a:solidFill>
          <a:ln/>
        </p:spPr>
      </p:sp>
      <p:sp>
        <p:nvSpPr>
          <p:cNvPr id="39" name="Shape 37"/>
          <p:cNvSpPr/>
          <p:nvPr/>
        </p:nvSpPr>
        <p:spPr>
          <a:xfrm>
            <a:off x="10314432" y="2286000"/>
            <a:ext cx="1261872" cy="1737360"/>
          </a:xfrm>
          <a:prstGeom prst="roundRect">
            <a:avLst>
              <a:gd name="adj" fmla="val 15942"/>
            </a:avLst>
          </a:prstGeom>
          <a:solidFill>
            <a:srgbClr val="F3F3F3"/>
          </a:solidFill>
          <a:ln/>
        </p:spPr>
      </p:sp>
      <p:sp>
        <p:nvSpPr>
          <p:cNvPr id="40" name="Text 38"/>
          <p:cNvSpPr txBox="1"/>
          <p:nvPr/>
        </p:nvSpPr>
        <p:spPr>
          <a:xfrm>
            <a:off x="104515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Selesai</a:t>
            </a:r>
            <a:endParaRPr lang="en-US" sz="1200" dirty="0"/>
          </a:p>
        </p:txBody>
      </p:sp>
      <p:sp>
        <p:nvSpPr>
          <p:cNvPr id="41" name="Shape 39"/>
          <p:cNvSpPr/>
          <p:nvPr/>
        </p:nvSpPr>
        <p:spPr>
          <a:xfrm>
            <a:off x="10451592" y="2834640"/>
            <a:ext cx="987552" cy="384048"/>
          </a:xfrm>
          <a:prstGeom prst="roundRect">
            <a:avLst>
              <a:gd name="adj" fmla="val 19048"/>
            </a:avLst>
          </a:prstGeom>
          <a:solidFill>
            <a:srgbClr val="FFFFFF"/>
          </a:solidFill>
          <a:ln/>
        </p:spPr>
      </p:sp>
      <p:sp>
        <p:nvSpPr>
          <p:cNvPr id="42" name="Shape 40"/>
          <p:cNvSpPr/>
          <p:nvPr/>
        </p:nvSpPr>
        <p:spPr>
          <a:xfrm>
            <a:off x="10451592" y="3337560"/>
            <a:ext cx="987552" cy="384048"/>
          </a:xfrm>
          <a:prstGeom prst="roundRect">
            <a:avLst>
              <a:gd name="adj" fmla="val 19048"/>
            </a:avLst>
          </a:prstGeom>
          <a:solidFill>
            <a:srgbClr val="FFFFFF"/>
          </a:solidFill>
          <a:ln/>
        </p:spPr>
      </p:sp>
      <p:sp>
        <p:nvSpPr>
          <p:cNvPr id="43" name="Shape 41"/>
          <p:cNvSpPr/>
          <p:nvPr/>
        </p:nvSpPr>
        <p:spPr>
          <a:xfrm>
            <a:off x="6199632" y="4297680"/>
            <a:ext cx="438912" cy="438912"/>
          </a:xfrm>
          <a:prstGeom prst="ellipse">
            <a:avLst/>
          </a:prstGeom>
          <a:solidFill>
            <a:srgbClr val="0A0A0A"/>
          </a:solidFill>
          <a:ln/>
        </p:spPr>
      </p:sp>
      <p:pic>
        <p:nvPicPr>
          <p:cNvPr id="44" name="Image 0" descr="C:\laragon\www\e-commerce\scripts\ppt\aset\ikon-Users-putih.png">    </p:cNvPr>
          <p:cNvPicPr>
            <a:picLocks noChangeAspect="1"/>
          </p:cNvPicPr>
          <p:nvPr/>
        </p:nvPicPr>
        <p:blipFill>
          <a:blip r:embed="rId1"/>
          <a:stretch>
            <a:fillRect/>
          </a:stretch>
        </p:blipFill>
        <p:spPr>
          <a:xfrm>
            <a:off x="6309360" y="4407408"/>
            <a:ext cx="219456" cy="219456"/>
          </a:xfrm>
          <a:prstGeom prst="rect">
            <a:avLst/>
          </a:prstGeom>
        </p:spPr>
      </p:pic>
      <p:sp>
        <p:nvSpPr>
          <p:cNvPr id="45" name="Text 42"/>
          <p:cNvSpPr txBox="1"/>
          <p:nvPr/>
        </p:nvSpPr>
        <p:spPr>
          <a:xfrm>
            <a:off x="6766560" y="4297680"/>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Sinkronisasi 20 menit</a:t>
            </a:r>
            <a:endParaRPr lang="en-US" sz="1250" dirty="0"/>
          </a:p>
        </p:txBody>
      </p:sp>
      <p:sp>
        <p:nvSpPr>
          <p:cNvPr id="46" name="Text 43"/>
          <p:cNvSpPr txBox="1"/>
          <p:nvPr/>
        </p:nvSpPr>
        <p:spPr>
          <a:xfrm>
            <a:off x="6766560" y="4544568"/>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Awal pekan, cek progres; kartu tertahan &gt; 2 hari dibahas.</a:t>
            </a:r>
            <a:endParaRPr lang="en-US" sz="1100" dirty="0"/>
          </a:p>
        </p:txBody>
      </p:sp>
      <p:sp>
        <p:nvSpPr>
          <p:cNvPr id="47" name="Shape 44"/>
          <p:cNvSpPr/>
          <p:nvPr/>
        </p:nvSpPr>
        <p:spPr>
          <a:xfrm>
            <a:off x="6199632" y="4901184"/>
            <a:ext cx="438912" cy="438912"/>
          </a:xfrm>
          <a:prstGeom prst="ellipse">
            <a:avLst/>
          </a:prstGeom>
          <a:solidFill>
            <a:srgbClr val="0A0A0A"/>
          </a:solidFill>
          <a:ln/>
        </p:spPr>
      </p:sp>
      <p:pic>
        <p:nvPicPr>
          <p:cNvPr id="48" name="Image 1" descr="C:\laragon\www\e-commerce\scripts\ppt\aset\ikon-GitBranch-putih.png">    </p:cNvPr>
          <p:cNvPicPr>
            <a:picLocks noChangeAspect="1"/>
          </p:cNvPicPr>
          <p:nvPr/>
        </p:nvPicPr>
        <p:blipFill>
          <a:blip r:embed="rId2"/>
          <a:stretch>
            <a:fillRect/>
          </a:stretch>
        </p:blipFill>
        <p:spPr>
          <a:xfrm>
            <a:off x="6309360" y="5010912"/>
            <a:ext cx="219456" cy="219456"/>
          </a:xfrm>
          <a:prstGeom prst="rect">
            <a:avLst/>
          </a:prstGeom>
        </p:spPr>
      </p:pic>
      <p:sp>
        <p:nvSpPr>
          <p:cNvPr id="49" name="Text 45"/>
          <p:cNvSpPr txBox="1"/>
          <p:nvPr/>
        </p:nvSpPr>
        <p:spPr>
          <a:xfrm>
            <a:off x="6766560" y="4901184"/>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Berpasangan FE–BE</a:t>
            </a:r>
            <a:endParaRPr lang="en-US" sz="1250" dirty="0"/>
          </a:p>
        </p:txBody>
      </p:sp>
      <p:sp>
        <p:nvSpPr>
          <p:cNvPr id="50" name="Text 46"/>
          <p:cNvSpPr txBox="1"/>
          <p:nvPr/>
        </p:nvSpPr>
        <p:spPr>
          <a:xfrm>
            <a:off x="6766560" y="5148072"/>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Frontend &amp; backend satu modul selalu berkoordinasi.</a:t>
            </a:r>
            <a:endParaRPr lang="en-US" sz="1100" dirty="0"/>
          </a:p>
        </p:txBody>
      </p:sp>
      <p:sp>
        <p:nvSpPr>
          <p:cNvPr id="51" name="Shape 47"/>
          <p:cNvSpPr/>
          <p:nvPr/>
        </p:nvSpPr>
        <p:spPr>
          <a:xfrm>
            <a:off x="6199632" y="5504688"/>
            <a:ext cx="438912" cy="438912"/>
          </a:xfrm>
          <a:prstGeom prst="ellipse">
            <a:avLst/>
          </a:prstGeom>
          <a:solidFill>
            <a:srgbClr val="0A0A0A"/>
          </a:solidFill>
          <a:ln/>
        </p:spPr>
      </p:sp>
      <p:pic>
        <p:nvPicPr>
          <p:cNvPr id="52" name="Image 2" descr="C:\laragon\www\e-commerce\scripts\ppt\aset\ikon-BadgeCheck-putih.png">    </p:cNvPr>
          <p:cNvPicPr>
            <a:picLocks noChangeAspect="1"/>
          </p:cNvPicPr>
          <p:nvPr/>
        </p:nvPicPr>
        <p:blipFill>
          <a:blip r:embed="rId3"/>
          <a:stretch>
            <a:fillRect/>
          </a:stretch>
        </p:blipFill>
        <p:spPr>
          <a:xfrm>
            <a:off x="6309360" y="5614416"/>
            <a:ext cx="219456" cy="219456"/>
          </a:xfrm>
          <a:prstGeom prst="rect">
            <a:avLst/>
          </a:prstGeom>
        </p:spPr>
      </p:pic>
      <p:sp>
        <p:nvSpPr>
          <p:cNvPr id="53" name="Text 48"/>
          <p:cNvSpPr txBox="1"/>
          <p:nvPr/>
        </p:nvSpPr>
        <p:spPr>
          <a:xfrm>
            <a:off x="6766560" y="5504688"/>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Dokumentasi rutin</a:t>
            </a:r>
            <a:endParaRPr lang="en-US" sz="1250" dirty="0"/>
          </a:p>
        </p:txBody>
      </p:sp>
      <p:sp>
        <p:nvSpPr>
          <p:cNvPr id="54" name="Text 49"/>
          <p:cNvSpPr txBox="1"/>
          <p:nvPr/>
        </p:nvSpPr>
        <p:spPr>
          <a:xfrm>
            <a:off x="6766560" y="5751576"/>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Status, progres, dan keputusan dicatat di docs/.</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48640" y="411480"/>
            <a:ext cx="1799539" cy="292608"/>
          </a:xfrm>
          <a:prstGeom prst="roundRect">
            <a:avLst>
              <a:gd name="adj" fmla="val 50000"/>
            </a:avLst>
          </a:prstGeom>
          <a:solidFill>
            <a:srgbClr val="F3F3F3"/>
          </a:solidFill>
          <a:ln/>
        </p:spPr>
      </p:sp>
      <p:sp>
        <p:nvSpPr>
          <p:cNvPr id="3" name="Text 1"/>
          <p:cNvSpPr txBox="1"/>
          <p:nvPr/>
        </p:nvSpPr>
        <p:spPr>
          <a:xfrm>
            <a:off x="548640" y="411480"/>
            <a:ext cx="179953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STANDAR KUALITAS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Hasil uji yang terukur, 3 Oktober 2026</a:t>
            </a:r>
            <a:endParaRPr lang="en-US" sz="3000" dirty="0"/>
          </a:p>
        </p:txBody>
      </p:sp>
      <p:sp>
        <p:nvSpPr>
          <p:cNvPr id="5" name="Shape 3"/>
          <p:cNvSpPr/>
          <p:nvPr/>
        </p:nvSpPr>
        <p:spPr>
          <a:xfrm>
            <a:off x="548640" y="1874520"/>
            <a:ext cx="2651760" cy="2103120"/>
          </a:xfrm>
          <a:prstGeom prst="roundRect">
            <a:avLst>
              <a:gd name="adj" fmla="val 9565"/>
            </a:avLst>
          </a:prstGeom>
          <a:solidFill>
            <a:srgbClr val="0A0A0A"/>
          </a:solidFill>
          <a:ln/>
        </p:spPr>
      </p:sp>
      <p:sp>
        <p:nvSpPr>
          <p:cNvPr id="6" name="Text 4"/>
          <p:cNvSpPr txBox="1"/>
          <p:nvPr/>
        </p:nvSpPr>
        <p:spPr>
          <a:xfrm>
            <a:off x="822960" y="2057400"/>
            <a:ext cx="2194560" cy="868680"/>
          </a:xfrm>
          <a:prstGeom prst="rect">
            <a:avLst/>
          </a:prstGeom>
          <a:noFill/>
          <a:ln/>
        </p:spPr>
        <p:txBody>
          <a:bodyPr wrap="square" lIns="0" tIns="0" rIns="0" bIns="0" rtlCol="0" anchor="t"/>
          <a:lstStyle/>
          <a:p>
            <a:pPr indent="0" marL="0">
              <a:buNone/>
            </a:pPr>
            <a:r>
              <a:rPr lang="en-US" sz="4800" dirty="0">
                <a:solidFill>
                  <a:srgbClr val="FFFFFF"/>
                </a:solidFill>
                <a:latin typeface="Segoe UI Semibold" pitchFamily="34" charset="0"/>
                <a:ea typeface="Segoe UI Semibold" pitchFamily="34" charset="-122"/>
                <a:cs typeface="Segoe UI Semibold" pitchFamily="34" charset="-120"/>
              </a:rPr>
              <a:t>98</a:t>
            </a:r>
            <a:endParaRPr lang="en-US" sz="4800" dirty="0"/>
          </a:p>
        </p:txBody>
      </p:sp>
      <p:sp>
        <p:nvSpPr>
          <p:cNvPr id="7" name="Text 5"/>
          <p:cNvSpPr txBox="1"/>
          <p:nvPr/>
        </p:nvSpPr>
        <p:spPr>
          <a:xfrm>
            <a:off x="822960" y="2999232"/>
            <a:ext cx="2194560" cy="5029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Lighthouse beranda HP</a:t>
            </a:r>
            <a:endParaRPr lang="en-US" sz="1300" dirty="0"/>
          </a:p>
        </p:txBody>
      </p:sp>
      <p:sp>
        <p:nvSpPr>
          <p:cNvPr id="8" name="Text 6"/>
          <p:cNvSpPr txBox="1"/>
          <p:nvPr/>
        </p:nvSpPr>
        <p:spPr>
          <a:xfrm>
            <a:off x="822960" y="3493008"/>
            <a:ext cx="2194560" cy="3200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Situs online, LCP 1,7 dtk</a:t>
            </a:r>
            <a:endParaRPr lang="en-US" sz="1100" dirty="0"/>
          </a:p>
        </p:txBody>
      </p:sp>
      <p:sp>
        <p:nvSpPr>
          <p:cNvPr id="9" name="Shape 7"/>
          <p:cNvSpPr/>
          <p:nvPr/>
        </p:nvSpPr>
        <p:spPr>
          <a:xfrm>
            <a:off x="3383280" y="1874520"/>
            <a:ext cx="2651760" cy="2103120"/>
          </a:xfrm>
          <a:prstGeom prst="roundRect">
            <a:avLst>
              <a:gd name="adj" fmla="val 9565"/>
            </a:avLst>
          </a:prstGeom>
          <a:solidFill>
            <a:srgbClr val="F3F3F3"/>
          </a:solidFill>
          <a:ln/>
        </p:spPr>
      </p:sp>
      <p:sp>
        <p:nvSpPr>
          <p:cNvPr id="10" name="Text 8"/>
          <p:cNvSpPr txBox="1"/>
          <p:nvPr/>
        </p:nvSpPr>
        <p:spPr>
          <a:xfrm>
            <a:off x="365760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475</a:t>
            </a:r>
            <a:endParaRPr lang="en-US" sz="4800" dirty="0"/>
          </a:p>
        </p:txBody>
      </p:sp>
      <p:sp>
        <p:nvSpPr>
          <p:cNvPr id="11" name="Text 9"/>
          <p:cNvSpPr txBox="1"/>
          <p:nvPr/>
        </p:nvSpPr>
        <p:spPr>
          <a:xfrm>
            <a:off x="365760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Unit test lulus</a:t>
            </a:r>
            <a:endParaRPr lang="en-US" sz="1300" dirty="0"/>
          </a:p>
        </p:txBody>
      </p:sp>
      <p:sp>
        <p:nvSpPr>
          <p:cNvPr id="12" name="Text 10"/>
          <p:cNvSpPr txBox="1"/>
          <p:nvPr/>
        </p:nvSpPr>
        <p:spPr>
          <a:xfrm>
            <a:off x="365760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+ 30 tes integrasi MySQL</a:t>
            </a:r>
            <a:endParaRPr lang="en-US" sz="1100" dirty="0"/>
          </a:p>
        </p:txBody>
      </p:sp>
      <p:sp>
        <p:nvSpPr>
          <p:cNvPr id="13" name="Shape 11"/>
          <p:cNvSpPr/>
          <p:nvPr/>
        </p:nvSpPr>
        <p:spPr>
          <a:xfrm>
            <a:off x="6217920" y="1874520"/>
            <a:ext cx="2651760" cy="2103120"/>
          </a:xfrm>
          <a:prstGeom prst="roundRect">
            <a:avLst>
              <a:gd name="adj" fmla="val 9565"/>
            </a:avLst>
          </a:prstGeom>
          <a:solidFill>
            <a:srgbClr val="F3F3F3"/>
          </a:solidFill>
          <a:ln/>
        </p:spPr>
      </p:sp>
      <p:sp>
        <p:nvSpPr>
          <p:cNvPr id="14" name="Text 12"/>
          <p:cNvSpPr txBox="1"/>
          <p:nvPr/>
        </p:nvSpPr>
        <p:spPr>
          <a:xfrm>
            <a:off x="649224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87</a:t>
            </a:r>
            <a:endParaRPr lang="en-US" sz="4800" dirty="0"/>
          </a:p>
        </p:txBody>
      </p:sp>
      <p:sp>
        <p:nvSpPr>
          <p:cNvPr id="15" name="Text 13"/>
          <p:cNvSpPr txBox="1"/>
          <p:nvPr/>
        </p:nvSpPr>
        <p:spPr>
          <a:xfrm>
            <a:off x="649224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Tes E2E browser lulus</a:t>
            </a:r>
            <a:endParaRPr lang="en-US" sz="1300" dirty="0"/>
          </a:p>
        </p:txBody>
      </p:sp>
      <p:sp>
        <p:nvSpPr>
          <p:cNvPr id="16" name="Text 14"/>
          <p:cNvSpPr txBox="1"/>
          <p:nvPr/>
        </p:nvSpPr>
        <p:spPr>
          <a:xfrm>
            <a:off x="649224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Alur pembeli &amp; admin nyata</a:t>
            </a:r>
            <a:endParaRPr lang="en-US" sz="1100" dirty="0"/>
          </a:p>
        </p:txBody>
      </p:sp>
      <p:sp>
        <p:nvSpPr>
          <p:cNvPr id="17" name="Shape 15"/>
          <p:cNvSpPr/>
          <p:nvPr/>
        </p:nvSpPr>
        <p:spPr>
          <a:xfrm>
            <a:off x="9052560" y="1874520"/>
            <a:ext cx="2651760" cy="2103120"/>
          </a:xfrm>
          <a:prstGeom prst="roundRect">
            <a:avLst>
              <a:gd name="adj" fmla="val 9565"/>
            </a:avLst>
          </a:prstGeom>
          <a:solidFill>
            <a:srgbClr val="F3F3F3"/>
          </a:solidFill>
          <a:ln/>
        </p:spPr>
      </p:sp>
      <p:sp>
        <p:nvSpPr>
          <p:cNvPr id="18" name="Text 16"/>
          <p:cNvSpPr txBox="1"/>
          <p:nvPr/>
        </p:nvSpPr>
        <p:spPr>
          <a:xfrm>
            <a:off x="932688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0</a:t>
            </a:r>
            <a:endParaRPr lang="en-US" sz="4800" dirty="0"/>
          </a:p>
        </p:txBody>
      </p:sp>
      <p:sp>
        <p:nvSpPr>
          <p:cNvPr id="19" name="Text 17"/>
          <p:cNvSpPr txBox="1"/>
          <p:nvPr/>
        </p:nvSpPr>
        <p:spPr>
          <a:xfrm>
            <a:off x="932688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Pelanggaran aksesibilitas serius</a:t>
            </a:r>
            <a:endParaRPr lang="en-US" sz="1300" dirty="0"/>
          </a:p>
        </p:txBody>
      </p:sp>
      <p:sp>
        <p:nvSpPr>
          <p:cNvPr id="20" name="Text 18"/>
          <p:cNvSpPr txBox="1"/>
          <p:nvPr/>
        </p:nvSpPr>
        <p:spPr>
          <a:xfrm>
            <a:off x="932688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axe, mode terang &amp; gelap</a:t>
            </a:r>
            <a:endParaRPr lang="en-US" sz="1100" dirty="0"/>
          </a:p>
        </p:txBody>
      </p:sp>
      <p:sp>
        <p:nvSpPr>
          <p:cNvPr id="21" name="Text 19"/>
          <p:cNvSpPr txBox="1"/>
          <p:nvPr/>
        </p:nvSpPr>
        <p:spPr>
          <a:xfrm>
            <a:off x="548640" y="4297680"/>
            <a:ext cx="36576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TARGET PRD</a:t>
            </a:r>
            <a:endParaRPr lang="en-US" sz="950" dirty="0"/>
          </a:p>
        </p:txBody>
      </p:sp>
      <p:sp>
        <p:nvSpPr>
          <p:cNvPr id="22" name="Text 20"/>
          <p:cNvSpPr txBox="1"/>
          <p:nvPr/>
        </p:nvSpPr>
        <p:spPr>
          <a:xfrm>
            <a:off x="548640" y="4617720"/>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Muat halaman &lt; 2,5 dtk di 4G</a:t>
            </a:r>
            <a:endParaRPr lang="en-US" sz="1250" dirty="0"/>
          </a:p>
        </p:txBody>
      </p:sp>
      <p:sp>
        <p:nvSpPr>
          <p:cNvPr id="23" name="Text 21"/>
          <p:cNvSpPr txBox="1"/>
          <p:nvPr/>
        </p:nvSpPr>
        <p:spPr>
          <a:xfrm>
            <a:off x="548640" y="4892040"/>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Beranda 1,7 · katalog 2,3 · detail 2,2 dtk (HP diperlambat) ✓</a:t>
            </a:r>
            <a:endParaRPr lang="en-US" sz="1100" dirty="0"/>
          </a:p>
        </p:txBody>
      </p:sp>
      <p:sp>
        <p:nvSpPr>
          <p:cNvPr id="24" name="Text 22"/>
          <p:cNvSpPr txBox="1"/>
          <p:nvPr/>
        </p:nvSpPr>
        <p:spPr>
          <a:xfrm>
            <a:off x="6199632" y="4617720"/>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Checkout &lt; 3 menit</a:t>
            </a:r>
            <a:endParaRPr lang="en-US" sz="1250" dirty="0"/>
          </a:p>
        </p:txBody>
      </p:sp>
      <p:sp>
        <p:nvSpPr>
          <p:cNvPr id="25" name="Text 23"/>
          <p:cNvSpPr txBox="1"/>
          <p:nvPr/>
        </p:nvSpPr>
        <p:spPr>
          <a:xfrm>
            <a:off x="6199632" y="4892040"/>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Empat langkah; latihan demo otomatis 30 dtk ✓</a:t>
            </a:r>
            <a:endParaRPr lang="en-US" sz="1100" dirty="0"/>
          </a:p>
        </p:txBody>
      </p:sp>
      <p:sp>
        <p:nvSpPr>
          <p:cNvPr id="26" name="Text 24"/>
          <p:cNvSpPr txBox="1"/>
          <p:nvPr/>
        </p:nvSpPr>
        <p:spPr>
          <a:xfrm>
            <a:off x="548640" y="5330952"/>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Tanpa overselling</a:t>
            </a:r>
            <a:endParaRPr lang="en-US" sz="1250" dirty="0"/>
          </a:p>
        </p:txBody>
      </p:sp>
      <p:sp>
        <p:nvSpPr>
          <p:cNvPr id="27" name="Text 25"/>
          <p:cNvSpPr txBox="1"/>
          <p:nvPr/>
        </p:nvSpPr>
        <p:spPr>
          <a:xfrm>
            <a:off x="548640" y="5605272"/>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Dua pembeli berebut stok terakhir: hanya satu berhasil ✓</a:t>
            </a:r>
            <a:endParaRPr lang="en-US" sz="1100" dirty="0"/>
          </a:p>
        </p:txBody>
      </p:sp>
      <p:sp>
        <p:nvSpPr>
          <p:cNvPr id="28" name="Text 26"/>
          <p:cNvSpPr txBox="1"/>
          <p:nvPr/>
        </p:nvSpPr>
        <p:spPr>
          <a:xfrm>
            <a:off x="6199632" y="5330952"/>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Layar mulai 360 px</a:t>
            </a:r>
            <a:endParaRPr lang="en-US" sz="1250" dirty="0"/>
          </a:p>
        </p:txBody>
      </p:sp>
      <p:sp>
        <p:nvSpPr>
          <p:cNvPr id="29" name="Text 27"/>
          <p:cNvSpPr txBox="1"/>
          <p:nvPr/>
        </p:nvSpPr>
        <p:spPr>
          <a:xfrm>
            <a:off x="6199632" y="5605272"/>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Tanpa gulir mendatar, tombol ≥ 44 px ✓</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48640" y="411480"/>
            <a:ext cx="2068373" cy="292608"/>
          </a:xfrm>
          <a:prstGeom prst="roundRect">
            <a:avLst>
              <a:gd name="adj" fmla="val 50000"/>
            </a:avLst>
          </a:prstGeom>
          <a:solidFill>
            <a:srgbClr val="F3F3F3"/>
          </a:solidFill>
          <a:ln/>
        </p:spPr>
      </p:sp>
      <p:sp>
        <p:nvSpPr>
          <p:cNvPr id="3" name="Text 1"/>
          <p:cNvSpPr txBox="1"/>
          <p:nvPr/>
        </p:nvSpPr>
        <p:spPr>
          <a:xfrm>
            <a:off x="548640" y="411480"/>
            <a:ext cx="2068373"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KEAMANAN &amp; REGULASI</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Melindungi data pembeli dan transaksi toko</a:t>
            </a:r>
            <a:endParaRPr lang="en-US" sz="3000" dirty="0"/>
          </a:p>
        </p:txBody>
      </p:sp>
      <p:sp>
        <p:nvSpPr>
          <p:cNvPr id="5" name="Shape 3"/>
          <p:cNvSpPr/>
          <p:nvPr/>
        </p:nvSpPr>
        <p:spPr>
          <a:xfrm>
            <a:off x="548640" y="1874520"/>
            <a:ext cx="2651760" cy="4114800"/>
          </a:xfrm>
          <a:prstGeom prst="roundRect">
            <a:avLst>
              <a:gd name="adj" fmla="val 7586"/>
            </a:avLst>
          </a:prstGeom>
          <a:solidFill>
            <a:srgbClr val="F3F3F3"/>
          </a:solidFill>
          <a:ln/>
        </p:spPr>
      </p:sp>
      <p:sp>
        <p:nvSpPr>
          <p:cNvPr id="6" name="Shape 4"/>
          <p:cNvSpPr/>
          <p:nvPr/>
        </p:nvSpPr>
        <p:spPr>
          <a:xfrm>
            <a:off x="822960" y="2148840"/>
            <a:ext cx="548640" cy="548640"/>
          </a:xfrm>
          <a:prstGeom prst="ellipse">
            <a:avLst/>
          </a:prstGeom>
          <a:solidFill>
            <a:srgbClr val="0A0A0A"/>
          </a:solidFill>
          <a:ln/>
        </p:spPr>
      </p:sp>
      <p:pic>
        <p:nvPicPr>
          <p:cNvPr id="7" name="Image 0" descr="C:\laragon\www\e-commerce\scripts\ppt\aset\ikon-ShieldCheck-putih.png">    </p:cNvPr>
          <p:cNvPicPr>
            <a:picLocks noChangeAspect="1"/>
          </p:cNvPicPr>
          <p:nvPr/>
        </p:nvPicPr>
        <p:blipFill>
          <a:blip r:embed="rId1"/>
          <a:stretch>
            <a:fillRect/>
          </a:stretch>
        </p:blipFill>
        <p:spPr>
          <a:xfrm>
            <a:off x="960120" y="2286000"/>
            <a:ext cx="274320" cy="274320"/>
          </a:xfrm>
          <a:prstGeom prst="rect">
            <a:avLst/>
          </a:prstGeom>
        </p:spPr>
      </p:pic>
      <p:sp>
        <p:nvSpPr>
          <p:cNvPr id="8" name="Text 5"/>
          <p:cNvSpPr txBox="1"/>
          <p:nvPr/>
        </p:nvSpPr>
        <p:spPr>
          <a:xfrm>
            <a:off x="82296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Privasi data</a:t>
            </a:r>
            <a:endParaRPr lang="en-US" sz="1500" dirty="0"/>
          </a:p>
        </p:txBody>
      </p:sp>
      <p:sp>
        <p:nvSpPr>
          <p:cNvPr id="9" name="Text 6"/>
          <p:cNvSpPr txBox="1"/>
          <p:nvPr/>
        </p:nvSpPr>
        <p:spPr>
          <a:xfrm>
            <a:off x="82296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UU PDP No. 27/2022</a:t>
            </a:r>
            <a:endParaRPr lang="en-US" sz="1100" dirty="0"/>
          </a:p>
        </p:txBody>
      </p:sp>
      <p:sp>
        <p:nvSpPr>
          <p:cNvPr id="10" name="Text 7"/>
          <p:cNvSpPr txBox="1"/>
          <p:nvPr/>
        </p:nvSpPr>
        <p:spPr>
          <a:xfrm>
            <a:off x="82296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Data pembeli hanya untuk pengiriman</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Persetujuan privasi saat daftar</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Pengguna bisa menghapus akun</a:t>
            </a:r>
            <a:endParaRPr lang="en-US" sz="1150" dirty="0"/>
          </a:p>
        </p:txBody>
      </p:sp>
      <p:sp>
        <p:nvSpPr>
          <p:cNvPr id="11" name="Shape 8"/>
          <p:cNvSpPr/>
          <p:nvPr/>
        </p:nvSpPr>
        <p:spPr>
          <a:xfrm>
            <a:off x="3383280" y="1874520"/>
            <a:ext cx="2651760" cy="4114800"/>
          </a:xfrm>
          <a:prstGeom prst="roundRect">
            <a:avLst>
              <a:gd name="adj" fmla="val 7586"/>
            </a:avLst>
          </a:prstGeom>
          <a:solidFill>
            <a:srgbClr val="F3F3F3"/>
          </a:solidFill>
          <a:ln/>
        </p:spPr>
      </p:sp>
      <p:sp>
        <p:nvSpPr>
          <p:cNvPr id="12" name="Shape 9"/>
          <p:cNvSpPr/>
          <p:nvPr/>
        </p:nvSpPr>
        <p:spPr>
          <a:xfrm>
            <a:off x="3657600" y="2148840"/>
            <a:ext cx="548640" cy="548640"/>
          </a:xfrm>
          <a:prstGeom prst="ellipse">
            <a:avLst/>
          </a:prstGeom>
          <a:solidFill>
            <a:srgbClr val="0A0A0A"/>
          </a:solidFill>
          <a:ln/>
        </p:spPr>
      </p:sp>
      <p:pic>
        <p:nvPicPr>
          <p:cNvPr id="13" name="Image 1" descr="C:\laragon\www\e-commerce\scripts\ppt\aset\ikon-Lock-putih.png">    </p:cNvPr>
          <p:cNvPicPr>
            <a:picLocks noChangeAspect="1"/>
          </p:cNvPicPr>
          <p:nvPr/>
        </p:nvPicPr>
        <p:blipFill>
          <a:blip r:embed="rId2"/>
          <a:stretch>
            <a:fillRect/>
          </a:stretch>
        </p:blipFill>
        <p:spPr>
          <a:xfrm>
            <a:off x="3794760" y="2286000"/>
            <a:ext cx="274320" cy="274320"/>
          </a:xfrm>
          <a:prstGeom prst="rect">
            <a:avLst/>
          </a:prstGeom>
        </p:spPr>
      </p:pic>
      <p:sp>
        <p:nvSpPr>
          <p:cNvPr id="14" name="Text 10"/>
          <p:cNvSpPr txBox="1"/>
          <p:nvPr/>
        </p:nvSpPr>
        <p:spPr>
          <a:xfrm>
            <a:off x="365760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Akun &amp; hak akses</a:t>
            </a:r>
            <a:endParaRPr lang="en-US" sz="1500" dirty="0"/>
          </a:p>
        </p:txBody>
      </p:sp>
      <p:sp>
        <p:nvSpPr>
          <p:cNvPr id="15" name="Text 11"/>
          <p:cNvSpPr txBox="1"/>
          <p:nvPr/>
        </p:nvSpPr>
        <p:spPr>
          <a:xfrm>
            <a:off x="365760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Login dan peran</a:t>
            </a:r>
            <a:endParaRPr lang="en-US" sz="1100" dirty="0"/>
          </a:p>
        </p:txBody>
      </p:sp>
      <p:sp>
        <p:nvSpPr>
          <p:cNvPr id="16" name="Text 12"/>
          <p:cNvSpPr txBox="1"/>
          <p:nvPr/>
        </p:nvSpPr>
        <p:spPr>
          <a:xfrm>
            <a:off x="365760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Password di-hash Argon2id</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Login maks. 5 percobaan / 15 menit</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Panel admin khusus peran admin</a:t>
            </a:r>
            <a:endParaRPr lang="en-US" sz="1150" dirty="0"/>
          </a:p>
        </p:txBody>
      </p:sp>
      <p:sp>
        <p:nvSpPr>
          <p:cNvPr id="17" name="Shape 13"/>
          <p:cNvSpPr/>
          <p:nvPr/>
        </p:nvSpPr>
        <p:spPr>
          <a:xfrm>
            <a:off x="6217920" y="1874520"/>
            <a:ext cx="2651760" cy="4114800"/>
          </a:xfrm>
          <a:prstGeom prst="roundRect">
            <a:avLst>
              <a:gd name="adj" fmla="val 7586"/>
            </a:avLst>
          </a:prstGeom>
          <a:solidFill>
            <a:srgbClr val="F3F3F3"/>
          </a:solidFill>
          <a:ln/>
        </p:spPr>
      </p:sp>
      <p:sp>
        <p:nvSpPr>
          <p:cNvPr id="18" name="Shape 14"/>
          <p:cNvSpPr/>
          <p:nvPr/>
        </p:nvSpPr>
        <p:spPr>
          <a:xfrm>
            <a:off x="6492240" y="2148840"/>
            <a:ext cx="548640" cy="548640"/>
          </a:xfrm>
          <a:prstGeom prst="ellipse">
            <a:avLst/>
          </a:prstGeom>
          <a:solidFill>
            <a:srgbClr val="0A0A0A"/>
          </a:solidFill>
          <a:ln/>
        </p:spPr>
      </p:sp>
      <p:pic>
        <p:nvPicPr>
          <p:cNvPr id="19" name="Image 2" descr="C:\laragon\www\e-commerce\scripts\ppt\aset\ikon-Scale-putih.png">    </p:cNvPr>
          <p:cNvPicPr>
            <a:picLocks noChangeAspect="1"/>
          </p:cNvPicPr>
          <p:nvPr/>
        </p:nvPicPr>
        <p:blipFill>
          <a:blip r:embed="rId3"/>
          <a:stretch>
            <a:fillRect/>
          </a:stretch>
        </p:blipFill>
        <p:spPr>
          <a:xfrm>
            <a:off x="6629400" y="2286000"/>
            <a:ext cx="274320" cy="274320"/>
          </a:xfrm>
          <a:prstGeom prst="rect">
            <a:avLst/>
          </a:prstGeom>
        </p:spPr>
      </p:pic>
      <p:sp>
        <p:nvSpPr>
          <p:cNvPr id="20" name="Text 15"/>
          <p:cNvSpPr txBox="1"/>
          <p:nvPr/>
        </p:nvSpPr>
        <p:spPr>
          <a:xfrm>
            <a:off x="649224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Transaksi adil</a:t>
            </a:r>
            <a:endParaRPr lang="en-US" sz="1500" dirty="0"/>
          </a:p>
        </p:txBody>
      </p:sp>
      <p:sp>
        <p:nvSpPr>
          <p:cNvPr id="21" name="Text 16"/>
          <p:cNvSpPr txBox="1"/>
          <p:nvPr/>
        </p:nvSpPr>
        <p:spPr>
          <a:xfrm>
            <a:off x="649224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Stok &amp; pembayaran</a:t>
            </a:r>
            <a:endParaRPr lang="en-US" sz="1100" dirty="0"/>
          </a:p>
        </p:txBody>
      </p:sp>
      <p:sp>
        <p:nvSpPr>
          <p:cNvPr id="22" name="Text 17"/>
          <p:cNvSpPr txBox="1"/>
          <p:nvPr/>
        </p:nvSpPr>
        <p:spPr>
          <a:xfrm>
            <a:off x="649224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Batas bayar 24 jam</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Stok kembali saat batal</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Webhook Midtrans dicek tanda tangannya</a:t>
            </a:r>
            <a:endParaRPr lang="en-US" sz="1150" dirty="0"/>
          </a:p>
        </p:txBody>
      </p:sp>
      <p:sp>
        <p:nvSpPr>
          <p:cNvPr id="23" name="Shape 18"/>
          <p:cNvSpPr/>
          <p:nvPr/>
        </p:nvSpPr>
        <p:spPr>
          <a:xfrm>
            <a:off x="9052560" y="1874520"/>
            <a:ext cx="2651760" cy="4114800"/>
          </a:xfrm>
          <a:prstGeom prst="roundRect">
            <a:avLst>
              <a:gd name="adj" fmla="val 7586"/>
            </a:avLst>
          </a:prstGeom>
          <a:solidFill>
            <a:srgbClr val="0A0A0A"/>
          </a:solidFill>
          <a:ln/>
        </p:spPr>
      </p:sp>
      <p:sp>
        <p:nvSpPr>
          <p:cNvPr id="24" name="Shape 19"/>
          <p:cNvSpPr/>
          <p:nvPr/>
        </p:nvSpPr>
        <p:spPr>
          <a:xfrm>
            <a:off x="9326880" y="2148840"/>
            <a:ext cx="548640" cy="548640"/>
          </a:xfrm>
          <a:prstGeom prst="ellipse">
            <a:avLst/>
          </a:prstGeom>
          <a:solidFill>
            <a:srgbClr val="FFFFFF"/>
          </a:solidFill>
          <a:ln/>
        </p:spPr>
      </p:sp>
      <p:pic>
        <p:nvPicPr>
          <p:cNvPr id="25" name="Image 3" descr="C:\laragon\www\e-commerce\scripts\ppt\aset\ikon-Bot-hitam.png">    </p:cNvPr>
          <p:cNvPicPr>
            <a:picLocks noChangeAspect="1"/>
          </p:cNvPicPr>
          <p:nvPr/>
        </p:nvPicPr>
        <p:blipFill>
          <a:blip r:embed="rId4"/>
          <a:stretch>
            <a:fillRect/>
          </a:stretch>
        </p:blipFill>
        <p:spPr>
          <a:xfrm>
            <a:off x="9464040" y="2286000"/>
            <a:ext cx="274320" cy="274320"/>
          </a:xfrm>
          <a:prstGeom prst="rect">
            <a:avLst/>
          </a:prstGeom>
        </p:spPr>
      </p:pic>
      <p:sp>
        <p:nvSpPr>
          <p:cNvPr id="26" name="Text 20"/>
          <p:cNvSpPr txBox="1"/>
          <p:nvPr/>
        </p:nvSpPr>
        <p:spPr>
          <a:xfrm>
            <a:off x="9326880" y="2880360"/>
            <a:ext cx="2194560" cy="329184"/>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Asisten AI aman</a:t>
            </a:r>
            <a:endParaRPr lang="en-US" sz="1500" dirty="0"/>
          </a:p>
        </p:txBody>
      </p:sp>
      <p:sp>
        <p:nvSpPr>
          <p:cNvPr id="27" name="Text 21"/>
          <p:cNvSpPr txBox="1"/>
          <p:nvPr/>
        </p:nvSpPr>
        <p:spPr>
          <a:xfrm>
            <a:off x="9326880" y="3200400"/>
            <a:ext cx="219456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Pengaman berlapis</a:t>
            </a:r>
            <a:endParaRPr lang="en-US" sz="1100" dirty="0"/>
          </a:p>
        </p:txBody>
      </p:sp>
      <p:sp>
        <p:nvSpPr>
          <p:cNvPr id="28" name="Text 22"/>
          <p:cNvSpPr txBox="1"/>
          <p:nvPr/>
        </p:nvSpPr>
        <p:spPr>
          <a:xfrm>
            <a:off x="932688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Topik ketat, tolak di luar toko</a:t>
            </a:r>
            <a:endParaRPr lang="en-US" sz="1150" dirty="0"/>
          </a:p>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Tanpa akses database/alat</a:t>
            </a:r>
            <a:endParaRPr lang="en-US" sz="1150" dirty="0"/>
          </a:p>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Rate limit + data sensitif disamarkan</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48640" y="411480"/>
            <a:ext cx="1799539" cy="292608"/>
          </a:xfrm>
          <a:prstGeom prst="roundRect">
            <a:avLst>
              <a:gd name="adj" fmla="val 50000"/>
            </a:avLst>
          </a:prstGeom>
          <a:solidFill>
            <a:srgbClr val="F3F3F3"/>
          </a:solidFill>
          <a:ln/>
        </p:spPr>
      </p:sp>
      <p:sp>
        <p:nvSpPr>
          <p:cNvPr id="3" name="Text 1"/>
          <p:cNvSpPr txBox="1"/>
          <p:nvPr/>
        </p:nvSpPr>
        <p:spPr>
          <a:xfrm>
            <a:off x="548640" y="411480"/>
            <a:ext cx="179953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MANAJEMEN RISIKO</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Risiko yang diantisipasi dan hasilnya</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91672" cy="914400"/>
        </p:xfrm>
        <a:graphic>
          <a:graphicData uri="http://schemas.openxmlformats.org/drawingml/2006/table">
            <a:tbl>
              <a:tblPr/>
              <a:tblGrid>
                <a:gridCol w="3017520"/>
                <a:gridCol w="1097280"/>
                <a:gridCol w="3931920"/>
                <a:gridCol w="3044952"/>
              </a:tblGrid>
              <a:tr h="566928">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RISIKO</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TINGKAT</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MITIGASI</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HASIL</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Anggota baru mengenal Next.js &amp; Prisma</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Tinggi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Workshop minggu 1, contoh kode per modul, panduan di docs/</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Fitur MVP selesai tepat waktu</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Fitur terus bertambah (scope creep)</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Tinggi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Fitur baru masuk Lanjutan, disetujui ketua tim</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Lanjutan dikerjakan setelah MVP stabil</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Konflik kode saat penggabungan</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Branch per fitur, PR kecil, CI otomatis</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CI hijau di setiap PR</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Stok terjual melebihi persediaan</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Transaksi database + pengurangan stok bersyarat</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Teruji berebut stok terakhir</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Kuota/penyalahgunaan asisten AI</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Rate limit berlapis, topik ketat, cadangan Groq, tombol darurat</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16/16 uji penyalahgunaan ditolak</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Data server hilang</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Rendah</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Backup harian terenkripsi, simpan 30 hari, uji restore</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Backup otomatis berjalan; restore manual teruji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48640" y="411480"/>
            <a:ext cx="1441094" cy="292608"/>
          </a:xfrm>
          <a:prstGeom prst="roundRect">
            <a:avLst>
              <a:gd name="adj" fmla="val 50000"/>
            </a:avLst>
          </a:prstGeom>
          <a:solidFill>
            <a:srgbClr val="F3F3F3"/>
          </a:solidFill>
          <a:ln/>
        </p:spPr>
      </p:sp>
      <p:sp>
        <p:nvSpPr>
          <p:cNvPr id="3" name="Text 1"/>
          <p:cNvSpPr txBox="1"/>
          <p:nvPr/>
        </p:nvSpPr>
        <p:spPr>
          <a:xfrm>
            <a:off x="548640" y="411480"/>
            <a:ext cx="1441094"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DEMO &amp; RILIS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Skenario demo 7 menit dan lingkungan rilis</a:t>
            </a:r>
            <a:endParaRPr lang="en-US" sz="3000" dirty="0"/>
          </a:p>
        </p:txBody>
      </p:sp>
      <p:sp>
        <p:nvSpPr>
          <p:cNvPr id="5" name="Text 3"/>
          <p:cNvSpPr txBox="1"/>
          <p:nvPr/>
        </p:nvSpPr>
        <p:spPr>
          <a:xfrm>
            <a:off x="548640"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SKENARIO DEMO</a:t>
            </a:r>
            <a:endParaRPr lang="en-US" sz="950" dirty="0"/>
          </a:p>
        </p:txBody>
      </p:sp>
      <p:sp>
        <p:nvSpPr>
          <p:cNvPr id="6" name="Shape 4"/>
          <p:cNvSpPr/>
          <p:nvPr/>
        </p:nvSpPr>
        <p:spPr>
          <a:xfrm>
            <a:off x="548640" y="2286000"/>
            <a:ext cx="384048" cy="384048"/>
          </a:xfrm>
          <a:prstGeom prst="ellipse">
            <a:avLst/>
          </a:prstGeom>
          <a:solidFill>
            <a:srgbClr val="0A0A0A"/>
          </a:solidFill>
          <a:ln/>
        </p:spPr>
      </p:sp>
      <p:sp>
        <p:nvSpPr>
          <p:cNvPr id="7" name="Text 5"/>
          <p:cNvSpPr txBox="1"/>
          <p:nvPr/>
        </p:nvSpPr>
        <p:spPr>
          <a:xfrm>
            <a:off x="548640" y="22860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txBox="1"/>
          <p:nvPr/>
        </p:nvSpPr>
        <p:spPr>
          <a:xfrm>
            <a:off x="1115568" y="2340864"/>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Pembeli mencari produk dan memilih varian</a:t>
            </a:r>
            <a:endParaRPr lang="en-US" sz="1300" dirty="0"/>
          </a:p>
        </p:txBody>
      </p:sp>
      <p:sp>
        <p:nvSpPr>
          <p:cNvPr id="9" name="Shape 7"/>
          <p:cNvSpPr/>
          <p:nvPr/>
        </p:nvSpPr>
        <p:spPr>
          <a:xfrm>
            <a:off x="548640" y="2889504"/>
            <a:ext cx="384048" cy="384048"/>
          </a:xfrm>
          <a:prstGeom prst="ellipse">
            <a:avLst/>
          </a:prstGeom>
          <a:solidFill>
            <a:srgbClr val="0A0A0A"/>
          </a:solidFill>
          <a:ln/>
        </p:spPr>
      </p:sp>
      <p:sp>
        <p:nvSpPr>
          <p:cNvPr id="10" name="Text 8"/>
          <p:cNvSpPr txBox="1"/>
          <p:nvPr/>
        </p:nvSpPr>
        <p:spPr>
          <a:xfrm>
            <a:off x="548640" y="288950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1" name="Text 9"/>
          <p:cNvSpPr txBox="1"/>
          <p:nvPr/>
        </p:nvSpPr>
        <p:spPr>
          <a:xfrm>
            <a:off x="1115568" y="2944368"/>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Checkout dengan kode HEMAT10 (min. Rp 100.000)</a:t>
            </a:r>
            <a:endParaRPr lang="en-US" sz="1300" dirty="0"/>
          </a:p>
        </p:txBody>
      </p:sp>
      <p:sp>
        <p:nvSpPr>
          <p:cNvPr id="12" name="Shape 10"/>
          <p:cNvSpPr/>
          <p:nvPr/>
        </p:nvSpPr>
        <p:spPr>
          <a:xfrm>
            <a:off x="548640" y="3493008"/>
            <a:ext cx="384048" cy="384048"/>
          </a:xfrm>
          <a:prstGeom prst="ellipse">
            <a:avLst/>
          </a:prstGeom>
          <a:solidFill>
            <a:srgbClr val="0A0A0A"/>
          </a:solidFill>
          <a:ln/>
        </p:spPr>
      </p:sp>
      <p:sp>
        <p:nvSpPr>
          <p:cNvPr id="13" name="Text 11"/>
          <p:cNvSpPr txBox="1"/>
          <p:nvPr/>
        </p:nvSpPr>
        <p:spPr>
          <a:xfrm>
            <a:off x="548640" y="349300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4" name="Text 12"/>
          <p:cNvSpPr txBox="1"/>
          <p:nvPr/>
        </p:nvSpPr>
        <p:spPr>
          <a:xfrm>
            <a:off x="1115568" y="3547872"/>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Admin konfirmasi bayar, kemas, input resi</a:t>
            </a:r>
            <a:endParaRPr lang="en-US" sz="1300" dirty="0"/>
          </a:p>
        </p:txBody>
      </p:sp>
      <p:sp>
        <p:nvSpPr>
          <p:cNvPr id="15" name="Shape 13"/>
          <p:cNvSpPr/>
          <p:nvPr/>
        </p:nvSpPr>
        <p:spPr>
          <a:xfrm>
            <a:off x="548640" y="4096512"/>
            <a:ext cx="384048" cy="384048"/>
          </a:xfrm>
          <a:prstGeom prst="ellipse">
            <a:avLst/>
          </a:prstGeom>
          <a:solidFill>
            <a:srgbClr val="0A0A0A"/>
          </a:solidFill>
          <a:ln/>
        </p:spPr>
      </p:sp>
      <p:sp>
        <p:nvSpPr>
          <p:cNvPr id="16" name="Text 14"/>
          <p:cNvSpPr txBox="1"/>
          <p:nvPr/>
        </p:nvSpPr>
        <p:spPr>
          <a:xfrm>
            <a:off x="548640" y="4096512"/>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17" name="Text 15"/>
          <p:cNvSpPr txBox="1"/>
          <p:nvPr/>
        </p:nvSpPr>
        <p:spPr>
          <a:xfrm>
            <a:off x="1115568" y="4151376"/>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Pembeli terima pesanan dan beri ulasan</a:t>
            </a:r>
            <a:endParaRPr lang="en-US" sz="1300" dirty="0"/>
          </a:p>
        </p:txBody>
      </p:sp>
      <p:sp>
        <p:nvSpPr>
          <p:cNvPr id="18" name="Shape 16"/>
          <p:cNvSpPr/>
          <p:nvPr/>
        </p:nvSpPr>
        <p:spPr>
          <a:xfrm>
            <a:off x="548640" y="4700016"/>
            <a:ext cx="384048" cy="384048"/>
          </a:xfrm>
          <a:prstGeom prst="ellipse">
            <a:avLst/>
          </a:prstGeom>
          <a:solidFill>
            <a:srgbClr val="0A0A0A"/>
          </a:solidFill>
          <a:ln/>
        </p:spPr>
      </p:sp>
      <p:sp>
        <p:nvSpPr>
          <p:cNvPr id="19" name="Text 17"/>
          <p:cNvSpPr txBox="1"/>
          <p:nvPr/>
        </p:nvSpPr>
        <p:spPr>
          <a:xfrm>
            <a:off x="548640" y="47000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0" name="Text 18"/>
          <p:cNvSpPr txBox="1"/>
          <p:nvPr/>
        </p:nvSpPr>
        <p:spPr>
          <a:xfrm>
            <a:off x="1115568" y="4754880"/>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Pesanan lewat batas bayar batal otomatis</a:t>
            </a:r>
            <a:endParaRPr lang="en-US" sz="1300" dirty="0"/>
          </a:p>
        </p:txBody>
      </p:sp>
      <p:sp>
        <p:nvSpPr>
          <p:cNvPr id="21" name="Shape 19"/>
          <p:cNvSpPr/>
          <p:nvPr/>
        </p:nvSpPr>
        <p:spPr>
          <a:xfrm>
            <a:off x="548640" y="5303520"/>
            <a:ext cx="384048" cy="384048"/>
          </a:xfrm>
          <a:prstGeom prst="ellipse">
            <a:avLst/>
          </a:prstGeom>
          <a:solidFill>
            <a:srgbClr val="F3F3F3"/>
          </a:solidFill>
          <a:ln/>
        </p:spPr>
      </p:sp>
      <p:sp>
        <p:nvSpPr>
          <p:cNvPr id="22" name="Text 20"/>
          <p:cNvSpPr txBox="1"/>
          <p:nvPr/>
        </p:nvSpPr>
        <p:spPr>
          <a:xfrm>
            <a:off x="548640" y="5303520"/>
            <a:ext cx="384048" cy="384048"/>
          </a:xfrm>
          <a:prstGeom prst="rect">
            <a:avLst/>
          </a:prstGeom>
          <a:noFill/>
          <a:ln/>
        </p:spPr>
        <p:txBody>
          <a:bodyPr wrap="square" lIns="0" tIns="0" rIns="0" bIns="0" rtlCol="0" anchor="ctr"/>
          <a:lstStyle/>
          <a:p>
            <a:pPr algn="ctr" indent="0" marL="0">
              <a:buNone/>
            </a:pPr>
            <a:r>
              <a:rPr lang="en-US" sz="1200" dirty="0">
                <a:solidFill>
                  <a:srgbClr val="0A0A0A"/>
                </a:solidFill>
                <a:latin typeface="Segoe UI Semibold" pitchFamily="34" charset="0"/>
                <a:ea typeface="Segoe UI Semibold" pitchFamily="34" charset="-122"/>
                <a:cs typeface="Segoe UI Semibold" pitchFamily="34" charset="-120"/>
              </a:rPr>
              <a:t>6</a:t>
            </a:r>
            <a:endParaRPr lang="en-US" sz="1200" dirty="0"/>
          </a:p>
        </p:txBody>
      </p:sp>
      <p:sp>
        <p:nvSpPr>
          <p:cNvPr id="23" name="Text 21"/>
          <p:cNvSpPr txBox="1"/>
          <p:nvPr/>
        </p:nvSpPr>
        <p:spPr>
          <a:xfrm>
            <a:off x="1115568" y="5358384"/>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Bonus: tanya asisten AI &amp; ganti mode gelap</a:t>
            </a:r>
            <a:endParaRPr lang="en-US" sz="1300" dirty="0"/>
          </a:p>
        </p:txBody>
      </p:sp>
      <p:sp>
        <p:nvSpPr>
          <p:cNvPr id="24" name="Shape 22"/>
          <p:cNvSpPr/>
          <p:nvPr/>
        </p:nvSpPr>
        <p:spPr>
          <a:xfrm>
            <a:off x="6199632" y="1874520"/>
            <a:ext cx="5440680" cy="4160520"/>
          </a:xfrm>
          <a:prstGeom prst="roundRect">
            <a:avLst>
              <a:gd name="adj" fmla="val 4835"/>
            </a:avLst>
          </a:prstGeom>
          <a:solidFill>
            <a:srgbClr val="0A0A0A"/>
          </a:solidFill>
          <a:ln/>
        </p:spPr>
      </p:sp>
      <p:sp>
        <p:nvSpPr>
          <p:cNvPr id="25" name="Text 23"/>
          <p:cNvSpPr txBox="1"/>
          <p:nvPr/>
        </p:nvSpPr>
        <p:spPr>
          <a:xfrm>
            <a:off x="6519672" y="2148840"/>
            <a:ext cx="4846320" cy="365760"/>
          </a:xfrm>
          <a:prstGeom prst="rect">
            <a:avLst/>
          </a:prstGeom>
          <a:noFill/>
          <a:ln/>
        </p:spPr>
        <p:txBody>
          <a:bodyPr wrap="square" lIns="0" tIns="0" rIns="0" bIns="0" rtlCol="0" anchor="t"/>
          <a:lstStyle/>
          <a:p>
            <a:pPr indent="0" marL="0">
              <a:buNone/>
            </a:pPr>
            <a:r>
              <a:rPr lang="en-US" sz="1700" dirty="0">
                <a:solidFill>
                  <a:srgbClr val="FFFFFF"/>
                </a:solidFill>
                <a:latin typeface="Segoe UI Semibold" pitchFamily="34" charset="0"/>
                <a:ea typeface="Segoe UI Semibold" pitchFamily="34" charset="-122"/>
                <a:cs typeface="Segoe UI Semibold" pitchFamily="34" charset="-120"/>
              </a:rPr>
              <a:t>Lingkungan rilis</a:t>
            </a:r>
            <a:endParaRPr lang="en-US" sz="1700" dirty="0"/>
          </a:p>
        </p:txBody>
      </p:sp>
      <p:sp>
        <p:nvSpPr>
          <p:cNvPr id="26" name="Shape 24"/>
          <p:cNvSpPr/>
          <p:nvPr/>
        </p:nvSpPr>
        <p:spPr>
          <a:xfrm>
            <a:off x="6519672" y="2697480"/>
            <a:ext cx="438912" cy="438912"/>
          </a:xfrm>
          <a:prstGeom prst="ellipse">
            <a:avLst/>
          </a:prstGeom>
          <a:solidFill>
            <a:srgbClr val="FFFFFF"/>
          </a:solidFill>
          <a:ln/>
        </p:spPr>
      </p:sp>
      <p:pic>
        <p:nvPicPr>
          <p:cNvPr id="27" name="Image 0" descr="C:\laragon\www\e-commerce\scripts\ppt\aset\ikon-Rocket-hitam.png">    </p:cNvPr>
          <p:cNvPicPr>
            <a:picLocks noChangeAspect="1"/>
          </p:cNvPicPr>
          <p:nvPr/>
        </p:nvPicPr>
        <p:blipFill>
          <a:blip r:embed="rId1"/>
          <a:stretch>
            <a:fillRect/>
          </a:stretch>
        </p:blipFill>
        <p:spPr>
          <a:xfrm>
            <a:off x="6629400" y="2807208"/>
            <a:ext cx="219456" cy="219456"/>
          </a:xfrm>
          <a:prstGeom prst="rect">
            <a:avLst/>
          </a:prstGeom>
        </p:spPr>
      </p:pic>
      <p:sp>
        <p:nvSpPr>
          <p:cNvPr id="28" name="Text 25"/>
          <p:cNvSpPr txBox="1"/>
          <p:nvPr/>
        </p:nvSpPr>
        <p:spPr>
          <a:xfrm>
            <a:off x="7114032" y="267919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Vercel (Singapura)</a:t>
            </a:r>
            <a:endParaRPr lang="en-US" sz="1250" dirty="0"/>
          </a:p>
        </p:txBody>
      </p:sp>
      <p:sp>
        <p:nvSpPr>
          <p:cNvPr id="29" name="Text 26"/>
          <p:cNvSpPr txBox="1"/>
          <p:nvPr/>
        </p:nvSpPr>
        <p:spPr>
          <a:xfrm>
            <a:off x="7114032" y="293522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HTTPS otomatis, deploy setiap merge ke develop</a:t>
            </a:r>
            <a:endParaRPr lang="en-US" sz="1100" dirty="0"/>
          </a:p>
        </p:txBody>
      </p:sp>
      <p:sp>
        <p:nvSpPr>
          <p:cNvPr id="30" name="Shape 27"/>
          <p:cNvSpPr/>
          <p:nvPr/>
        </p:nvSpPr>
        <p:spPr>
          <a:xfrm>
            <a:off x="6519672" y="3337560"/>
            <a:ext cx="438912" cy="438912"/>
          </a:xfrm>
          <a:prstGeom prst="ellipse">
            <a:avLst/>
          </a:prstGeom>
          <a:solidFill>
            <a:srgbClr val="FFFFFF"/>
          </a:solidFill>
          <a:ln/>
        </p:spPr>
      </p:sp>
      <p:pic>
        <p:nvPicPr>
          <p:cNvPr id="31" name="Image 1" descr="C:\laragon\www\e-commerce\scripts\ppt\aset\ikon-Database-hitam.png">    </p:cNvPr>
          <p:cNvPicPr>
            <a:picLocks noChangeAspect="1"/>
          </p:cNvPicPr>
          <p:nvPr/>
        </p:nvPicPr>
        <p:blipFill>
          <a:blip r:embed="rId2"/>
          <a:stretch>
            <a:fillRect/>
          </a:stretch>
        </p:blipFill>
        <p:spPr>
          <a:xfrm>
            <a:off x="6629400" y="3447288"/>
            <a:ext cx="219456" cy="219456"/>
          </a:xfrm>
          <a:prstGeom prst="rect">
            <a:avLst/>
          </a:prstGeom>
        </p:spPr>
      </p:pic>
      <p:sp>
        <p:nvSpPr>
          <p:cNvPr id="32" name="Text 28"/>
          <p:cNvSpPr txBox="1"/>
          <p:nvPr/>
        </p:nvSpPr>
        <p:spPr>
          <a:xfrm>
            <a:off x="7114032" y="331927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Aiven MySQL</a:t>
            </a:r>
            <a:endParaRPr lang="en-US" sz="1250" dirty="0"/>
          </a:p>
        </p:txBody>
      </p:sp>
      <p:sp>
        <p:nvSpPr>
          <p:cNvPr id="33" name="Text 29"/>
          <p:cNvSpPr txBox="1"/>
          <p:nvPr/>
        </p:nvSpPr>
        <p:spPr>
          <a:xfrm>
            <a:off x="7114032" y="357530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TLS terverifikasi; backup harian terenkripsi</a:t>
            </a:r>
            <a:endParaRPr lang="en-US" sz="1100" dirty="0"/>
          </a:p>
        </p:txBody>
      </p:sp>
      <p:sp>
        <p:nvSpPr>
          <p:cNvPr id="34" name="Shape 30"/>
          <p:cNvSpPr/>
          <p:nvPr/>
        </p:nvSpPr>
        <p:spPr>
          <a:xfrm>
            <a:off x="6519672" y="3977640"/>
            <a:ext cx="438912" cy="438912"/>
          </a:xfrm>
          <a:prstGeom prst="ellipse">
            <a:avLst/>
          </a:prstGeom>
          <a:solidFill>
            <a:srgbClr val="FFFFFF"/>
          </a:solidFill>
          <a:ln/>
        </p:spPr>
      </p:sp>
      <p:pic>
        <p:nvPicPr>
          <p:cNvPr id="35" name="Image 2" descr="C:\laragon\www\e-commerce\scripts\ppt\aset\ikon-CreditCard-hitam.png">    </p:cNvPr>
          <p:cNvPicPr>
            <a:picLocks noChangeAspect="1"/>
          </p:cNvPicPr>
          <p:nvPr/>
        </p:nvPicPr>
        <p:blipFill>
          <a:blip r:embed="rId3"/>
          <a:stretch>
            <a:fillRect/>
          </a:stretch>
        </p:blipFill>
        <p:spPr>
          <a:xfrm>
            <a:off x="6629400" y="4087368"/>
            <a:ext cx="219456" cy="219456"/>
          </a:xfrm>
          <a:prstGeom prst="rect">
            <a:avLst/>
          </a:prstGeom>
        </p:spPr>
      </p:pic>
      <p:sp>
        <p:nvSpPr>
          <p:cNvPr id="36" name="Text 31"/>
          <p:cNvSpPr txBox="1"/>
          <p:nvPr/>
        </p:nvSpPr>
        <p:spPr>
          <a:xfrm>
            <a:off x="7114032" y="395935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Midtrans sandbox</a:t>
            </a:r>
            <a:endParaRPr lang="en-US" sz="1250" dirty="0"/>
          </a:p>
        </p:txBody>
      </p:sp>
      <p:sp>
        <p:nvSpPr>
          <p:cNvPr id="37" name="Text 32"/>
          <p:cNvSpPr txBox="1"/>
          <p:nvPr/>
        </p:nvSpPr>
        <p:spPr>
          <a:xfrm>
            <a:off x="7114032" y="421538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Diuji di situs online: BCA lunas otomatis via webhook</a:t>
            </a:r>
            <a:endParaRPr lang="en-US" sz="1100" dirty="0"/>
          </a:p>
        </p:txBody>
      </p:sp>
      <p:sp>
        <p:nvSpPr>
          <p:cNvPr id="38" name="Shape 33"/>
          <p:cNvSpPr/>
          <p:nvPr/>
        </p:nvSpPr>
        <p:spPr>
          <a:xfrm>
            <a:off x="6519672" y="4617720"/>
            <a:ext cx="438912" cy="438912"/>
          </a:xfrm>
          <a:prstGeom prst="ellipse">
            <a:avLst/>
          </a:prstGeom>
          <a:solidFill>
            <a:srgbClr val="FFFFFF"/>
          </a:solidFill>
          <a:ln/>
        </p:spPr>
      </p:sp>
      <p:pic>
        <p:nvPicPr>
          <p:cNvPr id="39" name="Image 3" descr="C:\laragon\www\e-commerce\scripts\ppt\aset\ikon-Mail-hitam.png">    </p:cNvPr>
          <p:cNvPicPr>
            <a:picLocks noChangeAspect="1"/>
          </p:cNvPicPr>
          <p:nvPr/>
        </p:nvPicPr>
        <p:blipFill>
          <a:blip r:embed="rId4"/>
          <a:stretch>
            <a:fillRect/>
          </a:stretch>
        </p:blipFill>
        <p:spPr>
          <a:xfrm>
            <a:off x="6629400" y="4727448"/>
            <a:ext cx="219456" cy="219456"/>
          </a:xfrm>
          <a:prstGeom prst="rect">
            <a:avLst/>
          </a:prstGeom>
        </p:spPr>
      </p:pic>
      <p:sp>
        <p:nvSpPr>
          <p:cNvPr id="40" name="Text 34"/>
          <p:cNvSpPr txBox="1"/>
          <p:nvPr/>
        </p:nvSpPr>
        <p:spPr>
          <a:xfrm>
            <a:off x="7114032" y="459943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Gmail SMTP · Vercel Blob</a:t>
            </a:r>
            <a:endParaRPr lang="en-US" sz="1250" dirty="0"/>
          </a:p>
        </p:txBody>
      </p:sp>
      <p:sp>
        <p:nvSpPr>
          <p:cNvPr id="41" name="Text 35"/>
          <p:cNvSpPr txBox="1"/>
          <p:nvPr/>
        </p:nvSpPr>
        <p:spPr>
          <a:xfrm>
            <a:off x="7114032" y="485546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Email di latar; gambar lama ikut terhapus</a:t>
            </a:r>
            <a:endParaRPr lang="en-US" sz="1100" dirty="0"/>
          </a:p>
        </p:txBody>
      </p:sp>
      <p:sp>
        <p:nvSpPr>
          <p:cNvPr id="42" name="Shape 36"/>
          <p:cNvSpPr/>
          <p:nvPr/>
        </p:nvSpPr>
        <p:spPr>
          <a:xfrm>
            <a:off x="6519672" y="5257800"/>
            <a:ext cx="438912" cy="438912"/>
          </a:xfrm>
          <a:prstGeom prst="ellipse">
            <a:avLst/>
          </a:prstGeom>
          <a:solidFill>
            <a:srgbClr val="FFFFFF"/>
          </a:solidFill>
          <a:ln/>
        </p:spPr>
      </p:sp>
      <p:pic>
        <p:nvPicPr>
          <p:cNvPr id="43" name="Image 4" descr="C:\laragon\www\e-commerce\scripts\ppt\aset\ikon-Globe-hitam.png">    </p:cNvPr>
          <p:cNvPicPr>
            <a:picLocks noChangeAspect="1"/>
          </p:cNvPicPr>
          <p:nvPr/>
        </p:nvPicPr>
        <p:blipFill>
          <a:blip r:embed="rId5"/>
          <a:stretch>
            <a:fillRect/>
          </a:stretch>
        </p:blipFill>
        <p:spPr>
          <a:xfrm>
            <a:off x="6629400" y="5367528"/>
            <a:ext cx="219456" cy="219456"/>
          </a:xfrm>
          <a:prstGeom prst="rect">
            <a:avLst/>
          </a:prstGeom>
        </p:spPr>
      </p:pic>
      <p:sp>
        <p:nvSpPr>
          <p:cNvPr id="44" name="Text 37"/>
          <p:cNvSpPr txBox="1"/>
          <p:nvPr/>
        </p:nvSpPr>
        <p:spPr>
          <a:xfrm>
            <a:off x="7114032" y="523951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Data demo siap</a:t>
            </a:r>
            <a:endParaRPr lang="en-US" sz="1250" dirty="0"/>
          </a:p>
        </p:txBody>
      </p:sp>
      <p:sp>
        <p:nvSpPr>
          <p:cNvPr id="45" name="Text 38"/>
          <p:cNvSpPr txBox="1"/>
          <p:nvPr/>
        </p:nvSpPr>
        <p:spPr>
          <a:xfrm>
            <a:off x="7114032" y="549554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26 produk, 79 pesanan, akun admin &amp; pembeli</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502920"/>
            <a:ext cx="993038" cy="292608"/>
          </a:xfrm>
          <a:prstGeom prst="roundRect">
            <a:avLst>
              <a:gd name="adj" fmla="val 50000"/>
            </a:avLst>
          </a:prstGeom>
          <a:solidFill>
            <a:srgbClr val="262626"/>
          </a:solidFill>
          <a:ln/>
        </p:spPr>
      </p:sp>
      <p:sp>
        <p:nvSpPr>
          <p:cNvPr id="3" name="Text 1"/>
          <p:cNvSpPr txBox="1"/>
          <p:nvPr/>
        </p:nvSpPr>
        <p:spPr>
          <a:xfrm>
            <a:off x="548640" y="502920"/>
            <a:ext cx="993038"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PENUTUP</a:t>
            </a:r>
            <a:endParaRPr lang="en-US" sz="950" dirty="0"/>
          </a:p>
        </p:txBody>
      </p:sp>
      <p:sp>
        <p:nvSpPr>
          <p:cNvPr id="4" name="Text 2"/>
          <p:cNvSpPr txBox="1"/>
          <p:nvPr/>
        </p:nvSpPr>
        <p:spPr>
          <a:xfrm>
            <a:off x="548640" y="1371600"/>
            <a:ext cx="8229600" cy="1188720"/>
          </a:xfrm>
          <a:prstGeom prst="rect">
            <a:avLst/>
          </a:prstGeom>
          <a:noFill/>
          <a:ln/>
        </p:spPr>
        <p:txBody>
          <a:bodyPr wrap="square" lIns="0" tIns="0" rIns="0" bIns="0" rtlCol="0" anchor="ctr"/>
          <a:lstStyle/>
          <a:p>
            <a:pPr indent="0" marL="0">
              <a:buNone/>
            </a:pPr>
            <a:r>
              <a:rPr lang="en-US" sz="6000" dirty="0">
                <a:solidFill>
                  <a:srgbClr val="FFFFFF"/>
                </a:solidFill>
                <a:latin typeface="Segoe UI Semibold" pitchFamily="34" charset="0"/>
                <a:ea typeface="Segoe UI Semibold" pitchFamily="34" charset="-122"/>
                <a:cs typeface="Segoe UI Semibold" pitchFamily="34" charset="-120"/>
              </a:rPr>
              <a:t>Terima kasih</a:t>
            </a:r>
            <a:pPr indent="0" marL="0">
              <a:buNone/>
            </a:pPr>
            <a:r>
              <a:rPr lang="en-US" sz="6000" dirty="0">
                <a:solidFill>
                  <a:srgbClr val="DC2626"/>
                </a:solidFill>
                <a:latin typeface="Segoe UI Semibold" pitchFamily="34" charset="0"/>
                <a:ea typeface="Segoe UI Semibold" pitchFamily="34" charset="-122"/>
                <a:cs typeface="Segoe UI Semibold" pitchFamily="34" charset="-120"/>
              </a:rPr>
              <a:t>.</a:t>
            </a:r>
            <a:endParaRPr lang="en-US" sz="6000" dirty="0"/>
          </a:p>
        </p:txBody>
      </p:sp>
      <p:sp>
        <p:nvSpPr>
          <p:cNvPr id="5" name="Text 3"/>
          <p:cNvSpPr txBox="1"/>
          <p:nvPr/>
        </p:nvSpPr>
        <p:spPr>
          <a:xfrm>
            <a:off x="548640" y="2606040"/>
            <a:ext cx="8229600" cy="457200"/>
          </a:xfrm>
          <a:prstGeom prst="rect">
            <a:avLst/>
          </a:prstGeom>
          <a:noFill/>
          <a:ln/>
        </p:spPr>
        <p:txBody>
          <a:bodyPr wrap="square" lIns="0" tIns="0" rIns="0" bIns="0" rtlCol="0" anchor="t"/>
          <a:lstStyle/>
          <a:p>
            <a:pPr indent="0" marL="0">
              <a:buNone/>
            </a:pPr>
            <a:r>
              <a:rPr lang="en-US" sz="2000" dirty="0">
                <a:solidFill>
                  <a:srgbClr val="A3A3A3"/>
                </a:solidFill>
                <a:latin typeface="Segoe UI" pitchFamily="34" charset="0"/>
                <a:ea typeface="Segoe UI" pitchFamily="34" charset="-122"/>
                <a:cs typeface="Segoe UI" pitchFamily="34" charset="-120"/>
              </a:rPr>
              <a:t>TokoKita sudah berjalan online dan siap didemokan.</a:t>
            </a:r>
            <a:endParaRPr lang="en-US" sz="2000" dirty="0"/>
          </a:p>
        </p:txBody>
      </p:sp>
      <p:sp>
        <p:nvSpPr>
          <p:cNvPr id="6" name="Text 4"/>
          <p:cNvSpPr txBox="1"/>
          <p:nvPr/>
        </p:nvSpPr>
        <p:spPr>
          <a:xfrm>
            <a:off x="548640" y="365760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Fitur lengkap</a:t>
            </a:r>
            <a:endParaRPr lang="en-US" sz="1500" dirty="0"/>
          </a:p>
        </p:txBody>
      </p:sp>
      <p:sp>
        <p:nvSpPr>
          <p:cNvPr id="7" name="Text 5"/>
          <p:cNvSpPr txBox="1"/>
          <p:nvPr/>
        </p:nvSpPr>
        <p:spPr>
          <a:xfrm>
            <a:off x="548640" y="400507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MVP dan seluruh fitur lanjutan berjalan dengan data nyata.</a:t>
            </a:r>
            <a:endParaRPr lang="en-US" sz="1250" dirty="0"/>
          </a:p>
        </p:txBody>
      </p:sp>
      <p:sp>
        <p:nvSpPr>
          <p:cNvPr id="8" name="Text 6"/>
          <p:cNvSpPr txBox="1"/>
          <p:nvPr/>
        </p:nvSpPr>
        <p:spPr>
          <a:xfrm>
            <a:off x="6199632" y="365760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Tampilan modern</a:t>
            </a:r>
            <a:endParaRPr lang="en-US" sz="1500" dirty="0"/>
          </a:p>
        </p:txBody>
      </p:sp>
      <p:sp>
        <p:nvSpPr>
          <p:cNvPr id="9" name="Text 7"/>
          <p:cNvSpPr txBox="1"/>
          <p:nvPr/>
        </p:nvSpPr>
        <p:spPr>
          <a:xfrm>
            <a:off x="6199632" y="400507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Gaya monokrom, mode terang &amp; gelap, nyaman di HP.</a:t>
            </a:r>
            <a:endParaRPr lang="en-US" sz="1250" dirty="0"/>
          </a:p>
        </p:txBody>
      </p:sp>
      <p:sp>
        <p:nvSpPr>
          <p:cNvPr id="10" name="Text 8"/>
          <p:cNvSpPr txBox="1"/>
          <p:nvPr/>
        </p:nvSpPr>
        <p:spPr>
          <a:xfrm>
            <a:off x="548640" y="470916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Teruji</a:t>
            </a:r>
            <a:endParaRPr lang="en-US" sz="1500" dirty="0"/>
          </a:p>
        </p:txBody>
      </p:sp>
      <p:sp>
        <p:nvSpPr>
          <p:cNvPr id="11" name="Text 9"/>
          <p:cNvSpPr txBox="1"/>
          <p:nvPr/>
        </p:nvSpPr>
        <p:spPr>
          <a:xfrm>
            <a:off x="548640" y="505663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Unit, integrasi, E2E, aksesibilitas, dan uji keamanan AI.</a:t>
            </a:r>
            <a:endParaRPr lang="en-US" sz="1250" dirty="0"/>
          </a:p>
        </p:txBody>
      </p:sp>
      <p:sp>
        <p:nvSpPr>
          <p:cNvPr id="12" name="Text 10"/>
          <p:cNvSpPr txBox="1"/>
          <p:nvPr/>
        </p:nvSpPr>
        <p:spPr>
          <a:xfrm>
            <a:off x="6199632" y="470916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Kolaborasi teratur</a:t>
            </a:r>
            <a:endParaRPr lang="en-US" sz="1500" dirty="0"/>
          </a:p>
        </p:txBody>
      </p:sp>
      <p:sp>
        <p:nvSpPr>
          <p:cNvPr id="13" name="Text 11"/>
          <p:cNvSpPr txBox="1"/>
          <p:nvPr/>
        </p:nvSpPr>
        <p:spPr>
          <a:xfrm>
            <a:off x="6199632" y="505663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Branch per fitur, Pull Request, CI, dan papan Trello.</a:t>
            </a:r>
            <a:endParaRPr lang="en-US" sz="1250" dirty="0"/>
          </a:p>
        </p:txBody>
      </p:sp>
      <p:sp>
        <p:nvSpPr>
          <p:cNvPr id="14" name="Text 12"/>
          <p:cNvSpPr txBox="1"/>
          <p:nvPr/>
        </p:nvSpPr>
        <p:spPr>
          <a:xfrm>
            <a:off x="548640" y="5989320"/>
            <a:ext cx="8229600" cy="320040"/>
          </a:xfrm>
          <a:prstGeom prst="rect">
            <a:avLst/>
          </a:prstGeom>
          <a:noFill/>
          <a:ln/>
        </p:spPr>
        <p:txBody>
          <a:bodyPr wrap="square" lIns="0" tIns="0" rIns="0" bIns="0" rtlCol="0" anchor="t"/>
          <a:lstStyle/>
          <a:p>
            <a:pPr indent="0" marL="0">
              <a:buNone/>
            </a:pPr>
            <a:r>
              <a:rPr lang="en-US" sz="1200" dirty="0">
                <a:solidFill>
                  <a:srgbClr val="A3A3A3"/>
                </a:solidFill>
                <a:latin typeface="Segoe UI" pitchFamily="34" charset="0"/>
                <a:ea typeface="Segoe UI" pitchFamily="34" charset="-122"/>
                <a:cs typeface="Segoe UI" pitchFamily="34" charset="-120"/>
              </a:rPr>
              <a:t>Mohon masukan, saran, dan bimbingannya · Sesi tanya jawab</a:t>
            </a:r>
            <a:endParaRPr lang="en-US" sz="1200" dirty="0"/>
          </a:p>
        </p:txBody>
      </p:sp>
      <p:sp>
        <p:nvSpPr>
          <p:cNvPr id="16"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TokoKita Monokrom">
  <a:themeElements>
    <a:clrScheme name="TokoKita Monokrom">
      <a:dk1>
        <a:srgbClr val="0A0A0A"/>
      </a:dk1>
      <a:lt1>
        <a:srgbClr val="FFFFFF"/>
      </a:lt1>
      <a:dk2>
        <a:srgbClr val="5C5C5C"/>
      </a:dk2>
      <a:lt2>
        <a:srgbClr val="F3F3F3"/>
      </a:lt2>
      <a:accent1>
        <a:srgbClr val="0A0A0A"/>
      </a:accent1>
      <a:accent2>
        <a:srgbClr val="DC2626"/>
      </a:accent2>
      <a:accent3>
        <a:srgbClr val="5C5C5C"/>
      </a:accent3>
      <a:accent4>
        <a:srgbClr val="A3A3A3"/>
      </a:accent4>
      <a:accent5>
        <a:srgbClr val="E6E6E6"/>
      </a:accent5>
      <a:accent6>
        <a:srgbClr val="171717"/>
      </a:accent6>
      <a:hlink>
        <a:srgbClr val="0A0A0A"/>
      </a:hlink>
      <a:folHlink>
        <a:srgbClr val="5C5C5C"/>
      </a:folHlink>
    </a:clrScheme>
    <a:fontScheme name="TokoKita Monokrom">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Magang Project Cmlabs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TokoKita — Toko Online Mandiri</dc:title>
  <dc:subject>PptxGenJS Presentation</dc:subject>
  <dc:creator>Tim Magang TokoKita</dc:creator>
  <cp:lastModifiedBy>Tim Magang TokoKita</cp:lastModifiedBy>
  <cp:revision>1</cp:revision>
  <dcterms:created xsi:type="dcterms:W3CDTF">2026-10-03T08:11:25Z</dcterms:created>
  <dcterms:modified xsi:type="dcterms:W3CDTF">2026-10-03T08:11:25Z</dcterms:modified>
</cp:coreProperties>
</file>